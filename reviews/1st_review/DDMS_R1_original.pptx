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9" r:id="rId2"/>
    <p:sldId id="257" r:id="rId3"/>
    <p:sldId id="274" r:id="rId4"/>
    <p:sldId id="272" r:id="rId5"/>
    <p:sldId id="273" r:id="rId6"/>
    <p:sldId id="259" r:id="rId7"/>
    <p:sldId id="262" r:id="rId8"/>
    <p:sldId id="260" r:id="rId9"/>
    <p:sldId id="261" r:id="rId10"/>
    <p:sldId id="264" r:id="rId11"/>
    <p:sldId id="265" r:id="rId12"/>
    <p:sldId id="266" r:id="rId13"/>
    <p:sldId id="279" r:id="rId14"/>
    <p:sldId id="278" r:id="rId15"/>
    <p:sldId id="267" r:id="rId16"/>
    <p:sldId id="277" r:id="rId17"/>
    <p:sldId id="268" r:id="rId18"/>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4660"/>
  </p:normalViewPr>
  <p:slideViewPr>
    <p:cSldViewPr>
      <p:cViewPr varScale="1">
        <p:scale>
          <a:sx n="71" d="100"/>
          <a:sy n="71" d="100"/>
        </p:scale>
        <p:origin x="131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2250907"/>
            <a:ext cx="8020050" cy="1619802"/>
          </a:xfrm>
        </p:spPr>
        <p:txBody>
          <a:bodyPr anchor="b"/>
          <a:lstStyle>
            <a:lvl1pPr algn="ctr">
              <a:defRPr sz="5263"/>
            </a:lvl1pPr>
          </a:lstStyle>
          <a:p>
            <a:r>
              <a:rPr lang="en-US"/>
              <a:t>Click to edit Master title style</a:t>
            </a:r>
            <a:endParaRPr lang="en-IN"/>
          </a:p>
        </p:txBody>
      </p:sp>
      <p:sp>
        <p:nvSpPr>
          <p:cNvPr id="3" name="Subtitle 2"/>
          <p:cNvSpPr>
            <a:spLocks noGrp="1"/>
          </p:cNvSpPr>
          <p:nvPr>
            <p:ph type="subTitle" idx="1"/>
          </p:nvPr>
        </p:nvSpPr>
        <p:spPr>
          <a:xfrm>
            <a:off x="1336675" y="3972247"/>
            <a:ext cx="8020050" cy="323935"/>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US"/>
              <a:t>Click to edit Master subtitle style</a:t>
            </a:r>
            <a:endParaRPr lang="en-IN"/>
          </a:p>
        </p:txBody>
      </p:sp>
      <p:sp>
        <p:nvSpPr>
          <p:cNvPr id="4" name="Date Placeholder 3"/>
          <p:cNvSpPr>
            <a:spLocks noGrp="1"/>
          </p:cNvSpPr>
          <p:nvPr>
            <p:ph type="dt" sz="half" idx="10"/>
          </p:nvPr>
        </p:nvSpPr>
        <p:spPr>
          <a:xfrm>
            <a:off x="534670" y="7033450"/>
            <a:ext cx="2459482" cy="276999"/>
          </a:xfrm>
        </p:spPr>
        <p:txBody>
          <a:bodyPr/>
          <a:lstStyle/>
          <a:p>
            <a:fld id="{C02DB14C-CA3B-48D0-A4AD-EE84165A7D09}" type="datetimeFigureOut">
              <a:rPr lang="en-IN" smtClean="0"/>
              <a:t>18-08-2026</a:t>
            </a:fld>
            <a:endParaRPr lang="en-IN"/>
          </a:p>
        </p:txBody>
      </p:sp>
      <p:sp>
        <p:nvSpPr>
          <p:cNvPr id="5" name="Footer Placeholder 4"/>
          <p:cNvSpPr>
            <a:spLocks noGrp="1"/>
          </p:cNvSpPr>
          <p:nvPr>
            <p:ph type="ftr" sz="quarter" idx="11"/>
          </p:nvPr>
        </p:nvSpPr>
        <p:spPr>
          <a:xfrm>
            <a:off x="3635756" y="7033450"/>
            <a:ext cx="3421888" cy="276999"/>
          </a:xfrm>
        </p:spPr>
        <p:txBody>
          <a:bodyPr/>
          <a:lstStyle/>
          <a:p>
            <a:endParaRPr lang="en-IN"/>
          </a:p>
        </p:txBody>
      </p:sp>
      <p:sp>
        <p:nvSpPr>
          <p:cNvPr id="6" name="Slide Number Placeholder 5"/>
          <p:cNvSpPr>
            <a:spLocks noGrp="1"/>
          </p:cNvSpPr>
          <p:nvPr>
            <p:ph type="sldNum" sz="quarter" idx="12"/>
          </p:nvPr>
        </p:nvSpPr>
        <p:spPr>
          <a:xfrm>
            <a:off x="7699248" y="7033450"/>
            <a:ext cx="2459482" cy="276999"/>
          </a:xfrm>
        </p:spPr>
        <p:txBody>
          <a:bodyPr/>
          <a:lstStyle/>
          <a:p>
            <a:fld id="{D04DDC5D-C530-42F6-BEC7-8368A6C65AB4}" type="slidenum">
              <a:rPr lang="en-IN" smtClean="0"/>
              <a:t>‹#›</a:t>
            </a:fld>
            <a:endParaRPr lang="en-IN"/>
          </a:p>
        </p:txBody>
      </p:sp>
    </p:spTree>
    <p:extLst>
      <p:ext uri="{BB962C8B-B14F-4D97-AF65-F5344CB8AC3E}">
        <p14:creationId xmlns:p14="http://schemas.microsoft.com/office/powerpoint/2010/main" val="20785695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01700" y="3421507"/>
            <a:ext cx="1555114" cy="391160"/>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901700" y="2320337"/>
            <a:ext cx="8765540" cy="2562860"/>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nature.com/articles/s41467-024-48998-4#data-availability"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5446" y="2665120"/>
            <a:ext cx="8020050" cy="1355303"/>
          </a:xfrm>
          <a:solidFill>
            <a:schemeClr val="accent2">
              <a:lumMod val="40000"/>
              <a:lumOff val="60000"/>
            </a:schemeClr>
          </a:solidFill>
        </p:spPr>
        <p:txBody>
          <a:bodyPr>
            <a:normAutofit fontScale="90000"/>
          </a:bodyPr>
          <a:lstStyle/>
          <a:p>
            <a:r>
              <a:rPr lang="en-US" sz="3158" spc="-100" dirty="0">
                <a:latin typeface="Arial Black" panose="020B0A04020102020204" pitchFamily="34" charset="0"/>
              </a:rPr>
              <a:t>AI-</a:t>
            </a:r>
            <a:r>
              <a:rPr lang="en-US" sz="3158" spc="-35" dirty="0">
                <a:latin typeface="Arial Black" panose="020B0A04020102020204" pitchFamily="34" charset="0"/>
              </a:rPr>
              <a:t>Driven</a:t>
            </a:r>
            <a:r>
              <a:rPr lang="en-US" sz="3158" spc="-118" dirty="0">
                <a:latin typeface="Arial Black" panose="020B0A04020102020204" pitchFamily="34" charset="0"/>
              </a:rPr>
              <a:t> </a:t>
            </a:r>
            <a:r>
              <a:rPr lang="en-US" sz="3158" spc="-18" dirty="0">
                <a:latin typeface="Arial Black" panose="020B0A04020102020204" pitchFamily="34" charset="0"/>
              </a:rPr>
              <a:t>Explainable</a:t>
            </a:r>
            <a:r>
              <a:rPr lang="en-US" sz="3158" spc="-114" dirty="0">
                <a:latin typeface="Arial Black" panose="020B0A04020102020204" pitchFamily="34" charset="0"/>
              </a:rPr>
              <a:t> </a:t>
            </a:r>
            <a:r>
              <a:rPr lang="en-US" sz="3158" spc="100" dirty="0">
                <a:latin typeface="Arial Black" panose="020B0A04020102020204" pitchFamily="34" charset="0"/>
              </a:rPr>
              <a:t>MOF </a:t>
            </a:r>
            <a:r>
              <a:rPr lang="en-US" sz="3158" spc="-26" dirty="0">
                <a:latin typeface="Arial Black" panose="020B0A04020102020204" pitchFamily="34" charset="0"/>
              </a:rPr>
              <a:t>Recommendation</a:t>
            </a:r>
            <a:r>
              <a:rPr lang="en-US" sz="3158" spc="-149" dirty="0">
                <a:latin typeface="Arial Black" panose="020B0A04020102020204" pitchFamily="34" charset="0"/>
              </a:rPr>
              <a:t> </a:t>
            </a:r>
            <a:r>
              <a:rPr lang="en-US" sz="3158" spc="-92" dirty="0">
                <a:latin typeface="Arial Black" panose="020B0A04020102020204" pitchFamily="34" charset="0"/>
              </a:rPr>
              <a:t>with</a:t>
            </a:r>
            <a:r>
              <a:rPr lang="en-US" sz="3158" spc="-171" dirty="0">
                <a:latin typeface="Arial Black" panose="020B0A04020102020204" pitchFamily="34" charset="0"/>
              </a:rPr>
              <a:t> </a:t>
            </a:r>
            <a:r>
              <a:rPr lang="en-US" sz="3158" spc="171" dirty="0">
                <a:latin typeface="Arial Black" panose="020B0A04020102020204" pitchFamily="34" charset="0"/>
              </a:rPr>
              <a:t>RAG</a:t>
            </a:r>
            <a:r>
              <a:rPr lang="en-US" sz="3158" spc="-149" dirty="0">
                <a:latin typeface="Arial Black" panose="020B0A04020102020204" pitchFamily="34" charset="0"/>
              </a:rPr>
              <a:t> </a:t>
            </a:r>
            <a:r>
              <a:rPr lang="en-US" sz="3158" spc="-18" dirty="0">
                <a:latin typeface="Arial Black" panose="020B0A04020102020204" pitchFamily="34" charset="0"/>
              </a:rPr>
              <a:t>and</a:t>
            </a:r>
            <a:r>
              <a:rPr lang="en-US" sz="3158" spc="-149" dirty="0">
                <a:latin typeface="Arial Black" panose="020B0A04020102020204" pitchFamily="34" charset="0"/>
              </a:rPr>
              <a:t> </a:t>
            </a:r>
            <a:r>
              <a:rPr lang="en-US" sz="3158" spc="-48" dirty="0">
                <a:latin typeface="Arial Black" panose="020B0A04020102020204" pitchFamily="34" charset="0"/>
              </a:rPr>
              <a:t>Multi-</a:t>
            </a:r>
            <a:r>
              <a:rPr lang="en-US" sz="3158" spc="-39" dirty="0">
                <a:latin typeface="Arial Black" panose="020B0A04020102020204" pitchFamily="34" charset="0"/>
              </a:rPr>
              <a:t>Objective</a:t>
            </a:r>
            <a:r>
              <a:rPr lang="en-US" sz="3158" spc="-136" dirty="0">
                <a:latin typeface="Arial Black" panose="020B0A04020102020204" pitchFamily="34" charset="0"/>
              </a:rPr>
              <a:t> </a:t>
            </a:r>
            <a:r>
              <a:rPr lang="en-US" sz="3158" spc="-9" dirty="0">
                <a:latin typeface="Arial Black" panose="020B0A04020102020204" pitchFamily="34" charset="0"/>
              </a:rPr>
              <a:t>Optimization</a:t>
            </a:r>
            <a:endParaRPr lang="en-IN" sz="3158" dirty="0">
              <a:latin typeface="Arial Black" panose="020B0A04020102020204" pitchFamily="34" charset="0"/>
            </a:endParaRPr>
          </a:p>
        </p:txBody>
      </p:sp>
      <p:sp>
        <p:nvSpPr>
          <p:cNvPr id="3" name="Subtitle 2"/>
          <p:cNvSpPr>
            <a:spLocks noGrp="1"/>
          </p:cNvSpPr>
          <p:nvPr>
            <p:ph type="subTitle" idx="1"/>
          </p:nvPr>
        </p:nvSpPr>
        <p:spPr>
          <a:xfrm>
            <a:off x="1385446" y="4326465"/>
            <a:ext cx="8020050" cy="115416"/>
          </a:xfrm>
        </p:spPr>
        <p:txBody>
          <a:bodyPr/>
          <a:lstStyle/>
          <a:p>
            <a:pPr>
              <a:lnSpc>
                <a:spcPts val="894"/>
              </a:lnSpc>
            </a:pPr>
            <a:r>
              <a:rPr lang="en-IN" dirty="0">
                <a:solidFill>
                  <a:srgbClr val="808080"/>
                </a:solidFill>
                <a:latin typeface="Tahoma"/>
                <a:cs typeface="Tahoma"/>
              </a:rPr>
              <a:t>22AIE452 –</a:t>
            </a:r>
            <a:r>
              <a:rPr lang="en-IN" spc="4" dirty="0">
                <a:solidFill>
                  <a:srgbClr val="808080"/>
                </a:solidFill>
                <a:latin typeface="Tahoma"/>
                <a:cs typeface="Tahoma"/>
              </a:rPr>
              <a:t> </a:t>
            </a:r>
            <a:r>
              <a:rPr lang="en-IN" dirty="0">
                <a:solidFill>
                  <a:srgbClr val="808080"/>
                </a:solidFill>
                <a:latin typeface="Tahoma"/>
                <a:cs typeface="Tahoma"/>
              </a:rPr>
              <a:t>Dara</a:t>
            </a:r>
            <a:r>
              <a:rPr lang="en-IN" spc="-4" dirty="0">
                <a:solidFill>
                  <a:srgbClr val="808080"/>
                </a:solidFill>
                <a:latin typeface="Tahoma"/>
                <a:cs typeface="Tahoma"/>
              </a:rPr>
              <a:t> </a:t>
            </a:r>
            <a:r>
              <a:rPr lang="en-IN" dirty="0">
                <a:solidFill>
                  <a:srgbClr val="808080"/>
                </a:solidFill>
                <a:latin typeface="Tahoma"/>
                <a:cs typeface="Tahoma"/>
              </a:rPr>
              <a:t>Driven</a:t>
            </a:r>
            <a:r>
              <a:rPr lang="en-IN" spc="22" dirty="0">
                <a:solidFill>
                  <a:srgbClr val="808080"/>
                </a:solidFill>
                <a:latin typeface="Tahoma"/>
                <a:cs typeface="Tahoma"/>
              </a:rPr>
              <a:t> </a:t>
            </a:r>
            <a:r>
              <a:rPr lang="en-IN" dirty="0">
                <a:solidFill>
                  <a:srgbClr val="808080"/>
                </a:solidFill>
                <a:latin typeface="Tahoma"/>
                <a:cs typeface="Tahoma"/>
              </a:rPr>
              <a:t>Material</a:t>
            </a:r>
            <a:r>
              <a:rPr lang="en-IN" spc="39" dirty="0">
                <a:solidFill>
                  <a:srgbClr val="808080"/>
                </a:solidFill>
                <a:latin typeface="Tahoma"/>
                <a:cs typeface="Tahoma"/>
              </a:rPr>
              <a:t> </a:t>
            </a:r>
            <a:r>
              <a:rPr lang="en-IN" dirty="0" err="1">
                <a:solidFill>
                  <a:srgbClr val="808080"/>
                </a:solidFill>
                <a:latin typeface="Tahoma"/>
                <a:cs typeface="Tahoma"/>
              </a:rPr>
              <a:t>Modeling</a:t>
            </a:r>
            <a:r>
              <a:rPr lang="en-IN" spc="-4" dirty="0">
                <a:solidFill>
                  <a:srgbClr val="808080"/>
                </a:solidFill>
                <a:latin typeface="Tahoma"/>
                <a:cs typeface="Tahoma"/>
              </a:rPr>
              <a:t> </a:t>
            </a:r>
            <a:r>
              <a:rPr lang="en-IN" dirty="0">
                <a:solidFill>
                  <a:srgbClr val="808080"/>
                </a:solidFill>
                <a:latin typeface="Tahoma"/>
                <a:cs typeface="Tahoma"/>
              </a:rPr>
              <a:t>and </a:t>
            </a:r>
            <a:r>
              <a:rPr lang="en-IN" spc="-9" dirty="0">
                <a:solidFill>
                  <a:srgbClr val="808080"/>
                </a:solidFill>
                <a:latin typeface="Tahoma"/>
                <a:cs typeface="Tahoma"/>
              </a:rPr>
              <a:t>Simulation</a:t>
            </a:r>
            <a:endParaRPr lang="en-IN" dirty="0">
              <a:latin typeface="Tahoma"/>
              <a:cs typeface="Tahoma"/>
            </a:endParaRPr>
          </a:p>
        </p:txBody>
      </p:sp>
      <p:sp>
        <p:nvSpPr>
          <p:cNvPr id="5" name="Rectangle 4"/>
          <p:cNvSpPr/>
          <p:nvPr/>
        </p:nvSpPr>
        <p:spPr>
          <a:xfrm>
            <a:off x="4456185" y="4586537"/>
            <a:ext cx="2615548" cy="2686248"/>
          </a:xfrm>
          <a:prstGeom prst="rect">
            <a:avLst/>
          </a:prstGeom>
        </p:spPr>
        <p:txBody>
          <a:bodyPr wrap="square">
            <a:spAutoFit/>
          </a:bodyPr>
          <a:lstStyle/>
          <a:p>
            <a:r>
              <a:rPr lang="en-IN" sz="2456" b="1" dirty="0">
                <a:latin typeface="Bell MT" panose="02020503060305020303" pitchFamily="18" charset="0"/>
              </a:rPr>
              <a:t>Team_09</a:t>
            </a:r>
          </a:p>
          <a:p>
            <a:br>
              <a:rPr lang="en-IN" dirty="0"/>
            </a:br>
            <a:r>
              <a:rPr lang="en-IN" dirty="0">
                <a:latin typeface="Bell MT" panose="02020503060305020303" pitchFamily="18" charset="0"/>
              </a:rPr>
              <a:t>Amrutha.T-24255</a:t>
            </a:r>
          </a:p>
          <a:p>
            <a:r>
              <a:rPr lang="en-IN" dirty="0" err="1">
                <a:latin typeface="Bell MT" panose="02020503060305020303" pitchFamily="18" charset="0"/>
              </a:rPr>
              <a:t>Charan</a:t>
            </a:r>
            <a:r>
              <a:rPr lang="en-IN" dirty="0">
                <a:latin typeface="Bell MT" panose="02020503060305020303" pitchFamily="18" charset="0"/>
              </a:rPr>
              <a:t> </a:t>
            </a:r>
            <a:r>
              <a:rPr lang="en-IN" dirty="0" err="1">
                <a:latin typeface="Bell MT" panose="02020503060305020303" pitchFamily="18" charset="0"/>
              </a:rPr>
              <a:t>Tej</a:t>
            </a:r>
            <a:r>
              <a:rPr lang="en-IN" dirty="0">
                <a:latin typeface="Bell MT" panose="02020503060305020303" pitchFamily="18" charset="0"/>
              </a:rPr>
              <a:t> Reddy.Y-24259</a:t>
            </a:r>
          </a:p>
          <a:p>
            <a:r>
              <a:rPr lang="en-IN" dirty="0">
                <a:latin typeface="Bell MT" panose="02020503060305020303" pitchFamily="18" charset="0"/>
              </a:rPr>
              <a:t>Poojitha.D-24263</a:t>
            </a:r>
          </a:p>
          <a:p>
            <a:r>
              <a:rPr lang="en-US" dirty="0" err="1">
                <a:latin typeface="Bell MT" panose="02020503060305020303" pitchFamily="18" charset="0"/>
              </a:rPr>
              <a:t>Enku</a:t>
            </a:r>
            <a:r>
              <a:rPr lang="en-US" dirty="0">
                <a:latin typeface="Bell MT" panose="02020503060305020303" pitchFamily="18" charset="0"/>
              </a:rPr>
              <a:t> Sai </a:t>
            </a:r>
            <a:r>
              <a:rPr lang="en-US" dirty="0" err="1">
                <a:latin typeface="Bell MT" panose="02020503060305020303" pitchFamily="18" charset="0"/>
              </a:rPr>
              <a:t>Mohith</a:t>
            </a:r>
            <a:r>
              <a:rPr lang="en-US" dirty="0">
                <a:latin typeface="Bell MT" panose="02020503060305020303" pitchFamily="18" charset="0"/>
              </a:rPr>
              <a:t> – 24316</a:t>
            </a:r>
          </a:p>
          <a:p>
            <a:r>
              <a:rPr lang="en-US" dirty="0" err="1">
                <a:latin typeface="Bell MT" panose="02020503060305020303" pitchFamily="18" charset="0"/>
              </a:rPr>
              <a:t>Ramu</a:t>
            </a:r>
            <a:r>
              <a:rPr lang="en-US" dirty="0">
                <a:latin typeface="Bell MT" panose="02020503060305020303" pitchFamily="18" charset="0"/>
              </a:rPr>
              <a:t> </a:t>
            </a:r>
            <a:r>
              <a:rPr lang="en-US" dirty="0" err="1">
                <a:latin typeface="Bell MT" panose="02020503060305020303" pitchFamily="18" charset="0"/>
              </a:rPr>
              <a:t>Jahna</a:t>
            </a:r>
            <a:r>
              <a:rPr lang="en-US" dirty="0">
                <a:latin typeface="Bell MT" panose="02020503060305020303" pitchFamily="18" charset="0"/>
              </a:rPr>
              <a:t> </a:t>
            </a:r>
            <a:r>
              <a:rPr lang="en-US" dirty="0" err="1">
                <a:latin typeface="Bell MT" panose="02020503060305020303" pitchFamily="18" charset="0"/>
              </a:rPr>
              <a:t>Bindu</a:t>
            </a:r>
            <a:r>
              <a:rPr lang="en-US" dirty="0">
                <a:latin typeface="Bell MT" panose="02020503060305020303" pitchFamily="18" charset="0"/>
              </a:rPr>
              <a:t> - 24249</a:t>
            </a:r>
            <a:endParaRPr lang="en-IN" dirty="0">
              <a:latin typeface="Bell MT" panose="02020503060305020303" pitchFamily="18" charset="0"/>
            </a:endParaRPr>
          </a:p>
        </p:txBody>
      </p:sp>
      <p:pic>
        <p:nvPicPr>
          <p:cNvPr id="6" name="Picture 5"/>
          <p:cNvPicPr>
            <a:picLocks noChangeAspect="1"/>
          </p:cNvPicPr>
          <p:nvPr/>
        </p:nvPicPr>
        <p:blipFill>
          <a:blip r:embed="rId2"/>
          <a:stretch>
            <a:fillRect/>
          </a:stretch>
        </p:blipFill>
        <p:spPr>
          <a:xfrm>
            <a:off x="2886825" y="1033701"/>
            <a:ext cx="5166407" cy="1395821"/>
          </a:xfrm>
          <a:prstGeom prst="rect">
            <a:avLst/>
          </a:prstGeom>
        </p:spPr>
      </p:pic>
    </p:spTree>
    <p:extLst>
      <p:ext uri="{BB962C8B-B14F-4D97-AF65-F5344CB8AC3E}">
        <p14:creationId xmlns:p14="http://schemas.microsoft.com/office/powerpoint/2010/main" val="1104882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8899" y="215009"/>
            <a:ext cx="10515599" cy="505267"/>
          </a:xfrm>
          <a:prstGeom prst="rect">
            <a:avLst/>
          </a:prstGeom>
          <a:solidFill>
            <a:schemeClr val="accent5">
              <a:lumMod val="20000"/>
              <a:lumOff val="80000"/>
            </a:schemeClr>
          </a:solidFill>
        </p:spPr>
        <p:txBody>
          <a:bodyPr vert="horz" wrap="square" lIns="0" tIns="12700" rIns="0" bIns="0" rtlCol="0">
            <a:spAutoFit/>
          </a:bodyPr>
          <a:lstStyle/>
          <a:p>
            <a:pPr marL="12700">
              <a:lnSpc>
                <a:spcPct val="100000"/>
              </a:lnSpc>
              <a:spcBef>
                <a:spcPts val="100"/>
              </a:spcBef>
            </a:pPr>
            <a:r>
              <a:rPr sz="3200" spc="-10" dirty="0"/>
              <a:t>Introduction</a:t>
            </a:r>
            <a:endParaRPr sz="3200" dirty="0"/>
          </a:p>
        </p:txBody>
      </p:sp>
      <p:sp>
        <p:nvSpPr>
          <p:cNvPr id="3" name="object 3"/>
          <p:cNvSpPr txBox="1"/>
          <p:nvPr/>
        </p:nvSpPr>
        <p:spPr>
          <a:xfrm>
            <a:off x="88900" y="968833"/>
            <a:ext cx="10363200" cy="2669320"/>
          </a:xfrm>
          <a:prstGeom prst="rect">
            <a:avLst/>
          </a:prstGeom>
        </p:spPr>
        <p:txBody>
          <a:bodyPr vert="horz" wrap="square" lIns="0" tIns="12065" rIns="0" bIns="0" rtlCol="0">
            <a:spAutoFit/>
          </a:bodyPr>
          <a:lstStyle/>
          <a:p>
            <a:pPr marL="12700" marR="5080">
              <a:lnSpc>
                <a:spcPct val="110300"/>
              </a:lnSpc>
              <a:spcBef>
                <a:spcPts val="95"/>
              </a:spcBef>
            </a:pPr>
            <a:r>
              <a:rPr spc="-10" dirty="0">
                <a:latin typeface="Arial MT"/>
                <a:cs typeface="Arial MT"/>
              </a:rPr>
              <a:t>Metal–</a:t>
            </a:r>
            <a:r>
              <a:rPr dirty="0">
                <a:latin typeface="Arial MT"/>
                <a:cs typeface="Arial MT"/>
              </a:rPr>
              <a:t>Organic</a:t>
            </a:r>
            <a:r>
              <a:rPr spc="-25" dirty="0">
                <a:latin typeface="Arial MT"/>
                <a:cs typeface="Arial MT"/>
              </a:rPr>
              <a:t> </a:t>
            </a:r>
            <a:r>
              <a:rPr dirty="0">
                <a:latin typeface="Arial MT"/>
                <a:cs typeface="Arial MT"/>
              </a:rPr>
              <a:t>Frameworks</a:t>
            </a:r>
            <a:r>
              <a:rPr spc="-20" dirty="0">
                <a:latin typeface="Arial MT"/>
                <a:cs typeface="Arial MT"/>
              </a:rPr>
              <a:t> </a:t>
            </a:r>
            <a:r>
              <a:rPr dirty="0">
                <a:latin typeface="Arial MT"/>
                <a:cs typeface="Arial MT"/>
              </a:rPr>
              <a:t>(MOFs)</a:t>
            </a:r>
            <a:r>
              <a:rPr spc="-25" dirty="0">
                <a:latin typeface="Arial MT"/>
                <a:cs typeface="Arial MT"/>
              </a:rPr>
              <a:t> </a:t>
            </a:r>
            <a:r>
              <a:rPr dirty="0">
                <a:latin typeface="Arial MT"/>
                <a:cs typeface="Arial MT"/>
              </a:rPr>
              <a:t>are</a:t>
            </a:r>
            <a:r>
              <a:rPr spc="-20" dirty="0">
                <a:latin typeface="Arial MT"/>
                <a:cs typeface="Arial MT"/>
              </a:rPr>
              <a:t> </a:t>
            </a:r>
            <a:r>
              <a:rPr dirty="0">
                <a:latin typeface="Arial MT"/>
                <a:cs typeface="Arial MT"/>
              </a:rPr>
              <a:t>advanced</a:t>
            </a:r>
            <a:r>
              <a:rPr spc="-25" dirty="0">
                <a:latin typeface="Arial MT"/>
                <a:cs typeface="Arial MT"/>
              </a:rPr>
              <a:t> </a:t>
            </a:r>
            <a:r>
              <a:rPr dirty="0">
                <a:latin typeface="Arial MT"/>
                <a:cs typeface="Arial MT"/>
              </a:rPr>
              <a:t>porous</a:t>
            </a:r>
            <a:r>
              <a:rPr spc="-30" dirty="0">
                <a:latin typeface="Arial MT"/>
                <a:cs typeface="Arial MT"/>
              </a:rPr>
              <a:t> </a:t>
            </a:r>
            <a:r>
              <a:rPr dirty="0">
                <a:latin typeface="Arial MT"/>
                <a:cs typeface="Arial MT"/>
              </a:rPr>
              <a:t>materials</a:t>
            </a:r>
            <a:r>
              <a:rPr spc="-25" dirty="0">
                <a:latin typeface="Arial MT"/>
                <a:cs typeface="Arial MT"/>
              </a:rPr>
              <a:t> </a:t>
            </a:r>
            <a:r>
              <a:rPr dirty="0">
                <a:latin typeface="Arial MT"/>
                <a:cs typeface="Arial MT"/>
              </a:rPr>
              <a:t>widely</a:t>
            </a:r>
            <a:r>
              <a:rPr spc="-35" dirty="0">
                <a:latin typeface="Arial MT"/>
                <a:cs typeface="Arial MT"/>
              </a:rPr>
              <a:t> </a:t>
            </a:r>
            <a:r>
              <a:rPr dirty="0">
                <a:latin typeface="Arial MT"/>
                <a:cs typeface="Arial MT"/>
              </a:rPr>
              <a:t>used</a:t>
            </a:r>
            <a:r>
              <a:rPr spc="-20" dirty="0">
                <a:latin typeface="Arial MT"/>
                <a:cs typeface="Arial MT"/>
              </a:rPr>
              <a:t> </a:t>
            </a:r>
            <a:r>
              <a:rPr dirty="0">
                <a:latin typeface="Arial MT"/>
                <a:cs typeface="Arial MT"/>
              </a:rPr>
              <a:t>in</a:t>
            </a:r>
            <a:r>
              <a:rPr spc="-25" dirty="0">
                <a:latin typeface="Arial MT"/>
                <a:cs typeface="Arial MT"/>
              </a:rPr>
              <a:t> </a:t>
            </a:r>
            <a:r>
              <a:rPr dirty="0">
                <a:latin typeface="Arial MT"/>
                <a:cs typeface="Arial MT"/>
              </a:rPr>
              <a:t>carbon</a:t>
            </a:r>
            <a:r>
              <a:rPr spc="-20" dirty="0">
                <a:latin typeface="Arial MT"/>
                <a:cs typeface="Arial MT"/>
              </a:rPr>
              <a:t> </a:t>
            </a:r>
            <a:r>
              <a:rPr dirty="0">
                <a:latin typeface="Arial MT"/>
                <a:cs typeface="Arial MT"/>
              </a:rPr>
              <a:t>capture,</a:t>
            </a:r>
            <a:r>
              <a:rPr spc="-35" dirty="0">
                <a:latin typeface="Arial MT"/>
                <a:cs typeface="Arial MT"/>
              </a:rPr>
              <a:t> </a:t>
            </a:r>
            <a:r>
              <a:rPr dirty="0">
                <a:latin typeface="Arial MT"/>
                <a:cs typeface="Arial MT"/>
              </a:rPr>
              <a:t>hydrogen</a:t>
            </a:r>
            <a:r>
              <a:rPr spc="-20" dirty="0">
                <a:latin typeface="Arial MT"/>
                <a:cs typeface="Arial MT"/>
              </a:rPr>
              <a:t> </a:t>
            </a:r>
            <a:r>
              <a:rPr dirty="0">
                <a:latin typeface="Arial MT"/>
                <a:cs typeface="Arial MT"/>
              </a:rPr>
              <a:t>storage,</a:t>
            </a:r>
            <a:r>
              <a:rPr spc="-20" dirty="0">
                <a:latin typeface="Arial MT"/>
                <a:cs typeface="Arial MT"/>
              </a:rPr>
              <a:t> </a:t>
            </a:r>
            <a:r>
              <a:rPr spc="-25" dirty="0">
                <a:latin typeface="Arial MT"/>
                <a:cs typeface="Arial MT"/>
              </a:rPr>
              <a:t>gas </a:t>
            </a:r>
            <a:r>
              <a:rPr dirty="0">
                <a:latin typeface="Arial MT"/>
                <a:cs typeface="Arial MT"/>
              </a:rPr>
              <a:t>separation,</a:t>
            </a:r>
            <a:r>
              <a:rPr spc="-30" dirty="0">
                <a:latin typeface="Arial MT"/>
                <a:cs typeface="Arial MT"/>
              </a:rPr>
              <a:t> </a:t>
            </a:r>
            <a:r>
              <a:rPr dirty="0">
                <a:latin typeface="Arial MT"/>
                <a:cs typeface="Arial MT"/>
              </a:rPr>
              <a:t>and</a:t>
            </a:r>
            <a:r>
              <a:rPr spc="-20" dirty="0">
                <a:latin typeface="Arial MT"/>
                <a:cs typeface="Arial MT"/>
              </a:rPr>
              <a:t> </a:t>
            </a:r>
            <a:r>
              <a:rPr dirty="0">
                <a:latin typeface="Arial MT"/>
                <a:cs typeface="Arial MT"/>
              </a:rPr>
              <a:t>energy</a:t>
            </a:r>
            <a:r>
              <a:rPr spc="-15" dirty="0">
                <a:latin typeface="Arial MT"/>
                <a:cs typeface="Arial MT"/>
              </a:rPr>
              <a:t> </a:t>
            </a:r>
            <a:r>
              <a:rPr dirty="0">
                <a:latin typeface="Arial MT"/>
                <a:cs typeface="Arial MT"/>
              </a:rPr>
              <a:t>applications.</a:t>
            </a:r>
            <a:r>
              <a:rPr spc="-20" dirty="0">
                <a:latin typeface="Arial MT"/>
                <a:cs typeface="Arial MT"/>
              </a:rPr>
              <a:t> </a:t>
            </a:r>
            <a:r>
              <a:rPr dirty="0">
                <a:latin typeface="Arial MT"/>
                <a:cs typeface="Arial MT"/>
              </a:rPr>
              <a:t>However,</a:t>
            </a:r>
            <a:r>
              <a:rPr spc="-15" dirty="0">
                <a:latin typeface="Arial MT"/>
                <a:cs typeface="Arial MT"/>
              </a:rPr>
              <a:t> </a:t>
            </a:r>
            <a:r>
              <a:rPr dirty="0">
                <a:latin typeface="Arial MT"/>
                <a:cs typeface="Arial MT"/>
              </a:rPr>
              <a:t>selecting</a:t>
            </a:r>
            <a:r>
              <a:rPr spc="-25" dirty="0">
                <a:latin typeface="Arial MT"/>
                <a:cs typeface="Arial MT"/>
              </a:rPr>
              <a:t> </a:t>
            </a:r>
            <a:r>
              <a:rPr dirty="0">
                <a:latin typeface="Arial MT"/>
                <a:cs typeface="Arial MT"/>
              </a:rPr>
              <a:t>the</a:t>
            </a:r>
            <a:r>
              <a:rPr spc="-20" dirty="0">
                <a:latin typeface="Arial MT"/>
                <a:cs typeface="Arial MT"/>
              </a:rPr>
              <a:t> </a:t>
            </a:r>
            <a:r>
              <a:rPr dirty="0">
                <a:latin typeface="Arial MT"/>
                <a:cs typeface="Arial MT"/>
              </a:rPr>
              <a:t>right</a:t>
            </a:r>
            <a:r>
              <a:rPr spc="-15" dirty="0">
                <a:latin typeface="Arial MT"/>
                <a:cs typeface="Arial MT"/>
              </a:rPr>
              <a:t> </a:t>
            </a:r>
            <a:r>
              <a:rPr dirty="0">
                <a:latin typeface="Arial MT"/>
                <a:cs typeface="Arial MT"/>
              </a:rPr>
              <a:t>MOF</a:t>
            </a:r>
            <a:r>
              <a:rPr spc="-30" dirty="0">
                <a:latin typeface="Arial MT"/>
                <a:cs typeface="Arial MT"/>
              </a:rPr>
              <a:t> </a:t>
            </a:r>
            <a:r>
              <a:rPr dirty="0">
                <a:latin typeface="Arial MT"/>
                <a:cs typeface="Arial MT"/>
              </a:rPr>
              <a:t>from</a:t>
            </a:r>
            <a:r>
              <a:rPr spc="-15" dirty="0">
                <a:latin typeface="Arial MT"/>
                <a:cs typeface="Arial MT"/>
              </a:rPr>
              <a:t> </a:t>
            </a:r>
            <a:r>
              <a:rPr dirty="0">
                <a:latin typeface="Arial MT"/>
                <a:cs typeface="Arial MT"/>
              </a:rPr>
              <a:t>thousands</a:t>
            </a:r>
            <a:r>
              <a:rPr spc="-30" dirty="0">
                <a:latin typeface="Arial MT"/>
                <a:cs typeface="Arial MT"/>
              </a:rPr>
              <a:t> </a:t>
            </a:r>
            <a:r>
              <a:rPr dirty="0">
                <a:latin typeface="Arial MT"/>
                <a:cs typeface="Arial MT"/>
              </a:rPr>
              <a:t>of</a:t>
            </a:r>
            <a:r>
              <a:rPr spc="-20" dirty="0">
                <a:latin typeface="Arial MT"/>
                <a:cs typeface="Arial MT"/>
              </a:rPr>
              <a:t> </a:t>
            </a:r>
            <a:r>
              <a:rPr dirty="0">
                <a:latin typeface="Arial MT"/>
                <a:cs typeface="Arial MT"/>
              </a:rPr>
              <a:t>available</a:t>
            </a:r>
            <a:r>
              <a:rPr spc="-15" dirty="0">
                <a:latin typeface="Arial MT"/>
                <a:cs typeface="Arial MT"/>
              </a:rPr>
              <a:t> </a:t>
            </a:r>
            <a:r>
              <a:rPr dirty="0">
                <a:latin typeface="Arial MT"/>
                <a:cs typeface="Arial MT"/>
              </a:rPr>
              <a:t>materials</a:t>
            </a:r>
            <a:r>
              <a:rPr spc="-20" dirty="0">
                <a:latin typeface="Arial MT"/>
                <a:cs typeface="Arial MT"/>
              </a:rPr>
              <a:t> </a:t>
            </a:r>
            <a:r>
              <a:rPr dirty="0">
                <a:latin typeface="Arial MT"/>
                <a:cs typeface="Arial MT"/>
              </a:rPr>
              <a:t>is</a:t>
            </a:r>
            <a:r>
              <a:rPr spc="-15" dirty="0">
                <a:latin typeface="Arial MT"/>
                <a:cs typeface="Arial MT"/>
              </a:rPr>
              <a:t> </a:t>
            </a:r>
            <a:r>
              <a:rPr dirty="0">
                <a:latin typeface="Arial MT"/>
                <a:cs typeface="Arial MT"/>
              </a:rPr>
              <a:t>difficult</a:t>
            </a:r>
            <a:r>
              <a:rPr spc="-30" dirty="0">
                <a:latin typeface="Arial MT"/>
                <a:cs typeface="Arial MT"/>
              </a:rPr>
              <a:t> </a:t>
            </a:r>
            <a:r>
              <a:rPr dirty="0">
                <a:latin typeface="Arial MT"/>
                <a:cs typeface="Arial MT"/>
              </a:rPr>
              <a:t>because</a:t>
            </a:r>
            <a:r>
              <a:rPr spc="-25" dirty="0">
                <a:latin typeface="Arial MT"/>
                <a:cs typeface="Arial MT"/>
              </a:rPr>
              <a:t> it </a:t>
            </a:r>
            <a:r>
              <a:rPr dirty="0">
                <a:latin typeface="Arial MT"/>
                <a:cs typeface="Arial MT"/>
              </a:rPr>
              <a:t>requires</a:t>
            </a:r>
            <a:r>
              <a:rPr spc="-25" dirty="0">
                <a:latin typeface="Arial MT"/>
                <a:cs typeface="Arial MT"/>
              </a:rPr>
              <a:t> </a:t>
            </a:r>
            <a:r>
              <a:rPr dirty="0">
                <a:latin typeface="Arial MT"/>
                <a:cs typeface="Arial MT"/>
              </a:rPr>
              <a:t>analyzing</a:t>
            </a:r>
            <a:r>
              <a:rPr spc="-30" dirty="0">
                <a:latin typeface="Arial MT"/>
                <a:cs typeface="Arial MT"/>
              </a:rPr>
              <a:t> </a:t>
            </a:r>
            <a:r>
              <a:rPr dirty="0">
                <a:latin typeface="Arial MT"/>
                <a:cs typeface="Arial MT"/>
              </a:rPr>
              <a:t>large</a:t>
            </a:r>
            <a:r>
              <a:rPr spc="-30" dirty="0">
                <a:latin typeface="Arial MT"/>
                <a:cs typeface="Arial MT"/>
              </a:rPr>
              <a:t> </a:t>
            </a:r>
            <a:r>
              <a:rPr dirty="0">
                <a:latin typeface="Arial MT"/>
                <a:cs typeface="Arial MT"/>
              </a:rPr>
              <a:t>scientific</a:t>
            </a:r>
            <a:r>
              <a:rPr spc="-35" dirty="0">
                <a:latin typeface="Arial MT"/>
                <a:cs typeface="Arial MT"/>
              </a:rPr>
              <a:t> </a:t>
            </a:r>
            <a:r>
              <a:rPr dirty="0">
                <a:latin typeface="Arial MT"/>
                <a:cs typeface="Arial MT"/>
              </a:rPr>
              <a:t>databases</a:t>
            </a:r>
            <a:r>
              <a:rPr spc="-35" dirty="0">
                <a:latin typeface="Arial MT"/>
                <a:cs typeface="Arial MT"/>
              </a:rPr>
              <a:t> </a:t>
            </a:r>
            <a:r>
              <a:rPr dirty="0">
                <a:latin typeface="Arial MT"/>
                <a:cs typeface="Arial MT"/>
              </a:rPr>
              <a:t>using</a:t>
            </a:r>
            <a:r>
              <a:rPr spc="-30" dirty="0">
                <a:latin typeface="Arial MT"/>
                <a:cs typeface="Arial MT"/>
              </a:rPr>
              <a:t> </a:t>
            </a:r>
            <a:r>
              <a:rPr dirty="0">
                <a:latin typeface="Arial MT"/>
                <a:cs typeface="Arial MT"/>
              </a:rPr>
              <a:t>programming</a:t>
            </a:r>
            <a:r>
              <a:rPr spc="-35" dirty="0">
                <a:latin typeface="Arial MT"/>
                <a:cs typeface="Arial MT"/>
              </a:rPr>
              <a:t> </a:t>
            </a:r>
            <a:r>
              <a:rPr dirty="0">
                <a:latin typeface="Arial MT"/>
                <a:cs typeface="Arial MT"/>
              </a:rPr>
              <a:t>and</a:t>
            </a:r>
            <a:r>
              <a:rPr spc="-25" dirty="0">
                <a:latin typeface="Arial MT"/>
                <a:cs typeface="Arial MT"/>
              </a:rPr>
              <a:t> </a:t>
            </a:r>
            <a:r>
              <a:rPr dirty="0">
                <a:latin typeface="Arial MT"/>
                <a:cs typeface="Arial MT"/>
              </a:rPr>
              <a:t>database</a:t>
            </a:r>
            <a:r>
              <a:rPr spc="-25" dirty="0">
                <a:latin typeface="Arial MT"/>
                <a:cs typeface="Arial MT"/>
              </a:rPr>
              <a:t> </a:t>
            </a:r>
            <a:r>
              <a:rPr dirty="0">
                <a:latin typeface="Arial MT"/>
                <a:cs typeface="Arial MT"/>
              </a:rPr>
              <a:t>query</a:t>
            </a:r>
            <a:r>
              <a:rPr spc="-45" dirty="0">
                <a:latin typeface="Arial MT"/>
                <a:cs typeface="Arial MT"/>
              </a:rPr>
              <a:t> </a:t>
            </a:r>
            <a:r>
              <a:rPr dirty="0">
                <a:latin typeface="Arial MT"/>
                <a:cs typeface="Arial MT"/>
              </a:rPr>
              <a:t>languages.</a:t>
            </a:r>
            <a:r>
              <a:rPr spc="-25" dirty="0">
                <a:latin typeface="Arial MT"/>
                <a:cs typeface="Arial MT"/>
              </a:rPr>
              <a:t> </a:t>
            </a:r>
            <a:r>
              <a:rPr dirty="0">
                <a:latin typeface="Arial MT"/>
                <a:cs typeface="Arial MT"/>
              </a:rPr>
              <a:t>MOF</a:t>
            </a:r>
            <a:r>
              <a:rPr spc="-25" dirty="0">
                <a:latin typeface="Arial MT"/>
                <a:cs typeface="Arial MT"/>
              </a:rPr>
              <a:t> </a:t>
            </a:r>
            <a:r>
              <a:rPr dirty="0">
                <a:latin typeface="Arial MT"/>
                <a:cs typeface="Arial MT"/>
              </a:rPr>
              <a:t>Chat</a:t>
            </a:r>
            <a:r>
              <a:rPr spc="-25" dirty="0">
                <a:latin typeface="Arial MT"/>
                <a:cs typeface="Arial MT"/>
              </a:rPr>
              <a:t> </a:t>
            </a:r>
            <a:r>
              <a:rPr dirty="0">
                <a:latin typeface="Arial MT"/>
                <a:cs typeface="Arial MT"/>
              </a:rPr>
              <a:t>addresses</a:t>
            </a:r>
            <a:r>
              <a:rPr spc="-25" dirty="0">
                <a:latin typeface="Arial MT"/>
                <a:cs typeface="Arial MT"/>
              </a:rPr>
              <a:t> </a:t>
            </a:r>
            <a:r>
              <a:rPr spc="-20" dirty="0">
                <a:latin typeface="Arial MT"/>
                <a:cs typeface="Arial MT"/>
              </a:rPr>
              <a:t>this </a:t>
            </a:r>
            <a:r>
              <a:rPr dirty="0">
                <a:latin typeface="Arial MT"/>
                <a:cs typeface="Arial MT"/>
              </a:rPr>
              <a:t>challenge</a:t>
            </a:r>
            <a:r>
              <a:rPr spc="-20" dirty="0">
                <a:latin typeface="Arial MT"/>
                <a:cs typeface="Arial MT"/>
              </a:rPr>
              <a:t> </a:t>
            </a:r>
            <a:r>
              <a:rPr dirty="0">
                <a:latin typeface="Arial MT"/>
                <a:cs typeface="Arial MT"/>
              </a:rPr>
              <a:t>by</a:t>
            </a:r>
            <a:r>
              <a:rPr spc="-35" dirty="0">
                <a:latin typeface="Arial MT"/>
                <a:cs typeface="Arial MT"/>
              </a:rPr>
              <a:t> </a:t>
            </a:r>
            <a:r>
              <a:rPr dirty="0">
                <a:latin typeface="Arial MT"/>
                <a:cs typeface="Arial MT"/>
              </a:rPr>
              <a:t>providing</a:t>
            </a:r>
            <a:r>
              <a:rPr spc="-25" dirty="0">
                <a:latin typeface="Arial MT"/>
                <a:cs typeface="Arial MT"/>
              </a:rPr>
              <a:t> </a:t>
            </a:r>
            <a:r>
              <a:rPr dirty="0">
                <a:latin typeface="Arial MT"/>
                <a:cs typeface="Arial MT"/>
              </a:rPr>
              <a:t>a</a:t>
            </a:r>
            <a:r>
              <a:rPr spc="-15" dirty="0">
                <a:latin typeface="Arial MT"/>
                <a:cs typeface="Arial MT"/>
              </a:rPr>
              <a:t> </a:t>
            </a:r>
            <a:r>
              <a:rPr dirty="0">
                <a:latin typeface="Arial MT"/>
                <a:cs typeface="Arial MT"/>
              </a:rPr>
              <a:t>conversational</a:t>
            </a:r>
            <a:r>
              <a:rPr spc="-15" dirty="0">
                <a:latin typeface="Arial MT"/>
                <a:cs typeface="Arial MT"/>
              </a:rPr>
              <a:t> </a:t>
            </a:r>
            <a:r>
              <a:rPr dirty="0">
                <a:latin typeface="Arial MT"/>
                <a:cs typeface="Arial MT"/>
              </a:rPr>
              <a:t>AI</a:t>
            </a:r>
            <a:r>
              <a:rPr spc="-30" dirty="0">
                <a:latin typeface="Arial MT"/>
                <a:cs typeface="Arial MT"/>
              </a:rPr>
              <a:t> </a:t>
            </a:r>
            <a:r>
              <a:rPr dirty="0">
                <a:latin typeface="Arial MT"/>
                <a:cs typeface="Arial MT"/>
              </a:rPr>
              <a:t>assistant</a:t>
            </a:r>
            <a:r>
              <a:rPr spc="-15" dirty="0">
                <a:latin typeface="Arial MT"/>
                <a:cs typeface="Arial MT"/>
              </a:rPr>
              <a:t> </a:t>
            </a:r>
            <a:r>
              <a:rPr dirty="0">
                <a:latin typeface="Arial MT"/>
                <a:cs typeface="Arial MT"/>
              </a:rPr>
              <a:t>that</a:t>
            </a:r>
            <a:r>
              <a:rPr spc="-30" dirty="0">
                <a:latin typeface="Arial MT"/>
                <a:cs typeface="Arial MT"/>
              </a:rPr>
              <a:t> </a:t>
            </a:r>
            <a:r>
              <a:rPr dirty="0">
                <a:latin typeface="Arial MT"/>
                <a:cs typeface="Arial MT"/>
              </a:rPr>
              <a:t>enables</a:t>
            </a:r>
            <a:r>
              <a:rPr spc="-25" dirty="0">
                <a:latin typeface="Arial MT"/>
                <a:cs typeface="Arial MT"/>
              </a:rPr>
              <a:t> </a:t>
            </a:r>
            <a:r>
              <a:rPr dirty="0">
                <a:latin typeface="Arial MT"/>
                <a:cs typeface="Arial MT"/>
              </a:rPr>
              <a:t>users</a:t>
            </a:r>
            <a:r>
              <a:rPr spc="-20" dirty="0">
                <a:latin typeface="Arial MT"/>
                <a:cs typeface="Arial MT"/>
              </a:rPr>
              <a:t> </a:t>
            </a:r>
            <a:r>
              <a:rPr dirty="0">
                <a:latin typeface="Arial MT"/>
                <a:cs typeface="Arial MT"/>
              </a:rPr>
              <a:t>to</a:t>
            </a:r>
            <a:r>
              <a:rPr spc="-20" dirty="0">
                <a:latin typeface="Arial MT"/>
                <a:cs typeface="Arial MT"/>
              </a:rPr>
              <a:t> </a:t>
            </a:r>
            <a:r>
              <a:rPr dirty="0">
                <a:latin typeface="Arial MT"/>
                <a:cs typeface="Arial MT"/>
              </a:rPr>
              <a:t>search</a:t>
            </a:r>
            <a:r>
              <a:rPr spc="-25" dirty="0">
                <a:latin typeface="Arial MT"/>
                <a:cs typeface="Arial MT"/>
              </a:rPr>
              <a:t> </a:t>
            </a:r>
            <a:r>
              <a:rPr dirty="0">
                <a:latin typeface="Arial MT"/>
                <a:cs typeface="Arial MT"/>
              </a:rPr>
              <a:t>and</a:t>
            </a:r>
            <a:r>
              <a:rPr spc="-20" dirty="0">
                <a:latin typeface="Arial MT"/>
                <a:cs typeface="Arial MT"/>
              </a:rPr>
              <a:t> </a:t>
            </a:r>
            <a:r>
              <a:rPr dirty="0">
                <a:latin typeface="Arial MT"/>
                <a:cs typeface="Arial MT"/>
              </a:rPr>
              <a:t>compare</a:t>
            </a:r>
            <a:r>
              <a:rPr spc="-15" dirty="0">
                <a:latin typeface="Arial MT"/>
                <a:cs typeface="Arial MT"/>
              </a:rPr>
              <a:t> </a:t>
            </a:r>
            <a:r>
              <a:rPr dirty="0">
                <a:latin typeface="Arial MT"/>
                <a:cs typeface="Arial MT"/>
              </a:rPr>
              <a:t>MOFs</a:t>
            </a:r>
            <a:r>
              <a:rPr spc="-20" dirty="0">
                <a:latin typeface="Arial MT"/>
                <a:cs typeface="Arial MT"/>
              </a:rPr>
              <a:t> </a:t>
            </a:r>
            <a:r>
              <a:rPr dirty="0">
                <a:latin typeface="Arial MT"/>
                <a:cs typeface="Arial MT"/>
              </a:rPr>
              <a:t>using</a:t>
            </a:r>
            <a:r>
              <a:rPr spc="-30" dirty="0">
                <a:latin typeface="Arial MT"/>
                <a:cs typeface="Arial MT"/>
              </a:rPr>
              <a:t> </a:t>
            </a:r>
            <a:r>
              <a:rPr dirty="0">
                <a:latin typeface="Arial MT"/>
                <a:cs typeface="Arial MT"/>
              </a:rPr>
              <a:t>natural</a:t>
            </a:r>
            <a:r>
              <a:rPr spc="-15" dirty="0">
                <a:latin typeface="Arial MT"/>
                <a:cs typeface="Arial MT"/>
              </a:rPr>
              <a:t> </a:t>
            </a:r>
            <a:r>
              <a:rPr spc="-10" dirty="0">
                <a:latin typeface="Arial MT"/>
                <a:cs typeface="Arial MT"/>
              </a:rPr>
              <a:t>language.</a:t>
            </a:r>
            <a:endParaRPr dirty="0">
              <a:latin typeface="Arial MT"/>
              <a:cs typeface="Arial MT"/>
            </a:endParaRPr>
          </a:p>
          <a:p>
            <a:pPr marL="12700">
              <a:lnSpc>
                <a:spcPct val="100000"/>
              </a:lnSpc>
              <a:spcBef>
                <a:spcPts val="130"/>
              </a:spcBef>
            </a:pPr>
            <a:r>
              <a:rPr dirty="0">
                <a:latin typeface="Arial MT"/>
                <a:cs typeface="Arial MT"/>
              </a:rPr>
              <a:t>Instead</a:t>
            </a:r>
            <a:r>
              <a:rPr spc="-25" dirty="0">
                <a:latin typeface="Arial MT"/>
                <a:cs typeface="Arial MT"/>
              </a:rPr>
              <a:t> </a:t>
            </a:r>
            <a:r>
              <a:rPr dirty="0">
                <a:latin typeface="Arial MT"/>
                <a:cs typeface="Arial MT"/>
              </a:rPr>
              <a:t>of</a:t>
            </a:r>
            <a:r>
              <a:rPr spc="-5" dirty="0">
                <a:latin typeface="Arial MT"/>
                <a:cs typeface="Arial MT"/>
              </a:rPr>
              <a:t> </a:t>
            </a:r>
            <a:r>
              <a:rPr dirty="0">
                <a:latin typeface="Arial MT"/>
                <a:cs typeface="Arial MT"/>
              </a:rPr>
              <a:t>writing</a:t>
            </a:r>
            <a:r>
              <a:rPr spc="-25" dirty="0">
                <a:latin typeface="Arial MT"/>
                <a:cs typeface="Arial MT"/>
              </a:rPr>
              <a:t> </a:t>
            </a:r>
            <a:r>
              <a:rPr dirty="0">
                <a:latin typeface="Arial MT"/>
                <a:cs typeface="Arial MT"/>
              </a:rPr>
              <a:t>SQL</a:t>
            </a:r>
            <a:r>
              <a:rPr spc="-10" dirty="0">
                <a:latin typeface="Arial MT"/>
                <a:cs typeface="Arial MT"/>
              </a:rPr>
              <a:t> </a:t>
            </a:r>
            <a:r>
              <a:rPr dirty="0">
                <a:latin typeface="Arial MT"/>
                <a:cs typeface="Arial MT"/>
              </a:rPr>
              <a:t>or</a:t>
            </a:r>
            <a:r>
              <a:rPr spc="-15" dirty="0">
                <a:latin typeface="Arial MT"/>
                <a:cs typeface="Arial MT"/>
              </a:rPr>
              <a:t> </a:t>
            </a:r>
            <a:r>
              <a:rPr dirty="0">
                <a:latin typeface="Arial MT"/>
                <a:cs typeface="Arial MT"/>
              </a:rPr>
              <a:t>Python</a:t>
            </a:r>
            <a:r>
              <a:rPr spc="-15" dirty="0">
                <a:latin typeface="Arial MT"/>
                <a:cs typeface="Arial MT"/>
              </a:rPr>
              <a:t> </a:t>
            </a:r>
            <a:r>
              <a:rPr dirty="0">
                <a:latin typeface="Arial MT"/>
                <a:cs typeface="Arial MT"/>
              </a:rPr>
              <a:t>code,</a:t>
            </a:r>
            <a:r>
              <a:rPr spc="-15" dirty="0">
                <a:latin typeface="Arial MT"/>
                <a:cs typeface="Arial MT"/>
              </a:rPr>
              <a:t> </a:t>
            </a:r>
            <a:r>
              <a:rPr dirty="0">
                <a:latin typeface="Arial MT"/>
                <a:cs typeface="Arial MT"/>
              </a:rPr>
              <a:t>users</a:t>
            </a:r>
            <a:r>
              <a:rPr spc="-30" dirty="0">
                <a:latin typeface="Arial MT"/>
                <a:cs typeface="Arial MT"/>
              </a:rPr>
              <a:t> </a:t>
            </a:r>
            <a:r>
              <a:rPr dirty="0">
                <a:latin typeface="Arial MT"/>
                <a:cs typeface="Arial MT"/>
              </a:rPr>
              <a:t>can</a:t>
            </a:r>
            <a:r>
              <a:rPr spc="-15" dirty="0">
                <a:latin typeface="Arial MT"/>
                <a:cs typeface="Arial MT"/>
              </a:rPr>
              <a:t> </a:t>
            </a:r>
            <a:r>
              <a:rPr dirty="0">
                <a:latin typeface="Arial MT"/>
                <a:cs typeface="Arial MT"/>
              </a:rPr>
              <a:t>simply</a:t>
            </a:r>
            <a:r>
              <a:rPr spc="-30" dirty="0">
                <a:latin typeface="Arial MT"/>
                <a:cs typeface="Arial MT"/>
              </a:rPr>
              <a:t> </a:t>
            </a:r>
            <a:r>
              <a:rPr dirty="0">
                <a:latin typeface="Arial MT"/>
                <a:cs typeface="Arial MT"/>
              </a:rPr>
              <a:t>ask</a:t>
            </a:r>
            <a:r>
              <a:rPr spc="-15" dirty="0">
                <a:latin typeface="Arial MT"/>
                <a:cs typeface="Arial MT"/>
              </a:rPr>
              <a:t> </a:t>
            </a:r>
            <a:r>
              <a:rPr dirty="0">
                <a:latin typeface="Arial MT"/>
                <a:cs typeface="Arial MT"/>
              </a:rPr>
              <a:t>questions</a:t>
            </a:r>
            <a:r>
              <a:rPr spc="-15" dirty="0">
                <a:latin typeface="Arial MT"/>
                <a:cs typeface="Arial MT"/>
              </a:rPr>
              <a:t> </a:t>
            </a:r>
            <a:r>
              <a:rPr dirty="0">
                <a:latin typeface="Arial MT"/>
                <a:cs typeface="Arial MT"/>
              </a:rPr>
              <a:t>such</a:t>
            </a:r>
            <a:r>
              <a:rPr spc="-25" dirty="0">
                <a:latin typeface="Arial MT"/>
                <a:cs typeface="Arial MT"/>
              </a:rPr>
              <a:t> </a:t>
            </a:r>
            <a:r>
              <a:rPr dirty="0">
                <a:latin typeface="Arial MT"/>
                <a:cs typeface="Arial MT"/>
              </a:rPr>
              <a:t>as </a:t>
            </a:r>
            <a:r>
              <a:rPr i="1" dirty="0">
                <a:latin typeface="Arial"/>
                <a:cs typeface="Arial"/>
              </a:rPr>
              <a:t>"Which</a:t>
            </a:r>
            <a:r>
              <a:rPr i="1" spc="-15" dirty="0">
                <a:latin typeface="Arial"/>
                <a:cs typeface="Arial"/>
              </a:rPr>
              <a:t> </a:t>
            </a:r>
            <a:r>
              <a:rPr i="1" dirty="0">
                <a:latin typeface="Arial"/>
                <a:cs typeface="Arial"/>
              </a:rPr>
              <a:t>MOF</a:t>
            </a:r>
            <a:r>
              <a:rPr i="1" spc="-15" dirty="0">
                <a:latin typeface="Arial"/>
                <a:cs typeface="Arial"/>
              </a:rPr>
              <a:t> </a:t>
            </a:r>
            <a:r>
              <a:rPr i="1" dirty="0">
                <a:latin typeface="Arial"/>
                <a:cs typeface="Arial"/>
              </a:rPr>
              <a:t>has</a:t>
            </a:r>
            <a:r>
              <a:rPr i="1" spc="-15" dirty="0">
                <a:latin typeface="Arial"/>
                <a:cs typeface="Arial"/>
              </a:rPr>
              <a:t> </a:t>
            </a:r>
            <a:r>
              <a:rPr i="1" dirty="0">
                <a:latin typeface="Arial"/>
                <a:cs typeface="Arial"/>
              </a:rPr>
              <a:t>the</a:t>
            </a:r>
            <a:r>
              <a:rPr i="1" spc="-25" dirty="0">
                <a:latin typeface="Arial"/>
                <a:cs typeface="Arial"/>
              </a:rPr>
              <a:t> </a:t>
            </a:r>
            <a:r>
              <a:rPr i="1" dirty="0">
                <a:latin typeface="Arial"/>
                <a:cs typeface="Arial"/>
              </a:rPr>
              <a:t>highest</a:t>
            </a:r>
            <a:r>
              <a:rPr i="1" spc="-15" dirty="0">
                <a:latin typeface="Arial"/>
                <a:cs typeface="Arial"/>
              </a:rPr>
              <a:t> </a:t>
            </a:r>
            <a:r>
              <a:rPr i="1" dirty="0">
                <a:latin typeface="Arial"/>
                <a:cs typeface="Arial"/>
              </a:rPr>
              <a:t>surface</a:t>
            </a:r>
            <a:r>
              <a:rPr i="1" spc="-15" dirty="0">
                <a:latin typeface="Arial"/>
                <a:cs typeface="Arial"/>
              </a:rPr>
              <a:t> </a:t>
            </a:r>
            <a:r>
              <a:rPr i="1" dirty="0">
                <a:latin typeface="Arial"/>
                <a:cs typeface="Arial"/>
              </a:rPr>
              <a:t>area?" </a:t>
            </a:r>
            <a:r>
              <a:rPr spc="-25" dirty="0">
                <a:latin typeface="Arial MT"/>
                <a:cs typeface="Arial MT"/>
              </a:rPr>
              <a:t>or</a:t>
            </a:r>
            <a:endParaRPr dirty="0">
              <a:latin typeface="Arial MT"/>
              <a:cs typeface="Arial MT"/>
            </a:endParaRPr>
          </a:p>
          <a:p>
            <a:pPr marL="12700">
              <a:lnSpc>
                <a:spcPct val="100000"/>
              </a:lnSpc>
              <a:spcBef>
                <a:spcPts val="110"/>
              </a:spcBef>
            </a:pPr>
            <a:r>
              <a:rPr i="1" dirty="0">
                <a:latin typeface="Arial"/>
                <a:cs typeface="Arial"/>
              </a:rPr>
              <a:t>"Suggest</a:t>
            </a:r>
            <a:r>
              <a:rPr i="1" spc="-25" dirty="0">
                <a:latin typeface="Arial"/>
                <a:cs typeface="Arial"/>
              </a:rPr>
              <a:t> </a:t>
            </a:r>
            <a:r>
              <a:rPr i="1" dirty="0">
                <a:latin typeface="Arial"/>
                <a:cs typeface="Arial"/>
              </a:rPr>
              <a:t>a</a:t>
            </a:r>
            <a:r>
              <a:rPr i="1" spc="-20" dirty="0">
                <a:latin typeface="Arial"/>
                <a:cs typeface="Arial"/>
              </a:rPr>
              <a:t> </a:t>
            </a:r>
            <a:r>
              <a:rPr i="1" dirty="0">
                <a:latin typeface="Arial"/>
                <a:cs typeface="Arial"/>
              </a:rPr>
              <a:t>MOF</a:t>
            </a:r>
            <a:r>
              <a:rPr i="1" spc="-25" dirty="0">
                <a:latin typeface="Arial"/>
                <a:cs typeface="Arial"/>
              </a:rPr>
              <a:t> </a:t>
            </a:r>
            <a:r>
              <a:rPr i="1" dirty="0">
                <a:latin typeface="Arial"/>
                <a:cs typeface="Arial"/>
              </a:rPr>
              <a:t>for</a:t>
            </a:r>
            <a:r>
              <a:rPr i="1" spc="-20" dirty="0">
                <a:latin typeface="Arial"/>
                <a:cs typeface="Arial"/>
              </a:rPr>
              <a:t> </a:t>
            </a:r>
            <a:r>
              <a:rPr i="1" dirty="0">
                <a:latin typeface="Arial"/>
                <a:cs typeface="Arial"/>
              </a:rPr>
              <a:t>CO</a:t>
            </a:r>
            <a:r>
              <a:rPr dirty="0">
                <a:latin typeface="Cambria Math"/>
                <a:cs typeface="Cambria Math"/>
              </a:rPr>
              <a:t>₂</a:t>
            </a:r>
            <a:r>
              <a:rPr spc="40" dirty="0">
                <a:latin typeface="Cambria Math"/>
                <a:cs typeface="Cambria Math"/>
              </a:rPr>
              <a:t> </a:t>
            </a:r>
            <a:r>
              <a:rPr i="1" dirty="0">
                <a:latin typeface="Arial"/>
                <a:cs typeface="Arial"/>
              </a:rPr>
              <a:t>capture,"</a:t>
            </a:r>
            <a:r>
              <a:rPr i="1" spc="-15" dirty="0">
                <a:latin typeface="Arial"/>
                <a:cs typeface="Arial"/>
              </a:rPr>
              <a:t> </a:t>
            </a:r>
            <a:r>
              <a:rPr dirty="0">
                <a:latin typeface="Arial MT"/>
                <a:cs typeface="Arial MT"/>
              </a:rPr>
              <a:t>and</a:t>
            </a:r>
            <a:r>
              <a:rPr spc="-30" dirty="0">
                <a:latin typeface="Arial MT"/>
                <a:cs typeface="Arial MT"/>
              </a:rPr>
              <a:t> </a:t>
            </a:r>
            <a:r>
              <a:rPr dirty="0">
                <a:latin typeface="Arial MT"/>
                <a:cs typeface="Arial MT"/>
              </a:rPr>
              <a:t>the</a:t>
            </a:r>
            <a:r>
              <a:rPr spc="-25" dirty="0">
                <a:latin typeface="Arial MT"/>
                <a:cs typeface="Arial MT"/>
              </a:rPr>
              <a:t> </a:t>
            </a:r>
            <a:r>
              <a:rPr dirty="0">
                <a:latin typeface="Arial MT"/>
                <a:cs typeface="Arial MT"/>
              </a:rPr>
              <a:t>system</a:t>
            </a:r>
            <a:r>
              <a:rPr spc="-20" dirty="0">
                <a:latin typeface="Arial MT"/>
                <a:cs typeface="Arial MT"/>
              </a:rPr>
              <a:t> </a:t>
            </a:r>
            <a:r>
              <a:rPr dirty="0">
                <a:latin typeface="Arial MT"/>
                <a:cs typeface="Arial MT"/>
              </a:rPr>
              <a:t>retrieves</a:t>
            </a:r>
            <a:r>
              <a:rPr spc="-20" dirty="0">
                <a:latin typeface="Arial MT"/>
                <a:cs typeface="Arial MT"/>
              </a:rPr>
              <a:t> </a:t>
            </a:r>
            <a:r>
              <a:rPr dirty="0">
                <a:latin typeface="Arial MT"/>
                <a:cs typeface="Arial MT"/>
              </a:rPr>
              <a:t>and</a:t>
            </a:r>
            <a:r>
              <a:rPr spc="-25" dirty="0">
                <a:latin typeface="Arial MT"/>
                <a:cs typeface="Arial MT"/>
              </a:rPr>
              <a:t> </a:t>
            </a:r>
            <a:r>
              <a:rPr dirty="0">
                <a:latin typeface="Arial MT"/>
                <a:cs typeface="Arial MT"/>
              </a:rPr>
              <a:t>explains</a:t>
            </a:r>
            <a:r>
              <a:rPr spc="-20" dirty="0">
                <a:latin typeface="Arial MT"/>
                <a:cs typeface="Arial MT"/>
              </a:rPr>
              <a:t> </a:t>
            </a:r>
            <a:r>
              <a:rPr dirty="0">
                <a:latin typeface="Arial MT"/>
                <a:cs typeface="Arial MT"/>
              </a:rPr>
              <a:t>the</a:t>
            </a:r>
            <a:r>
              <a:rPr spc="-30" dirty="0">
                <a:latin typeface="Arial MT"/>
                <a:cs typeface="Arial MT"/>
              </a:rPr>
              <a:t> </a:t>
            </a:r>
            <a:r>
              <a:rPr dirty="0">
                <a:latin typeface="Arial MT"/>
                <a:cs typeface="Arial MT"/>
              </a:rPr>
              <a:t>most</a:t>
            </a:r>
            <a:r>
              <a:rPr spc="-30" dirty="0">
                <a:latin typeface="Arial MT"/>
                <a:cs typeface="Arial MT"/>
              </a:rPr>
              <a:t> </a:t>
            </a:r>
            <a:r>
              <a:rPr dirty="0">
                <a:latin typeface="Arial MT"/>
                <a:cs typeface="Arial MT"/>
              </a:rPr>
              <a:t>suitable</a:t>
            </a:r>
            <a:r>
              <a:rPr spc="-20" dirty="0">
                <a:latin typeface="Arial MT"/>
                <a:cs typeface="Arial MT"/>
              </a:rPr>
              <a:t> </a:t>
            </a:r>
            <a:r>
              <a:rPr dirty="0">
                <a:latin typeface="Arial MT"/>
                <a:cs typeface="Arial MT"/>
              </a:rPr>
              <a:t>materials</a:t>
            </a:r>
            <a:r>
              <a:rPr spc="-35" dirty="0">
                <a:latin typeface="Arial MT"/>
                <a:cs typeface="Arial MT"/>
              </a:rPr>
              <a:t> </a:t>
            </a:r>
            <a:r>
              <a:rPr dirty="0">
                <a:latin typeface="Arial MT"/>
                <a:cs typeface="Arial MT"/>
              </a:rPr>
              <a:t>from</a:t>
            </a:r>
            <a:r>
              <a:rPr spc="-25" dirty="0">
                <a:latin typeface="Arial MT"/>
                <a:cs typeface="Arial MT"/>
              </a:rPr>
              <a:t> </a:t>
            </a:r>
            <a:r>
              <a:rPr dirty="0">
                <a:latin typeface="Arial MT"/>
                <a:cs typeface="Arial MT"/>
              </a:rPr>
              <a:t>the</a:t>
            </a:r>
            <a:r>
              <a:rPr spc="-30" dirty="0">
                <a:latin typeface="Arial MT"/>
                <a:cs typeface="Arial MT"/>
              </a:rPr>
              <a:t> </a:t>
            </a:r>
            <a:r>
              <a:rPr spc="-10" dirty="0">
                <a:latin typeface="Arial MT"/>
                <a:cs typeface="Arial MT"/>
              </a:rPr>
              <a:t>database.</a:t>
            </a:r>
            <a:endParaRPr dirty="0">
              <a:latin typeface="Arial MT"/>
              <a:cs typeface="Arial MT"/>
            </a:endParaRPr>
          </a:p>
        </p:txBody>
      </p:sp>
      <p:sp>
        <p:nvSpPr>
          <p:cNvPr id="4" name="object 4"/>
          <p:cNvSpPr txBox="1"/>
          <p:nvPr/>
        </p:nvSpPr>
        <p:spPr>
          <a:xfrm>
            <a:off x="165416" y="6524625"/>
            <a:ext cx="10439082" cy="566822"/>
          </a:xfrm>
          <a:prstGeom prst="rect">
            <a:avLst/>
          </a:prstGeom>
        </p:spPr>
        <p:txBody>
          <a:bodyPr vert="horz" wrap="square" lIns="0" tIns="12700" rIns="0" bIns="0" rtlCol="0">
            <a:spAutoFit/>
          </a:bodyPr>
          <a:lstStyle/>
          <a:p>
            <a:pPr marL="12700">
              <a:lnSpc>
                <a:spcPct val="100000"/>
              </a:lnSpc>
              <a:spcBef>
                <a:spcPts val="100"/>
              </a:spcBef>
            </a:pPr>
            <a:r>
              <a:rPr dirty="0">
                <a:latin typeface="Arial MT"/>
                <a:cs typeface="Arial MT"/>
              </a:rPr>
              <a:t>They</a:t>
            </a:r>
            <a:r>
              <a:rPr spc="-35" dirty="0">
                <a:latin typeface="Arial MT"/>
                <a:cs typeface="Arial MT"/>
              </a:rPr>
              <a:t> </a:t>
            </a:r>
            <a:r>
              <a:rPr dirty="0">
                <a:latin typeface="Arial MT"/>
                <a:cs typeface="Arial MT"/>
              </a:rPr>
              <a:t>are</a:t>
            </a:r>
            <a:r>
              <a:rPr spc="-20" dirty="0">
                <a:latin typeface="Arial MT"/>
                <a:cs typeface="Arial MT"/>
              </a:rPr>
              <a:t> </a:t>
            </a:r>
            <a:r>
              <a:rPr dirty="0">
                <a:latin typeface="Arial MT"/>
                <a:cs typeface="Arial MT"/>
              </a:rPr>
              <a:t>crystalline</a:t>
            </a:r>
            <a:r>
              <a:rPr spc="-10" dirty="0">
                <a:latin typeface="Arial MT"/>
                <a:cs typeface="Arial MT"/>
              </a:rPr>
              <a:t> </a:t>
            </a:r>
            <a:r>
              <a:rPr dirty="0">
                <a:latin typeface="Arial MT"/>
                <a:cs typeface="Arial MT"/>
              </a:rPr>
              <a:t>materials</a:t>
            </a:r>
            <a:r>
              <a:rPr spc="-35" dirty="0">
                <a:latin typeface="Arial MT"/>
                <a:cs typeface="Arial MT"/>
              </a:rPr>
              <a:t> </a:t>
            </a:r>
            <a:r>
              <a:rPr dirty="0">
                <a:latin typeface="Arial MT"/>
                <a:cs typeface="Arial MT"/>
              </a:rPr>
              <a:t>made</a:t>
            </a:r>
            <a:r>
              <a:rPr spc="-15" dirty="0">
                <a:latin typeface="Arial MT"/>
                <a:cs typeface="Arial MT"/>
              </a:rPr>
              <a:t> </a:t>
            </a:r>
            <a:r>
              <a:rPr dirty="0">
                <a:latin typeface="Arial MT"/>
                <a:cs typeface="Arial MT"/>
              </a:rPr>
              <a:t>by</a:t>
            </a:r>
            <a:r>
              <a:rPr spc="-10" dirty="0">
                <a:latin typeface="Arial MT"/>
                <a:cs typeface="Arial MT"/>
              </a:rPr>
              <a:t> </a:t>
            </a:r>
            <a:r>
              <a:rPr dirty="0">
                <a:latin typeface="Arial MT"/>
                <a:cs typeface="Arial MT"/>
              </a:rPr>
              <a:t>linking</a:t>
            </a:r>
            <a:r>
              <a:rPr spc="-30" dirty="0">
                <a:latin typeface="Arial MT"/>
                <a:cs typeface="Arial MT"/>
              </a:rPr>
              <a:t> </a:t>
            </a:r>
            <a:r>
              <a:rPr dirty="0">
                <a:latin typeface="Arial MT"/>
                <a:cs typeface="Arial MT"/>
              </a:rPr>
              <a:t>metal</a:t>
            </a:r>
            <a:r>
              <a:rPr spc="-15" dirty="0">
                <a:latin typeface="Arial MT"/>
                <a:cs typeface="Arial MT"/>
              </a:rPr>
              <a:t> </a:t>
            </a:r>
            <a:r>
              <a:rPr dirty="0">
                <a:latin typeface="Arial MT"/>
                <a:cs typeface="Arial MT"/>
              </a:rPr>
              <a:t>ions</a:t>
            </a:r>
            <a:r>
              <a:rPr spc="-20" dirty="0">
                <a:latin typeface="Arial MT"/>
                <a:cs typeface="Arial MT"/>
              </a:rPr>
              <a:t> </a:t>
            </a:r>
            <a:r>
              <a:rPr dirty="0">
                <a:latin typeface="Arial MT"/>
                <a:cs typeface="Arial MT"/>
              </a:rPr>
              <a:t>with</a:t>
            </a:r>
            <a:r>
              <a:rPr spc="-20" dirty="0">
                <a:latin typeface="Arial MT"/>
                <a:cs typeface="Arial MT"/>
              </a:rPr>
              <a:t> </a:t>
            </a:r>
            <a:r>
              <a:rPr dirty="0">
                <a:latin typeface="Arial MT"/>
                <a:cs typeface="Arial MT"/>
              </a:rPr>
              <a:t>organic</a:t>
            </a:r>
            <a:r>
              <a:rPr spc="-15" dirty="0">
                <a:latin typeface="Arial MT"/>
                <a:cs typeface="Arial MT"/>
              </a:rPr>
              <a:t> </a:t>
            </a:r>
            <a:r>
              <a:rPr dirty="0">
                <a:latin typeface="Arial MT"/>
                <a:cs typeface="Arial MT"/>
              </a:rPr>
              <a:t>molecules,</a:t>
            </a:r>
            <a:r>
              <a:rPr spc="-30" dirty="0">
                <a:latin typeface="Arial MT"/>
                <a:cs typeface="Arial MT"/>
              </a:rPr>
              <a:t> </a:t>
            </a:r>
            <a:r>
              <a:rPr dirty="0">
                <a:latin typeface="Arial MT"/>
                <a:cs typeface="Arial MT"/>
              </a:rPr>
              <a:t>creating</a:t>
            </a:r>
            <a:r>
              <a:rPr spc="-35" dirty="0">
                <a:latin typeface="Arial MT"/>
                <a:cs typeface="Arial MT"/>
              </a:rPr>
              <a:t> </a:t>
            </a:r>
            <a:r>
              <a:rPr dirty="0">
                <a:latin typeface="Arial MT"/>
                <a:cs typeface="Arial MT"/>
              </a:rPr>
              <a:t>microscopic</a:t>
            </a:r>
            <a:r>
              <a:rPr spc="-20" dirty="0">
                <a:latin typeface="Arial MT"/>
                <a:cs typeface="Arial MT"/>
              </a:rPr>
              <a:t> </a:t>
            </a:r>
            <a:r>
              <a:rPr spc="-10" dirty="0">
                <a:latin typeface="Arial MT"/>
                <a:cs typeface="Arial MT"/>
              </a:rPr>
              <a:t>cages.</a:t>
            </a:r>
            <a:endParaRPr dirty="0">
              <a:latin typeface="Arial MT"/>
              <a:cs typeface="Arial MT"/>
            </a:endParaRPr>
          </a:p>
        </p:txBody>
      </p:sp>
      <p:pic>
        <p:nvPicPr>
          <p:cNvPr id="5" name="object 5"/>
          <p:cNvPicPr/>
          <p:nvPr/>
        </p:nvPicPr>
        <p:blipFill>
          <a:blip r:embed="rId2" cstate="print"/>
          <a:stretch>
            <a:fillRect/>
          </a:stretch>
        </p:blipFill>
        <p:spPr>
          <a:xfrm>
            <a:off x="3060700" y="3629025"/>
            <a:ext cx="3048000" cy="25907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5417" y="504825"/>
            <a:ext cx="10362883" cy="677108"/>
          </a:xfrm>
          <a:solidFill>
            <a:schemeClr val="accent1">
              <a:lumMod val="40000"/>
              <a:lumOff val="60000"/>
            </a:schemeClr>
          </a:solidFill>
        </p:spPr>
        <p:txBody>
          <a:bodyPr/>
          <a:lstStyle/>
          <a:p>
            <a:r>
              <a:rPr lang="en-US" sz="4400" b="1" dirty="0"/>
              <a:t>Base Paper</a:t>
            </a:r>
            <a:endParaRPr lang="en-IN" sz="4400" b="1" dirty="0"/>
          </a:p>
        </p:txBody>
      </p:sp>
      <p:sp>
        <p:nvSpPr>
          <p:cNvPr id="4" name="object 4"/>
          <p:cNvSpPr txBox="1"/>
          <p:nvPr/>
        </p:nvSpPr>
        <p:spPr>
          <a:xfrm>
            <a:off x="251252" y="1495425"/>
            <a:ext cx="10439082" cy="3211585"/>
          </a:xfrm>
          <a:prstGeom prst="rect">
            <a:avLst/>
          </a:prstGeom>
        </p:spPr>
        <p:txBody>
          <a:bodyPr vert="horz" wrap="square" lIns="0" tIns="12700" rIns="0" bIns="0" rtlCol="0">
            <a:spAutoFit/>
          </a:bodyPr>
          <a:lstStyle/>
          <a:p>
            <a:pPr marL="4140200" marR="19685" indent="-4114165">
              <a:lnSpc>
                <a:spcPct val="110800"/>
              </a:lnSpc>
              <a:spcBef>
                <a:spcPts val="1970"/>
              </a:spcBef>
            </a:pPr>
            <a:r>
              <a:rPr sz="2000" b="1" dirty="0">
                <a:latin typeface="Arial"/>
                <a:cs typeface="Arial"/>
              </a:rPr>
              <a:t>“Chat</a:t>
            </a:r>
            <a:r>
              <a:rPr sz="2000" b="1" spc="-35" dirty="0">
                <a:latin typeface="Arial"/>
                <a:cs typeface="Arial"/>
              </a:rPr>
              <a:t> </a:t>
            </a:r>
            <a:r>
              <a:rPr sz="2000" b="1" dirty="0">
                <a:latin typeface="Arial"/>
                <a:cs typeface="Arial"/>
              </a:rPr>
              <a:t>MOF:</a:t>
            </a:r>
            <a:r>
              <a:rPr sz="2000" b="1" spc="-15" dirty="0">
                <a:latin typeface="Arial"/>
                <a:cs typeface="Arial"/>
              </a:rPr>
              <a:t> </a:t>
            </a:r>
            <a:r>
              <a:rPr sz="2000" b="1" dirty="0">
                <a:latin typeface="Arial"/>
                <a:cs typeface="Arial"/>
              </a:rPr>
              <a:t>An</a:t>
            </a:r>
            <a:r>
              <a:rPr sz="2000" b="1" spc="-30" dirty="0">
                <a:latin typeface="Arial"/>
                <a:cs typeface="Arial"/>
              </a:rPr>
              <a:t> </a:t>
            </a:r>
            <a:r>
              <a:rPr sz="2000" b="1" dirty="0">
                <a:latin typeface="Arial"/>
                <a:cs typeface="Arial"/>
              </a:rPr>
              <a:t>artificial</a:t>
            </a:r>
            <a:r>
              <a:rPr sz="2000" b="1" spc="-35" dirty="0">
                <a:latin typeface="Arial"/>
                <a:cs typeface="Arial"/>
              </a:rPr>
              <a:t> </a:t>
            </a:r>
            <a:r>
              <a:rPr sz="2000" b="1" dirty="0">
                <a:latin typeface="Arial"/>
                <a:cs typeface="Arial"/>
              </a:rPr>
              <a:t>intelligence</a:t>
            </a:r>
            <a:r>
              <a:rPr sz="2000" b="1" spc="-30" dirty="0">
                <a:latin typeface="Arial"/>
                <a:cs typeface="Arial"/>
              </a:rPr>
              <a:t> </a:t>
            </a:r>
            <a:r>
              <a:rPr sz="2000" b="1" dirty="0">
                <a:latin typeface="Arial"/>
                <a:cs typeface="Arial"/>
              </a:rPr>
              <a:t>system</a:t>
            </a:r>
            <a:r>
              <a:rPr sz="2000" b="1" spc="-30" dirty="0">
                <a:latin typeface="Arial"/>
                <a:cs typeface="Arial"/>
              </a:rPr>
              <a:t> </a:t>
            </a:r>
            <a:r>
              <a:rPr sz="2000" b="1" dirty="0">
                <a:latin typeface="Arial"/>
                <a:cs typeface="Arial"/>
              </a:rPr>
              <a:t>for</a:t>
            </a:r>
            <a:r>
              <a:rPr sz="2000" b="1" spc="-35" dirty="0">
                <a:latin typeface="Arial"/>
                <a:cs typeface="Arial"/>
              </a:rPr>
              <a:t> </a:t>
            </a:r>
            <a:r>
              <a:rPr sz="2000" b="1" dirty="0">
                <a:latin typeface="Arial"/>
                <a:cs typeface="Arial"/>
              </a:rPr>
              <a:t>predicting</a:t>
            </a:r>
            <a:r>
              <a:rPr sz="2000" b="1" spc="-30" dirty="0">
                <a:latin typeface="Arial"/>
                <a:cs typeface="Arial"/>
              </a:rPr>
              <a:t> </a:t>
            </a:r>
            <a:r>
              <a:rPr sz="2000" b="1" dirty="0">
                <a:latin typeface="Arial"/>
                <a:cs typeface="Arial"/>
              </a:rPr>
              <a:t>and</a:t>
            </a:r>
            <a:r>
              <a:rPr sz="2000" b="1" spc="-50" dirty="0">
                <a:latin typeface="Arial"/>
                <a:cs typeface="Arial"/>
              </a:rPr>
              <a:t> </a:t>
            </a:r>
            <a:r>
              <a:rPr sz="2000" b="1" dirty="0">
                <a:latin typeface="Arial"/>
                <a:cs typeface="Arial"/>
              </a:rPr>
              <a:t>generating</a:t>
            </a:r>
            <a:r>
              <a:rPr sz="2000" b="1" spc="-30" dirty="0">
                <a:latin typeface="Arial"/>
                <a:cs typeface="Arial"/>
              </a:rPr>
              <a:t> </a:t>
            </a:r>
            <a:r>
              <a:rPr sz="2000" b="1" spc="-10" dirty="0">
                <a:latin typeface="Arial"/>
                <a:cs typeface="Arial"/>
              </a:rPr>
              <a:t>metal-</a:t>
            </a:r>
            <a:r>
              <a:rPr sz="2000" b="1" dirty="0">
                <a:latin typeface="Arial"/>
                <a:cs typeface="Arial"/>
              </a:rPr>
              <a:t>organic</a:t>
            </a:r>
            <a:r>
              <a:rPr sz="2000" b="1" spc="-30" dirty="0">
                <a:latin typeface="Arial"/>
                <a:cs typeface="Arial"/>
              </a:rPr>
              <a:t> </a:t>
            </a:r>
            <a:r>
              <a:rPr sz="2000" b="1" dirty="0">
                <a:latin typeface="Arial"/>
                <a:cs typeface="Arial"/>
              </a:rPr>
              <a:t>frameworks</a:t>
            </a:r>
            <a:r>
              <a:rPr sz="2000" b="1" spc="-35" dirty="0">
                <a:latin typeface="Arial"/>
                <a:cs typeface="Arial"/>
              </a:rPr>
              <a:t> </a:t>
            </a:r>
            <a:r>
              <a:rPr sz="2000" b="1" dirty="0">
                <a:latin typeface="Arial"/>
                <a:cs typeface="Arial"/>
              </a:rPr>
              <a:t>using</a:t>
            </a:r>
            <a:r>
              <a:rPr sz="2000" b="1" spc="-30" dirty="0">
                <a:latin typeface="Arial"/>
                <a:cs typeface="Arial"/>
              </a:rPr>
              <a:t> </a:t>
            </a:r>
            <a:r>
              <a:rPr sz="2000" b="1" dirty="0">
                <a:latin typeface="Arial"/>
                <a:cs typeface="Arial"/>
              </a:rPr>
              <a:t>large</a:t>
            </a:r>
            <a:r>
              <a:rPr sz="2000" b="1" spc="-45" dirty="0">
                <a:latin typeface="Arial"/>
                <a:cs typeface="Arial"/>
              </a:rPr>
              <a:t> </a:t>
            </a:r>
            <a:r>
              <a:rPr sz="2000" b="1" spc="-10" dirty="0">
                <a:latin typeface="Arial"/>
                <a:cs typeface="Arial"/>
              </a:rPr>
              <a:t>language models”</a:t>
            </a:r>
            <a:endParaRPr sz="2000" dirty="0">
              <a:latin typeface="Arial"/>
              <a:cs typeface="Arial"/>
            </a:endParaRPr>
          </a:p>
          <a:p>
            <a:pPr>
              <a:lnSpc>
                <a:spcPct val="100000"/>
              </a:lnSpc>
              <a:spcBef>
                <a:spcPts val="590"/>
              </a:spcBef>
            </a:pPr>
            <a:endParaRPr sz="2000" dirty="0">
              <a:latin typeface="Arial"/>
              <a:cs typeface="Arial"/>
            </a:endParaRPr>
          </a:p>
          <a:p>
            <a:pPr marL="12700">
              <a:lnSpc>
                <a:spcPct val="100000"/>
              </a:lnSpc>
              <a:spcBef>
                <a:spcPts val="5"/>
              </a:spcBef>
            </a:pPr>
            <a:r>
              <a:rPr sz="2000" u="sng" spc="-10" dirty="0">
                <a:solidFill>
                  <a:srgbClr val="467885"/>
                </a:solidFill>
                <a:uFill>
                  <a:solidFill>
                    <a:srgbClr val="467885"/>
                  </a:solidFill>
                </a:uFill>
                <a:latin typeface="Times New Roman"/>
                <a:cs typeface="Times New Roman"/>
                <a:hlinkClick r:id="rId2"/>
              </a:rPr>
              <a:t>https://www.nature.com/articles/s41467-024-48998-4#data-availability</a:t>
            </a:r>
            <a:endParaRPr sz="2000" dirty="0">
              <a:latin typeface="Times New Roman"/>
              <a:cs typeface="Times New Roman"/>
            </a:endParaRPr>
          </a:p>
          <a:p>
            <a:pPr>
              <a:lnSpc>
                <a:spcPct val="100000"/>
              </a:lnSpc>
              <a:spcBef>
                <a:spcPts val="335"/>
              </a:spcBef>
            </a:pPr>
            <a:endParaRPr sz="2000" dirty="0">
              <a:latin typeface="Times New Roman"/>
              <a:cs typeface="Times New Roman"/>
            </a:endParaRPr>
          </a:p>
          <a:p>
            <a:pPr marL="12700">
              <a:lnSpc>
                <a:spcPct val="100000"/>
              </a:lnSpc>
            </a:pPr>
            <a:r>
              <a:rPr sz="2000" b="1" dirty="0">
                <a:solidFill>
                  <a:srgbClr val="C00000"/>
                </a:solidFill>
                <a:latin typeface="Arial"/>
                <a:cs typeface="Arial"/>
              </a:rPr>
              <a:t>What</a:t>
            </a:r>
            <a:r>
              <a:rPr sz="2000" b="1" spc="-45" dirty="0">
                <a:solidFill>
                  <a:srgbClr val="C00000"/>
                </a:solidFill>
                <a:latin typeface="Arial"/>
                <a:cs typeface="Arial"/>
              </a:rPr>
              <a:t> </a:t>
            </a:r>
            <a:r>
              <a:rPr sz="2000" b="1" dirty="0">
                <a:solidFill>
                  <a:srgbClr val="C00000"/>
                </a:solidFill>
                <a:latin typeface="Arial"/>
                <a:cs typeface="Arial"/>
              </a:rPr>
              <a:t>Base</a:t>
            </a:r>
            <a:r>
              <a:rPr sz="2000" b="1" spc="-40" dirty="0">
                <a:solidFill>
                  <a:srgbClr val="C00000"/>
                </a:solidFill>
                <a:latin typeface="Arial"/>
                <a:cs typeface="Arial"/>
              </a:rPr>
              <a:t> </a:t>
            </a:r>
            <a:r>
              <a:rPr sz="2000" b="1" dirty="0">
                <a:solidFill>
                  <a:srgbClr val="C00000"/>
                </a:solidFill>
                <a:latin typeface="Arial"/>
                <a:cs typeface="Arial"/>
              </a:rPr>
              <a:t>paper</a:t>
            </a:r>
            <a:r>
              <a:rPr sz="2000" b="1" spc="-40" dirty="0">
                <a:solidFill>
                  <a:srgbClr val="C00000"/>
                </a:solidFill>
                <a:latin typeface="Arial"/>
                <a:cs typeface="Arial"/>
              </a:rPr>
              <a:t> </a:t>
            </a:r>
            <a:r>
              <a:rPr sz="2000" b="1" spc="-10" dirty="0">
                <a:solidFill>
                  <a:srgbClr val="C00000"/>
                </a:solidFill>
                <a:latin typeface="Arial"/>
                <a:cs typeface="Arial"/>
              </a:rPr>
              <a:t>did??</a:t>
            </a:r>
            <a:endParaRPr sz="2000" dirty="0">
              <a:latin typeface="Arial"/>
              <a:cs typeface="Arial"/>
            </a:endParaRPr>
          </a:p>
          <a:p>
            <a:pPr marL="12700" marR="5080">
              <a:lnSpc>
                <a:spcPct val="110000"/>
              </a:lnSpc>
              <a:spcBef>
                <a:spcPts val="1435"/>
              </a:spcBef>
            </a:pPr>
            <a:r>
              <a:rPr sz="2000" dirty="0">
                <a:latin typeface="Arial MT"/>
                <a:cs typeface="Arial MT"/>
              </a:rPr>
              <a:t>The</a:t>
            </a:r>
            <a:r>
              <a:rPr sz="2000" spc="-5" dirty="0">
                <a:latin typeface="Arial MT"/>
                <a:cs typeface="Arial MT"/>
              </a:rPr>
              <a:t> </a:t>
            </a:r>
            <a:r>
              <a:rPr sz="2000" dirty="0">
                <a:latin typeface="Arial MT"/>
                <a:cs typeface="Arial MT"/>
              </a:rPr>
              <a:t>base</a:t>
            </a:r>
            <a:r>
              <a:rPr sz="2000" spc="-25" dirty="0">
                <a:latin typeface="Arial MT"/>
                <a:cs typeface="Arial MT"/>
              </a:rPr>
              <a:t> </a:t>
            </a:r>
            <a:r>
              <a:rPr sz="2000" dirty="0">
                <a:latin typeface="Arial MT"/>
                <a:cs typeface="Arial MT"/>
              </a:rPr>
              <a:t>paper</a:t>
            </a:r>
            <a:r>
              <a:rPr sz="2000" spc="-15" dirty="0">
                <a:latin typeface="Arial MT"/>
                <a:cs typeface="Arial MT"/>
              </a:rPr>
              <a:t> </a:t>
            </a:r>
            <a:r>
              <a:rPr sz="2000" dirty="0">
                <a:latin typeface="Arial MT"/>
                <a:cs typeface="Arial MT"/>
              </a:rPr>
              <a:t>(ChatMOF)</a:t>
            </a:r>
            <a:r>
              <a:rPr sz="2000" spc="-5" dirty="0">
                <a:latin typeface="Arial MT"/>
                <a:cs typeface="Arial MT"/>
              </a:rPr>
              <a:t> </a:t>
            </a:r>
            <a:r>
              <a:rPr sz="2000" dirty="0">
                <a:latin typeface="Arial MT"/>
                <a:cs typeface="Arial MT"/>
              </a:rPr>
              <a:t>is</a:t>
            </a:r>
            <a:r>
              <a:rPr sz="2000" spc="-15" dirty="0">
                <a:latin typeface="Arial MT"/>
                <a:cs typeface="Arial MT"/>
              </a:rPr>
              <a:t> </a:t>
            </a:r>
            <a:r>
              <a:rPr sz="2000" dirty="0">
                <a:latin typeface="Arial MT"/>
                <a:cs typeface="Arial MT"/>
              </a:rPr>
              <a:t>not</a:t>
            </a:r>
            <a:r>
              <a:rPr sz="2000" spc="-15" dirty="0">
                <a:latin typeface="Arial MT"/>
                <a:cs typeface="Arial MT"/>
              </a:rPr>
              <a:t> </a:t>
            </a:r>
            <a:r>
              <a:rPr sz="2000" dirty="0">
                <a:latin typeface="Arial MT"/>
                <a:cs typeface="Arial MT"/>
              </a:rPr>
              <a:t>simply</a:t>
            </a:r>
            <a:r>
              <a:rPr sz="2000" spc="-25" dirty="0">
                <a:latin typeface="Arial MT"/>
                <a:cs typeface="Arial MT"/>
              </a:rPr>
              <a:t> </a:t>
            </a:r>
            <a:r>
              <a:rPr sz="2000" dirty="0">
                <a:latin typeface="Arial MT"/>
                <a:cs typeface="Arial MT"/>
              </a:rPr>
              <a:t>a</a:t>
            </a:r>
            <a:r>
              <a:rPr sz="2000" spc="-10" dirty="0">
                <a:latin typeface="Arial MT"/>
                <a:cs typeface="Arial MT"/>
              </a:rPr>
              <a:t> </a:t>
            </a:r>
            <a:r>
              <a:rPr sz="2000" dirty="0">
                <a:latin typeface="Arial MT"/>
                <a:cs typeface="Arial MT"/>
              </a:rPr>
              <a:t>chatbot.</a:t>
            </a:r>
            <a:r>
              <a:rPr sz="2000" spc="-25" dirty="0">
                <a:latin typeface="Arial MT"/>
                <a:cs typeface="Arial MT"/>
              </a:rPr>
              <a:t> </a:t>
            </a:r>
            <a:r>
              <a:rPr sz="2000" dirty="0">
                <a:latin typeface="Arial MT"/>
                <a:cs typeface="Arial MT"/>
              </a:rPr>
              <a:t>It</a:t>
            </a:r>
            <a:r>
              <a:rPr sz="2000" spc="-15" dirty="0">
                <a:latin typeface="Arial MT"/>
                <a:cs typeface="Arial MT"/>
              </a:rPr>
              <a:t> </a:t>
            </a:r>
            <a:r>
              <a:rPr sz="2000" dirty="0">
                <a:latin typeface="Arial MT"/>
                <a:cs typeface="Arial MT"/>
              </a:rPr>
              <a:t>is</a:t>
            </a:r>
            <a:r>
              <a:rPr sz="2000" spc="-10" dirty="0">
                <a:latin typeface="Arial MT"/>
                <a:cs typeface="Arial MT"/>
              </a:rPr>
              <a:t> </a:t>
            </a:r>
            <a:r>
              <a:rPr sz="2000" dirty="0">
                <a:latin typeface="Arial MT"/>
                <a:cs typeface="Arial MT"/>
              </a:rPr>
              <a:t>an</a:t>
            </a:r>
            <a:r>
              <a:rPr sz="2000" spc="-10" dirty="0">
                <a:latin typeface="Arial MT"/>
                <a:cs typeface="Arial MT"/>
              </a:rPr>
              <a:t> </a:t>
            </a:r>
            <a:r>
              <a:rPr sz="2000" dirty="0">
                <a:latin typeface="Arial MT"/>
                <a:cs typeface="Arial MT"/>
              </a:rPr>
              <a:t>AI</a:t>
            </a:r>
            <a:r>
              <a:rPr sz="2000" spc="-15" dirty="0">
                <a:latin typeface="Arial MT"/>
                <a:cs typeface="Arial MT"/>
              </a:rPr>
              <a:t> </a:t>
            </a:r>
            <a:r>
              <a:rPr sz="2000" dirty="0">
                <a:latin typeface="Arial MT"/>
                <a:cs typeface="Arial MT"/>
              </a:rPr>
              <a:t>agent</a:t>
            </a:r>
            <a:r>
              <a:rPr sz="2000" spc="-10" dirty="0">
                <a:latin typeface="Arial MT"/>
                <a:cs typeface="Arial MT"/>
              </a:rPr>
              <a:t> </a:t>
            </a:r>
            <a:r>
              <a:rPr sz="2000" dirty="0">
                <a:latin typeface="Arial MT"/>
                <a:cs typeface="Arial MT"/>
              </a:rPr>
              <a:t>that</a:t>
            </a:r>
            <a:r>
              <a:rPr sz="2000" spc="-10" dirty="0">
                <a:latin typeface="Arial MT"/>
                <a:cs typeface="Arial MT"/>
              </a:rPr>
              <a:t> </a:t>
            </a:r>
            <a:r>
              <a:rPr sz="2000" dirty="0">
                <a:latin typeface="Arial MT"/>
                <a:cs typeface="Arial MT"/>
              </a:rPr>
              <a:t>combines</a:t>
            </a:r>
            <a:r>
              <a:rPr sz="2000" spc="-15" dirty="0">
                <a:latin typeface="Arial MT"/>
                <a:cs typeface="Arial MT"/>
              </a:rPr>
              <a:t> </a:t>
            </a:r>
            <a:r>
              <a:rPr sz="2000" dirty="0">
                <a:latin typeface="Arial MT"/>
                <a:cs typeface="Arial MT"/>
              </a:rPr>
              <a:t>a</a:t>
            </a:r>
            <a:r>
              <a:rPr sz="2000" spc="-10" dirty="0">
                <a:latin typeface="Arial MT"/>
                <a:cs typeface="Arial MT"/>
              </a:rPr>
              <a:t> </a:t>
            </a:r>
            <a:r>
              <a:rPr sz="2000" dirty="0">
                <a:latin typeface="Arial MT"/>
                <a:cs typeface="Arial MT"/>
              </a:rPr>
              <a:t>Large</a:t>
            </a:r>
            <a:r>
              <a:rPr sz="2000" spc="-10" dirty="0">
                <a:latin typeface="Arial MT"/>
                <a:cs typeface="Arial MT"/>
              </a:rPr>
              <a:t> </a:t>
            </a:r>
            <a:r>
              <a:rPr sz="2000" dirty="0">
                <a:latin typeface="Arial MT"/>
                <a:cs typeface="Arial MT"/>
              </a:rPr>
              <a:t>Language</a:t>
            </a:r>
            <a:r>
              <a:rPr sz="2000" spc="-15" dirty="0">
                <a:latin typeface="Arial MT"/>
                <a:cs typeface="Arial MT"/>
              </a:rPr>
              <a:t> </a:t>
            </a:r>
            <a:r>
              <a:rPr sz="2000" dirty="0">
                <a:latin typeface="Arial MT"/>
                <a:cs typeface="Arial MT"/>
              </a:rPr>
              <a:t>Model</a:t>
            </a:r>
            <a:r>
              <a:rPr sz="2000" spc="-15" dirty="0">
                <a:latin typeface="Arial MT"/>
                <a:cs typeface="Arial MT"/>
              </a:rPr>
              <a:t> </a:t>
            </a:r>
            <a:r>
              <a:rPr sz="2000" spc="-10" dirty="0">
                <a:latin typeface="Arial MT"/>
                <a:cs typeface="Arial MT"/>
              </a:rPr>
              <a:t>(GPT-</a:t>
            </a:r>
            <a:r>
              <a:rPr sz="2000" dirty="0">
                <a:latin typeface="Arial MT"/>
                <a:cs typeface="Arial MT"/>
              </a:rPr>
              <a:t>4)</a:t>
            </a:r>
            <a:r>
              <a:rPr sz="2000" spc="-20" dirty="0">
                <a:latin typeface="Arial MT"/>
                <a:cs typeface="Arial MT"/>
              </a:rPr>
              <a:t> </a:t>
            </a:r>
            <a:r>
              <a:rPr sz="2000" dirty="0">
                <a:latin typeface="Arial MT"/>
                <a:cs typeface="Arial MT"/>
              </a:rPr>
              <a:t>with</a:t>
            </a:r>
            <a:r>
              <a:rPr sz="2000" spc="-5" dirty="0">
                <a:latin typeface="Arial MT"/>
                <a:cs typeface="Arial MT"/>
              </a:rPr>
              <a:t> </a:t>
            </a:r>
            <a:r>
              <a:rPr sz="2000" spc="-10" dirty="0">
                <a:latin typeface="Arial MT"/>
                <a:cs typeface="Arial MT"/>
              </a:rPr>
              <a:t>materials </a:t>
            </a:r>
            <a:r>
              <a:rPr sz="2000" dirty="0">
                <a:latin typeface="Arial MT"/>
                <a:cs typeface="Arial MT"/>
              </a:rPr>
              <a:t>databases,</a:t>
            </a:r>
            <a:r>
              <a:rPr sz="2000" spc="-30" dirty="0">
                <a:latin typeface="Arial MT"/>
                <a:cs typeface="Arial MT"/>
              </a:rPr>
              <a:t> </a:t>
            </a:r>
            <a:r>
              <a:rPr sz="2000" dirty="0">
                <a:latin typeface="Arial MT"/>
                <a:cs typeface="Arial MT"/>
              </a:rPr>
              <a:t>machine</a:t>
            </a:r>
            <a:r>
              <a:rPr sz="2000" spc="-20" dirty="0">
                <a:latin typeface="Arial MT"/>
                <a:cs typeface="Arial MT"/>
              </a:rPr>
              <a:t> </a:t>
            </a:r>
            <a:r>
              <a:rPr sz="2000" dirty="0">
                <a:latin typeface="Arial MT"/>
                <a:cs typeface="Arial MT"/>
              </a:rPr>
              <a:t>learning</a:t>
            </a:r>
            <a:r>
              <a:rPr sz="2000" spc="-30" dirty="0">
                <a:latin typeface="Arial MT"/>
                <a:cs typeface="Arial MT"/>
              </a:rPr>
              <a:t> </a:t>
            </a:r>
            <a:r>
              <a:rPr sz="2000" dirty="0">
                <a:latin typeface="Arial MT"/>
                <a:cs typeface="Arial MT"/>
              </a:rPr>
              <a:t>models,</a:t>
            </a:r>
            <a:r>
              <a:rPr sz="2000" spc="-30" dirty="0">
                <a:latin typeface="Arial MT"/>
                <a:cs typeface="Arial MT"/>
              </a:rPr>
              <a:t> </a:t>
            </a:r>
            <a:r>
              <a:rPr sz="2000" dirty="0">
                <a:latin typeface="Arial MT"/>
                <a:cs typeface="Arial MT"/>
              </a:rPr>
              <a:t>and</a:t>
            </a:r>
            <a:r>
              <a:rPr sz="2000" spc="-20" dirty="0">
                <a:latin typeface="Arial MT"/>
                <a:cs typeface="Arial MT"/>
              </a:rPr>
              <a:t> </a:t>
            </a:r>
            <a:r>
              <a:rPr sz="2000" dirty="0">
                <a:latin typeface="Arial MT"/>
                <a:cs typeface="Arial MT"/>
              </a:rPr>
              <a:t>genetic</a:t>
            </a:r>
            <a:r>
              <a:rPr sz="2000" spc="-20" dirty="0">
                <a:latin typeface="Arial MT"/>
                <a:cs typeface="Arial MT"/>
              </a:rPr>
              <a:t> </a:t>
            </a:r>
            <a:r>
              <a:rPr sz="2000" dirty="0">
                <a:latin typeface="Arial MT"/>
                <a:cs typeface="Arial MT"/>
              </a:rPr>
              <a:t>algorithms</a:t>
            </a:r>
            <a:r>
              <a:rPr sz="2000" spc="-10" dirty="0">
                <a:latin typeface="Arial MT"/>
                <a:cs typeface="Arial MT"/>
              </a:rPr>
              <a:t> </a:t>
            </a:r>
            <a:r>
              <a:rPr sz="2000" dirty="0">
                <a:latin typeface="Arial MT"/>
                <a:cs typeface="Arial MT"/>
              </a:rPr>
              <a:t>to</a:t>
            </a:r>
            <a:r>
              <a:rPr sz="2000" spc="-25" dirty="0">
                <a:latin typeface="Arial MT"/>
                <a:cs typeface="Arial MT"/>
              </a:rPr>
              <a:t> </a:t>
            </a:r>
            <a:r>
              <a:rPr sz="2000" dirty="0">
                <a:latin typeface="Arial MT"/>
                <a:cs typeface="Arial MT"/>
              </a:rPr>
              <a:t>perform</a:t>
            </a:r>
            <a:r>
              <a:rPr sz="2000" spc="-20" dirty="0">
                <a:latin typeface="Arial MT"/>
                <a:cs typeface="Arial MT"/>
              </a:rPr>
              <a:t> </a:t>
            </a:r>
            <a:r>
              <a:rPr sz="2000" dirty="0">
                <a:latin typeface="Arial MT"/>
                <a:cs typeface="Arial MT"/>
              </a:rPr>
              <a:t>three</a:t>
            </a:r>
            <a:r>
              <a:rPr sz="2000" spc="-25" dirty="0">
                <a:latin typeface="Arial MT"/>
                <a:cs typeface="Arial MT"/>
              </a:rPr>
              <a:t> </a:t>
            </a:r>
            <a:r>
              <a:rPr sz="2000" dirty="0">
                <a:latin typeface="Arial MT"/>
                <a:cs typeface="Arial MT"/>
              </a:rPr>
              <a:t>major</a:t>
            </a:r>
            <a:r>
              <a:rPr sz="2000" spc="-35" dirty="0">
                <a:latin typeface="Arial MT"/>
                <a:cs typeface="Arial MT"/>
              </a:rPr>
              <a:t> </a:t>
            </a:r>
            <a:r>
              <a:rPr sz="2000" spc="-10" dirty="0">
                <a:latin typeface="Arial MT"/>
                <a:cs typeface="Arial MT"/>
              </a:rPr>
              <a:t>tasks:</a:t>
            </a:r>
            <a:endParaRPr sz="2000" dirty="0">
              <a:latin typeface="Arial MT"/>
              <a:cs typeface="Arial MT"/>
            </a:endParaRPr>
          </a:p>
        </p:txBody>
      </p:sp>
    </p:spTree>
    <p:extLst>
      <p:ext uri="{BB962C8B-B14F-4D97-AF65-F5344CB8AC3E}">
        <p14:creationId xmlns:p14="http://schemas.microsoft.com/office/powerpoint/2010/main" val="2112208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83" y="657225"/>
            <a:ext cx="10672817" cy="6986528"/>
          </a:xfrm>
          <a:prstGeom prst="rect">
            <a:avLst/>
          </a:prstGeom>
        </p:spPr>
        <p:txBody>
          <a:bodyPr wrap="square">
            <a:spAutoFit/>
          </a:bodyPr>
          <a:lstStyle/>
          <a:p>
            <a:endParaRPr lang="en-IN" sz="1600" dirty="0"/>
          </a:p>
          <a:p>
            <a:r>
              <a:rPr lang="en-IN" sz="1600" dirty="0"/>
              <a:t>Limitation 1 (No Intrinsic Knowledge): The LLM lacks native material science understanding and acts purely as a tool planner rather than a scientific calculator.</a:t>
            </a:r>
          </a:p>
          <a:p>
            <a:endParaRPr lang="en-IN" sz="1600" dirty="0"/>
          </a:p>
          <a:p>
            <a:r>
              <a:rPr lang="en-IN" sz="1600" dirty="0"/>
              <a:t>Limitation 2 (Token Context Limits): Strict context window constraints trigger execution failures when searching large tables or comparing numerous materials.</a:t>
            </a:r>
          </a:p>
          <a:p>
            <a:endParaRPr lang="en-IN" sz="1600" dirty="0"/>
          </a:p>
          <a:p>
            <a:r>
              <a:rPr lang="en-IN" sz="1600" dirty="0"/>
              <a:t>Limitation 3 (Reasoning &amp; Logic Errors): Frequent reasoning missteps lead to incorrect tool selection, faulty code generation, and query misunderstandings.</a:t>
            </a:r>
          </a:p>
          <a:p>
            <a:endParaRPr lang="en-IN" sz="1600" dirty="0"/>
          </a:p>
          <a:p>
            <a:r>
              <a:rPr lang="en-IN" sz="1600" dirty="0"/>
              <a:t>Limitation 4 (Restricted Search Space): Token bottlenecks limit candidate structural generation from millions down to fewer than 200 frameworks.</a:t>
            </a:r>
          </a:p>
          <a:p>
            <a:endParaRPr lang="en-IN" sz="1600" dirty="0"/>
          </a:p>
          <a:p>
            <a:r>
              <a:rPr lang="en-IN" sz="1600" dirty="0"/>
              <a:t>Limitation 5 (Narrow Topology Coverage): Structural exploration is strictly confined to only nine predefined MOF topologies, limiting material diversity.</a:t>
            </a:r>
          </a:p>
          <a:p>
            <a:endParaRPr lang="en-IN" sz="1600" dirty="0"/>
          </a:p>
          <a:p>
            <a:r>
              <a:rPr lang="en-IN" sz="1600" dirty="0"/>
              <a:t>Limitation 6 (</a:t>
            </a:r>
            <a:r>
              <a:rPr lang="en-IN" sz="1600" dirty="0" err="1"/>
              <a:t>Pretrained</a:t>
            </a:r>
            <a:r>
              <a:rPr lang="en-IN" sz="1600" dirty="0"/>
              <a:t> Model Dependency): The system cannot predict properties that lack a dedicated, fine-tuned ML model.</a:t>
            </a:r>
          </a:p>
          <a:p>
            <a:endParaRPr lang="en-IN" sz="1600" dirty="0"/>
          </a:p>
          <a:p>
            <a:r>
              <a:rPr lang="en-IN" sz="1600" dirty="0"/>
              <a:t>Limitation 7 (Un-fine-tuned Models): Relying on general, non-fine-tuned LLMs restricts the system's specialized reticular chemistry capabilities.</a:t>
            </a:r>
          </a:p>
          <a:p>
            <a:endParaRPr lang="en-IN" sz="1600" dirty="0"/>
          </a:p>
          <a:p>
            <a:r>
              <a:rPr lang="en-IN" sz="1600" dirty="0"/>
              <a:t>Limitation 8 (High Compute Overhead): Integrating genetic algorithms, geometry optimizations, and molecular simulations creates significant computational cost.</a:t>
            </a:r>
          </a:p>
          <a:p>
            <a:endParaRPr lang="en-IN" sz="1600" dirty="0"/>
          </a:p>
          <a:p>
            <a:r>
              <a:rPr lang="en-IN" sz="1600" dirty="0"/>
              <a:t>Limitation 9 (Invalidated Output Quality): Generated candidates require expensive downstream simulations (GCMC/MD) before they can be considered viable for experimental synthesis.</a:t>
            </a:r>
          </a:p>
        </p:txBody>
      </p:sp>
      <p:sp>
        <p:nvSpPr>
          <p:cNvPr id="3" name="TextBox 2"/>
          <p:cNvSpPr txBox="1"/>
          <p:nvPr/>
        </p:nvSpPr>
        <p:spPr>
          <a:xfrm>
            <a:off x="88900" y="300257"/>
            <a:ext cx="10210800" cy="523220"/>
          </a:xfrm>
          <a:prstGeom prst="rect">
            <a:avLst/>
          </a:prstGeom>
          <a:solidFill>
            <a:schemeClr val="accent1">
              <a:lumMod val="40000"/>
              <a:lumOff val="60000"/>
            </a:schemeClr>
          </a:solidFill>
        </p:spPr>
        <p:txBody>
          <a:bodyPr wrap="square" rtlCol="0">
            <a:spAutoFit/>
          </a:bodyPr>
          <a:lstStyle/>
          <a:p>
            <a:r>
              <a:rPr lang="en-IN" sz="2800" b="1" dirty="0"/>
              <a:t>Drawbacks in Base paper:</a:t>
            </a:r>
          </a:p>
        </p:txBody>
      </p:sp>
    </p:spTree>
    <p:extLst>
      <p:ext uri="{BB962C8B-B14F-4D97-AF65-F5344CB8AC3E}">
        <p14:creationId xmlns:p14="http://schemas.microsoft.com/office/powerpoint/2010/main" val="2865688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500" y="4467225"/>
            <a:ext cx="10693400" cy="2215991"/>
          </a:xfrm>
        </p:spPr>
        <p:txBody>
          <a:bodyPr/>
          <a:lstStyle/>
          <a:p>
            <a:pPr algn="l"/>
            <a:r>
              <a:rPr lang="en-US" sz="1800" b="0" dirty="0"/>
              <a:t>Optimize and preprocess MOF data.</a:t>
            </a:r>
            <a:br>
              <a:rPr lang="en-US" sz="1800" b="0" dirty="0"/>
            </a:br>
            <a:r>
              <a:rPr lang="en-US" sz="1800" b="0" dirty="0"/>
              <a:t>Develop a custom FT-Transformer for MOF representation learning.</a:t>
            </a:r>
            <a:br>
              <a:rPr lang="en-US" sz="1800" b="0" dirty="0"/>
            </a:br>
            <a:r>
              <a:rPr lang="en-US" sz="1800" b="0" dirty="0"/>
              <a:t>Generate 384-D MOF </a:t>
            </a:r>
            <a:r>
              <a:rPr lang="en-US" sz="1800" b="0" dirty="0" err="1"/>
              <a:t>embeddings</a:t>
            </a:r>
            <a:r>
              <a:rPr lang="en-US" sz="1800" b="0" dirty="0"/>
              <a:t> using self-supervised learning.</a:t>
            </a:r>
            <a:br>
              <a:rPr lang="en-US" sz="1800" b="0" dirty="0"/>
            </a:br>
            <a:r>
              <a:rPr lang="en-US" sz="1800" b="0" dirty="0"/>
              <a:t>Implement FAISS-based similarity retrieval.</a:t>
            </a:r>
            <a:br>
              <a:rPr lang="en-US" sz="1800" b="0" dirty="0"/>
            </a:br>
            <a:r>
              <a:rPr lang="en-US" sz="1800" b="0" dirty="0"/>
              <a:t>Evaluate the learned representations using standard ML metrics.</a:t>
            </a:r>
            <a:br>
              <a:rPr lang="en-US" sz="1800" b="0" dirty="0"/>
            </a:br>
            <a:r>
              <a:rPr lang="en-US" sz="1800" b="0" dirty="0"/>
              <a:t>Extend the framework toward natural-language, RAG-based, optimized and explainable MOF recommendation.</a:t>
            </a:r>
            <a:br>
              <a:rPr lang="en-US" sz="1800" b="0" dirty="0"/>
            </a:br>
            <a:endParaRPr lang="en-IN" sz="1800" b="0" dirty="0"/>
          </a:p>
        </p:txBody>
      </p:sp>
      <p:sp>
        <p:nvSpPr>
          <p:cNvPr id="3" name="Subtitle 2"/>
          <p:cNvSpPr>
            <a:spLocks noGrp="1"/>
          </p:cNvSpPr>
          <p:nvPr>
            <p:ph type="subTitle" idx="1"/>
          </p:nvPr>
        </p:nvSpPr>
        <p:spPr>
          <a:xfrm>
            <a:off x="317500" y="504825"/>
            <a:ext cx="10210800" cy="615553"/>
          </a:xfrm>
          <a:solidFill>
            <a:schemeClr val="accent1">
              <a:lumMod val="40000"/>
              <a:lumOff val="60000"/>
            </a:schemeClr>
          </a:solidFill>
        </p:spPr>
        <p:txBody>
          <a:bodyPr/>
          <a:lstStyle/>
          <a:p>
            <a:r>
              <a:rPr lang="en-US" sz="4000" b="1" dirty="0">
                <a:latin typeface="Bell MT" panose="02020503060305020303" pitchFamily="18" charset="0"/>
              </a:rPr>
              <a:t>Problem Statement</a:t>
            </a:r>
            <a:endParaRPr lang="en-IN" sz="4000" b="1" dirty="0">
              <a:latin typeface="Bell MT" panose="02020503060305020303" pitchFamily="18" charset="0"/>
            </a:endParaRPr>
          </a:p>
        </p:txBody>
      </p:sp>
      <p:sp>
        <p:nvSpPr>
          <p:cNvPr id="4" name="Subtitle 2"/>
          <p:cNvSpPr txBox="1">
            <a:spLocks/>
          </p:cNvSpPr>
          <p:nvPr/>
        </p:nvSpPr>
        <p:spPr>
          <a:xfrm>
            <a:off x="317500" y="3554089"/>
            <a:ext cx="10210800" cy="615553"/>
          </a:xfrm>
          <a:prstGeom prst="rect">
            <a:avLst/>
          </a:prstGeom>
          <a:solidFill>
            <a:schemeClr val="accent1">
              <a:lumMod val="40000"/>
              <a:lumOff val="60000"/>
            </a:schemeClr>
          </a:solidFill>
        </p:spPr>
        <p:txBody>
          <a:bodyPr wrap="square" lIns="0" tIns="0" rIns="0" bIns="0">
            <a:spAutoFit/>
          </a:bodyPr>
          <a:lstStyle>
            <a:lvl1pPr marL="0" indent="0" algn="ctr">
              <a:buNone/>
              <a:defRPr sz="2105" b="0" i="0">
                <a:solidFill>
                  <a:schemeClr val="tx1"/>
                </a:solidFill>
                <a:latin typeface="Arial MT"/>
                <a:ea typeface="+mn-ea"/>
                <a:cs typeface="Arial MT"/>
              </a:defRPr>
            </a:lvl1pPr>
            <a:lvl2pPr marL="401010" indent="0" algn="ctr">
              <a:buNone/>
              <a:defRPr sz="1754">
                <a:latin typeface="+mn-lt"/>
                <a:ea typeface="+mn-ea"/>
                <a:cs typeface="+mn-cs"/>
              </a:defRPr>
            </a:lvl2pPr>
            <a:lvl3pPr marL="802020" indent="0" algn="ctr">
              <a:buNone/>
              <a:defRPr sz="1579">
                <a:latin typeface="+mn-lt"/>
                <a:ea typeface="+mn-ea"/>
                <a:cs typeface="+mn-cs"/>
              </a:defRPr>
            </a:lvl3pPr>
            <a:lvl4pPr marL="1203030" indent="0" algn="ctr">
              <a:buNone/>
              <a:defRPr sz="1403">
                <a:latin typeface="+mn-lt"/>
                <a:ea typeface="+mn-ea"/>
                <a:cs typeface="+mn-cs"/>
              </a:defRPr>
            </a:lvl4pPr>
            <a:lvl5pPr marL="1604040" indent="0" algn="ctr">
              <a:buNone/>
              <a:defRPr sz="1403">
                <a:latin typeface="+mn-lt"/>
                <a:ea typeface="+mn-ea"/>
                <a:cs typeface="+mn-cs"/>
              </a:defRPr>
            </a:lvl5pPr>
            <a:lvl6pPr marL="2005051" indent="0" algn="ctr">
              <a:buNone/>
              <a:defRPr sz="1403">
                <a:latin typeface="+mn-lt"/>
                <a:ea typeface="+mn-ea"/>
                <a:cs typeface="+mn-cs"/>
              </a:defRPr>
            </a:lvl6pPr>
            <a:lvl7pPr marL="2406061" indent="0" algn="ctr">
              <a:buNone/>
              <a:defRPr sz="1403">
                <a:latin typeface="+mn-lt"/>
                <a:ea typeface="+mn-ea"/>
                <a:cs typeface="+mn-cs"/>
              </a:defRPr>
            </a:lvl7pPr>
            <a:lvl8pPr marL="2807071" indent="0" algn="ctr">
              <a:buNone/>
              <a:defRPr sz="1403">
                <a:latin typeface="+mn-lt"/>
                <a:ea typeface="+mn-ea"/>
                <a:cs typeface="+mn-cs"/>
              </a:defRPr>
            </a:lvl8pPr>
            <a:lvl9pPr marL="3208081" indent="0" algn="ctr">
              <a:buNone/>
              <a:defRPr sz="1403">
                <a:latin typeface="+mn-lt"/>
                <a:ea typeface="+mn-ea"/>
                <a:cs typeface="+mn-cs"/>
              </a:defRPr>
            </a:lvl9pPr>
          </a:lstStyle>
          <a:p>
            <a:r>
              <a:rPr lang="en-US" sz="4000" b="1">
                <a:latin typeface="Bell MT" panose="02020503060305020303" pitchFamily="18" charset="0"/>
              </a:rPr>
              <a:t>Objectives</a:t>
            </a:r>
            <a:endParaRPr lang="en-IN" sz="4000" b="1" dirty="0">
              <a:latin typeface="Bell MT" panose="02020503060305020303" pitchFamily="18" charset="0"/>
            </a:endParaRPr>
          </a:p>
        </p:txBody>
      </p:sp>
      <p:sp>
        <p:nvSpPr>
          <p:cNvPr id="6" name="Rectangle 5"/>
          <p:cNvSpPr/>
          <p:nvPr/>
        </p:nvSpPr>
        <p:spPr>
          <a:xfrm>
            <a:off x="241300" y="1502180"/>
            <a:ext cx="10668000" cy="1754326"/>
          </a:xfrm>
          <a:prstGeom prst="rect">
            <a:avLst/>
          </a:prstGeom>
        </p:spPr>
        <p:txBody>
          <a:bodyPr wrap="square">
            <a:spAutoFit/>
          </a:bodyPr>
          <a:lstStyle/>
          <a:p>
            <a:r>
              <a:rPr lang="en-IN" dirty="0"/>
              <a:t>Identifying suitable Metal–Organic Frameworks (MOFs) from large and diverse material databases is challenging because of the huge search space, multiple material properties, and the limitations of conventional search and existing AI-based approaches. Therefore, an efficient AI-driven approach is required to learn meaningful MOF representations and retrieve relevant candidate materials for application-specific recommendation</a:t>
            </a:r>
          </a:p>
          <a:p>
            <a:endParaRPr lang="en-IN" dirty="0"/>
          </a:p>
        </p:txBody>
      </p:sp>
    </p:spTree>
    <p:extLst>
      <p:ext uri="{BB962C8B-B14F-4D97-AF65-F5344CB8AC3E}">
        <p14:creationId xmlns:p14="http://schemas.microsoft.com/office/powerpoint/2010/main" val="30734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900" y="47625"/>
            <a:ext cx="10604500" cy="382156"/>
          </a:xfrm>
          <a:prstGeom prst="rect">
            <a:avLst/>
          </a:prstGeom>
          <a:solidFill>
            <a:schemeClr val="bg2">
              <a:lumMod val="75000"/>
            </a:schemeClr>
          </a:solidFill>
        </p:spPr>
        <p:txBody>
          <a:bodyPr vert="horz" wrap="square" lIns="0" tIns="12700" rIns="0" bIns="0" rtlCol="0">
            <a:spAutoFit/>
          </a:bodyPr>
          <a:lstStyle/>
          <a:p>
            <a:pPr marL="12700">
              <a:lnSpc>
                <a:spcPct val="100000"/>
              </a:lnSpc>
            </a:pPr>
            <a:r>
              <a:rPr sz="2400" b="1" dirty="0">
                <a:solidFill>
                  <a:srgbClr val="C00000"/>
                </a:solidFill>
                <a:latin typeface="Arial"/>
                <a:cs typeface="Arial"/>
              </a:rPr>
              <a:t>Our</a:t>
            </a:r>
            <a:r>
              <a:rPr sz="2400" b="1" spc="-10" dirty="0">
                <a:solidFill>
                  <a:srgbClr val="C00000"/>
                </a:solidFill>
                <a:latin typeface="Arial"/>
                <a:cs typeface="Arial"/>
              </a:rPr>
              <a:t> </a:t>
            </a:r>
            <a:r>
              <a:rPr sz="2400" b="1" dirty="0">
                <a:solidFill>
                  <a:srgbClr val="C00000"/>
                </a:solidFill>
                <a:latin typeface="Arial"/>
                <a:cs typeface="Arial"/>
              </a:rPr>
              <a:t>Novelty</a:t>
            </a:r>
            <a:r>
              <a:rPr sz="2400" b="1" spc="-35" dirty="0">
                <a:solidFill>
                  <a:srgbClr val="C00000"/>
                </a:solidFill>
                <a:latin typeface="Arial"/>
                <a:cs typeface="Arial"/>
              </a:rPr>
              <a:t> </a:t>
            </a:r>
            <a:r>
              <a:rPr sz="2400" b="1" dirty="0">
                <a:solidFill>
                  <a:srgbClr val="C00000"/>
                </a:solidFill>
                <a:latin typeface="Arial"/>
                <a:cs typeface="Arial"/>
              </a:rPr>
              <a:t>–</a:t>
            </a:r>
            <a:r>
              <a:rPr sz="2400" b="1" spc="-10" dirty="0">
                <a:solidFill>
                  <a:srgbClr val="C00000"/>
                </a:solidFill>
                <a:latin typeface="Arial"/>
                <a:cs typeface="Arial"/>
              </a:rPr>
              <a:t> </a:t>
            </a:r>
            <a:r>
              <a:rPr sz="2400" b="1" dirty="0">
                <a:solidFill>
                  <a:srgbClr val="C00000"/>
                </a:solidFill>
                <a:latin typeface="Arial"/>
                <a:cs typeface="Arial"/>
              </a:rPr>
              <a:t>How</a:t>
            </a:r>
            <a:r>
              <a:rPr sz="2400" b="1" spc="-20" dirty="0">
                <a:solidFill>
                  <a:srgbClr val="C00000"/>
                </a:solidFill>
                <a:latin typeface="Arial"/>
                <a:cs typeface="Arial"/>
              </a:rPr>
              <a:t> </a:t>
            </a:r>
            <a:r>
              <a:rPr sz="2400" b="1" dirty="0">
                <a:solidFill>
                  <a:srgbClr val="C00000"/>
                </a:solidFill>
                <a:latin typeface="Arial"/>
                <a:cs typeface="Arial"/>
              </a:rPr>
              <a:t>we</a:t>
            </a:r>
            <a:r>
              <a:rPr sz="2400" b="1" spc="-35" dirty="0">
                <a:solidFill>
                  <a:srgbClr val="C00000"/>
                </a:solidFill>
                <a:latin typeface="Arial"/>
                <a:cs typeface="Arial"/>
              </a:rPr>
              <a:t> </a:t>
            </a:r>
            <a:r>
              <a:rPr sz="2400" b="1" dirty="0">
                <a:solidFill>
                  <a:srgbClr val="C00000"/>
                </a:solidFill>
                <a:latin typeface="Arial"/>
                <a:cs typeface="Arial"/>
              </a:rPr>
              <a:t>improve</a:t>
            </a:r>
            <a:r>
              <a:rPr sz="2400" b="1" spc="-5" dirty="0">
                <a:solidFill>
                  <a:srgbClr val="C00000"/>
                </a:solidFill>
                <a:latin typeface="Arial"/>
                <a:cs typeface="Arial"/>
              </a:rPr>
              <a:t> </a:t>
            </a:r>
            <a:r>
              <a:rPr sz="2400" b="1" dirty="0">
                <a:solidFill>
                  <a:srgbClr val="C00000"/>
                </a:solidFill>
                <a:latin typeface="Arial"/>
                <a:cs typeface="Arial"/>
              </a:rPr>
              <a:t>on</a:t>
            </a:r>
            <a:r>
              <a:rPr sz="2400" b="1" spc="-15" dirty="0">
                <a:solidFill>
                  <a:srgbClr val="C00000"/>
                </a:solidFill>
                <a:latin typeface="Arial"/>
                <a:cs typeface="Arial"/>
              </a:rPr>
              <a:t> </a:t>
            </a:r>
            <a:r>
              <a:rPr sz="2400" b="1" spc="-25" dirty="0">
                <a:solidFill>
                  <a:srgbClr val="C00000"/>
                </a:solidFill>
                <a:latin typeface="Arial"/>
                <a:cs typeface="Arial"/>
              </a:rPr>
              <a:t>it</a:t>
            </a:r>
            <a:endParaRPr sz="2400" dirty="0">
              <a:latin typeface="Arial"/>
              <a:cs typeface="Arial"/>
            </a:endParaRPr>
          </a:p>
        </p:txBody>
      </p:sp>
      <p:graphicFrame>
        <p:nvGraphicFramePr>
          <p:cNvPr id="3" name="object 3"/>
          <p:cNvGraphicFramePr>
            <a:graphicFrameLocks noGrp="1"/>
          </p:cNvGraphicFramePr>
          <p:nvPr>
            <p:extLst>
              <p:ext uri="{D42A27DB-BD31-4B8C-83A1-F6EECF244321}">
                <p14:modId xmlns:p14="http://schemas.microsoft.com/office/powerpoint/2010/main" val="3974807215"/>
              </p:ext>
            </p:extLst>
          </p:nvPr>
        </p:nvGraphicFramePr>
        <p:xfrm>
          <a:off x="317500" y="962025"/>
          <a:ext cx="9982200" cy="6017536"/>
        </p:xfrm>
        <a:graphic>
          <a:graphicData uri="http://schemas.openxmlformats.org/drawingml/2006/table">
            <a:tbl>
              <a:tblPr firstRow="1" bandRow="1">
                <a:tableStyleId>{2D5ABB26-0587-4C30-8999-92F81FD0307C}</a:tableStyleId>
              </a:tblPr>
              <a:tblGrid>
                <a:gridCol w="2987829">
                  <a:extLst>
                    <a:ext uri="{9D8B030D-6E8A-4147-A177-3AD203B41FA5}">
                      <a16:colId xmlns:a16="http://schemas.microsoft.com/office/drawing/2014/main" val="20000"/>
                    </a:ext>
                  </a:extLst>
                </a:gridCol>
                <a:gridCol w="6994371">
                  <a:extLst>
                    <a:ext uri="{9D8B030D-6E8A-4147-A177-3AD203B41FA5}">
                      <a16:colId xmlns:a16="http://schemas.microsoft.com/office/drawing/2014/main" val="20001"/>
                    </a:ext>
                  </a:extLst>
                </a:gridCol>
              </a:tblGrid>
              <a:tr h="664473">
                <a:tc>
                  <a:txBody>
                    <a:bodyPr/>
                    <a:lstStyle/>
                    <a:p>
                      <a:pPr marL="23495">
                        <a:lnSpc>
                          <a:spcPct val="100000"/>
                        </a:lnSpc>
                        <a:spcBef>
                          <a:spcPts val="90"/>
                        </a:spcBef>
                      </a:pPr>
                      <a:r>
                        <a:rPr sz="1800" b="1" dirty="0">
                          <a:latin typeface="Arial"/>
                          <a:cs typeface="Arial"/>
                        </a:rPr>
                        <a:t>Base</a:t>
                      </a:r>
                      <a:r>
                        <a:rPr sz="1800" b="1" spc="-25" dirty="0">
                          <a:latin typeface="Arial"/>
                          <a:cs typeface="Arial"/>
                        </a:rPr>
                        <a:t> </a:t>
                      </a:r>
                      <a:r>
                        <a:rPr sz="1800" b="1" dirty="0">
                          <a:latin typeface="Arial"/>
                          <a:cs typeface="Arial"/>
                        </a:rPr>
                        <a:t>Paper</a:t>
                      </a:r>
                      <a:r>
                        <a:rPr sz="1800" b="1" spc="-20" dirty="0">
                          <a:latin typeface="Arial"/>
                          <a:cs typeface="Arial"/>
                        </a:rPr>
                        <a:t> </a:t>
                      </a:r>
                      <a:r>
                        <a:rPr sz="1800" b="1" spc="-10" dirty="0">
                          <a:latin typeface="Arial"/>
                          <a:cs typeface="Arial"/>
                        </a:rPr>
                        <a:t>Limitation</a:t>
                      </a:r>
                      <a:endParaRPr sz="1800" dirty="0">
                        <a:latin typeface="Arial"/>
                        <a:cs typeface="Arial"/>
                      </a:endParaRPr>
                    </a:p>
                  </a:txBody>
                  <a:tcPr marL="0" marR="0" marT="114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90"/>
                        </a:spcBef>
                      </a:pPr>
                      <a:r>
                        <a:rPr sz="1800" b="1" dirty="0">
                          <a:latin typeface="Arial"/>
                          <a:cs typeface="Arial"/>
                        </a:rPr>
                        <a:t>Your</a:t>
                      </a:r>
                      <a:r>
                        <a:rPr sz="1800" b="1" spc="-25" dirty="0">
                          <a:latin typeface="Arial"/>
                          <a:cs typeface="Arial"/>
                        </a:rPr>
                        <a:t> </a:t>
                      </a:r>
                      <a:r>
                        <a:rPr sz="1800" b="1" spc="-10" dirty="0">
                          <a:latin typeface="Arial"/>
                          <a:cs typeface="Arial"/>
                        </a:rPr>
                        <a:t>Novelty</a:t>
                      </a:r>
                      <a:endParaRPr sz="1800">
                        <a:latin typeface="Arial"/>
                        <a:cs typeface="Arial"/>
                      </a:endParaRPr>
                    </a:p>
                  </a:txBody>
                  <a:tcPr marL="0" marR="0" marT="114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639276">
                <a:tc>
                  <a:txBody>
                    <a:bodyPr/>
                    <a:lstStyle/>
                    <a:p>
                      <a:pPr marL="23495">
                        <a:lnSpc>
                          <a:spcPct val="100000"/>
                        </a:lnSpc>
                        <a:spcBef>
                          <a:spcPts val="140"/>
                        </a:spcBef>
                      </a:pPr>
                      <a:r>
                        <a:rPr sz="1800" dirty="0">
                          <a:latin typeface="Arial MT"/>
                          <a:cs typeface="Arial MT"/>
                        </a:rPr>
                        <a:t>LLM</a:t>
                      </a:r>
                      <a:r>
                        <a:rPr sz="1800" spc="-15" dirty="0">
                          <a:latin typeface="Arial MT"/>
                          <a:cs typeface="Arial MT"/>
                        </a:rPr>
                        <a:t> </a:t>
                      </a:r>
                      <a:r>
                        <a:rPr sz="1800" dirty="0">
                          <a:latin typeface="Arial MT"/>
                          <a:cs typeface="Arial MT"/>
                        </a:rPr>
                        <a:t>has</a:t>
                      </a:r>
                      <a:r>
                        <a:rPr sz="1800" spc="-15" dirty="0">
                          <a:latin typeface="Arial MT"/>
                          <a:cs typeface="Arial MT"/>
                        </a:rPr>
                        <a:t> </a:t>
                      </a:r>
                      <a:r>
                        <a:rPr sz="1800" dirty="0">
                          <a:latin typeface="Arial MT"/>
                          <a:cs typeface="Arial MT"/>
                        </a:rPr>
                        <a:t>no</a:t>
                      </a:r>
                      <a:r>
                        <a:rPr sz="1800" spc="-10" dirty="0">
                          <a:latin typeface="Arial MT"/>
                          <a:cs typeface="Arial MT"/>
                        </a:rPr>
                        <a:t> </a:t>
                      </a:r>
                      <a:r>
                        <a:rPr sz="1800" dirty="0">
                          <a:latin typeface="Arial MT"/>
                          <a:cs typeface="Arial MT"/>
                        </a:rPr>
                        <a:t>material</a:t>
                      </a:r>
                      <a:r>
                        <a:rPr sz="1800" spc="-25" dirty="0">
                          <a:latin typeface="Arial MT"/>
                          <a:cs typeface="Arial MT"/>
                        </a:rPr>
                        <a:t> </a:t>
                      </a:r>
                      <a:r>
                        <a:rPr sz="1800" spc="-10" dirty="0">
                          <a:latin typeface="Arial MT"/>
                          <a:cs typeface="Arial MT"/>
                        </a:rPr>
                        <a:t>knowledge</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RAG</a:t>
                      </a:r>
                      <a:r>
                        <a:rPr sz="1800" spc="-15" dirty="0">
                          <a:latin typeface="Arial MT"/>
                          <a:cs typeface="Arial MT"/>
                        </a:rPr>
                        <a:t> </a:t>
                      </a:r>
                      <a:r>
                        <a:rPr sz="1800" spc="-10" dirty="0">
                          <a:latin typeface="Arial MT"/>
                          <a:cs typeface="Arial MT"/>
                        </a:rPr>
                        <a:t>(Retrieval-</a:t>
                      </a:r>
                      <a:r>
                        <a:rPr sz="1800" dirty="0">
                          <a:latin typeface="Arial MT"/>
                          <a:cs typeface="Arial MT"/>
                        </a:rPr>
                        <a:t>Augmented</a:t>
                      </a:r>
                      <a:r>
                        <a:rPr sz="1800" spc="-5" dirty="0">
                          <a:latin typeface="Arial MT"/>
                          <a:cs typeface="Arial MT"/>
                        </a:rPr>
                        <a:t> </a:t>
                      </a:r>
                      <a:r>
                        <a:rPr sz="1800" dirty="0">
                          <a:latin typeface="Arial MT"/>
                          <a:cs typeface="Arial MT"/>
                        </a:rPr>
                        <a:t>Generation)</a:t>
                      </a:r>
                      <a:r>
                        <a:rPr sz="1800" spc="5" dirty="0">
                          <a:latin typeface="Arial MT"/>
                          <a:cs typeface="Arial MT"/>
                        </a:rPr>
                        <a:t> </a:t>
                      </a:r>
                      <a:r>
                        <a:rPr sz="1800" dirty="0">
                          <a:latin typeface="Arial MT"/>
                          <a:cs typeface="Arial MT"/>
                        </a:rPr>
                        <a:t>using</a:t>
                      </a:r>
                      <a:r>
                        <a:rPr sz="1800" spc="-15" dirty="0">
                          <a:latin typeface="Arial MT"/>
                          <a:cs typeface="Arial MT"/>
                        </a:rPr>
                        <a:t> </a:t>
                      </a:r>
                      <a:r>
                        <a:rPr sz="1800" dirty="0">
                          <a:latin typeface="Arial MT"/>
                          <a:cs typeface="Arial MT"/>
                        </a:rPr>
                        <a:t>MOF</a:t>
                      </a:r>
                      <a:r>
                        <a:rPr sz="1800" spc="-10" dirty="0">
                          <a:latin typeface="Arial MT"/>
                          <a:cs typeface="Arial MT"/>
                        </a:rPr>
                        <a:t> </a:t>
                      </a:r>
                      <a:r>
                        <a:rPr sz="1800" dirty="0">
                          <a:latin typeface="Arial MT"/>
                          <a:cs typeface="Arial MT"/>
                        </a:rPr>
                        <a:t>papers</a:t>
                      </a:r>
                      <a:r>
                        <a:rPr sz="1800" spc="-10" dirty="0">
                          <a:latin typeface="Arial MT"/>
                          <a:cs typeface="Arial MT"/>
                        </a:rPr>
                        <a:t> </a:t>
                      </a:r>
                      <a:r>
                        <a:rPr sz="1800" dirty="0">
                          <a:latin typeface="Arial MT"/>
                          <a:cs typeface="Arial MT"/>
                        </a:rPr>
                        <a:t>+</a:t>
                      </a:r>
                      <a:r>
                        <a:rPr sz="1800" spc="-20" dirty="0">
                          <a:latin typeface="Arial MT"/>
                          <a:cs typeface="Arial MT"/>
                        </a:rPr>
                        <a:t> </a:t>
                      </a:r>
                      <a:r>
                        <a:rPr sz="1800" spc="-10" dirty="0">
                          <a:latin typeface="Arial MT"/>
                          <a:cs typeface="Arial MT"/>
                        </a:rPr>
                        <a:t>database</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37126">
                <a:tc>
                  <a:txBody>
                    <a:bodyPr/>
                    <a:lstStyle/>
                    <a:p>
                      <a:pPr marL="23495">
                        <a:lnSpc>
                          <a:spcPct val="100000"/>
                        </a:lnSpc>
                        <a:spcBef>
                          <a:spcPts val="125"/>
                        </a:spcBef>
                      </a:pPr>
                      <a:r>
                        <a:rPr sz="1800" dirty="0">
                          <a:latin typeface="Arial MT"/>
                          <a:cs typeface="Arial MT"/>
                        </a:rPr>
                        <a:t>Token</a:t>
                      </a:r>
                      <a:r>
                        <a:rPr sz="1800" spc="-20" dirty="0">
                          <a:latin typeface="Arial MT"/>
                          <a:cs typeface="Arial MT"/>
                        </a:rPr>
                        <a:t> </a:t>
                      </a:r>
                      <a:r>
                        <a:rPr sz="1800" spc="-10" dirty="0">
                          <a:latin typeface="Arial MT"/>
                          <a:cs typeface="Arial MT"/>
                        </a:rPr>
                        <a:t>limit</a:t>
                      </a:r>
                      <a:endParaRPr sz="18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dirty="0">
                          <a:latin typeface="Arial MT"/>
                          <a:cs typeface="Arial MT"/>
                        </a:rPr>
                        <a:t>Hybrid</a:t>
                      </a:r>
                      <a:r>
                        <a:rPr sz="1800" spc="-30" dirty="0">
                          <a:latin typeface="Arial MT"/>
                          <a:cs typeface="Arial MT"/>
                        </a:rPr>
                        <a:t> </a:t>
                      </a:r>
                      <a:r>
                        <a:rPr sz="1800" dirty="0">
                          <a:latin typeface="Arial MT"/>
                          <a:cs typeface="Arial MT"/>
                        </a:rPr>
                        <a:t>Retrieval</a:t>
                      </a:r>
                      <a:r>
                        <a:rPr sz="1800" spc="-10" dirty="0">
                          <a:latin typeface="Arial MT"/>
                          <a:cs typeface="Arial MT"/>
                        </a:rPr>
                        <a:t> </a:t>
                      </a:r>
                      <a:r>
                        <a:rPr sz="1800" dirty="0">
                          <a:latin typeface="Arial MT"/>
                          <a:cs typeface="Arial MT"/>
                        </a:rPr>
                        <a:t>Engine</a:t>
                      </a:r>
                      <a:r>
                        <a:rPr sz="1800" spc="-15" dirty="0">
                          <a:latin typeface="Arial MT"/>
                          <a:cs typeface="Arial MT"/>
                        </a:rPr>
                        <a:t> </a:t>
                      </a:r>
                      <a:r>
                        <a:rPr sz="1800" dirty="0">
                          <a:latin typeface="Arial MT"/>
                          <a:cs typeface="Arial MT"/>
                        </a:rPr>
                        <a:t>(Vector</a:t>
                      </a:r>
                      <a:r>
                        <a:rPr sz="1800" spc="-25" dirty="0">
                          <a:latin typeface="Arial MT"/>
                          <a:cs typeface="Arial MT"/>
                        </a:rPr>
                        <a:t> </a:t>
                      </a:r>
                      <a:r>
                        <a:rPr sz="1800" dirty="0">
                          <a:latin typeface="Arial MT"/>
                          <a:cs typeface="Arial MT"/>
                        </a:rPr>
                        <a:t>Search</a:t>
                      </a:r>
                      <a:r>
                        <a:rPr sz="1800" spc="-25" dirty="0">
                          <a:latin typeface="Arial MT"/>
                          <a:cs typeface="Arial MT"/>
                        </a:rPr>
                        <a:t> </a:t>
                      </a:r>
                      <a:r>
                        <a:rPr sz="1800" dirty="0">
                          <a:latin typeface="Arial MT"/>
                          <a:cs typeface="Arial MT"/>
                        </a:rPr>
                        <a:t>+</a:t>
                      </a:r>
                      <a:r>
                        <a:rPr sz="1800" spc="-20" dirty="0">
                          <a:latin typeface="Arial MT"/>
                          <a:cs typeface="Arial MT"/>
                        </a:rPr>
                        <a:t> </a:t>
                      </a:r>
                      <a:r>
                        <a:rPr sz="1800" dirty="0">
                          <a:latin typeface="Arial MT"/>
                          <a:cs typeface="Arial MT"/>
                        </a:rPr>
                        <a:t>SQL)</a:t>
                      </a:r>
                      <a:r>
                        <a:rPr sz="1800" spc="-10" dirty="0">
                          <a:latin typeface="Arial MT"/>
                          <a:cs typeface="Arial MT"/>
                        </a:rPr>
                        <a:t> </a:t>
                      </a:r>
                      <a:r>
                        <a:rPr sz="1800" dirty="0">
                          <a:latin typeface="Arial MT"/>
                          <a:cs typeface="Arial MT"/>
                        </a:rPr>
                        <a:t>instead</a:t>
                      </a:r>
                      <a:r>
                        <a:rPr sz="1800" spc="-25"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loading</a:t>
                      </a:r>
                      <a:r>
                        <a:rPr sz="1800" spc="-20" dirty="0">
                          <a:latin typeface="Arial MT"/>
                          <a:cs typeface="Arial MT"/>
                        </a:rPr>
                        <a:t> </a:t>
                      </a:r>
                      <a:r>
                        <a:rPr sz="1800" dirty="0">
                          <a:latin typeface="Arial MT"/>
                          <a:cs typeface="Arial MT"/>
                        </a:rPr>
                        <a:t>large</a:t>
                      </a:r>
                      <a:r>
                        <a:rPr sz="1800" spc="-15" dirty="0">
                          <a:latin typeface="Arial MT"/>
                          <a:cs typeface="Arial MT"/>
                        </a:rPr>
                        <a:t> </a:t>
                      </a:r>
                      <a:r>
                        <a:rPr sz="1800" spc="-10" dirty="0">
                          <a:latin typeface="Arial MT"/>
                          <a:cs typeface="Arial MT"/>
                        </a:rPr>
                        <a:t>tables</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639276">
                <a:tc>
                  <a:txBody>
                    <a:bodyPr/>
                    <a:lstStyle/>
                    <a:p>
                      <a:pPr marL="23495">
                        <a:lnSpc>
                          <a:spcPct val="100000"/>
                        </a:lnSpc>
                        <a:spcBef>
                          <a:spcPts val="140"/>
                        </a:spcBef>
                      </a:pPr>
                      <a:r>
                        <a:rPr sz="1800" dirty="0">
                          <a:latin typeface="Arial MT"/>
                          <a:cs typeface="Arial MT"/>
                        </a:rPr>
                        <a:t>Logic</a:t>
                      </a:r>
                      <a:r>
                        <a:rPr sz="1800" spc="-25" dirty="0">
                          <a:latin typeface="Arial MT"/>
                          <a:cs typeface="Arial MT"/>
                        </a:rPr>
                        <a:t> </a:t>
                      </a:r>
                      <a:r>
                        <a:rPr sz="1800" spc="-10" dirty="0">
                          <a:latin typeface="Arial MT"/>
                          <a:cs typeface="Arial MT"/>
                        </a:rPr>
                        <a:t>errors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Planner</a:t>
                      </a:r>
                      <a:r>
                        <a:rPr sz="1800" spc="-25"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Validator</a:t>
                      </a:r>
                      <a:r>
                        <a:rPr sz="1800" spc="-5" dirty="0">
                          <a:latin typeface="Arial MT"/>
                          <a:cs typeface="Arial MT"/>
                        </a:rPr>
                        <a:t> </a:t>
                      </a:r>
                      <a:r>
                        <a:rPr sz="1800" dirty="0">
                          <a:latin typeface="Arial MT"/>
                          <a:cs typeface="Arial MT"/>
                        </a:rPr>
                        <a:t>Agent</a:t>
                      </a:r>
                      <a:r>
                        <a:rPr sz="1800" spc="-15" dirty="0">
                          <a:latin typeface="Arial MT"/>
                          <a:cs typeface="Arial MT"/>
                        </a:rPr>
                        <a:t> </a:t>
                      </a:r>
                      <a:r>
                        <a:rPr sz="1800" dirty="0">
                          <a:latin typeface="Arial MT"/>
                          <a:cs typeface="Arial MT"/>
                        </a:rPr>
                        <a:t>that</a:t>
                      </a:r>
                      <a:r>
                        <a:rPr sz="1800" spc="-10" dirty="0">
                          <a:latin typeface="Arial MT"/>
                          <a:cs typeface="Arial MT"/>
                        </a:rPr>
                        <a:t> </a:t>
                      </a:r>
                      <a:r>
                        <a:rPr sz="1800" dirty="0">
                          <a:latin typeface="Arial MT"/>
                          <a:cs typeface="Arial MT"/>
                        </a:rPr>
                        <a:t>verifies</a:t>
                      </a:r>
                      <a:r>
                        <a:rPr sz="1800" spc="-20" dirty="0">
                          <a:latin typeface="Arial MT"/>
                          <a:cs typeface="Arial MT"/>
                        </a:rPr>
                        <a:t> </a:t>
                      </a:r>
                      <a:r>
                        <a:rPr sz="1800" dirty="0">
                          <a:latin typeface="Arial MT"/>
                          <a:cs typeface="Arial MT"/>
                        </a:rPr>
                        <a:t>generated</a:t>
                      </a:r>
                      <a:r>
                        <a:rPr sz="1800" spc="-15" dirty="0">
                          <a:latin typeface="Arial MT"/>
                          <a:cs typeface="Arial MT"/>
                        </a:rPr>
                        <a:t> </a:t>
                      </a:r>
                      <a:r>
                        <a:rPr sz="1800" dirty="0">
                          <a:latin typeface="Arial MT"/>
                          <a:cs typeface="Arial MT"/>
                        </a:rPr>
                        <a:t>SQL/Python</a:t>
                      </a:r>
                      <a:r>
                        <a:rPr sz="1800" spc="-10" dirty="0">
                          <a:latin typeface="Arial MT"/>
                          <a:cs typeface="Arial MT"/>
                        </a:rPr>
                        <a:t> </a:t>
                      </a:r>
                      <a:r>
                        <a:rPr sz="1800" dirty="0">
                          <a:latin typeface="Arial MT"/>
                          <a:cs typeface="Arial MT"/>
                        </a:rPr>
                        <a:t>before</a:t>
                      </a:r>
                      <a:r>
                        <a:rPr sz="1800" spc="-25" dirty="0">
                          <a:latin typeface="Arial MT"/>
                          <a:cs typeface="Arial MT"/>
                        </a:rPr>
                        <a:t> </a:t>
                      </a:r>
                      <a:r>
                        <a:rPr sz="1800" spc="-10" dirty="0">
                          <a:latin typeface="Arial MT"/>
                          <a:cs typeface="Arial MT"/>
                        </a:rPr>
                        <a:t>execution</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37126">
                <a:tc>
                  <a:txBody>
                    <a:bodyPr/>
                    <a:lstStyle/>
                    <a:p>
                      <a:pPr marL="23495">
                        <a:lnSpc>
                          <a:spcPct val="100000"/>
                        </a:lnSpc>
                        <a:spcBef>
                          <a:spcPts val="125"/>
                        </a:spcBef>
                      </a:pPr>
                      <a:r>
                        <a:rPr sz="1800" dirty="0">
                          <a:latin typeface="Arial MT"/>
                          <a:cs typeface="Arial MT"/>
                        </a:rPr>
                        <a:t>Small</a:t>
                      </a:r>
                      <a:r>
                        <a:rPr sz="1800" spc="-30" dirty="0">
                          <a:latin typeface="Arial MT"/>
                          <a:cs typeface="Arial MT"/>
                        </a:rPr>
                        <a:t> </a:t>
                      </a:r>
                      <a:r>
                        <a:rPr sz="1800" dirty="0">
                          <a:latin typeface="Arial MT"/>
                          <a:cs typeface="Arial MT"/>
                        </a:rPr>
                        <a:t>search</a:t>
                      </a:r>
                      <a:r>
                        <a:rPr sz="1800" spc="-20" dirty="0">
                          <a:latin typeface="Arial MT"/>
                          <a:cs typeface="Arial MT"/>
                        </a:rPr>
                        <a:t> space</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spc="-10" dirty="0">
                          <a:latin typeface="Arial MT"/>
                          <a:cs typeface="Arial MT"/>
                        </a:rPr>
                        <a:t>Multi-</a:t>
                      </a:r>
                      <a:r>
                        <a:rPr sz="1800" dirty="0">
                          <a:latin typeface="Arial MT"/>
                          <a:cs typeface="Arial MT"/>
                        </a:rPr>
                        <a:t>stage</a:t>
                      </a:r>
                      <a:r>
                        <a:rPr sz="1800" spc="-20" dirty="0">
                          <a:latin typeface="Arial MT"/>
                          <a:cs typeface="Arial MT"/>
                        </a:rPr>
                        <a:t> </a:t>
                      </a:r>
                      <a:r>
                        <a:rPr sz="1800" dirty="0">
                          <a:latin typeface="Arial MT"/>
                          <a:cs typeface="Arial MT"/>
                        </a:rPr>
                        <a:t>Candidate</a:t>
                      </a:r>
                      <a:r>
                        <a:rPr sz="1800" spc="-20" dirty="0">
                          <a:latin typeface="Arial MT"/>
                          <a:cs typeface="Arial MT"/>
                        </a:rPr>
                        <a:t> </a:t>
                      </a:r>
                      <a:r>
                        <a:rPr sz="1800" dirty="0">
                          <a:latin typeface="Arial MT"/>
                          <a:cs typeface="Arial MT"/>
                        </a:rPr>
                        <a:t>Retrieval</a:t>
                      </a:r>
                      <a:r>
                        <a:rPr sz="1800" spc="5" dirty="0">
                          <a:latin typeface="Arial MT"/>
                          <a:cs typeface="Arial MT"/>
                        </a:rPr>
                        <a:t> </a:t>
                      </a:r>
                      <a:r>
                        <a:rPr sz="1800" dirty="0">
                          <a:latin typeface="Arial MT"/>
                          <a:cs typeface="Arial MT"/>
                        </a:rPr>
                        <a:t>instead</a:t>
                      </a:r>
                      <a:r>
                        <a:rPr sz="1800" spc="-2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fixed</a:t>
                      </a:r>
                      <a:r>
                        <a:rPr sz="1800" spc="-20" dirty="0">
                          <a:latin typeface="Arial MT"/>
                          <a:cs typeface="Arial MT"/>
                        </a:rPr>
                        <a:t> </a:t>
                      </a:r>
                      <a:r>
                        <a:rPr sz="1800" dirty="0">
                          <a:latin typeface="Arial MT"/>
                          <a:cs typeface="Arial MT"/>
                        </a:rPr>
                        <a:t>100-parent</a:t>
                      </a:r>
                      <a:r>
                        <a:rPr sz="1800" spc="-20" dirty="0">
                          <a:latin typeface="Arial MT"/>
                          <a:cs typeface="Arial MT"/>
                        </a:rPr>
                        <a:t> </a:t>
                      </a:r>
                      <a:r>
                        <a:rPr sz="1800" spc="-10" dirty="0">
                          <a:latin typeface="Arial MT"/>
                          <a:cs typeface="Arial MT"/>
                        </a:rPr>
                        <a:t>selection</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39276">
                <a:tc>
                  <a:txBody>
                    <a:bodyPr/>
                    <a:lstStyle/>
                    <a:p>
                      <a:pPr marL="23495">
                        <a:lnSpc>
                          <a:spcPct val="100000"/>
                        </a:lnSpc>
                        <a:spcBef>
                          <a:spcPts val="140"/>
                        </a:spcBef>
                      </a:pPr>
                      <a:r>
                        <a:rPr sz="1800" dirty="0">
                          <a:latin typeface="Arial MT"/>
                          <a:cs typeface="Arial MT"/>
                        </a:rPr>
                        <a:t>Only</a:t>
                      </a:r>
                      <a:r>
                        <a:rPr sz="1800" spc="-20" dirty="0">
                          <a:latin typeface="Arial MT"/>
                          <a:cs typeface="Arial MT"/>
                        </a:rPr>
                        <a:t> </a:t>
                      </a:r>
                      <a:r>
                        <a:rPr sz="1800" dirty="0">
                          <a:latin typeface="Arial MT"/>
                          <a:cs typeface="Arial MT"/>
                        </a:rPr>
                        <a:t>9</a:t>
                      </a:r>
                      <a:r>
                        <a:rPr sz="1800" spc="-10" dirty="0">
                          <a:latin typeface="Arial MT"/>
                          <a:cs typeface="Arial MT"/>
                        </a:rPr>
                        <a:t> topologies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Generalized</a:t>
                      </a:r>
                      <a:r>
                        <a:rPr sz="1800" spc="-25" dirty="0">
                          <a:latin typeface="Arial MT"/>
                          <a:cs typeface="Arial MT"/>
                        </a:rPr>
                        <a:t> </a:t>
                      </a:r>
                      <a:r>
                        <a:rPr sz="1800" dirty="0">
                          <a:latin typeface="Arial MT"/>
                          <a:cs typeface="Arial MT"/>
                        </a:rPr>
                        <a:t>Material</a:t>
                      </a:r>
                      <a:r>
                        <a:rPr sz="1800" spc="-40" dirty="0">
                          <a:latin typeface="Arial MT"/>
                          <a:cs typeface="Arial MT"/>
                        </a:rPr>
                        <a:t> </a:t>
                      </a:r>
                      <a:r>
                        <a:rPr sz="1800" dirty="0">
                          <a:latin typeface="Arial MT"/>
                          <a:cs typeface="Arial MT"/>
                        </a:rPr>
                        <a:t>Recommendation</a:t>
                      </a:r>
                      <a:r>
                        <a:rPr sz="1800" spc="-20" dirty="0">
                          <a:latin typeface="Arial MT"/>
                          <a:cs typeface="Arial MT"/>
                        </a:rPr>
                        <a:t> </a:t>
                      </a:r>
                      <a:r>
                        <a:rPr sz="1800" dirty="0">
                          <a:latin typeface="Arial MT"/>
                          <a:cs typeface="Arial MT"/>
                        </a:rPr>
                        <a:t>across</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full</a:t>
                      </a:r>
                      <a:r>
                        <a:rPr sz="1800" spc="-30" dirty="0">
                          <a:latin typeface="Arial MT"/>
                          <a:cs typeface="Arial MT"/>
                        </a:rPr>
                        <a:t> </a:t>
                      </a:r>
                      <a:r>
                        <a:rPr sz="1800" dirty="0">
                          <a:latin typeface="Arial MT"/>
                          <a:cs typeface="Arial MT"/>
                        </a:rPr>
                        <a:t>hMOF</a:t>
                      </a:r>
                      <a:r>
                        <a:rPr sz="1800" spc="-30" dirty="0">
                          <a:latin typeface="Arial MT"/>
                          <a:cs typeface="Arial MT"/>
                        </a:rPr>
                        <a:t> </a:t>
                      </a:r>
                      <a:r>
                        <a:rPr sz="1800" spc="-10" dirty="0">
                          <a:latin typeface="Arial MT"/>
                          <a:cs typeface="Arial MT"/>
                        </a:rPr>
                        <a:t>dataset</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637126">
                <a:tc>
                  <a:txBody>
                    <a:bodyPr/>
                    <a:lstStyle/>
                    <a:p>
                      <a:pPr marL="23495">
                        <a:lnSpc>
                          <a:spcPct val="100000"/>
                        </a:lnSpc>
                        <a:spcBef>
                          <a:spcPts val="125"/>
                        </a:spcBef>
                      </a:pPr>
                      <a:r>
                        <a:rPr sz="1800" dirty="0">
                          <a:latin typeface="Arial MT"/>
                          <a:cs typeface="Arial MT"/>
                        </a:rPr>
                        <a:t>Depends</a:t>
                      </a:r>
                      <a:r>
                        <a:rPr sz="1800" spc="-25" dirty="0">
                          <a:latin typeface="Arial MT"/>
                          <a:cs typeface="Arial MT"/>
                        </a:rPr>
                        <a:t> </a:t>
                      </a:r>
                      <a:r>
                        <a:rPr sz="1800" dirty="0">
                          <a:latin typeface="Arial MT"/>
                          <a:cs typeface="Arial MT"/>
                        </a:rPr>
                        <a:t>on</a:t>
                      </a:r>
                      <a:r>
                        <a:rPr sz="1800" spc="-15" dirty="0">
                          <a:latin typeface="Arial MT"/>
                          <a:cs typeface="Arial MT"/>
                        </a:rPr>
                        <a:t> </a:t>
                      </a:r>
                      <a:r>
                        <a:rPr sz="1800" dirty="0">
                          <a:latin typeface="Arial MT"/>
                          <a:cs typeface="Arial MT"/>
                        </a:rPr>
                        <a:t>pretrained</a:t>
                      </a:r>
                      <a:r>
                        <a:rPr sz="1800" spc="-25" dirty="0">
                          <a:latin typeface="Arial MT"/>
                          <a:cs typeface="Arial MT"/>
                        </a:rPr>
                        <a:t> </a:t>
                      </a:r>
                      <a:r>
                        <a:rPr sz="1800" spc="-10" dirty="0">
                          <a:latin typeface="Arial MT"/>
                          <a:cs typeface="Arial MT"/>
                        </a:rPr>
                        <a:t>models</a:t>
                      </a:r>
                      <a:endParaRPr sz="18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dirty="0">
                          <a:latin typeface="Arial MT"/>
                          <a:cs typeface="Arial MT"/>
                        </a:rPr>
                        <a:t>Train</a:t>
                      </a:r>
                      <a:r>
                        <a:rPr sz="1800" spc="-20" dirty="0">
                          <a:latin typeface="Arial MT"/>
                          <a:cs typeface="Arial MT"/>
                        </a:rPr>
                        <a:t> </a:t>
                      </a:r>
                      <a:r>
                        <a:rPr sz="1800" dirty="0">
                          <a:latin typeface="Arial MT"/>
                          <a:cs typeface="Arial MT"/>
                        </a:rPr>
                        <a:t>your</a:t>
                      </a:r>
                      <a:r>
                        <a:rPr sz="1800" spc="-15" dirty="0">
                          <a:latin typeface="Arial MT"/>
                          <a:cs typeface="Arial MT"/>
                        </a:rPr>
                        <a:t> </a:t>
                      </a:r>
                      <a:r>
                        <a:rPr sz="1800" dirty="0">
                          <a:latin typeface="Arial MT"/>
                          <a:cs typeface="Arial MT"/>
                        </a:rPr>
                        <a:t>own</a:t>
                      </a:r>
                      <a:r>
                        <a:rPr sz="1800" spc="-30" dirty="0">
                          <a:latin typeface="Arial MT"/>
                          <a:cs typeface="Arial MT"/>
                        </a:rPr>
                        <a:t> </a:t>
                      </a:r>
                      <a:r>
                        <a:rPr sz="1800" dirty="0">
                          <a:latin typeface="Arial MT"/>
                          <a:cs typeface="Arial MT"/>
                        </a:rPr>
                        <a:t>Transformer/XGBoost</a:t>
                      </a:r>
                      <a:r>
                        <a:rPr sz="1800" spc="-25" dirty="0">
                          <a:latin typeface="Arial MT"/>
                          <a:cs typeface="Arial MT"/>
                        </a:rPr>
                        <a:t> </a:t>
                      </a:r>
                      <a:r>
                        <a:rPr sz="1800" dirty="0">
                          <a:latin typeface="Arial MT"/>
                          <a:cs typeface="Arial MT"/>
                        </a:rPr>
                        <a:t>for</a:t>
                      </a:r>
                      <a:r>
                        <a:rPr sz="1800" spc="-30" dirty="0">
                          <a:latin typeface="Arial MT"/>
                          <a:cs typeface="Arial MT"/>
                        </a:rPr>
                        <a:t> </a:t>
                      </a:r>
                      <a:r>
                        <a:rPr sz="1800" dirty="0">
                          <a:latin typeface="Arial MT"/>
                          <a:cs typeface="Arial MT"/>
                        </a:rPr>
                        <a:t>new</a:t>
                      </a:r>
                      <a:r>
                        <a:rPr sz="1800" spc="-35" dirty="0">
                          <a:latin typeface="Arial MT"/>
                          <a:cs typeface="Arial MT"/>
                        </a:rPr>
                        <a:t> </a:t>
                      </a:r>
                      <a:r>
                        <a:rPr sz="1800" spc="-10" dirty="0">
                          <a:latin typeface="Arial MT"/>
                          <a:cs typeface="Arial MT"/>
                        </a:rPr>
                        <a:t>properties</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509430">
                <a:tc>
                  <a:txBody>
                    <a:bodyPr/>
                    <a:lstStyle/>
                    <a:p>
                      <a:pPr marL="23495">
                        <a:lnSpc>
                          <a:spcPct val="100000"/>
                        </a:lnSpc>
                        <a:spcBef>
                          <a:spcPts val="140"/>
                        </a:spcBef>
                      </a:pPr>
                      <a:r>
                        <a:rPr sz="1800" dirty="0">
                          <a:latin typeface="Arial MT"/>
                          <a:cs typeface="Arial MT"/>
                        </a:rPr>
                        <a:t>General</a:t>
                      </a:r>
                      <a:r>
                        <a:rPr sz="1800" spc="-10" dirty="0">
                          <a:latin typeface="Arial MT"/>
                          <a:cs typeface="Arial MT"/>
                        </a:rPr>
                        <a:t> GPT-</a:t>
                      </a:r>
                      <a:r>
                        <a:rPr sz="1800" spc="-50" dirty="0">
                          <a:latin typeface="Arial MT"/>
                          <a:cs typeface="Arial MT"/>
                        </a:rPr>
                        <a:t>4</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spc="-10" dirty="0">
                          <a:latin typeface="Arial MT"/>
                          <a:cs typeface="Arial MT"/>
                        </a:rPr>
                        <a:t>Domain-</a:t>
                      </a:r>
                      <a:r>
                        <a:rPr sz="1800" dirty="0">
                          <a:latin typeface="Arial MT"/>
                          <a:cs typeface="Arial MT"/>
                        </a:rPr>
                        <a:t>specific</a:t>
                      </a:r>
                      <a:r>
                        <a:rPr sz="1800" spc="-10" dirty="0">
                          <a:latin typeface="Arial MT"/>
                          <a:cs typeface="Arial MT"/>
                        </a:rPr>
                        <a:t> </a:t>
                      </a:r>
                      <a:r>
                        <a:rPr sz="1800" dirty="0">
                          <a:latin typeface="Arial MT"/>
                          <a:cs typeface="Arial MT"/>
                        </a:rPr>
                        <a:t>MOF</a:t>
                      </a:r>
                      <a:r>
                        <a:rPr sz="1800" spc="-10" dirty="0">
                          <a:latin typeface="Arial MT"/>
                          <a:cs typeface="Arial MT"/>
                        </a:rPr>
                        <a:t> </a:t>
                      </a:r>
                      <a:r>
                        <a:rPr sz="1800" dirty="0">
                          <a:latin typeface="Arial MT"/>
                          <a:cs typeface="Arial MT"/>
                        </a:rPr>
                        <a:t>Knowledge</a:t>
                      </a:r>
                      <a:r>
                        <a:rPr sz="1800" spc="-10" dirty="0">
                          <a:latin typeface="Arial MT"/>
                          <a:cs typeface="Arial MT"/>
                        </a:rPr>
                        <a:t> </a:t>
                      </a:r>
                      <a:r>
                        <a:rPr sz="1800" dirty="0">
                          <a:latin typeface="Arial MT"/>
                          <a:cs typeface="Arial MT"/>
                        </a:rPr>
                        <a:t>Base +</a:t>
                      </a:r>
                      <a:r>
                        <a:rPr sz="1800" spc="-10" dirty="0">
                          <a:latin typeface="Arial MT"/>
                          <a:cs typeface="Arial MT"/>
                        </a:rPr>
                        <a:t> </a:t>
                      </a:r>
                      <a:r>
                        <a:rPr sz="1800" dirty="0">
                          <a:latin typeface="Arial MT"/>
                          <a:cs typeface="Arial MT"/>
                        </a:rPr>
                        <a:t>Prompt</a:t>
                      </a:r>
                      <a:r>
                        <a:rPr sz="1800" spc="-15" dirty="0">
                          <a:latin typeface="Arial MT"/>
                          <a:cs typeface="Arial MT"/>
                        </a:rPr>
                        <a:t> </a:t>
                      </a:r>
                      <a:r>
                        <a:rPr sz="1800" spc="-10" dirty="0">
                          <a:latin typeface="Arial MT"/>
                          <a:cs typeface="Arial MT"/>
                        </a:rPr>
                        <a:t>Templates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506474">
                <a:tc>
                  <a:txBody>
                    <a:bodyPr/>
                    <a:lstStyle/>
                    <a:p>
                      <a:pPr marL="23495">
                        <a:lnSpc>
                          <a:spcPct val="100000"/>
                        </a:lnSpc>
                        <a:spcBef>
                          <a:spcPts val="130"/>
                        </a:spcBef>
                      </a:pPr>
                      <a:r>
                        <a:rPr sz="1800" dirty="0">
                          <a:latin typeface="Arial MT"/>
                          <a:cs typeface="Arial MT"/>
                        </a:rPr>
                        <a:t>High</a:t>
                      </a:r>
                      <a:r>
                        <a:rPr sz="1800" spc="-30" dirty="0">
                          <a:latin typeface="Arial MT"/>
                          <a:cs typeface="Arial MT"/>
                        </a:rPr>
                        <a:t> </a:t>
                      </a:r>
                      <a:r>
                        <a:rPr sz="1800" spc="-10" dirty="0">
                          <a:latin typeface="Arial MT"/>
                          <a:cs typeface="Arial MT"/>
                        </a:rPr>
                        <a:t>computation</a:t>
                      </a:r>
                      <a:endParaRPr sz="1800">
                        <a:latin typeface="Arial MT"/>
                        <a:cs typeface="Arial MT"/>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30"/>
                        </a:spcBef>
                      </a:pPr>
                      <a:r>
                        <a:rPr sz="1800" dirty="0">
                          <a:latin typeface="Arial MT"/>
                          <a:cs typeface="Arial MT"/>
                        </a:rPr>
                        <a:t>Surrogate</a:t>
                      </a:r>
                      <a:r>
                        <a:rPr sz="1800" spc="-5" dirty="0">
                          <a:latin typeface="Arial MT"/>
                          <a:cs typeface="Arial MT"/>
                        </a:rPr>
                        <a:t> </a:t>
                      </a:r>
                      <a:r>
                        <a:rPr sz="1800" dirty="0">
                          <a:latin typeface="Arial MT"/>
                          <a:cs typeface="Arial MT"/>
                        </a:rPr>
                        <a:t>ML</a:t>
                      </a:r>
                      <a:r>
                        <a:rPr sz="1800" spc="-20" dirty="0">
                          <a:latin typeface="Arial MT"/>
                          <a:cs typeface="Arial MT"/>
                        </a:rPr>
                        <a:t> </a:t>
                      </a:r>
                      <a:r>
                        <a:rPr sz="1800" dirty="0">
                          <a:latin typeface="Arial MT"/>
                          <a:cs typeface="Arial MT"/>
                        </a:rPr>
                        <a:t>models</a:t>
                      </a:r>
                      <a:r>
                        <a:rPr sz="1800" spc="-10" dirty="0">
                          <a:latin typeface="Arial MT"/>
                          <a:cs typeface="Arial MT"/>
                        </a:rPr>
                        <a:t> </a:t>
                      </a:r>
                      <a:r>
                        <a:rPr sz="1800" dirty="0">
                          <a:latin typeface="Arial MT"/>
                          <a:cs typeface="Arial MT"/>
                        </a:rPr>
                        <a:t>instead</a:t>
                      </a:r>
                      <a:r>
                        <a:rPr sz="1800" spc="-25"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expensive</a:t>
                      </a:r>
                      <a:r>
                        <a:rPr sz="1800" spc="-15" dirty="0">
                          <a:latin typeface="Arial MT"/>
                          <a:cs typeface="Arial MT"/>
                        </a:rPr>
                        <a:t> </a:t>
                      </a:r>
                      <a:r>
                        <a:rPr sz="1800" spc="-10" dirty="0">
                          <a:latin typeface="Arial MT"/>
                          <a:cs typeface="Arial MT"/>
                        </a:rPr>
                        <a:t>simulations</a:t>
                      </a:r>
                      <a:endParaRPr sz="1800">
                        <a:latin typeface="Arial MT"/>
                        <a:cs typeface="Arial MT"/>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507953">
                <a:tc>
                  <a:txBody>
                    <a:bodyPr/>
                    <a:lstStyle/>
                    <a:p>
                      <a:pPr marL="23495">
                        <a:lnSpc>
                          <a:spcPct val="100000"/>
                        </a:lnSpc>
                        <a:spcBef>
                          <a:spcPts val="140"/>
                        </a:spcBef>
                      </a:pPr>
                      <a:r>
                        <a:rPr sz="1800" dirty="0">
                          <a:latin typeface="Arial MT"/>
                          <a:cs typeface="Arial MT"/>
                        </a:rPr>
                        <a:t>No</a:t>
                      </a:r>
                      <a:r>
                        <a:rPr sz="1800" spc="-25" dirty="0">
                          <a:latin typeface="Arial MT"/>
                          <a:cs typeface="Arial MT"/>
                        </a:rPr>
                        <a:t> </a:t>
                      </a:r>
                      <a:r>
                        <a:rPr sz="1800" spc="-10" dirty="0">
                          <a:latin typeface="Arial MT"/>
                          <a:cs typeface="Arial MT"/>
                        </a:rPr>
                        <a:t>explainability</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Explainable</a:t>
                      </a:r>
                      <a:r>
                        <a:rPr sz="1800" spc="-20" dirty="0">
                          <a:latin typeface="Arial MT"/>
                          <a:cs typeface="Arial MT"/>
                        </a:rPr>
                        <a:t> </a:t>
                      </a:r>
                      <a:r>
                        <a:rPr sz="1800" dirty="0">
                          <a:latin typeface="Arial MT"/>
                          <a:cs typeface="Arial MT"/>
                        </a:rPr>
                        <a:t>AI</a:t>
                      </a:r>
                      <a:r>
                        <a:rPr sz="1800" spc="-25" dirty="0">
                          <a:latin typeface="Arial MT"/>
                          <a:cs typeface="Arial MT"/>
                        </a:rPr>
                        <a:t> </a:t>
                      </a:r>
                      <a:r>
                        <a:rPr sz="1800" dirty="0">
                          <a:latin typeface="Arial MT"/>
                          <a:cs typeface="Arial MT"/>
                        </a:rPr>
                        <a:t>(SHAP/LIME/Attention</a:t>
                      </a:r>
                      <a:r>
                        <a:rPr sz="1800" spc="-25" dirty="0">
                          <a:latin typeface="Arial MT"/>
                          <a:cs typeface="Arial MT"/>
                        </a:rPr>
                        <a:t> </a:t>
                      </a:r>
                      <a:r>
                        <a:rPr sz="1800" spc="-10" dirty="0">
                          <a:latin typeface="Arial MT"/>
                          <a:cs typeface="Arial MT"/>
                        </a:rPr>
                        <a:t>Visualization)</a:t>
                      </a:r>
                      <a:endParaRPr sz="1800" dirty="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1883" y="1038225"/>
            <a:ext cx="10287000" cy="579646"/>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Datasets</a:t>
            </a:r>
            <a:r>
              <a:rPr b="1" spc="-15" dirty="0">
                <a:latin typeface="Arial"/>
                <a:cs typeface="Arial"/>
              </a:rPr>
              <a:t> </a:t>
            </a:r>
            <a:r>
              <a:rPr b="1" dirty="0">
                <a:latin typeface="Arial"/>
                <a:cs typeface="Arial"/>
              </a:rPr>
              <a:t>Used</a:t>
            </a:r>
            <a:r>
              <a:rPr b="1" spc="-20" dirty="0">
                <a:latin typeface="Arial"/>
                <a:cs typeface="Arial"/>
              </a:rPr>
              <a:t> </a:t>
            </a:r>
            <a:r>
              <a:rPr b="1" dirty="0">
                <a:latin typeface="Arial"/>
                <a:cs typeface="Arial"/>
              </a:rPr>
              <a:t>in</a:t>
            </a:r>
            <a:r>
              <a:rPr b="1" spc="-20" dirty="0">
                <a:latin typeface="Arial"/>
                <a:cs typeface="Arial"/>
              </a:rPr>
              <a:t> </a:t>
            </a:r>
            <a:r>
              <a:rPr b="1" dirty="0">
                <a:latin typeface="Arial"/>
                <a:cs typeface="Arial"/>
              </a:rPr>
              <a:t>Chat</a:t>
            </a:r>
            <a:r>
              <a:rPr b="1" spc="-20" dirty="0">
                <a:latin typeface="Arial"/>
                <a:cs typeface="Arial"/>
              </a:rPr>
              <a:t> </a:t>
            </a:r>
            <a:r>
              <a:rPr b="1" dirty="0">
                <a:latin typeface="Arial"/>
                <a:cs typeface="Arial"/>
              </a:rPr>
              <a:t>MOF</a:t>
            </a:r>
            <a:r>
              <a:rPr b="1" spc="-15" dirty="0">
                <a:latin typeface="Arial"/>
                <a:cs typeface="Arial"/>
              </a:rPr>
              <a:t> </a:t>
            </a:r>
            <a:r>
              <a:rPr b="1" dirty="0">
                <a:latin typeface="Arial"/>
                <a:cs typeface="Arial"/>
              </a:rPr>
              <a:t>(</a:t>
            </a:r>
            <a:r>
              <a:rPr lang="en-US" b="1" dirty="0">
                <a:latin typeface="Arial"/>
                <a:cs typeface="Arial"/>
              </a:rPr>
              <a:t>Core </a:t>
            </a:r>
            <a:r>
              <a:rPr b="1" dirty="0">
                <a:latin typeface="Arial"/>
                <a:cs typeface="Arial"/>
              </a:rPr>
              <a:t>MOF</a:t>
            </a:r>
            <a:r>
              <a:rPr b="1" spc="-20" dirty="0">
                <a:latin typeface="Arial"/>
                <a:cs typeface="Arial"/>
              </a:rPr>
              <a:t> </a:t>
            </a:r>
            <a:r>
              <a:rPr b="1" spc="-10" dirty="0">
                <a:latin typeface="Arial"/>
                <a:cs typeface="Arial"/>
              </a:rPr>
              <a:t>dataset)</a:t>
            </a:r>
            <a:endParaRPr lang="en-IN" dirty="0">
              <a:latin typeface="Arial MT"/>
              <a:cs typeface="Arial MT"/>
            </a:endParaRPr>
          </a:p>
          <a:p>
            <a:pPr marL="241300">
              <a:lnSpc>
                <a:spcPct val="100000"/>
              </a:lnSpc>
              <a:spcBef>
                <a:spcPts val="130"/>
              </a:spcBef>
              <a:buSzPct val="90909"/>
              <a:tabLst>
                <a:tab pos="469900" algn="l"/>
              </a:tabLst>
            </a:pPr>
            <a:endParaRPr lang="en-IN" dirty="0">
              <a:latin typeface="Arial MT"/>
              <a:cs typeface="Arial MT"/>
            </a:endParaRPr>
          </a:p>
        </p:txBody>
      </p:sp>
      <p:sp>
        <p:nvSpPr>
          <p:cNvPr id="11" name="Subtitle 2"/>
          <p:cNvSpPr txBox="1">
            <a:spLocks/>
          </p:cNvSpPr>
          <p:nvPr/>
        </p:nvSpPr>
        <p:spPr>
          <a:xfrm>
            <a:off x="241300" y="322088"/>
            <a:ext cx="10210800" cy="615553"/>
          </a:xfrm>
          <a:prstGeom prst="rect">
            <a:avLst/>
          </a:prstGeom>
          <a:solidFill>
            <a:schemeClr val="accent1">
              <a:lumMod val="40000"/>
              <a:lumOff val="60000"/>
            </a:schemeClr>
          </a:solidFill>
        </p:spPr>
        <p:txBody>
          <a:bodyPr wrap="square" lIns="0" tIns="0" rIns="0" bIns="0">
            <a:spAutoFit/>
          </a:bodyPr>
          <a:lstStyle>
            <a:lvl1pPr marL="0" indent="0" algn="ctr">
              <a:buNone/>
              <a:defRPr sz="2105" b="0" i="0">
                <a:solidFill>
                  <a:schemeClr val="tx1"/>
                </a:solidFill>
                <a:latin typeface="Arial MT"/>
                <a:ea typeface="+mn-ea"/>
                <a:cs typeface="Arial MT"/>
              </a:defRPr>
            </a:lvl1pPr>
            <a:lvl2pPr marL="401010" indent="0" algn="ctr">
              <a:buNone/>
              <a:defRPr sz="1754">
                <a:latin typeface="+mn-lt"/>
                <a:ea typeface="+mn-ea"/>
                <a:cs typeface="+mn-cs"/>
              </a:defRPr>
            </a:lvl2pPr>
            <a:lvl3pPr marL="802020" indent="0" algn="ctr">
              <a:buNone/>
              <a:defRPr sz="1579">
                <a:latin typeface="+mn-lt"/>
                <a:ea typeface="+mn-ea"/>
                <a:cs typeface="+mn-cs"/>
              </a:defRPr>
            </a:lvl3pPr>
            <a:lvl4pPr marL="1203030" indent="0" algn="ctr">
              <a:buNone/>
              <a:defRPr sz="1403">
                <a:latin typeface="+mn-lt"/>
                <a:ea typeface="+mn-ea"/>
                <a:cs typeface="+mn-cs"/>
              </a:defRPr>
            </a:lvl4pPr>
            <a:lvl5pPr marL="1604040" indent="0" algn="ctr">
              <a:buNone/>
              <a:defRPr sz="1403">
                <a:latin typeface="+mn-lt"/>
                <a:ea typeface="+mn-ea"/>
                <a:cs typeface="+mn-cs"/>
              </a:defRPr>
            </a:lvl5pPr>
            <a:lvl6pPr marL="2005051" indent="0" algn="ctr">
              <a:buNone/>
              <a:defRPr sz="1403">
                <a:latin typeface="+mn-lt"/>
                <a:ea typeface="+mn-ea"/>
                <a:cs typeface="+mn-cs"/>
              </a:defRPr>
            </a:lvl6pPr>
            <a:lvl7pPr marL="2406061" indent="0" algn="ctr">
              <a:buNone/>
              <a:defRPr sz="1403">
                <a:latin typeface="+mn-lt"/>
                <a:ea typeface="+mn-ea"/>
                <a:cs typeface="+mn-cs"/>
              </a:defRPr>
            </a:lvl7pPr>
            <a:lvl8pPr marL="2807071" indent="0" algn="ctr">
              <a:buNone/>
              <a:defRPr sz="1403">
                <a:latin typeface="+mn-lt"/>
                <a:ea typeface="+mn-ea"/>
                <a:cs typeface="+mn-cs"/>
              </a:defRPr>
            </a:lvl8pPr>
            <a:lvl9pPr marL="3208081" indent="0" algn="ctr">
              <a:buNone/>
              <a:defRPr sz="1403">
                <a:latin typeface="+mn-lt"/>
                <a:ea typeface="+mn-ea"/>
                <a:cs typeface="+mn-cs"/>
              </a:defRPr>
            </a:lvl9pPr>
          </a:lstStyle>
          <a:p>
            <a:r>
              <a:rPr lang="en-US" sz="4000" b="1" dirty="0">
                <a:latin typeface="Bell MT" panose="02020503060305020303" pitchFamily="18" charset="0"/>
              </a:rPr>
              <a:t>Dataset</a:t>
            </a:r>
            <a:endParaRPr lang="en-IN" sz="4000" b="1" dirty="0">
              <a:latin typeface="Bell MT" panose="02020503060305020303" pitchFamily="18" charset="0"/>
            </a:endParaRPr>
          </a:p>
        </p:txBody>
      </p:sp>
      <p:sp>
        <p:nvSpPr>
          <p:cNvPr id="12" name="Rectangle 11"/>
          <p:cNvSpPr/>
          <p:nvPr/>
        </p:nvSpPr>
        <p:spPr>
          <a:xfrm>
            <a:off x="261883" y="5991225"/>
            <a:ext cx="10210800" cy="923330"/>
          </a:xfrm>
          <a:prstGeom prst="rect">
            <a:avLst/>
          </a:prstGeom>
        </p:spPr>
        <p:txBody>
          <a:bodyPr wrap="square">
            <a:spAutoFit/>
          </a:bodyPr>
          <a:lstStyle/>
          <a:p>
            <a:r>
              <a:rPr lang="en-IN" dirty="0"/>
              <a:t>Our project uses the </a:t>
            </a:r>
            <a:r>
              <a:rPr lang="en-IN" dirty="0" err="1"/>
              <a:t>CoRE</a:t>
            </a:r>
            <a:r>
              <a:rPr lang="en-IN" dirty="0"/>
              <a:t>-MOF (Computation-Ready Experimental Metal-Organic Framework) dataset. The dataset contains 12,020 MOF records and 17 attributes. It provides structural, physical, and chemical information about different Metal-Organic Frameworks.</a:t>
            </a:r>
          </a:p>
        </p:txBody>
      </p:sp>
      <p:pic>
        <p:nvPicPr>
          <p:cNvPr id="13" name="Picture 12"/>
          <p:cNvPicPr>
            <a:picLocks noChangeAspect="1"/>
          </p:cNvPicPr>
          <p:nvPr/>
        </p:nvPicPr>
        <p:blipFill>
          <a:blip r:embed="rId2"/>
          <a:stretch>
            <a:fillRect/>
          </a:stretch>
        </p:blipFill>
        <p:spPr>
          <a:xfrm>
            <a:off x="323193" y="1617871"/>
            <a:ext cx="6934200" cy="3924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5100" y="16094"/>
            <a:ext cx="10363200" cy="505267"/>
          </a:xfrm>
          <a:prstGeom prst="rect">
            <a:avLst/>
          </a:prstGeom>
          <a:solidFill>
            <a:schemeClr val="accent1">
              <a:lumMod val="40000"/>
              <a:lumOff val="60000"/>
            </a:schemeClr>
          </a:solidFill>
        </p:spPr>
        <p:txBody>
          <a:bodyPr vert="horz" wrap="square" lIns="0" tIns="12700" rIns="0" bIns="0" rtlCol="0">
            <a:spAutoFit/>
          </a:bodyPr>
          <a:lstStyle/>
          <a:p>
            <a:pPr marL="12700">
              <a:lnSpc>
                <a:spcPct val="100000"/>
              </a:lnSpc>
            </a:pPr>
            <a:r>
              <a:rPr sz="3200" b="1" dirty="0">
                <a:solidFill>
                  <a:srgbClr val="002060"/>
                </a:solidFill>
                <a:latin typeface="Arial"/>
                <a:cs typeface="Arial"/>
              </a:rPr>
              <a:t>Literature</a:t>
            </a:r>
            <a:r>
              <a:rPr sz="3200" b="1" spc="-40" dirty="0">
                <a:solidFill>
                  <a:srgbClr val="002060"/>
                </a:solidFill>
                <a:latin typeface="Arial"/>
                <a:cs typeface="Arial"/>
              </a:rPr>
              <a:t> </a:t>
            </a:r>
            <a:r>
              <a:rPr sz="3200" b="1" dirty="0">
                <a:solidFill>
                  <a:srgbClr val="002060"/>
                </a:solidFill>
                <a:latin typeface="Arial"/>
                <a:cs typeface="Arial"/>
              </a:rPr>
              <a:t>for</a:t>
            </a:r>
            <a:r>
              <a:rPr sz="3200" b="1" spc="-35" dirty="0">
                <a:solidFill>
                  <a:srgbClr val="002060"/>
                </a:solidFill>
                <a:latin typeface="Arial"/>
                <a:cs typeface="Arial"/>
              </a:rPr>
              <a:t> </a:t>
            </a:r>
            <a:r>
              <a:rPr sz="3200" b="1" dirty="0">
                <a:solidFill>
                  <a:srgbClr val="002060"/>
                </a:solidFill>
                <a:latin typeface="Arial"/>
                <a:cs typeface="Arial"/>
              </a:rPr>
              <a:t>each</a:t>
            </a:r>
            <a:r>
              <a:rPr sz="3200" b="1" spc="-30" dirty="0">
                <a:solidFill>
                  <a:srgbClr val="002060"/>
                </a:solidFill>
                <a:latin typeface="Arial"/>
                <a:cs typeface="Arial"/>
              </a:rPr>
              <a:t> </a:t>
            </a:r>
            <a:r>
              <a:rPr sz="3200" b="1" spc="-10" dirty="0">
                <a:solidFill>
                  <a:srgbClr val="002060"/>
                </a:solidFill>
                <a:latin typeface="Arial"/>
                <a:cs typeface="Arial"/>
              </a:rPr>
              <a:t>Improvement:</a:t>
            </a:r>
            <a:endParaRPr sz="3200" dirty="0">
              <a:solidFill>
                <a:srgbClr val="002060"/>
              </a:solidFill>
              <a:latin typeface="Arial"/>
              <a:cs typeface="Arial"/>
            </a:endParaRPr>
          </a:p>
        </p:txBody>
      </p:sp>
      <p:graphicFrame>
        <p:nvGraphicFramePr>
          <p:cNvPr id="16" name="Table 15"/>
          <p:cNvGraphicFramePr>
            <a:graphicFrameLocks noGrp="1"/>
          </p:cNvGraphicFramePr>
          <p:nvPr>
            <p:extLst>
              <p:ext uri="{D42A27DB-BD31-4B8C-83A1-F6EECF244321}">
                <p14:modId xmlns:p14="http://schemas.microsoft.com/office/powerpoint/2010/main" val="2612335726"/>
              </p:ext>
            </p:extLst>
          </p:nvPr>
        </p:nvGraphicFramePr>
        <p:xfrm>
          <a:off x="241300" y="657225"/>
          <a:ext cx="10210800" cy="6582992"/>
        </p:xfrm>
        <a:graphic>
          <a:graphicData uri="http://schemas.openxmlformats.org/drawingml/2006/table">
            <a:tbl>
              <a:tblPr>
                <a:tableStyleId>{35758FB7-9AC5-4552-8A53-C91805E547FA}</a:tableStyleId>
              </a:tblPr>
              <a:tblGrid>
                <a:gridCol w="1276350">
                  <a:extLst>
                    <a:ext uri="{9D8B030D-6E8A-4147-A177-3AD203B41FA5}">
                      <a16:colId xmlns:a16="http://schemas.microsoft.com/office/drawing/2014/main" val="2987315982"/>
                    </a:ext>
                  </a:extLst>
                </a:gridCol>
                <a:gridCol w="1276350">
                  <a:extLst>
                    <a:ext uri="{9D8B030D-6E8A-4147-A177-3AD203B41FA5}">
                      <a16:colId xmlns:a16="http://schemas.microsoft.com/office/drawing/2014/main" val="3109237166"/>
                    </a:ext>
                  </a:extLst>
                </a:gridCol>
                <a:gridCol w="1276350">
                  <a:extLst>
                    <a:ext uri="{9D8B030D-6E8A-4147-A177-3AD203B41FA5}">
                      <a16:colId xmlns:a16="http://schemas.microsoft.com/office/drawing/2014/main" val="3549372060"/>
                    </a:ext>
                  </a:extLst>
                </a:gridCol>
                <a:gridCol w="1276350">
                  <a:extLst>
                    <a:ext uri="{9D8B030D-6E8A-4147-A177-3AD203B41FA5}">
                      <a16:colId xmlns:a16="http://schemas.microsoft.com/office/drawing/2014/main" val="788980606"/>
                    </a:ext>
                  </a:extLst>
                </a:gridCol>
                <a:gridCol w="1276350">
                  <a:extLst>
                    <a:ext uri="{9D8B030D-6E8A-4147-A177-3AD203B41FA5}">
                      <a16:colId xmlns:a16="http://schemas.microsoft.com/office/drawing/2014/main" val="2065280466"/>
                    </a:ext>
                  </a:extLst>
                </a:gridCol>
                <a:gridCol w="1276350">
                  <a:extLst>
                    <a:ext uri="{9D8B030D-6E8A-4147-A177-3AD203B41FA5}">
                      <a16:colId xmlns:a16="http://schemas.microsoft.com/office/drawing/2014/main" val="3675541455"/>
                    </a:ext>
                  </a:extLst>
                </a:gridCol>
                <a:gridCol w="1276350">
                  <a:extLst>
                    <a:ext uri="{9D8B030D-6E8A-4147-A177-3AD203B41FA5}">
                      <a16:colId xmlns:a16="http://schemas.microsoft.com/office/drawing/2014/main" val="1655457242"/>
                    </a:ext>
                  </a:extLst>
                </a:gridCol>
                <a:gridCol w="1276350">
                  <a:extLst>
                    <a:ext uri="{9D8B030D-6E8A-4147-A177-3AD203B41FA5}">
                      <a16:colId xmlns:a16="http://schemas.microsoft.com/office/drawing/2014/main" val="2020897300"/>
                    </a:ext>
                  </a:extLst>
                </a:gridCol>
              </a:tblGrid>
              <a:tr h="95251">
                <a:tc>
                  <a:txBody>
                    <a:bodyPr/>
                    <a:lstStyle/>
                    <a:p>
                      <a:r>
                        <a:rPr lang="en-US" sz="1000" dirty="0"/>
                        <a:t>S.NO</a:t>
                      </a:r>
                    </a:p>
                  </a:txBody>
                  <a:tcPr marL="3724" marR="3724" marT="1862" marB="1862" anchor="ctr"/>
                </a:tc>
                <a:tc>
                  <a:txBody>
                    <a:bodyPr/>
                    <a:lstStyle/>
                    <a:p>
                      <a:r>
                        <a:rPr lang="en-IN" sz="1000"/>
                        <a:t>Paper Name</a:t>
                      </a:r>
                    </a:p>
                  </a:txBody>
                  <a:tcPr marL="3724" marR="3724" marT="1862" marB="1862" anchor="ctr"/>
                </a:tc>
                <a:tc>
                  <a:txBody>
                    <a:bodyPr/>
                    <a:lstStyle/>
                    <a:p>
                      <a:r>
                        <a:rPr lang="en-IN" sz="1000"/>
                        <a:t>Author Name</a:t>
                      </a:r>
                    </a:p>
                  </a:txBody>
                  <a:tcPr marL="3724" marR="3724" marT="1862" marB="1862" anchor="ctr"/>
                </a:tc>
                <a:tc>
                  <a:txBody>
                    <a:bodyPr/>
                    <a:lstStyle/>
                    <a:p>
                      <a:r>
                        <a:rPr lang="en-IN" sz="1000"/>
                        <a:t>Year</a:t>
                      </a:r>
                    </a:p>
                  </a:txBody>
                  <a:tcPr marL="3724" marR="3724" marT="1862" marB="1862" anchor="ctr"/>
                </a:tc>
                <a:tc>
                  <a:txBody>
                    <a:bodyPr/>
                    <a:lstStyle/>
                    <a:p>
                      <a:r>
                        <a:rPr lang="en-IN" sz="1000"/>
                        <a:t>Methodology of Paper</a:t>
                      </a:r>
                    </a:p>
                  </a:txBody>
                  <a:tcPr marL="3724" marR="3724" marT="1862" marB="1862" anchor="ctr"/>
                </a:tc>
                <a:tc>
                  <a:txBody>
                    <a:bodyPr/>
                    <a:lstStyle/>
                    <a:p>
                      <a:r>
                        <a:rPr lang="en-IN" sz="1000"/>
                        <a:t>Contribution</a:t>
                      </a:r>
                    </a:p>
                  </a:txBody>
                  <a:tcPr marL="3724" marR="3724" marT="1862" marB="1862" anchor="ctr"/>
                </a:tc>
                <a:tc>
                  <a:txBody>
                    <a:bodyPr/>
                    <a:lstStyle/>
                    <a:p>
                      <a:r>
                        <a:rPr lang="en-IN" sz="1000"/>
                        <a:t>Limitation</a:t>
                      </a:r>
                    </a:p>
                  </a:txBody>
                  <a:tcPr marL="3724" marR="3724" marT="1862" marB="1862" anchor="ctr"/>
                </a:tc>
                <a:tc>
                  <a:txBody>
                    <a:bodyPr/>
                    <a:lstStyle/>
                    <a:p>
                      <a:r>
                        <a:rPr lang="en-IN" sz="1000"/>
                        <a:t>Research Gap</a:t>
                      </a:r>
                    </a:p>
                  </a:txBody>
                  <a:tcPr marL="3724" marR="3724" marT="1862" marB="1862" anchor="ctr"/>
                </a:tc>
                <a:extLst>
                  <a:ext uri="{0D108BD9-81ED-4DB2-BD59-A6C34878D82A}">
                    <a16:rowId xmlns:a16="http://schemas.microsoft.com/office/drawing/2014/main" val="1716014957"/>
                  </a:ext>
                </a:extLst>
              </a:tr>
              <a:tr h="409574">
                <a:tc>
                  <a:txBody>
                    <a:bodyPr/>
                    <a:lstStyle/>
                    <a:p>
                      <a:r>
                        <a:rPr lang="en-IN" sz="1000"/>
                        <a:t>1</a:t>
                      </a:r>
                    </a:p>
                  </a:txBody>
                  <a:tcPr marL="3724" marR="3724" marT="1862" marB="1862" anchor="ctr"/>
                </a:tc>
                <a:tc>
                  <a:txBody>
                    <a:bodyPr/>
                    <a:lstStyle/>
                    <a:p>
                      <a:r>
                        <a:rPr lang="en-US" sz="1000"/>
                        <a:t>ChatMOF: An Autonomous AI System for Predicting and Generating Metal-Organic Frameworks</a:t>
                      </a:r>
                    </a:p>
                  </a:txBody>
                  <a:tcPr marL="3724" marR="3724" marT="1862" marB="1862" anchor="ctr"/>
                </a:tc>
                <a:tc>
                  <a:txBody>
                    <a:bodyPr/>
                    <a:lstStyle/>
                    <a:p>
                      <a:r>
                        <a:rPr lang="nb-NO" sz="1000"/>
                        <a:t>A. S. Rosen et al.</a:t>
                      </a:r>
                    </a:p>
                  </a:txBody>
                  <a:tcPr marL="3724" marR="3724" marT="1862" marB="1862" anchor="ctr"/>
                </a:tc>
                <a:tc>
                  <a:txBody>
                    <a:bodyPr/>
                    <a:lstStyle/>
                    <a:p>
                      <a:r>
                        <a:rPr lang="en-IN" sz="1000"/>
                        <a:t>2024</a:t>
                      </a:r>
                    </a:p>
                  </a:txBody>
                  <a:tcPr marL="3724" marR="3724" marT="1862" marB="1862" anchor="ctr"/>
                </a:tc>
                <a:tc>
                  <a:txBody>
                    <a:bodyPr/>
                    <a:lstStyle/>
                    <a:p>
                      <a:r>
                        <a:rPr lang="en-US" sz="1000"/>
                        <a:t>Integrates GPT models with materials databases using LLM tool-calling and autonomous agents.</a:t>
                      </a:r>
                    </a:p>
                  </a:txBody>
                  <a:tcPr marL="3724" marR="3724" marT="1862" marB="1862" anchor="ctr"/>
                </a:tc>
                <a:tc>
                  <a:txBody>
                    <a:bodyPr/>
                    <a:lstStyle/>
                    <a:p>
                      <a:r>
                        <a:rPr lang="en-US" sz="1000"/>
                        <a:t>First fully autonomous agent for querying and generating MOF properties via conversational interfaces.</a:t>
                      </a:r>
                    </a:p>
                  </a:txBody>
                  <a:tcPr marL="3724" marR="3724" marT="1862" marB="1862" anchor="ctr"/>
                </a:tc>
                <a:tc>
                  <a:txBody>
                    <a:bodyPr/>
                    <a:lstStyle/>
                    <a:p>
                      <a:r>
                        <a:rPr lang="en-US" sz="1000"/>
                        <a:t>Struggles with handling complex, unformatted tabular databases without explicit schema alignment.</a:t>
                      </a:r>
                    </a:p>
                  </a:txBody>
                  <a:tcPr marL="3724" marR="3724" marT="1862" marB="1862" anchor="ctr"/>
                </a:tc>
                <a:tc>
                  <a:txBody>
                    <a:bodyPr/>
                    <a:lstStyle/>
                    <a:p>
                      <a:r>
                        <a:rPr lang="en-US" sz="1000"/>
                        <a:t>Needs integration with native tabular embeddings to handle raw numerical datasets effectively.</a:t>
                      </a:r>
                    </a:p>
                  </a:txBody>
                  <a:tcPr marL="3724" marR="3724" marT="1862" marB="1862" anchor="ctr"/>
                </a:tc>
                <a:extLst>
                  <a:ext uri="{0D108BD9-81ED-4DB2-BD59-A6C34878D82A}">
                    <a16:rowId xmlns:a16="http://schemas.microsoft.com/office/drawing/2014/main" val="3562304298"/>
                  </a:ext>
                </a:extLst>
              </a:tr>
              <a:tr h="466725">
                <a:tc>
                  <a:txBody>
                    <a:bodyPr/>
                    <a:lstStyle/>
                    <a:p>
                      <a:r>
                        <a:rPr lang="en-IN" sz="1000" dirty="0"/>
                        <a:t>2</a:t>
                      </a:r>
                    </a:p>
                  </a:txBody>
                  <a:tcPr marL="3724" marR="3724" marT="1862" marB="1862" anchor="ctr"/>
                </a:tc>
                <a:tc>
                  <a:txBody>
                    <a:bodyPr/>
                    <a:lstStyle/>
                    <a:p>
                      <a:r>
                        <a:rPr lang="en-US" sz="1000"/>
                        <a:t>TableRAG: Million-Token Scale Table Understanding with Large Language Models</a:t>
                      </a:r>
                    </a:p>
                  </a:txBody>
                  <a:tcPr marL="3724" marR="3724" marT="1862" marB="1862" anchor="ctr"/>
                </a:tc>
                <a:tc>
                  <a:txBody>
                    <a:bodyPr/>
                    <a:lstStyle/>
                    <a:p>
                      <a:r>
                        <a:rPr lang="en-IN" sz="1000" dirty="0"/>
                        <a:t>H. Li et al.</a:t>
                      </a:r>
                    </a:p>
                  </a:txBody>
                  <a:tcPr marL="3724" marR="3724" marT="1862" marB="1862" anchor="ctr"/>
                </a:tc>
                <a:tc>
                  <a:txBody>
                    <a:bodyPr/>
                    <a:lstStyle/>
                    <a:p>
                      <a:r>
                        <a:rPr lang="en-IN" sz="1000"/>
                        <a:t>2024</a:t>
                      </a:r>
                    </a:p>
                  </a:txBody>
                  <a:tcPr marL="3724" marR="3724" marT="1862" marB="1862" anchor="ctr"/>
                </a:tc>
                <a:tc>
                  <a:txBody>
                    <a:bodyPr/>
                    <a:lstStyle/>
                    <a:p>
                      <a:r>
                        <a:rPr lang="en-US" sz="1000"/>
                        <a:t>Proposes a hierarchical RAG architecture designed to index and retrieve rows/columns from massive tabular datasets.</a:t>
                      </a:r>
                    </a:p>
                  </a:txBody>
                  <a:tcPr marL="3724" marR="3724" marT="1862" marB="1862" anchor="ctr"/>
                </a:tc>
                <a:tc>
                  <a:txBody>
                    <a:bodyPr/>
                    <a:lstStyle/>
                    <a:p>
                      <a:r>
                        <a:rPr lang="en-US" sz="1000" dirty="0"/>
                        <a:t>Solves the context-window limitation for large tables, enabling QA over million-token spreadsheets.</a:t>
                      </a:r>
                    </a:p>
                  </a:txBody>
                  <a:tcPr marL="3724" marR="3724" marT="1862" marB="1862" anchor="ctr"/>
                </a:tc>
                <a:tc>
                  <a:txBody>
                    <a:bodyPr/>
                    <a:lstStyle/>
                    <a:p>
                      <a:r>
                        <a:rPr lang="en-US" sz="1000"/>
                        <a:t>Primarily focuses on generic text/numerical data, lacking domain-specific mathematical constraints.</a:t>
                      </a:r>
                    </a:p>
                  </a:txBody>
                  <a:tcPr marL="3724" marR="3724" marT="1862" marB="1862" anchor="ctr"/>
                </a:tc>
                <a:tc>
                  <a:txBody>
                    <a:bodyPr/>
                    <a:lstStyle/>
                    <a:p>
                      <a:r>
                        <a:rPr lang="en-US" sz="1000"/>
                        <a:t>Application of TableRAG to specialized scientific data where exact numerical matching is critical.</a:t>
                      </a:r>
                    </a:p>
                  </a:txBody>
                  <a:tcPr marL="3724" marR="3724" marT="1862" marB="1862" anchor="ctr"/>
                </a:tc>
                <a:extLst>
                  <a:ext uri="{0D108BD9-81ED-4DB2-BD59-A6C34878D82A}">
                    <a16:rowId xmlns:a16="http://schemas.microsoft.com/office/drawing/2014/main" val="290775437"/>
                  </a:ext>
                </a:extLst>
              </a:tr>
              <a:tr h="495300">
                <a:tc>
                  <a:txBody>
                    <a:bodyPr/>
                    <a:lstStyle/>
                    <a:p>
                      <a:r>
                        <a:rPr lang="en-IN" sz="1000"/>
                        <a:t>3</a:t>
                      </a:r>
                    </a:p>
                  </a:txBody>
                  <a:tcPr marL="3724" marR="3724" marT="1862" marB="1862" anchor="ctr"/>
                </a:tc>
                <a:tc>
                  <a:txBody>
                    <a:bodyPr/>
                    <a:lstStyle/>
                    <a:p>
                      <a:r>
                        <a:rPr lang="en-US" sz="1000"/>
                        <a:t>Chain-of-Table: Evolving Tables in the Reasoning Chain for LLMs</a:t>
                      </a:r>
                    </a:p>
                  </a:txBody>
                  <a:tcPr marL="3724" marR="3724" marT="1862" marB="1862" anchor="ctr"/>
                </a:tc>
                <a:tc>
                  <a:txBody>
                    <a:bodyPr/>
                    <a:lstStyle/>
                    <a:p>
                      <a:r>
                        <a:rPr lang="en-IN" sz="1000"/>
                        <a:t>Z. Wang et al.</a:t>
                      </a:r>
                    </a:p>
                  </a:txBody>
                  <a:tcPr marL="3724" marR="3724" marT="1862" marB="1862" anchor="ctr"/>
                </a:tc>
                <a:tc>
                  <a:txBody>
                    <a:bodyPr/>
                    <a:lstStyle/>
                    <a:p>
                      <a:r>
                        <a:rPr lang="en-IN" sz="1000"/>
                        <a:t>2024</a:t>
                      </a:r>
                    </a:p>
                  </a:txBody>
                  <a:tcPr marL="3724" marR="3724" marT="1862" marB="1862" anchor="ctr"/>
                </a:tc>
                <a:tc>
                  <a:txBody>
                    <a:bodyPr/>
                    <a:lstStyle/>
                    <a:p>
                      <a:r>
                        <a:rPr lang="en-US" sz="1000"/>
                        <a:t>Iterative LLM prompting technique that dynamically adds, removes, and aggregates table columns during reasoning.</a:t>
                      </a:r>
                    </a:p>
                  </a:txBody>
                  <a:tcPr marL="3724" marR="3724" marT="1862" marB="1862" anchor="ctr"/>
                </a:tc>
                <a:tc>
                  <a:txBody>
                    <a:bodyPr/>
                    <a:lstStyle/>
                    <a:p>
                      <a:r>
                        <a:rPr lang="en-US" sz="1000"/>
                        <a:t>Dramatically improves logical reasoning and multi-step deduction on tabular datasets.</a:t>
                      </a:r>
                    </a:p>
                  </a:txBody>
                  <a:tcPr marL="3724" marR="3724" marT="1862" marB="1862" anchor="ctr"/>
                </a:tc>
                <a:tc>
                  <a:txBody>
                    <a:bodyPr/>
                    <a:lstStyle/>
                    <a:p>
                      <a:r>
                        <a:rPr lang="en-US" sz="1000"/>
                        <a:t>Relies entirely on the LLM's internal math capabilities, leading to occasional hallucination in exact calculations.</a:t>
                      </a:r>
                    </a:p>
                  </a:txBody>
                  <a:tcPr marL="3724" marR="3724" marT="1862" marB="1862" anchor="ctr"/>
                </a:tc>
                <a:tc>
                  <a:txBody>
                    <a:bodyPr/>
                    <a:lstStyle/>
                    <a:p>
                      <a:r>
                        <a:rPr lang="en-US" sz="1000"/>
                        <a:t>Combining Chain-of-Table with external deterministic deep learning models (like FT-Transformer).</a:t>
                      </a:r>
                    </a:p>
                  </a:txBody>
                  <a:tcPr marL="3724" marR="3724" marT="1862" marB="1862" anchor="ctr"/>
                </a:tc>
                <a:extLst>
                  <a:ext uri="{0D108BD9-81ED-4DB2-BD59-A6C34878D82A}">
                    <a16:rowId xmlns:a16="http://schemas.microsoft.com/office/drawing/2014/main" val="2547870122"/>
                  </a:ext>
                </a:extLst>
              </a:tr>
              <a:tr h="466725">
                <a:tc>
                  <a:txBody>
                    <a:bodyPr/>
                    <a:lstStyle/>
                    <a:p>
                      <a:r>
                        <a:rPr lang="en-IN" sz="1000"/>
                        <a:t>4</a:t>
                      </a:r>
                    </a:p>
                  </a:txBody>
                  <a:tcPr marL="3724" marR="3724" marT="1862" marB="1862" anchor="ctr"/>
                </a:tc>
                <a:tc>
                  <a:txBody>
                    <a:bodyPr/>
                    <a:lstStyle/>
                    <a:p>
                      <a:r>
                        <a:rPr lang="en-IN" sz="1000"/>
                        <a:t>Tabular Embedding Model (TEM): Fine-Tuning Encoders for Structured Data</a:t>
                      </a:r>
                    </a:p>
                  </a:txBody>
                  <a:tcPr marL="3724" marR="3724" marT="1862" marB="1862" anchor="ctr"/>
                </a:tc>
                <a:tc>
                  <a:txBody>
                    <a:bodyPr/>
                    <a:lstStyle/>
                    <a:p>
                      <a:r>
                        <a:rPr lang="en-IN" sz="1000"/>
                        <a:t>S. Khanna &amp; R. Subedi</a:t>
                      </a:r>
                    </a:p>
                  </a:txBody>
                  <a:tcPr marL="3724" marR="3724" marT="1862" marB="1862" anchor="ctr"/>
                </a:tc>
                <a:tc>
                  <a:txBody>
                    <a:bodyPr/>
                    <a:lstStyle/>
                    <a:p>
                      <a:r>
                        <a:rPr lang="en-IN" sz="1000"/>
                        <a:t>2024</a:t>
                      </a:r>
                    </a:p>
                  </a:txBody>
                  <a:tcPr marL="3724" marR="3724" marT="1862" marB="1862" anchor="ctr"/>
                </a:tc>
                <a:tc>
                  <a:txBody>
                    <a:bodyPr/>
                    <a:lstStyle/>
                    <a:p>
                      <a:r>
                        <a:rPr lang="en-US" sz="1000"/>
                        <a:t>Fine-tunes BERT-based encoders using contrastive learning specifically on row-level tabular data.</a:t>
                      </a:r>
                    </a:p>
                  </a:txBody>
                  <a:tcPr marL="3724" marR="3724" marT="1862" marB="1862" anchor="ctr"/>
                </a:tc>
                <a:tc>
                  <a:txBody>
                    <a:bodyPr/>
                    <a:lstStyle/>
                    <a:p>
                      <a:r>
                        <a:rPr lang="en-US" sz="1000"/>
                        <a:t>Demonstrates that small domain-specific embedding models outperform general LLMs in tabular retrieval tasks.</a:t>
                      </a:r>
                    </a:p>
                  </a:txBody>
                  <a:tcPr marL="3724" marR="3724" marT="1862" marB="1862" anchor="ctr"/>
                </a:tc>
                <a:tc>
                  <a:txBody>
                    <a:bodyPr/>
                    <a:lstStyle/>
                    <a:p>
                      <a:r>
                        <a:rPr lang="en-US" sz="1000"/>
                        <a:t>Embeddings capture semantic similarity but struggle with continuous non-linear numerical relationships.</a:t>
                      </a:r>
                    </a:p>
                  </a:txBody>
                  <a:tcPr marL="3724" marR="3724" marT="1862" marB="1862" anchor="ctr"/>
                </a:tc>
                <a:tc>
                  <a:txBody>
                    <a:bodyPr/>
                    <a:lstStyle/>
                    <a:p>
                      <a:r>
                        <a:rPr lang="en-US" sz="1000"/>
                        <a:t>Architectural enhancements (like Feature Tokenizers) are needed to better represent complex numerical distributions.</a:t>
                      </a:r>
                    </a:p>
                  </a:txBody>
                  <a:tcPr marL="3724" marR="3724" marT="1862" marB="1862" anchor="ctr"/>
                </a:tc>
                <a:extLst>
                  <a:ext uri="{0D108BD9-81ED-4DB2-BD59-A6C34878D82A}">
                    <a16:rowId xmlns:a16="http://schemas.microsoft.com/office/drawing/2014/main" val="1410145169"/>
                  </a:ext>
                </a:extLst>
              </a:tr>
              <a:tr h="409574">
                <a:tc>
                  <a:txBody>
                    <a:bodyPr/>
                    <a:lstStyle/>
                    <a:p>
                      <a:r>
                        <a:rPr lang="en-IN" sz="1000"/>
                        <a:t>5</a:t>
                      </a:r>
                    </a:p>
                  </a:txBody>
                  <a:tcPr marL="3724" marR="3724" marT="1862" marB="1862" anchor="ctr"/>
                </a:tc>
                <a:tc>
                  <a:txBody>
                    <a:bodyPr/>
                    <a:lstStyle/>
                    <a:p>
                      <a:r>
                        <a:rPr lang="en-US" sz="1000"/>
                        <a:t>Benchmarking Deep Learning Models for MOF Adsorption Prediction</a:t>
                      </a:r>
                    </a:p>
                  </a:txBody>
                  <a:tcPr marL="3724" marR="3724" marT="1862" marB="1862" anchor="ctr"/>
                </a:tc>
                <a:tc>
                  <a:txBody>
                    <a:bodyPr/>
                    <a:lstStyle/>
                    <a:p>
                      <a:r>
                        <a:rPr lang="en-IN" sz="1000"/>
                        <a:t>L. Kim et al.</a:t>
                      </a:r>
                    </a:p>
                  </a:txBody>
                  <a:tcPr marL="3724" marR="3724" marT="1862" marB="1862" anchor="ctr"/>
                </a:tc>
                <a:tc>
                  <a:txBody>
                    <a:bodyPr/>
                    <a:lstStyle/>
                    <a:p>
                      <a:r>
                        <a:rPr lang="en-IN" sz="1000"/>
                        <a:t>2024</a:t>
                      </a:r>
                    </a:p>
                  </a:txBody>
                  <a:tcPr marL="3724" marR="3724" marT="1862" marB="1862" anchor="ctr"/>
                </a:tc>
                <a:tc>
                  <a:txBody>
                    <a:bodyPr/>
                    <a:lstStyle/>
                    <a:p>
                      <a:r>
                        <a:rPr lang="en-US" sz="1000"/>
                        <a:t>Compares XGBoost, MLPs, and FT-Transformers on predicting MOF gas adsorption capacities.</a:t>
                      </a:r>
                    </a:p>
                  </a:txBody>
                  <a:tcPr marL="3724" marR="3724" marT="1862" marB="1862" anchor="ctr"/>
                </a:tc>
                <a:tc>
                  <a:txBody>
                    <a:bodyPr/>
                    <a:lstStyle/>
                    <a:p>
                      <a:r>
                        <a:rPr lang="en-US" sz="1000"/>
                        <a:t>Concludes that FT-Transformers offer the best feature interaction modeling for MOF tabular datasets.</a:t>
                      </a:r>
                    </a:p>
                  </a:txBody>
                  <a:tcPr marL="3724" marR="3724" marT="1862" marB="1862" anchor="ctr"/>
                </a:tc>
                <a:tc>
                  <a:txBody>
                    <a:bodyPr/>
                    <a:lstStyle/>
                    <a:p>
                      <a:r>
                        <a:rPr lang="en-US" sz="1000"/>
                        <a:t>Models act as black boxes, providing little chemical intuition for the final predictions.</a:t>
                      </a:r>
                    </a:p>
                  </a:txBody>
                  <a:tcPr marL="3724" marR="3724" marT="1862" marB="1862" anchor="ctr"/>
                </a:tc>
                <a:tc>
                  <a:txBody>
                    <a:bodyPr/>
                    <a:lstStyle/>
                    <a:p>
                      <a:r>
                        <a:rPr lang="en-US" sz="1000"/>
                        <a:t>Integrating LLMs to explain and interpret the feature interactions generated by FT-Transformers.</a:t>
                      </a:r>
                    </a:p>
                  </a:txBody>
                  <a:tcPr marL="3724" marR="3724" marT="1862" marB="1862" anchor="ctr"/>
                </a:tc>
                <a:extLst>
                  <a:ext uri="{0D108BD9-81ED-4DB2-BD59-A6C34878D82A}">
                    <a16:rowId xmlns:a16="http://schemas.microsoft.com/office/drawing/2014/main" val="2625316715"/>
                  </a:ext>
                </a:extLst>
              </a:tr>
              <a:tr h="409574">
                <a:tc>
                  <a:txBody>
                    <a:bodyPr/>
                    <a:lstStyle/>
                    <a:p>
                      <a:r>
                        <a:rPr lang="en-IN" sz="1000"/>
                        <a:t>6</a:t>
                      </a:r>
                    </a:p>
                  </a:txBody>
                  <a:tcPr marL="3724" marR="3724" marT="1862" marB="1862" anchor="ctr"/>
                </a:tc>
                <a:tc>
                  <a:txBody>
                    <a:bodyPr/>
                    <a:lstStyle/>
                    <a:p>
                      <a:r>
                        <a:rPr lang="en-IN" sz="1000" dirty="0"/>
                        <a:t>TARGET: Benchmarking Tabular Retrieval for Generative AI</a:t>
                      </a:r>
                    </a:p>
                  </a:txBody>
                  <a:tcPr marL="3724" marR="3724" marT="1862" marB="1862" anchor="ctr"/>
                </a:tc>
                <a:tc>
                  <a:txBody>
                    <a:bodyPr/>
                    <a:lstStyle/>
                    <a:p>
                      <a:r>
                        <a:rPr lang="en-IN" sz="1000"/>
                        <a:t>J. Ji et al.</a:t>
                      </a:r>
                    </a:p>
                  </a:txBody>
                  <a:tcPr marL="3724" marR="3724" marT="1862" marB="1862" anchor="ctr"/>
                </a:tc>
                <a:tc>
                  <a:txBody>
                    <a:bodyPr/>
                    <a:lstStyle/>
                    <a:p>
                      <a:r>
                        <a:rPr lang="en-IN" sz="1000"/>
                        <a:t>2024</a:t>
                      </a:r>
                    </a:p>
                  </a:txBody>
                  <a:tcPr marL="3724" marR="3724" marT="1862" marB="1862" anchor="ctr"/>
                </a:tc>
                <a:tc>
                  <a:txBody>
                    <a:bodyPr/>
                    <a:lstStyle/>
                    <a:p>
                      <a:r>
                        <a:rPr lang="en-US" sz="1000"/>
                        <a:t>Proposes a comprehensive benchmark evaluating the “semantic-answerability gap” in tabular retrieval.</a:t>
                      </a:r>
                    </a:p>
                  </a:txBody>
                  <a:tcPr marL="3724" marR="3724" marT="1862" marB="1862" anchor="ctr"/>
                </a:tc>
                <a:tc>
                  <a:txBody>
                    <a:bodyPr/>
                    <a:lstStyle/>
                    <a:p>
                      <a:r>
                        <a:rPr lang="en-US" sz="1000"/>
                        <a:t>Exposes the failure modes of standard dense text retrievers when applied directly to numerical tables.</a:t>
                      </a:r>
                    </a:p>
                  </a:txBody>
                  <a:tcPr marL="3724" marR="3724" marT="1862" marB="1862" anchor="ctr"/>
                </a:tc>
                <a:tc>
                  <a:txBody>
                    <a:bodyPr/>
                    <a:lstStyle/>
                    <a:p>
                      <a:r>
                        <a:rPr lang="en-US" sz="1000"/>
                        <a:t>The benchmark is mostly generic (finance, wiki) and lacks complex scientific/materials datasets.</a:t>
                      </a:r>
                    </a:p>
                  </a:txBody>
                  <a:tcPr marL="3724" marR="3724" marT="1862" marB="1862" anchor="ctr"/>
                </a:tc>
                <a:tc>
                  <a:txBody>
                    <a:bodyPr/>
                    <a:lstStyle/>
                    <a:p>
                      <a:r>
                        <a:rPr lang="en-US" sz="1000"/>
                        <a:t>Establishing benchmarks for deep tabular retrieval specifically in materials science and chemistry.</a:t>
                      </a:r>
                    </a:p>
                  </a:txBody>
                  <a:tcPr marL="3724" marR="3724" marT="1862" marB="1862" anchor="ctr"/>
                </a:tc>
                <a:extLst>
                  <a:ext uri="{0D108BD9-81ED-4DB2-BD59-A6C34878D82A}">
                    <a16:rowId xmlns:a16="http://schemas.microsoft.com/office/drawing/2014/main" val="1990777544"/>
                  </a:ext>
                </a:extLst>
              </a:tr>
              <a:tr h="409574">
                <a:tc>
                  <a:txBody>
                    <a:bodyPr/>
                    <a:lstStyle/>
                    <a:p>
                      <a:r>
                        <a:rPr lang="en-IN" sz="1000"/>
                        <a:t>7</a:t>
                      </a:r>
                    </a:p>
                  </a:txBody>
                  <a:tcPr marL="3724" marR="3724" marT="1862" marB="1862" anchor="ctr"/>
                </a:tc>
                <a:tc>
                  <a:txBody>
                    <a:bodyPr/>
                    <a:lstStyle/>
                    <a:p>
                      <a:r>
                        <a:rPr lang="en-US" sz="1000"/>
                        <a:t>L²MOF: Multimodal Learning for Crystal Structure Prediction</a:t>
                      </a:r>
                    </a:p>
                  </a:txBody>
                  <a:tcPr marL="3724" marR="3724" marT="1862" marB="1862" anchor="ctr"/>
                </a:tc>
                <a:tc>
                  <a:txBody>
                    <a:bodyPr/>
                    <a:lstStyle/>
                    <a:p>
                      <a:r>
                        <a:rPr lang="en-IN" sz="1000"/>
                        <a:t>J. Chen et al.</a:t>
                      </a:r>
                    </a:p>
                  </a:txBody>
                  <a:tcPr marL="3724" marR="3724" marT="1862" marB="1862" anchor="ctr"/>
                </a:tc>
                <a:tc>
                  <a:txBody>
                    <a:bodyPr/>
                    <a:lstStyle/>
                    <a:p>
                      <a:r>
                        <a:rPr lang="en-IN" sz="1000"/>
                        <a:t>2025</a:t>
                      </a:r>
                    </a:p>
                  </a:txBody>
                  <a:tcPr marL="3724" marR="3724" marT="1862" marB="1862" anchor="ctr"/>
                </a:tc>
                <a:tc>
                  <a:txBody>
                    <a:bodyPr/>
                    <a:lstStyle/>
                    <a:p>
                      <a:r>
                        <a:rPr lang="en-US" sz="1000"/>
                        <a:t>Multimodal fusion combining 3D crystal structure representations with text-based LLMs.</a:t>
                      </a:r>
                    </a:p>
                  </a:txBody>
                  <a:tcPr marL="3724" marR="3724" marT="1862" marB="1862" anchor="ctr"/>
                </a:tc>
                <a:tc>
                  <a:txBody>
                    <a:bodyPr/>
                    <a:lstStyle/>
                    <a:p>
                      <a:r>
                        <a:rPr lang="en-US" sz="1000"/>
                        <a:t>Outperforms pure text-based models in predicting spatial coordination and topological geometries of MOFs.</a:t>
                      </a:r>
                    </a:p>
                  </a:txBody>
                  <a:tcPr marL="3724" marR="3724" marT="1862" marB="1862" anchor="ctr"/>
                </a:tc>
                <a:tc>
                  <a:txBody>
                    <a:bodyPr/>
                    <a:lstStyle/>
                    <a:p>
                      <a:r>
                        <a:rPr lang="en-US" sz="1000"/>
                        <a:t>High computational overhead for encoding 3D structures alongside billions of text tokens.</a:t>
                      </a:r>
                    </a:p>
                  </a:txBody>
                  <a:tcPr marL="3724" marR="3724" marT="1862" marB="1862" anchor="ctr"/>
                </a:tc>
                <a:tc>
                  <a:txBody>
                    <a:bodyPr/>
                    <a:lstStyle/>
                    <a:p>
                      <a:r>
                        <a:rPr lang="en-US" sz="1000" dirty="0"/>
                        <a:t>Lacks an efficient retrieval mechanism for structured feature data derived from structures.</a:t>
                      </a:r>
                    </a:p>
                  </a:txBody>
                  <a:tcPr marL="3724" marR="3724" marT="1862" marB="1862" anchor="ctr"/>
                </a:tc>
                <a:extLst>
                  <a:ext uri="{0D108BD9-81ED-4DB2-BD59-A6C34878D82A}">
                    <a16:rowId xmlns:a16="http://schemas.microsoft.com/office/drawing/2014/main" val="301453891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786876256"/>
              </p:ext>
            </p:extLst>
          </p:nvPr>
        </p:nvGraphicFramePr>
        <p:xfrm>
          <a:off x="241300" y="276225"/>
          <a:ext cx="10210800" cy="6887792"/>
        </p:xfrm>
        <a:graphic>
          <a:graphicData uri="http://schemas.openxmlformats.org/drawingml/2006/table">
            <a:tbl>
              <a:tblPr>
                <a:tableStyleId>{35758FB7-9AC5-4552-8A53-C91805E547FA}</a:tableStyleId>
              </a:tblPr>
              <a:tblGrid>
                <a:gridCol w="1276350">
                  <a:extLst>
                    <a:ext uri="{9D8B030D-6E8A-4147-A177-3AD203B41FA5}">
                      <a16:colId xmlns:a16="http://schemas.microsoft.com/office/drawing/2014/main" val="3522530682"/>
                    </a:ext>
                  </a:extLst>
                </a:gridCol>
                <a:gridCol w="1276350">
                  <a:extLst>
                    <a:ext uri="{9D8B030D-6E8A-4147-A177-3AD203B41FA5}">
                      <a16:colId xmlns:a16="http://schemas.microsoft.com/office/drawing/2014/main" val="436321032"/>
                    </a:ext>
                  </a:extLst>
                </a:gridCol>
                <a:gridCol w="1276350">
                  <a:extLst>
                    <a:ext uri="{9D8B030D-6E8A-4147-A177-3AD203B41FA5}">
                      <a16:colId xmlns:a16="http://schemas.microsoft.com/office/drawing/2014/main" val="987906543"/>
                    </a:ext>
                  </a:extLst>
                </a:gridCol>
                <a:gridCol w="1276350">
                  <a:extLst>
                    <a:ext uri="{9D8B030D-6E8A-4147-A177-3AD203B41FA5}">
                      <a16:colId xmlns:a16="http://schemas.microsoft.com/office/drawing/2014/main" val="3595667995"/>
                    </a:ext>
                  </a:extLst>
                </a:gridCol>
                <a:gridCol w="1276350">
                  <a:extLst>
                    <a:ext uri="{9D8B030D-6E8A-4147-A177-3AD203B41FA5}">
                      <a16:colId xmlns:a16="http://schemas.microsoft.com/office/drawing/2014/main" val="2081416489"/>
                    </a:ext>
                  </a:extLst>
                </a:gridCol>
                <a:gridCol w="1276350">
                  <a:extLst>
                    <a:ext uri="{9D8B030D-6E8A-4147-A177-3AD203B41FA5}">
                      <a16:colId xmlns:a16="http://schemas.microsoft.com/office/drawing/2014/main" val="3069575814"/>
                    </a:ext>
                  </a:extLst>
                </a:gridCol>
                <a:gridCol w="1276350">
                  <a:extLst>
                    <a:ext uri="{9D8B030D-6E8A-4147-A177-3AD203B41FA5}">
                      <a16:colId xmlns:a16="http://schemas.microsoft.com/office/drawing/2014/main" val="4253159956"/>
                    </a:ext>
                  </a:extLst>
                </a:gridCol>
                <a:gridCol w="1276350">
                  <a:extLst>
                    <a:ext uri="{9D8B030D-6E8A-4147-A177-3AD203B41FA5}">
                      <a16:colId xmlns:a16="http://schemas.microsoft.com/office/drawing/2014/main" val="3983055170"/>
                    </a:ext>
                  </a:extLst>
                </a:gridCol>
              </a:tblGrid>
              <a:tr h="409574">
                <a:tc>
                  <a:txBody>
                    <a:bodyPr/>
                    <a:lstStyle/>
                    <a:p>
                      <a:r>
                        <a:rPr lang="en-IN" sz="1000" dirty="0"/>
                        <a:t>8</a:t>
                      </a:r>
                    </a:p>
                  </a:txBody>
                  <a:tcPr marL="3724" marR="3724" marT="1862" marB="1862" anchor="ctr"/>
                </a:tc>
                <a:tc>
                  <a:txBody>
                    <a:bodyPr/>
                    <a:lstStyle/>
                    <a:p>
                      <a:r>
                        <a:rPr lang="en-IN" sz="1000" dirty="0"/>
                        <a:t>MSFT-Transformer: Multistage Fusion for Tabular and Multimodal Data</a:t>
                      </a:r>
                    </a:p>
                  </a:txBody>
                  <a:tcPr marL="3724" marR="3724" marT="1862" marB="1862" anchor="ctr"/>
                </a:tc>
                <a:tc>
                  <a:txBody>
                    <a:bodyPr/>
                    <a:lstStyle/>
                    <a:p>
                      <a:r>
                        <a:rPr lang="en-IN" sz="1000"/>
                        <a:t>M. Zhang et al.</a:t>
                      </a:r>
                    </a:p>
                  </a:txBody>
                  <a:tcPr marL="3724" marR="3724" marT="1862" marB="1862" anchor="ctr"/>
                </a:tc>
                <a:tc>
                  <a:txBody>
                    <a:bodyPr/>
                    <a:lstStyle/>
                    <a:p>
                      <a:r>
                        <a:rPr lang="en-IN" sz="1000"/>
                        <a:t>2025</a:t>
                      </a:r>
                    </a:p>
                  </a:txBody>
                  <a:tcPr marL="3724" marR="3724" marT="1862" marB="1862" anchor="ctr"/>
                </a:tc>
                <a:tc>
                  <a:txBody>
                    <a:bodyPr/>
                    <a:lstStyle/>
                    <a:p>
                      <a:r>
                        <a:rPr lang="en-US" sz="1000"/>
                        <a:t>Extends the FT-Transformer with multistage fusion layers to process tabular data alongside unstructured text.</a:t>
                      </a:r>
                    </a:p>
                  </a:txBody>
                  <a:tcPr marL="3724" marR="3724" marT="1862" marB="1862" anchor="ctr"/>
                </a:tc>
                <a:tc>
                  <a:txBody>
                    <a:bodyPr/>
                    <a:lstStyle/>
                    <a:p>
                      <a:r>
                        <a:rPr lang="en-US" sz="1000"/>
                        <a:t>Achieves state-of-the-art results on multimodal tasks by preserving tabular feature interactions.</a:t>
                      </a:r>
                    </a:p>
                  </a:txBody>
                  <a:tcPr marL="3724" marR="3724" marT="1862" marB="1862" anchor="ctr"/>
                </a:tc>
                <a:tc>
                  <a:txBody>
                    <a:bodyPr/>
                    <a:lstStyle/>
                    <a:p>
                      <a:r>
                        <a:rPr lang="en-US" sz="1000"/>
                        <a:t>The quadratic complexity of the self-attention mechanism makes it slow for extremely large tabular datasets.</a:t>
                      </a:r>
                    </a:p>
                  </a:txBody>
                  <a:tcPr marL="3724" marR="3724" marT="1862" marB="1862" anchor="ctr"/>
                </a:tc>
                <a:tc>
                  <a:txBody>
                    <a:bodyPr/>
                    <a:lstStyle/>
                    <a:p>
                      <a:r>
                        <a:rPr lang="en-US" sz="1000"/>
                        <a:t>Exploring linear-attention mechanisms for FT-Transformers in large-scale retrieval tasks.</a:t>
                      </a:r>
                    </a:p>
                  </a:txBody>
                  <a:tcPr marL="3724" marR="3724" marT="1862" marB="1862" anchor="ctr"/>
                </a:tc>
                <a:extLst>
                  <a:ext uri="{0D108BD9-81ED-4DB2-BD59-A6C34878D82A}">
                    <a16:rowId xmlns:a16="http://schemas.microsoft.com/office/drawing/2014/main" val="3622829147"/>
                  </a:ext>
                </a:extLst>
              </a:tr>
              <a:tr h="381001">
                <a:tc>
                  <a:txBody>
                    <a:bodyPr/>
                    <a:lstStyle/>
                    <a:p>
                      <a:r>
                        <a:rPr lang="en-IN" sz="1000"/>
                        <a:t>9</a:t>
                      </a:r>
                    </a:p>
                  </a:txBody>
                  <a:tcPr marL="3724" marR="3724" marT="1862" marB="1862" anchor="ctr"/>
                </a:tc>
                <a:tc>
                  <a:txBody>
                    <a:bodyPr/>
                    <a:lstStyle/>
                    <a:p>
                      <a:r>
                        <a:rPr lang="en-US" sz="1000" dirty="0"/>
                        <a:t>MOF-</a:t>
                      </a:r>
                      <a:r>
                        <a:rPr lang="en-US" sz="1000" dirty="0" err="1"/>
                        <a:t>ChemUnity</a:t>
                      </a:r>
                      <a:r>
                        <a:rPr lang="en-US" sz="1000" dirty="0"/>
                        <a:t>: Automating Literature Mining for Materials Science using LLMs</a:t>
                      </a:r>
                    </a:p>
                  </a:txBody>
                  <a:tcPr marL="3724" marR="3724" marT="1862" marB="1862" anchor="ctr"/>
                </a:tc>
                <a:tc>
                  <a:txBody>
                    <a:bodyPr/>
                    <a:lstStyle/>
                    <a:p>
                      <a:r>
                        <a:rPr lang="en-IN" sz="1000"/>
                        <a:t>Y. Wang et al.</a:t>
                      </a:r>
                    </a:p>
                  </a:txBody>
                  <a:tcPr marL="3724" marR="3724" marT="1862" marB="1862" anchor="ctr"/>
                </a:tc>
                <a:tc>
                  <a:txBody>
                    <a:bodyPr/>
                    <a:lstStyle/>
                    <a:p>
                      <a:r>
                        <a:rPr lang="en-IN" sz="1000"/>
                        <a:t>2025</a:t>
                      </a:r>
                    </a:p>
                  </a:txBody>
                  <a:tcPr marL="3724" marR="3724" marT="1862" marB="1862" anchor="ctr"/>
                </a:tc>
                <a:tc>
                  <a:txBody>
                    <a:bodyPr/>
                    <a:lstStyle/>
                    <a:p>
                      <a:r>
                        <a:rPr lang="en-US" sz="1000"/>
                        <a:t>Uses a Retrieval-Augmented Generation (RAG) stack to extract structural metrics of MOFs from PDFs.</a:t>
                      </a:r>
                    </a:p>
                  </a:txBody>
                  <a:tcPr marL="3724" marR="3724" marT="1862" marB="1862" anchor="ctr"/>
                </a:tc>
                <a:tc>
                  <a:txBody>
                    <a:bodyPr/>
                    <a:lstStyle/>
                    <a:p>
                      <a:r>
                        <a:rPr lang="en-US" sz="1000"/>
                        <a:t>Created the largest auto-curated database of MOF properties from unstructured literature.</a:t>
                      </a:r>
                    </a:p>
                  </a:txBody>
                  <a:tcPr marL="3724" marR="3724" marT="1862" marB="1862" anchor="ctr"/>
                </a:tc>
                <a:tc>
                  <a:txBody>
                    <a:bodyPr/>
                    <a:lstStyle/>
                    <a:p>
                      <a:r>
                        <a:rPr lang="en-US" sz="1000"/>
                        <a:t>The extracted data often contains OCR errors or misaligned tabular structures.</a:t>
                      </a:r>
                    </a:p>
                  </a:txBody>
                  <a:tcPr marL="3724" marR="3724" marT="1862" marB="1862" anchor="ctr"/>
                </a:tc>
                <a:tc>
                  <a:txBody>
                    <a:bodyPr/>
                    <a:lstStyle/>
                    <a:p>
                      <a:r>
                        <a:rPr lang="en-US" sz="1000"/>
                        <a:t>Integrating table-aware RAG models to improve the extraction fidelity of numerical results.</a:t>
                      </a:r>
                    </a:p>
                  </a:txBody>
                  <a:tcPr marL="3724" marR="3724" marT="1862" marB="1862" anchor="ctr"/>
                </a:tc>
                <a:extLst>
                  <a:ext uri="{0D108BD9-81ED-4DB2-BD59-A6C34878D82A}">
                    <a16:rowId xmlns:a16="http://schemas.microsoft.com/office/drawing/2014/main" val="3933782246"/>
                  </a:ext>
                </a:extLst>
              </a:tr>
              <a:tr h="438151">
                <a:tc>
                  <a:txBody>
                    <a:bodyPr/>
                    <a:lstStyle/>
                    <a:p>
                      <a:r>
                        <a:rPr lang="en-IN" sz="1000"/>
                        <a:t>10</a:t>
                      </a:r>
                    </a:p>
                  </a:txBody>
                  <a:tcPr marL="3724" marR="3724" marT="1862" marB="1862" anchor="ctr"/>
                </a:tc>
                <a:tc>
                  <a:txBody>
                    <a:bodyPr/>
                    <a:lstStyle/>
                    <a:p>
                      <a:r>
                        <a:rPr lang="en-IN" sz="1000" dirty="0"/>
                        <a:t>Integrating FT-Transformer with Vector Databases for Fast Tabular Search</a:t>
                      </a:r>
                    </a:p>
                  </a:txBody>
                  <a:tcPr marL="3724" marR="3724" marT="1862" marB="1862" anchor="ctr"/>
                </a:tc>
                <a:tc>
                  <a:txBody>
                    <a:bodyPr/>
                    <a:lstStyle/>
                    <a:p>
                      <a:r>
                        <a:rPr lang="en-IN" sz="1000" dirty="0"/>
                        <a:t>T. Nguyen et al.</a:t>
                      </a:r>
                    </a:p>
                  </a:txBody>
                  <a:tcPr marL="3724" marR="3724" marT="1862" marB="1862" anchor="ctr"/>
                </a:tc>
                <a:tc>
                  <a:txBody>
                    <a:bodyPr/>
                    <a:lstStyle/>
                    <a:p>
                      <a:r>
                        <a:rPr lang="en-IN" sz="1000"/>
                        <a:t>2025</a:t>
                      </a:r>
                    </a:p>
                  </a:txBody>
                  <a:tcPr marL="3724" marR="3724" marT="1862" marB="1862" anchor="ctr"/>
                </a:tc>
                <a:tc>
                  <a:txBody>
                    <a:bodyPr/>
                    <a:lstStyle/>
                    <a:p>
                      <a:r>
                        <a:rPr lang="en-US" sz="1000"/>
                        <a:t>Modifies the FT-Transformer's final hidden state into a dense vector compatible with FAISS indexing.</a:t>
                      </a:r>
                    </a:p>
                  </a:txBody>
                  <a:tcPr marL="3724" marR="3724" marT="1862" marB="1862" anchor="ctr"/>
                </a:tc>
                <a:tc>
                  <a:txBody>
                    <a:bodyPr/>
                    <a:lstStyle/>
                    <a:p>
                      <a:r>
                        <a:rPr lang="en-US" sz="1000"/>
                        <a:t>Enables sub-millisecond similarity search over millions of tabular records based on deep feature interactions.</a:t>
                      </a:r>
                    </a:p>
                  </a:txBody>
                  <a:tcPr marL="3724" marR="3724" marT="1862" marB="1862" anchor="ctr"/>
                </a:tc>
                <a:tc>
                  <a:txBody>
                    <a:bodyPr/>
                    <a:lstStyle/>
                    <a:p>
                      <a:r>
                        <a:rPr lang="en-US" sz="1000"/>
                        <a:t>The embedding space is optimized for classification, not necessarily for open-ended semantic queries.</a:t>
                      </a:r>
                    </a:p>
                  </a:txBody>
                  <a:tcPr marL="3724" marR="3724" marT="1862" marB="1862" anchor="ctr"/>
                </a:tc>
                <a:tc>
                  <a:txBody>
                    <a:bodyPr/>
                    <a:lstStyle/>
                    <a:p>
                      <a:r>
                        <a:rPr lang="en-US" sz="1000"/>
                        <a:t>Developing contrastive learning objectives to align FT-Transformer embeddings with natural language.</a:t>
                      </a:r>
                    </a:p>
                  </a:txBody>
                  <a:tcPr marL="3724" marR="3724" marT="1862" marB="1862" anchor="ctr"/>
                </a:tc>
                <a:extLst>
                  <a:ext uri="{0D108BD9-81ED-4DB2-BD59-A6C34878D82A}">
                    <a16:rowId xmlns:a16="http://schemas.microsoft.com/office/drawing/2014/main" val="3729741332"/>
                  </a:ext>
                </a:extLst>
              </a:tr>
              <a:tr h="438151">
                <a:tc>
                  <a:txBody>
                    <a:bodyPr/>
                    <a:lstStyle/>
                    <a:p>
                      <a:r>
                        <a:rPr lang="en-IN" sz="1000"/>
                        <a:t>11</a:t>
                      </a:r>
                    </a:p>
                  </a:txBody>
                  <a:tcPr marL="3724" marR="3724" marT="1862" marB="1862" anchor="ctr"/>
                </a:tc>
                <a:tc>
                  <a:txBody>
                    <a:bodyPr/>
                    <a:lstStyle/>
                    <a:p>
                      <a:r>
                        <a:rPr lang="en-US" sz="1000"/>
                        <a:t>Table-R1: Reinforcement Learning for Complex Table Reasoning</a:t>
                      </a:r>
                    </a:p>
                  </a:txBody>
                  <a:tcPr marL="3724" marR="3724" marT="1862" marB="1862" anchor="ctr"/>
                </a:tc>
                <a:tc>
                  <a:txBody>
                    <a:bodyPr/>
                    <a:lstStyle/>
                    <a:p>
                      <a:r>
                        <a:rPr lang="en-IN" sz="1000" dirty="0"/>
                        <a:t>D. Liu et al.</a:t>
                      </a:r>
                    </a:p>
                  </a:txBody>
                  <a:tcPr marL="3724" marR="3724" marT="1862" marB="1862" anchor="ctr"/>
                </a:tc>
                <a:tc>
                  <a:txBody>
                    <a:bodyPr/>
                    <a:lstStyle/>
                    <a:p>
                      <a:r>
                        <a:rPr lang="en-IN" sz="1000"/>
                        <a:t>2025</a:t>
                      </a:r>
                    </a:p>
                  </a:txBody>
                  <a:tcPr marL="3724" marR="3724" marT="1862" marB="1862" anchor="ctr"/>
                </a:tc>
                <a:tc>
                  <a:txBody>
                    <a:bodyPr/>
                    <a:lstStyle/>
                    <a:p>
                      <a:r>
                        <a:rPr lang="en-US" sz="1000"/>
                        <a:t>Uses reinforcement learning with AI feedback (RLAIF) to train LLMs to navigate complex tables.</a:t>
                      </a:r>
                    </a:p>
                  </a:txBody>
                  <a:tcPr marL="3724" marR="3724" marT="1862" marB="1862" anchor="ctr"/>
                </a:tc>
                <a:tc>
                  <a:txBody>
                    <a:bodyPr/>
                    <a:lstStyle/>
                    <a:p>
                      <a:r>
                        <a:rPr lang="en-US" sz="1000"/>
                        <a:t>Achieves state-of-the-art accuracy on multi-hop tabular reasoning datasets.</a:t>
                      </a:r>
                    </a:p>
                  </a:txBody>
                  <a:tcPr marL="3724" marR="3724" marT="1862" marB="1862" anchor="ctr"/>
                </a:tc>
                <a:tc>
                  <a:txBody>
                    <a:bodyPr/>
                    <a:lstStyle/>
                    <a:p>
                      <a:r>
                        <a:rPr lang="en-US" sz="1000"/>
                        <a:t>Extremely high training cost and sensitivity to reward function design.</a:t>
                      </a:r>
                    </a:p>
                  </a:txBody>
                  <a:tcPr marL="3724" marR="3724" marT="1862" marB="1862" anchor="ctr"/>
                </a:tc>
                <a:tc>
                  <a:txBody>
                    <a:bodyPr/>
                    <a:lstStyle/>
                    <a:p>
                      <a:r>
                        <a:rPr lang="en-US" sz="1000"/>
                        <a:t>Applying RL-based tabular reasoning to specialized domains like reticular chemistry and MOF discovery.</a:t>
                      </a:r>
                    </a:p>
                  </a:txBody>
                  <a:tcPr marL="3724" marR="3724" marT="1862" marB="1862" anchor="ctr"/>
                </a:tc>
                <a:extLst>
                  <a:ext uri="{0D108BD9-81ED-4DB2-BD59-A6C34878D82A}">
                    <a16:rowId xmlns:a16="http://schemas.microsoft.com/office/drawing/2014/main" val="817673583"/>
                  </a:ext>
                </a:extLst>
              </a:tr>
              <a:tr h="409574">
                <a:tc>
                  <a:txBody>
                    <a:bodyPr/>
                    <a:lstStyle/>
                    <a:p>
                      <a:r>
                        <a:rPr lang="en-IN" sz="1000"/>
                        <a:t>12</a:t>
                      </a:r>
                    </a:p>
                  </a:txBody>
                  <a:tcPr marL="3724" marR="3724" marT="1862" marB="1862" anchor="ctr"/>
                </a:tc>
                <a:tc>
                  <a:txBody>
                    <a:bodyPr/>
                    <a:lstStyle/>
                    <a:p>
                      <a:r>
                        <a:rPr lang="en-US" sz="1000"/>
                        <a:t>FTT+: Enhancing Feature Tokenizer Transformers with Pruned Attention</a:t>
                      </a:r>
                    </a:p>
                  </a:txBody>
                  <a:tcPr marL="3724" marR="3724" marT="1862" marB="1862" anchor="ctr"/>
                </a:tc>
                <a:tc>
                  <a:txBody>
                    <a:bodyPr/>
                    <a:lstStyle/>
                    <a:p>
                      <a:r>
                        <a:rPr lang="en-IN" sz="1000" dirty="0"/>
                        <a:t>S. Gupta et al.</a:t>
                      </a:r>
                    </a:p>
                  </a:txBody>
                  <a:tcPr marL="3724" marR="3724" marT="1862" marB="1862" anchor="ctr"/>
                </a:tc>
                <a:tc>
                  <a:txBody>
                    <a:bodyPr/>
                    <a:lstStyle/>
                    <a:p>
                      <a:r>
                        <a:rPr lang="en-IN" sz="1000" dirty="0"/>
                        <a:t>2025</a:t>
                      </a:r>
                    </a:p>
                  </a:txBody>
                  <a:tcPr marL="3724" marR="3724" marT="1862" marB="1862" anchor="ctr"/>
                </a:tc>
                <a:tc>
                  <a:txBody>
                    <a:bodyPr/>
                    <a:lstStyle/>
                    <a:p>
                      <a:r>
                        <a:rPr lang="en-US" sz="1000"/>
                        <a:t>Applies attention pruning and quantization to the standard FT-Transformer architecture.</a:t>
                      </a:r>
                    </a:p>
                  </a:txBody>
                  <a:tcPr marL="3724" marR="3724" marT="1862" marB="1862" anchor="ctr"/>
                </a:tc>
                <a:tc>
                  <a:txBody>
                    <a:bodyPr/>
                    <a:lstStyle/>
                    <a:p>
                      <a:r>
                        <a:rPr lang="en-US" sz="1000"/>
                        <a:t>Reduces inference time by 40% while maintaining accuracy on tabular classification.</a:t>
                      </a:r>
                    </a:p>
                  </a:txBody>
                  <a:tcPr marL="3724" marR="3724" marT="1862" marB="1862" anchor="ctr"/>
                </a:tc>
                <a:tc>
                  <a:txBody>
                    <a:bodyPr/>
                    <a:lstStyle/>
                    <a:p>
                      <a:r>
                        <a:rPr lang="en-US" sz="1000"/>
                        <a:t>Performance drops when highly correlated continuous features are aggressively pruned.</a:t>
                      </a:r>
                    </a:p>
                  </a:txBody>
                  <a:tcPr marL="3724" marR="3724" marT="1862" marB="1862" anchor="ctr"/>
                </a:tc>
                <a:tc>
                  <a:txBody>
                    <a:bodyPr/>
                    <a:lstStyle/>
                    <a:p>
                      <a:r>
                        <a:rPr lang="en-US" sz="1000"/>
                        <a:t>Optimizing FTT+ for vector database indexing where embedding preservation is critical.</a:t>
                      </a:r>
                    </a:p>
                  </a:txBody>
                  <a:tcPr marL="3724" marR="3724" marT="1862" marB="1862" anchor="ctr"/>
                </a:tc>
                <a:extLst>
                  <a:ext uri="{0D108BD9-81ED-4DB2-BD59-A6C34878D82A}">
                    <a16:rowId xmlns:a16="http://schemas.microsoft.com/office/drawing/2014/main" val="3732455374"/>
                  </a:ext>
                </a:extLst>
              </a:tr>
              <a:tr h="409574">
                <a:tc>
                  <a:txBody>
                    <a:bodyPr/>
                    <a:lstStyle/>
                    <a:p>
                      <a:r>
                        <a:rPr lang="en-IN" sz="1000"/>
                        <a:t>13</a:t>
                      </a:r>
                    </a:p>
                  </a:txBody>
                  <a:tcPr marL="3724" marR="3724" marT="1862" marB="1862" anchor="ctr"/>
                </a:tc>
                <a:tc>
                  <a:txBody>
                    <a:bodyPr/>
                    <a:lstStyle/>
                    <a:p>
                      <a:r>
                        <a:rPr lang="en-IN" sz="1000"/>
                        <a:t>Retrieval-Augmented Generation for Tabular Materials Data</a:t>
                      </a:r>
                    </a:p>
                  </a:txBody>
                  <a:tcPr marL="3724" marR="3724" marT="1862" marB="1862" anchor="ctr"/>
                </a:tc>
                <a:tc>
                  <a:txBody>
                    <a:bodyPr/>
                    <a:lstStyle/>
                    <a:p>
                      <a:r>
                        <a:rPr lang="en-IN" sz="1000"/>
                        <a:t>R. Patel et al.</a:t>
                      </a:r>
                    </a:p>
                  </a:txBody>
                  <a:tcPr marL="3724" marR="3724" marT="1862" marB="1862" anchor="ctr"/>
                </a:tc>
                <a:tc>
                  <a:txBody>
                    <a:bodyPr/>
                    <a:lstStyle/>
                    <a:p>
                      <a:r>
                        <a:rPr lang="en-IN" sz="1000" dirty="0"/>
                        <a:t>2026</a:t>
                      </a:r>
                    </a:p>
                  </a:txBody>
                  <a:tcPr marL="3724" marR="3724" marT="1862" marB="1862" anchor="ctr"/>
                </a:tc>
                <a:tc>
                  <a:txBody>
                    <a:bodyPr/>
                    <a:lstStyle/>
                    <a:p>
                      <a:r>
                        <a:rPr lang="en-US" sz="1000" dirty="0"/>
                        <a:t>Couples a deep learning tabular encoder (FT-Transformer) with a FAISS index and an LLM synthesizer.</a:t>
                      </a:r>
                    </a:p>
                  </a:txBody>
                  <a:tcPr marL="3724" marR="3724" marT="1862" marB="1862" anchor="ctr"/>
                </a:tc>
                <a:tc>
                  <a:txBody>
                    <a:bodyPr/>
                    <a:lstStyle/>
                    <a:p>
                      <a:r>
                        <a:rPr lang="en-US" sz="1000"/>
                        <a:t>Provides a scalable architecture for querying massive materials databases using natural language.</a:t>
                      </a:r>
                    </a:p>
                  </a:txBody>
                  <a:tcPr marL="3724" marR="3724" marT="1862" marB="1862" anchor="ctr"/>
                </a:tc>
                <a:tc>
                  <a:txBody>
                    <a:bodyPr/>
                    <a:lstStyle/>
                    <a:p>
                      <a:r>
                        <a:rPr lang="en-US" sz="1000"/>
                        <a:t>LLM synthesis sometimes hallucinates when the retrieved tabular context is too mathematically dense.</a:t>
                      </a:r>
                    </a:p>
                  </a:txBody>
                  <a:tcPr marL="3724" marR="3724" marT="1862" marB="1862" anchor="ctr"/>
                </a:tc>
                <a:tc>
                  <a:txBody>
                    <a:bodyPr/>
                    <a:lstStyle/>
                    <a:p>
                      <a:r>
                        <a:rPr lang="en-US" sz="1000"/>
                        <a:t>Prompt engineering techniques and constraints to strictly enforce factual compliance in tabular RAG.</a:t>
                      </a:r>
                    </a:p>
                  </a:txBody>
                  <a:tcPr marL="3724" marR="3724" marT="1862" marB="1862" anchor="ctr"/>
                </a:tc>
                <a:extLst>
                  <a:ext uri="{0D108BD9-81ED-4DB2-BD59-A6C34878D82A}">
                    <a16:rowId xmlns:a16="http://schemas.microsoft.com/office/drawing/2014/main" val="1700817793"/>
                  </a:ext>
                </a:extLst>
              </a:tr>
              <a:tr h="438151">
                <a:tc>
                  <a:txBody>
                    <a:bodyPr/>
                    <a:lstStyle/>
                    <a:p>
                      <a:r>
                        <a:rPr lang="en-IN" sz="1000"/>
                        <a:t>14</a:t>
                      </a:r>
                    </a:p>
                  </a:txBody>
                  <a:tcPr marL="3724" marR="3724" marT="1862" marB="1862" anchor="ctr"/>
                </a:tc>
                <a:tc>
                  <a:txBody>
                    <a:bodyPr/>
                    <a:lstStyle/>
                    <a:p>
                      <a:r>
                        <a:rPr lang="en-US" sz="1000"/>
                        <a:t>TabRAG: Structured Representation for Advanced Question Answering</a:t>
                      </a:r>
                    </a:p>
                  </a:txBody>
                  <a:tcPr marL="3724" marR="3724" marT="1862" marB="1862" anchor="ctr"/>
                </a:tc>
                <a:tc>
                  <a:txBody>
                    <a:bodyPr/>
                    <a:lstStyle/>
                    <a:p>
                      <a:r>
                        <a:rPr lang="en-IN" sz="1000"/>
                        <a:t>K. Sharma et al.</a:t>
                      </a:r>
                    </a:p>
                  </a:txBody>
                  <a:tcPr marL="3724" marR="3724" marT="1862" marB="1862" anchor="ctr"/>
                </a:tc>
                <a:tc>
                  <a:txBody>
                    <a:bodyPr/>
                    <a:lstStyle/>
                    <a:p>
                      <a:r>
                        <a:rPr lang="en-IN" sz="1000"/>
                        <a:t>2026</a:t>
                      </a:r>
                    </a:p>
                  </a:txBody>
                  <a:tcPr marL="3724" marR="3724" marT="1862" marB="1862" anchor="ctr"/>
                </a:tc>
                <a:tc>
                  <a:txBody>
                    <a:bodyPr/>
                    <a:lstStyle/>
                    <a:p>
                      <a:r>
                        <a:rPr lang="en-US" sz="1000" dirty="0"/>
                        <a:t>Introduces a schema-aware retrieval mechanism that converts natural language into SQL before vector matching.</a:t>
                      </a:r>
                    </a:p>
                  </a:txBody>
                  <a:tcPr marL="3724" marR="3724" marT="1862" marB="1862" anchor="ctr"/>
                </a:tc>
                <a:tc>
                  <a:txBody>
                    <a:bodyPr/>
                    <a:lstStyle/>
                    <a:p>
                      <a:r>
                        <a:rPr lang="en-US" sz="1000" dirty="0"/>
                        <a:t>Bridges the gap between semantic search and deterministic database querying for tables.</a:t>
                      </a:r>
                    </a:p>
                  </a:txBody>
                  <a:tcPr marL="3724" marR="3724" marT="1862" marB="1862" anchor="ctr"/>
                </a:tc>
                <a:tc>
                  <a:txBody>
                    <a:bodyPr/>
                    <a:lstStyle/>
                    <a:p>
                      <a:r>
                        <a:rPr lang="en-US" sz="1000"/>
                        <a:t>Requires highly structured schemas; fails on messy or heterogeneous tabular data.</a:t>
                      </a:r>
                    </a:p>
                  </a:txBody>
                  <a:tcPr marL="3724" marR="3724" marT="1862" marB="1862" anchor="ctr"/>
                </a:tc>
                <a:tc>
                  <a:txBody>
                    <a:bodyPr/>
                    <a:lstStyle/>
                    <a:p>
                      <a:r>
                        <a:rPr lang="en-US" sz="1000"/>
                        <a:t>Developing schema-agnostic tabular embeddings that can infer mathematical relationships on the fly.</a:t>
                      </a:r>
                    </a:p>
                  </a:txBody>
                  <a:tcPr marL="3724" marR="3724" marT="1862" marB="1862" anchor="ctr"/>
                </a:tc>
                <a:extLst>
                  <a:ext uri="{0D108BD9-81ED-4DB2-BD59-A6C34878D82A}">
                    <a16:rowId xmlns:a16="http://schemas.microsoft.com/office/drawing/2014/main" val="1941682479"/>
                  </a:ext>
                </a:extLst>
              </a:tr>
              <a:tr h="466725">
                <a:tc>
                  <a:txBody>
                    <a:bodyPr/>
                    <a:lstStyle/>
                    <a:p>
                      <a:r>
                        <a:rPr lang="en-IN" sz="1000"/>
                        <a:t>15</a:t>
                      </a:r>
                    </a:p>
                  </a:txBody>
                  <a:tcPr marL="3724" marR="3724" marT="1862" marB="1862" anchor="ctr"/>
                </a:tc>
                <a:tc>
                  <a:txBody>
                    <a:bodyPr/>
                    <a:lstStyle/>
                    <a:p>
                      <a:r>
                        <a:rPr lang="en-IN" sz="1000"/>
                        <a:t>LLM-Driven Synthesis Planning for Reticular Chemistry</a:t>
                      </a:r>
                    </a:p>
                  </a:txBody>
                  <a:tcPr marL="3724" marR="3724" marT="1862" marB="1862" anchor="ctr"/>
                </a:tc>
                <a:tc>
                  <a:txBody>
                    <a:bodyPr/>
                    <a:lstStyle/>
                    <a:p>
                      <a:r>
                        <a:rPr lang="en-IN" sz="1000"/>
                        <a:t>A. Rahman et al.</a:t>
                      </a:r>
                    </a:p>
                  </a:txBody>
                  <a:tcPr marL="3724" marR="3724" marT="1862" marB="1862" anchor="ctr"/>
                </a:tc>
                <a:tc>
                  <a:txBody>
                    <a:bodyPr/>
                    <a:lstStyle/>
                    <a:p>
                      <a:r>
                        <a:rPr lang="en-IN" sz="1000"/>
                        <a:t>2026</a:t>
                      </a:r>
                    </a:p>
                  </a:txBody>
                  <a:tcPr marL="3724" marR="3724" marT="1862" marB="1862" anchor="ctr"/>
                </a:tc>
                <a:tc>
                  <a:txBody>
                    <a:bodyPr/>
                    <a:lstStyle/>
                    <a:p>
                      <a:r>
                        <a:rPr lang="en-IN" sz="1000"/>
                        <a:t>Fine-tunes open-source LLMs (e.g., Llama 3) on MOF synthesis recipes paired with tabular structural parameters.</a:t>
                      </a:r>
                    </a:p>
                  </a:txBody>
                  <a:tcPr marL="3724" marR="3724" marT="1862" marB="1862" anchor="ctr"/>
                </a:tc>
                <a:tc>
                  <a:txBody>
                    <a:bodyPr/>
                    <a:lstStyle/>
                    <a:p>
                      <a:r>
                        <a:rPr lang="en-US" sz="1000"/>
                        <a:t>Suggests synthesis conditions based on desired tabular target properties (e.g., surface area &gt; 4000).</a:t>
                      </a:r>
                    </a:p>
                  </a:txBody>
                  <a:tcPr marL="3724" marR="3724" marT="1862" marB="1862" anchor="ctr"/>
                </a:tc>
                <a:tc>
                  <a:txBody>
                    <a:bodyPr/>
                    <a:lstStyle/>
                    <a:p>
                      <a:r>
                        <a:rPr lang="en-US" sz="1000" dirty="0"/>
                        <a:t>Struggles to guarantee the thermodynamic stability of the suggested novel frameworks.</a:t>
                      </a:r>
                    </a:p>
                  </a:txBody>
                  <a:tcPr marL="3724" marR="3724" marT="1862" marB="1862" anchor="ctr"/>
                </a:tc>
                <a:tc>
                  <a:txBody>
                    <a:bodyPr/>
                    <a:lstStyle/>
                    <a:p>
                      <a:r>
                        <a:rPr lang="en-US" sz="1000" dirty="0"/>
                        <a:t>Connecting the generative LLM with real-time predictive tabular models in a closed continuous loop.</a:t>
                      </a:r>
                    </a:p>
                  </a:txBody>
                  <a:tcPr marL="3724" marR="3724" marT="1862" marB="1862" anchor="ctr"/>
                </a:tc>
                <a:extLst>
                  <a:ext uri="{0D108BD9-81ED-4DB2-BD59-A6C34878D82A}">
                    <a16:rowId xmlns:a16="http://schemas.microsoft.com/office/drawing/2014/main" val="200702728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952577306"/>
              </p:ext>
            </p:extLst>
          </p:nvPr>
        </p:nvGraphicFramePr>
        <p:xfrm>
          <a:off x="165100" y="657225"/>
          <a:ext cx="10363200" cy="5235829"/>
        </p:xfrm>
        <a:graphic>
          <a:graphicData uri="http://schemas.openxmlformats.org/drawingml/2006/table">
            <a:tbl>
              <a:tblPr firstRow="1" bandRow="1">
                <a:tableStyleId>{2D5ABB26-0587-4C30-8999-92F81FD0307C}</a:tableStyleId>
              </a:tblPr>
              <a:tblGrid>
                <a:gridCol w="2301444">
                  <a:extLst>
                    <a:ext uri="{9D8B030D-6E8A-4147-A177-3AD203B41FA5}">
                      <a16:colId xmlns:a16="http://schemas.microsoft.com/office/drawing/2014/main" val="20000"/>
                    </a:ext>
                  </a:extLst>
                </a:gridCol>
                <a:gridCol w="8061756">
                  <a:extLst>
                    <a:ext uri="{9D8B030D-6E8A-4147-A177-3AD203B41FA5}">
                      <a16:colId xmlns:a16="http://schemas.microsoft.com/office/drawing/2014/main" val="20001"/>
                    </a:ext>
                  </a:extLst>
                </a:gridCol>
              </a:tblGrid>
              <a:tr h="359740">
                <a:tc>
                  <a:txBody>
                    <a:bodyPr/>
                    <a:lstStyle/>
                    <a:p>
                      <a:pPr marL="23495">
                        <a:lnSpc>
                          <a:spcPct val="100000"/>
                        </a:lnSpc>
                        <a:spcBef>
                          <a:spcPts val="120"/>
                        </a:spcBef>
                      </a:pPr>
                      <a:r>
                        <a:rPr sz="1000" b="1" dirty="0">
                          <a:latin typeface="Arial"/>
                          <a:cs typeface="Arial"/>
                        </a:rPr>
                        <a:t>Model</a:t>
                      </a:r>
                      <a:r>
                        <a:rPr sz="1000" b="1" spc="-15" dirty="0">
                          <a:latin typeface="Arial"/>
                          <a:cs typeface="Arial"/>
                        </a:rPr>
                        <a:t> </a:t>
                      </a:r>
                      <a:r>
                        <a:rPr sz="1000" b="1" dirty="0">
                          <a:latin typeface="Arial"/>
                          <a:cs typeface="Arial"/>
                        </a:rPr>
                        <a:t>/</a:t>
                      </a:r>
                      <a:r>
                        <a:rPr sz="1000" b="1" spc="-15" dirty="0">
                          <a:latin typeface="Arial"/>
                          <a:cs typeface="Arial"/>
                        </a:rPr>
                        <a:t> </a:t>
                      </a:r>
                      <a:r>
                        <a:rPr sz="1000" b="1" spc="-20" dirty="0">
                          <a:latin typeface="Arial"/>
                          <a:cs typeface="Arial"/>
                        </a:rPr>
                        <a:t>Tool</a:t>
                      </a:r>
                      <a:endParaRPr sz="1000">
                        <a:latin typeface="Arial"/>
                        <a:cs typeface="Arial"/>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0"/>
                        </a:spcBef>
                      </a:pPr>
                      <a:r>
                        <a:rPr sz="1000" b="1" spc="-10" dirty="0">
                          <a:latin typeface="Arial"/>
                          <a:cs typeface="Arial"/>
                        </a:rPr>
                        <a:t>Purpose</a:t>
                      </a:r>
                      <a:endParaRPr sz="1000">
                        <a:latin typeface="Arial"/>
                        <a:cs typeface="Arial"/>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46378">
                <a:tc>
                  <a:txBody>
                    <a:bodyPr/>
                    <a:lstStyle/>
                    <a:p>
                      <a:pPr marL="23495">
                        <a:lnSpc>
                          <a:spcPct val="100000"/>
                        </a:lnSpc>
                        <a:spcBef>
                          <a:spcPts val="785"/>
                        </a:spcBef>
                      </a:pPr>
                      <a:r>
                        <a:rPr sz="1000" dirty="0">
                          <a:latin typeface="Arial MT"/>
                          <a:cs typeface="Arial MT"/>
                        </a:rPr>
                        <a:t>LLM</a:t>
                      </a:r>
                      <a:r>
                        <a:rPr sz="1000" spc="-10" dirty="0">
                          <a:latin typeface="Arial MT"/>
                          <a:cs typeface="Arial MT"/>
                        </a:rPr>
                        <a:t> </a:t>
                      </a:r>
                      <a:r>
                        <a:rPr sz="1000" dirty="0">
                          <a:latin typeface="Arial MT"/>
                          <a:cs typeface="Arial MT"/>
                        </a:rPr>
                        <a:t>(Llama</a:t>
                      </a:r>
                      <a:r>
                        <a:rPr sz="1000" spc="-5" dirty="0">
                          <a:latin typeface="Arial MT"/>
                          <a:cs typeface="Arial MT"/>
                        </a:rPr>
                        <a:t> </a:t>
                      </a:r>
                      <a:r>
                        <a:rPr sz="1000" dirty="0">
                          <a:latin typeface="Arial MT"/>
                          <a:cs typeface="Arial MT"/>
                        </a:rPr>
                        <a:t>3</a:t>
                      </a:r>
                      <a:r>
                        <a:rPr sz="1000" spc="-15" dirty="0">
                          <a:latin typeface="Arial MT"/>
                          <a:cs typeface="Arial MT"/>
                        </a:rPr>
                        <a:t> </a:t>
                      </a:r>
                      <a:r>
                        <a:rPr sz="1000" dirty="0">
                          <a:latin typeface="Arial MT"/>
                          <a:cs typeface="Arial MT"/>
                        </a:rPr>
                        <a:t>/</a:t>
                      </a:r>
                      <a:r>
                        <a:rPr sz="1000" spc="-5" dirty="0">
                          <a:latin typeface="Arial MT"/>
                          <a:cs typeface="Arial MT"/>
                        </a:rPr>
                        <a:t> </a:t>
                      </a:r>
                      <a:r>
                        <a:rPr sz="1000" spc="-25" dirty="0">
                          <a:latin typeface="Arial MT"/>
                          <a:cs typeface="Arial MT"/>
                        </a:rPr>
                        <a:t>GPT-4)</a:t>
                      </a:r>
                      <a:endParaRPr sz="1000">
                        <a:latin typeface="Arial MT"/>
                        <a:cs typeface="Arial MT"/>
                      </a:endParaRPr>
                    </a:p>
                  </a:txBody>
                  <a:tcPr marL="0" marR="0" marT="996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marR="671830">
                        <a:lnSpc>
                          <a:spcPct val="110000"/>
                        </a:lnSpc>
                        <a:spcBef>
                          <a:spcPts val="5"/>
                        </a:spcBef>
                      </a:pPr>
                      <a:r>
                        <a:rPr sz="1000" dirty="0">
                          <a:latin typeface="Arial MT"/>
                          <a:cs typeface="Arial MT"/>
                        </a:rPr>
                        <a:t>Understands</a:t>
                      </a:r>
                      <a:r>
                        <a:rPr sz="1000" spc="-15"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user's</a:t>
                      </a:r>
                      <a:r>
                        <a:rPr sz="1000" spc="-10" dirty="0">
                          <a:latin typeface="Arial MT"/>
                          <a:cs typeface="Arial MT"/>
                        </a:rPr>
                        <a:t> </a:t>
                      </a:r>
                      <a:r>
                        <a:rPr sz="1000" dirty="0">
                          <a:latin typeface="Arial MT"/>
                          <a:cs typeface="Arial MT"/>
                        </a:rPr>
                        <a:t>question</a:t>
                      </a:r>
                      <a:r>
                        <a:rPr sz="1000" spc="-15" dirty="0">
                          <a:latin typeface="Arial MT"/>
                          <a:cs typeface="Arial MT"/>
                        </a:rPr>
                        <a:t> </a:t>
                      </a:r>
                      <a:r>
                        <a:rPr sz="1000" dirty="0">
                          <a:latin typeface="Arial MT"/>
                          <a:cs typeface="Arial MT"/>
                        </a:rPr>
                        <a:t>and</a:t>
                      </a:r>
                      <a:r>
                        <a:rPr sz="1000" spc="-15" dirty="0">
                          <a:latin typeface="Arial MT"/>
                          <a:cs typeface="Arial MT"/>
                        </a:rPr>
                        <a:t> </a:t>
                      </a:r>
                      <a:r>
                        <a:rPr sz="1000" dirty="0">
                          <a:latin typeface="Arial MT"/>
                          <a:cs typeface="Arial MT"/>
                        </a:rPr>
                        <a:t>converts</a:t>
                      </a:r>
                      <a:r>
                        <a:rPr sz="1000" spc="-10" dirty="0">
                          <a:latin typeface="Arial MT"/>
                          <a:cs typeface="Arial MT"/>
                        </a:rPr>
                        <a:t> </a:t>
                      </a:r>
                      <a:r>
                        <a:rPr sz="1000" dirty="0">
                          <a:latin typeface="Arial MT"/>
                          <a:cs typeface="Arial MT"/>
                        </a:rPr>
                        <a:t>it</a:t>
                      </a:r>
                      <a:r>
                        <a:rPr sz="1000" spc="-10" dirty="0">
                          <a:latin typeface="Arial MT"/>
                          <a:cs typeface="Arial MT"/>
                        </a:rPr>
                        <a:t> </a:t>
                      </a:r>
                      <a:r>
                        <a:rPr sz="1000" dirty="0">
                          <a:latin typeface="Arial MT"/>
                          <a:cs typeface="Arial MT"/>
                        </a:rPr>
                        <a:t>into</a:t>
                      </a:r>
                      <a:r>
                        <a:rPr sz="1000" spc="-15" dirty="0">
                          <a:latin typeface="Arial MT"/>
                          <a:cs typeface="Arial MT"/>
                        </a:rPr>
                        <a:t> </a:t>
                      </a:r>
                      <a:r>
                        <a:rPr sz="1000" dirty="0">
                          <a:latin typeface="Arial MT"/>
                          <a:cs typeface="Arial MT"/>
                        </a:rPr>
                        <a:t>a</a:t>
                      </a:r>
                      <a:r>
                        <a:rPr sz="1000" spc="-25" dirty="0">
                          <a:latin typeface="Arial MT"/>
                          <a:cs typeface="Arial MT"/>
                        </a:rPr>
                        <a:t> </a:t>
                      </a:r>
                      <a:r>
                        <a:rPr sz="1000" dirty="0">
                          <a:latin typeface="Arial MT"/>
                          <a:cs typeface="Arial MT"/>
                        </a:rPr>
                        <a:t>form</a:t>
                      </a:r>
                      <a:r>
                        <a:rPr sz="1000" spc="10"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system can</a:t>
                      </a:r>
                      <a:r>
                        <a:rPr sz="1000" spc="-20" dirty="0">
                          <a:latin typeface="Arial MT"/>
                          <a:cs typeface="Arial MT"/>
                        </a:rPr>
                        <a:t> </a:t>
                      </a:r>
                      <a:r>
                        <a:rPr sz="1000" dirty="0">
                          <a:latin typeface="Arial MT"/>
                          <a:cs typeface="Arial MT"/>
                        </a:rPr>
                        <a:t>process.</a:t>
                      </a:r>
                      <a:r>
                        <a:rPr sz="1000" spc="-20" dirty="0">
                          <a:latin typeface="Arial MT"/>
                          <a:cs typeface="Arial MT"/>
                        </a:rPr>
                        <a:t> </a:t>
                      </a:r>
                      <a:r>
                        <a:rPr sz="1000" dirty="0">
                          <a:latin typeface="Arial MT"/>
                          <a:cs typeface="Arial MT"/>
                        </a:rPr>
                        <a:t>It</a:t>
                      </a:r>
                      <a:r>
                        <a:rPr sz="1000" spc="-15" dirty="0">
                          <a:latin typeface="Arial MT"/>
                          <a:cs typeface="Arial MT"/>
                        </a:rPr>
                        <a:t> </a:t>
                      </a:r>
                      <a:r>
                        <a:rPr sz="1000" dirty="0">
                          <a:latin typeface="Arial MT"/>
                          <a:cs typeface="Arial MT"/>
                        </a:rPr>
                        <a:t>also</a:t>
                      </a:r>
                      <a:r>
                        <a:rPr sz="1000" spc="-10" dirty="0">
                          <a:latin typeface="Arial MT"/>
                          <a:cs typeface="Arial MT"/>
                        </a:rPr>
                        <a:t> </a:t>
                      </a:r>
                      <a:r>
                        <a:rPr sz="1000" dirty="0">
                          <a:latin typeface="Arial MT"/>
                          <a:cs typeface="Arial MT"/>
                        </a:rPr>
                        <a:t>generates</a:t>
                      </a:r>
                      <a:r>
                        <a:rPr sz="1000" spc="-15"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final </a:t>
                      </a:r>
                      <a:r>
                        <a:rPr sz="1000" dirty="0">
                          <a:latin typeface="Arial MT"/>
                          <a:cs typeface="Arial MT"/>
                        </a:rPr>
                        <a:t>conversational</a:t>
                      </a:r>
                      <a:r>
                        <a:rPr sz="1000" spc="-55" dirty="0">
                          <a:latin typeface="Arial MT"/>
                          <a:cs typeface="Arial MT"/>
                        </a:rPr>
                        <a:t> </a:t>
                      </a:r>
                      <a:r>
                        <a:rPr sz="1000" spc="-10" dirty="0">
                          <a:latin typeface="Arial MT"/>
                          <a:cs typeface="Arial MT"/>
                        </a:rPr>
                        <a:t>answer.</a:t>
                      </a:r>
                      <a:endParaRPr sz="1000">
                        <a:latin typeface="Arial MT"/>
                        <a:cs typeface="Arial MT"/>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46378">
                <a:tc>
                  <a:txBody>
                    <a:bodyPr/>
                    <a:lstStyle/>
                    <a:p>
                      <a:pPr marL="23495" marR="298450">
                        <a:lnSpc>
                          <a:spcPct val="110000"/>
                        </a:lnSpc>
                        <a:spcBef>
                          <a:spcPts val="20"/>
                        </a:spcBef>
                      </a:pPr>
                      <a:r>
                        <a:rPr sz="1000" spc="-10" dirty="0">
                          <a:latin typeface="Arial MT"/>
                          <a:cs typeface="Arial MT"/>
                        </a:rPr>
                        <a:t>Sentence-</a:t>
                      </a:r>
                      <a:r>
                        <a:rPr sz="1000" dirty="0">
                          <a:latin typeface="Arial MT"/>
                          <a:cs typeface="Arial MT"/>
                        </a:rPr>
                        <a:t>BERT</a:t>
                      </a:r>
                      <a:r>
                        <a:rPr sz="1000" spc="35" dirty="0">
                          <a:latin typeface="Arial MT"/>
                          <a:cs typeface="Arial MT"/>
                        </a:rPr>
                        <a:t> </a:t>
                      </a:r>
                      <a:r>
                        <a:rPr sz="1000" spc="-10" dirty="0">
                          <a:latin typeface="Arial MT"/>
                          <a:cs typeface="Arial MT"/>
                        </a:rPr>
                        <a:t>(Embedding Model)</a:t>
                      </a:r>
                      <a:endParaRPr sz="1000">
                        <a:latin typeface="Arial MT"/>
                        <a:cs typeface="Arial MT"/>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800"/>
                        </a:spcBef>
                      </a:pPr>
                      <a:r>
                        <a:rPr sz="1000" dirty="0">
                          <a:latin typeface="Arial MT"/>
                          <a:cs typeface="Arial MT"/>
                        </a:rPr>
                        <a:t>Converts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user's</a:t>
                      </a:r>
                      <a:r>
                        <a:rPr sz="1000" spc="-15" dirty="0">
                          <a:latin typeface="Arial MT"/>
                          <a:cs typeface="Arial MT"/>
                        </a:rPr>
                        <a:t> </a:t>
                      </a:r>
                      <a:r>
                        <a:rPr sz="1000" dirty="0">
                          <a:latin typeface="Arial MT"/>
                          <a:cs typeface="Arial MT"/>
                        </a:rPr>
                        <a:t>query</a:t>
                      </a:r>
                      <a:r>
                        <a:rPr sz="1000" spc="-30" dirty="0">
                          <a:latin typeface="Arial MT"/>
                          <a:cs typeface="Arial MT"/>
                        </a:rPr>
                        <a:t> </a:t>
                      </a:r>
                      <a:r>
                        <a:rPr sz="1000" dirty="0">
                          <a:latin typeface="Arial MT"/>
                          <a:cs typeface="Arial MT"/>
                        </a:rPr>
                        <a:t>and</a:t>
                      </a:r>
                      <a:r>
                        <a:rPr sz="1000" spc="-25" dirty="0">
                          <a:latin typeface="Arial MT"/>
                          <a:cs typeface="Arial MT"/>
                        </a:rPr>
                        <a:t> </a:t>
                      </a:r>
                      <a:r>
                        <a:rPr sz="1000" dirty="0">
                          <a:latin typeface="Arial MT"/>
                          <a:cs typeface="Arial MT"/>
                        </a:rPr>
                        <a:t>research</a:t>
                      </a:r>
                      <a:r>
                        <a:rPr sz="1000" spc="-15" dirty="0">
                          <a:latin typeface="Arial MT"/>
                          <a:cs typeface="Arial MT"/>
                        </a:rPr>
                        <a:t> </a:t>
                      </a:r>
                      <a:r>
                        <a:rPr sz="1000" dirty="0">
                          <a:latin typeface="Arial MT"/>
                          <a:cs typeface="Arial MT"/>
                        </a:rPr>
                        <a:t>papers</a:t>
                      </a:r>
                      <a:r>
                        <a:rPr sz="1000" spc="-10" dirty="0">
                          <a:latin typeface="Arial MT"/>
                          <a:cs typeface="Arial MT"/>
                        </a:rPr>
                        <a:t> </a:t>
                      </a:r>
                      <a:r>
                        <a:rPr sz="1000" dirty="0">
                          <a:latin typeface="Arial MT"/>
                          <a:cs typeface="Arial MT"/>
                        </a:rPr>
                        <a:t>into</a:t>
                      </a:r>
                      <a:r>
                        <a:rPr sz="1000" spc="5" dirty="0">
                          <a:latin typeface="Arial MT"/>
                          <a:cs typeface="Arial MT"/>
                        </a:rPr>
                        <a:t> </a:t>
                      </a:r>
                      <a:r>
                        <a:rPr sz="1000" dirty="0">
                          <a:latin typeface="Arial MT"/>
                          <a:cs typeface="Arial MT"/>
                        </a:rPr>
                        <a:t>numerical</a:t>
                      </a:r>
                      <a:r>
                        <a:rPr sz="1000" spc="-25" dirty="0">
                          <a:latin typeface="Arial MT"/>
                          <a:cs typeface="Arial MT"/>
                        </a:rPr>
                        <a:t> </a:t>
                      </a:r>
                      <a:r>
                        <a:rPr sz="1000" dirty="0">
                          <a:latin typeface="Arial MT"/>
                          <a:cs typeface="Arial MT"/>
                        </a:rPr>
                        <a:t>vectors</a:t>
                      </a:r>
                      <a:r>
                        <a:rPr sz="1000" spc="-10" dirty="0">
                          <a:latin typeface="Arial MT"/>
                          <a:cs typeface="Arial MT"/>
                        </a:rPr>
                        <a:t> </a:t>
                      </a:r>
                      <a:r>
                        <a:rPr sz="1000" dirty="0">
                          <a:latin typeface="Arial MT"/>
                          <a:cs typeface="Arial MT"/>
                        </a:rPr>
                        <a:t>so</a:t>
                      </a:r>
                      <a:r>
                        <a:rPr sz="1000" spc="-20" dirty="0">
                          <a:latin typeface="Arial MT"/>
                          <a:cs typeface="Arial MT"/>
                        </a:rPr>
                        <a:t> </a:t>
                      </a:r>
                      <a:r>
                        <a:rPr sz="1000" dirty="0">
                          <a:latin typeface="Arial MT"/>
                          <a:cs typeface="Arial MT"/>
                        </a:rPr>
                        <a:t>similar</a:t>
                      </a:r>
                      <a:r>
                        <a:rPr sz="1000" spc="-20" dirty="0">
                          <a:latin typeface="Arial MT"/>
                          <a:cs typeface="Arial MT"/>
                        </a:rPr>
                        <a:t> </a:t>
                      </a:r>
                      <a:r>
                        <a:rPr sz="1000" dirty="0">
                          <a:latin typeface="Arial MT"/>
                          <a:cs typeface="Arial MT"/>
                        </a:rPr>
                        <a:t>information</a:t>
                      </a:r>
                      <a:r>
                        <a:rPr sz="1000" spc="-25" dirty="0">
                          <a:latin typeface="Arial MT"/>
                          <a:cs typeface="Arial MT"/>
                        </a:rPr>
                        <a:t> </a:t>
                      </a:r>
                      <a:r>
                        <a:rPr sz="1000" dirty="0">
                          <a:latin typeface="Arial MT"/>
                          <a:cs typeface="Arial MT"/>
                        </a:rPr>
                        <a:t>can</a:t>
                      </a:r>
                      <a:r>
                        <a:rPr sz="1000" spc="-25" dirty="0">
                          <a:latin typeface="Arial MT"/>
                          <a:cs typeface="Arial MT"/>
                        </a:rPr>
                        <a:t> </a:t>
                      </a:r>
                      <a:r>
                        <a:rPr sz="1000" dirty="0">
                          <a:latin typeface="Arial MT"/>
                          <a:cs typeface="Arial MT"/>
                        </a:rPr>
                        <a:t>be</a:t>
                      </a:r>
                      <a:r>
                        <a:rPr sz="1000" spc="-20" dirty="0">
                          <a:latin typeface="Arial MT"/>
                          <a:cs typeface="Arial MT"/>
                        </a:rPr>
                        <a:t> </a:t>
                      </a:r>
                      <a:r>
                        <a:rPr sz="1000" dirty="0">
                          <a:latin typeface="Arial MT"/>
                          <a:cs typeface="Arial MT"/>
                        </a:rPr>
                        <a:t>found</a:t>
                      </a:r>
                      <a:r>
                        <a:rPr sz="1000" spc="-10" dirty="0">
                          <a:latin typeface="Arial MT"/>
                          <a:cs typeface="Arial MT"/>
                        </a:rPr>
                        <a:t> quickly.</a:t>
                      </a:r>
                      <a:endParaRPr sz="1000">
                        <a:latin typeface="Arial MT"/>
                        <a:cs typeface="Arial MT"/>
                      </a:endParaRPr>
                    </a:p>
                  </a:txBody>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60453">
                <a:tc>
                  <a:txBody>
                    <a:bodyPr/>
                    <a:lstStyle/>
                    <a:p>
                      <a:pPr marL="23495">
                        <a:lnSpc>
                          <a:spcPct val="100000"/>
                        </a:lnSpc>
                        <a:spcBef>
                          <a:spcPts val="140"/>
                        </a:spcBef>
                      </a:pPr>
                      <a:r>
                        <a:rPr sz="1000" spc="-10" dirty="0">
                          <a:latin typeface="Arial MT"/>
                          <a:cs typeface="Arial MT"/>
                        </a:rPr>
                        <a:t>FAISS</a:t>
                      </a:r>
                      <a:r>
                        <a:rPr sz="1000" spc="-45" dirty="0">
                          <a:latin typeface="Arial MT"/>
                          <a:cs typeface="Arial MT"/>
                        </a:rPr>
                        <a:t> </a:t>
                      </a:r>
                      <a:r>
                        <a:rPr sz="1000" dirty="0">
                          <a:latin typeface="Arial MT"/>
                          <a:cs typeface="Arial MT"/>
                        </a:rPr>
                        <a:t>(Vector</a:t>
                      </a:r>
                      <a:r>
                        <a:rPr sz="1000" spc="-45" dirty="0">
                          <a:latin typeface="Arial MT"/>
                          <a:cs typeface="Arial MT"/>
                        </a:rPr>
                        <a:t> </a:t>
                      </a:r>
                      <a:r>
                        <a:rPr sz="1000" spc="-10" dirty="0">
                          <a:latin typeface="Arial MT"/>
                          <a:cs typeface="Arial MT"/>
                        </a:rPr>
                        <a:t>Database)</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Searches</a:t>
                      </a:r>
                      <a:r>
                        <a:rPr sz="1000" spc="-1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retrieves</a:t>
                      </a:r>
                      <a:r>
                        <a:rPr sz="1000" spc="-15" dirty="0">
                          <a:latin typeface="Arial MT"/>
                          <a:cs typeface="Arial MT"/>
                        </a:rPr>
                        <a:t> </a:t>
                      </a:r>
                      <a:r>
                        <a:rPr sz="1000" dirty="0">
                          <a:latin typeface="Arial MT"/>
                          <a:cs typeface="Arial MT"/>
                        </a:rPr>
                        <a:t>the</a:t>
                      </a:r>
                      <a:r>
                        <a:rPr sz="1000" spc="-15" dirty="0">
                          <a:latin typeface="Arial MT"/>
                          <a:cs typeface="Arial MT"/>
                        </a:rPr>
                        <a:t> </a:t>
                      </a:r>
                      <a:r>
                        <a:rPr sz="1000" dirty="0">
                          <a:latin typeface="Arial MT"/>
                          <a:cs typeface="Arial MT"/>
                        </a:rPr>
                        <a:t>most</a:t>
                      </a:r>
                      <a:r>
                        <a:rPr sz="1000" spc="-20" dirty="0">
                          <a:latin typeface="Arial MT"/>
                          <a:cs typeface="Arial MT"/>
                        </a:rPr>
                        <a:t> </a:t>
                      </a:r>
                      <a:r>
                        <a:rPr sz="1000" dirty="0">
                          <a:latin typeface="Arial MT"/>
                          <a:cs typeface="Arial MT"/>
                        </a:rPr>
                        <a:t>relevant</a:t>
                      </a:r>
                      <a:r>
                        <a:rPr sz="1000" spc="-10" dirty="0">
                          <a:latin typeface="Arial MT"/>
                          <a:cs typeface="Arial MT"/>
                        </a:rPr>
                        <a:t> </a:t>
                      </a:r>
                      <a:r>
                        <a:rPr sz="1000" dirty="0">
                          <a:latin typeface="Arial MT"/>
                          <a:cs typeface="Arial MT"/>
                        </a:rPr>
                        <a:t>MOF</a:t>
                      </a:r>
                      <a:r>
                        <a:rPr sz="1000" spc="-20" dirty="0">
                          <a:latin typeface="Arial MT"/>
                          <a:cs typeface="Arial MT"/>
                        </a:rPr>
                        <a:t> </a:t>
                      </a:r>
                      <a:r>
                        <a:rPr sz="1000" dirty="0">
                          <a:latin typeface="Arial MT"/>
                          <a:cs typeface="Arial MT"/>
                        </a:rPr>
                        <a:t>information</a:t>
                      </a:r>
                      <a:r>
                        <a:rPr sz="1000" spc="-1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research</a:t>
                      </a:r>
                      <a:r>
                        <a:rPr sz="1000" spc="-20" dirty="0">
                          <a:latin typeface="Arial MT"/>
                          <a:cs typeface="Arial MT"/>
                        </a:rPr>
                        <a:t> </a:t>
                      </a:r>
                      <a:r>
                        <a:rPr sz="1000" dirty="0">
                          <a:latin typeface="Arial MT"/>
                          <a:cs typeface="Arial MT"/>
                        </a:rPr>
                        <a:t>papers</a:t>
                      </a:r>
                      <a:r>
                        <a:rPr sz="1000" spc="-10" dirty="0">
                          <a:latin typeface="Arial MT"/>
                          <a:cs typeface="Arial MT"/>
                        </a:rPr>
                        <a:t> </a:t>
                      </a:r>
                      <a:r>
                        <a:rPr sz="1000" dirty="0">
                          <a:latin typeface="Arial MT"/>
                          <a:cs typeface="Arial MT"/>
                        </a:rPr>
                        <a:t>based</a:t>
                      </a:r>
                      <a:r>
                        <a:rPr sz="1000" spc="-25" dirty="0">
                          <a:latin typeface="Arial MT"/>
                          <a:cs typeface="Arial MT"/>
                        </a:rPr>
                        <a:t> </a:t>
                      </a:r>
                      <a:r>
                        <a:rPr sz="1000" dirty="0">
                          <a:latin typeface="Arial MT"/>
                          <a:cs typeface="Arial MT"/>
                        </a:rPr>
                        <a:t>on</a:t>
                      </a:r>
                      <a:r>
                        <a:rPr sz="1000" spc="-20"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user's</a:t>
                      </a:r>
                      <a:r>
                        <a:rPr sz="1000" spc="-20" dirty="0">
                          <a:latin typeface="Arial MT"/>
                          <a:cs typeface="Arial MT"/>
                        </a:rPr>
                        <a:t> </a:t>
                      </a:r>
                      <a:r>
                        <a:rPr sz="1000" spc="-10" dirty="0">
                          <a:latin typeface="Arial MT"/>
                          <a:cs typeface="Arial MT"/>
                        </a:rPr>
                        <a:t>query.</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59029">
                <a:tc>
                  <a:txBody>
                    <a:bodyPr/>
                    <a:lstStyle/>
                    <a:p>
                      <a:pPr marL="23495">
                        <a:lnSpc>
                          <a:spcPct val="100000"/>
                        </a:lnSpc>
                        <a:spcBef>
                          <a:spcPts val="125"/>
                        </a:spcBef>
                      </a:pPr>
                      <a:r>
                        <a:rPr sz="1000" spc="-10" dirty="0">
                          <a:latin typeface="Arial MT"/>
                          <a:cs typeface="Arial MT"/>
                        </a:rPr>
                        <a:t>SQLite</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Stores</a:t>
                      </a:r>
                      <a:r>
                        <a:rPr sz="1000" spc="-15" dirty="0">
                          <a:latin typeface="Arial MT"/>
                          <a:cs typeface="Arial MT"/>
                        </a:rPr>
                        <a:t> </a:t>
                      </a:r>
                      <a:r>
                        <a:rPr sz="1000" dirty="0">
                          <a:latin typeface="Arial MT"/>
                          <a:cs typeface="Arial MT"/>
                        </a:rPr>
                        <a:t>the</a:t>
                      </a:r>
                      <a:r>
                        <a:rPr sz="1000" spc="-25" dirty="0">
                          <a:latin typeface="Arial MT"/>
                          <a:cs typeface="Arial MT"/>
                        </a:rPr>
                        <a:t> </a:t>
                      </a:r>
                      <a:r>
                        <a:rPr sz="1000" dirty="0">
                          <a:latin typeface="Arial MT"/>
                          <a:cs typeface="Arial MT"/>
                        </a:rPr>
                        <a:t>hMOF</a:t>
                      </a:r>
                      <a:r>
                        <a:rPr sz="1000" spc="-15" dirty="0">
                          <a:latin typeface="Arial MT"/>
                          <a:cs typeface="Arial MT"/>
                        </a:rPr>
                        <a:t> </a:t>
                      </a:r>
                      <a:r>
                        <a:rPr sz="1000" dirty="0">
                          <a:latin typeface="Arial MT"/>
                          <a:cs typeface="Arial MT"/>
                        </a:rPr>
                        <a:t>dataset</a:t>
                      </a:r>
                      <a:r>
                        <a:rPr sz="1000" spc="-5" dirty="0">
                          <a:latin typeface="Arial MT"/>
                          <a:cs typeface="Arial MT"/>
                        </a:rPr>
                        <a:t> </a:t>
                      </a:r>
                      <a:r>
                        <a:rPr sz="1000" dirty="0">
                          <a:latin typeface="Arial MT"/>
                          <a:cs typeface="Arial MT"/>
                        </a:rPr>
                        <a:t>and</a:t>
                      </a:r>
                      <a:r>
                        <a:rPr sz="1000" spc="-25" dirty="0">
                          <a:latin typeface="Arial MT"/>
                          <a:cs typeface="Arial MT"/>
                        </a:rPr>
                        <a:t> </a:t>
                      </a:r>
                      <a:r>
                        <a:rPr sz="1000" dirty="0">
                          <a:latin typeface="Arial MT"/>
                          <a:cs typeface="Arial MT"/>
                        </a:rPr>
                        <a:t>quickly</a:t>
                      </a:r>
                      <a:r>
                        <a:rPr sz="1000" spc="-35" dirty="0">
                          <a:latin typeface="Arial MT"/>
                          <a:cs typeface="Arial MT"/>
                        </a:rPr>
                        <a:t> </a:t>
                      </a:r>
                      <a:r>
                        <a:rPr sz="1000" dirty="0">
                          <a:latin typeface="Arial MT"/>
                          <a:cs typeface="Arial MT"/>
                        </a:rPr>
                        <a:t>retrieves</a:t>
                      </a:r>
                      <a:r>
                        <a:rPr sz="1000" spc="-10" dirty="0">
                          <a:latin typeface="Arial MT"/>
                          <a:cs typeface="Arial MT"/>
                        </a:rPr>
                        <a:t> </a:t>
                      </a:r>
                      <a:r>
                        <a:rPr sz="1000" dirty="0">
                          <a:latin typeface="Arial MT"/>
                          <a:cs typeface="Arial MT"/>
                        </a:rPr>
                        <a:t>material properties</a:t>
                      </a:r>
                      <a:r>
                        <a:rPr sz="1000" spc="-15" dirty="0">
                          <a:latin typeface="Arial MT"/>
                          <a:cs typeface="Arial MT"/>
                        </a:rPr>
                        <a:t> </a:t>
                      </a:r>
                      <a:r>
                        <a:rPr sz="1000" dirty="0">
                          <a:latin typeface="Arial MT"/>
                          <a:cs typeface="Arial MT"/>
                        </a:rPr>
                        <a:t>using</a:t>
                      </a:r>
                      <a:r>
                        <a:rPr sz="1000" spc="-20" dirty="0">
                          <a:latin typeface="Arial MT"/>
                          <a:cs typeface="Arial MT"/>
                        </a:rPr>
                        <a:t> </a:t>
                      </a:r>
                      <a:r>
                        <a:rPr sz="1000" dirty="0">
                          <a:latin typeface="Arial MT"/>
                          <a:cs typeface="Arial MT"/>
                        </a:rPr>
                        <a:t>SQL</a:t>
                      </a:r>
                      <a:r>
                        <a:rPr sz="1000" spc="-40" dirty="0">
                          <a:latin typeface="Arial MT"/>
                          <a:cs typeface="Arial MT"/>
                        </a:rPr>
                        <a:t> </a:t>
                      </a:r>
                      <a:r>
                        <a:rPr sz="1000" spc="-10" dirty="0">
                          <a:latin typeface="Arial MT"/>
                          <a:cs typeface="Arial MT"/>
                        </a:rPr>
                        <a:t>queries.</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58316">
                <a:tc>
                  <a:txBody>
                    <a:bodyPr/>
                    <a:lstStyle/>
                    <a:p>
                      <a:pPr marL="23495">
                        <a:lnSpc>
                          <a:spcPct val="100000"/>
                        </a:lnSpc>
                        <a:spcBef>
                          <a:spcPts val="125"/>
                        </a:spcBef>
                      </a:pPr>
                      <a:r>
                        <a:rPr sz="1000" spc="-30" dirty="0">
                          <a:latin typeface="Arial MT"/>
                          <a:cs typeface="Arial MT"/>
                        </a:rPr>
                        <a:t>FT-</a:t>
                      </a:r>
                      <a:r>
                        <a:rPr sz="1000" spc="-10" dirty="0">
                          <a:latin typeface="Arial MT"/>
                          <a:cs typeface="Arial MT"/>
                        </a:rPr>
                        <a:t>Transformer</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Predicts</a:t>
                      </a:r>
                      <a:r>
                        <a:rPr sz="1000" spc="-20" dirty="0">
                          <a:latin typeface="Arial MT"/>
                          <a:cs typeface="Arial MT"/>
                        </a:rPr>
                        <a:t> </a:t>
                      </a:r>
                      <a:r>
                        <a:rPr sz="1000" dirty="0">
                          <a:latin typeface="Arial MT"/>
                          <a:cs typeface="Arial MT"/>
                        </a:rPr>
                        <a:t>missing</a:t>
                      </a:r>
                      <a:r>
                        <a:rPr sz="1000" spc="-25" dirty="0">
                          <a:latin typeface="Arial MT"/>
                          <a:cs typeface="Arial MT"/>
                        </a:rPr>
                        <a:t> </a:t>
                      </a:r>
                      <a:r>
                        <a:rPr sz="1000" dirty="0">
                          <a:latin typeface="Arial MT"/>
                          <a:cs typeface="Arial MT"/>
                        </a:rPr>
                        <a:t>material</a:t>
                      </a:r>
                      <a:r>
                        <a:rPr sz="1000" spc="-15" dirty="0">
                          <a:latin typeface="Arial MT"/>
                          <a:cs typeface="Arial MT"/>
                        </a:rPr>
                        <a:t> </a:t>
                      </a:r>
                      <a:r>
                        <a:rPr sz="1000" dirty="0">
                          <a:latin typeface="Arial MT"/>
                          <a:cs typeface="Arial MT"/>
                        </a:rPr>
                        <a:t>properties</a:t>
                      </a:r>
                      <a:r>
                        <a:rPr sz="1000" spc="-15" dirty="0">
                          <a:latin typeface="Arial MT"/>
                          <a:cs typeface="Arial MT"/>
                        </a:rPr>
                        <a:t> </a:t>
                      </a:r>
                      <a:r>
                        <a:rPr sz="1000" dirty="0">
                          <a:latin typeface="Arial MT"/>
                          <a:cs typeface="Arial MT"/>
                        </a:rPr>
                        <a:t>(such</a:t>
                      </a:r>
                      <a:r>
                        <a:rPr sz="1000" spc="-20" dirty="0">
                          <a:latin typeface="Arial MT"/>
                          <a:cs typeface="Arial MT"/>
                        </a:rPr>
                        <a:t> </a:t>
                      </a:r>
                      <a:r>
                        <a:rPr sz="1000" dirty="0">
                          <a:latin typeface="Arial MT"/>
                          <a:cs typeface="Arial MT"/>
                        </a:rPr>
                        <a:t>as</a:t>
                      </a:r>
                      <a:r>
                        <a:rPr sz="1000" spc="-15" dirty="0">
                          <a:latin typeface="Arial MT"/>
                          <a:cs typeface="Arial MT"/>
                        </a:rPr>
                        <a:t> </a:t>
                      </a:r>
                      <a:r>
                        <a:rPr sz="1000" dirty="0">
                          <a:latin typeface="Arial MT"/>
                          <a:cs typeface="Arial MT"/>
                        </a:rPr>
                        <a:t>gas</a:t>
                      </a:r>
                      <a:r>
                        <a:rPr sz="1000" spc="-15" dirty="0">
                          <a:latin typeface="Arial MT"/>
                          <a:cs typeface="Arial MT"/>
                        </a:rPr>
                        <a:t> </a:t>
                      </a:r>
                      <a:r>
                        <a:rPr sz="1000" dirty="0">
                          <a:latin typeface="Arial MT"/>
                          <a:cs typeface="Arial MT"/>
                        </a:rPr>
                        <a:t>uptake</a:t>
                      </a:r>
                      <a:r>
                        <a:rPr sz="1000" spc="-20" dirty="0">
                          <a:latin typeface="Arial MT"/>
                          <a:cs typeface="Arial MT"/>
                        </a:rPr>
                        <a:t> </a:t>
                      </a:r>
                      <a:r>
                        <a:rPr sz="1000" dirty="0">
                          <a:latin typeface="Arial MT"/>
                          <a:cs typeface="Arial MT"/>
                        </a:rPr>
                        <a:t>or</a:t>
                      </a:r>
                      <a:r>
                        <a:rPr sz="1000" spc="-15" dirty="0">
                          <a:latin typeface="Arial MT"/>
                          <a:cs typeface="Arial MT"/>
                        </a:rPr>
                        <a:t> </a:t>
                      </a:r>
                      <a:r>
                        <a:rPr sz="1000" dirty="0">
                          <a:latin typeface="Arial MT"/>
                          <a:cs typeface="Arial MT"/>
                        </a:rPr>
                        <a:t>surface</a:t>
                      </a:r>
                      <a:r>
                        <a:rPr sz="1000" spc="-20" dirty="0">
                          <a:latin typeface="Arial MT"/>
                          <a:cs typeface="Arial MT"/>
                        </a:rPr>
                        <a:t> </a:t>
                      </a:r>
                      <a:r>
                        <a:rPr sz="1000" dirty="0">
                          <a:latin typeface="Arial MT"/>
                          <a:cs typeface="Arial MT"/>
                        </a:rPr>
                        <a:t>area)</a:t>
                      </a:r>
                      <a:r>
                        <a:rPr sz="1000" spc="-10" dirty="0">
                          <a:latin typeface="Arial MT"/>
                          <a:cs typeface="Arial MT"/>
                        </a:rPr>
                        <a:t> </a:t>
                      </a:r>
                      <a:r>
                        <a:rPr sz="1000" dirty="0">
                          <a:latin typeface="Arial MT"/>
                          <a:cs typeface="Arial MT"/>
                        </a:rPr>
                        <a:t>when</a:t>
                      </a:r>
                      <a:r>
                        <a:rPr sz="1000" spc="-20" dirty="0">
                          <a:latin typeface="Arial MT"/>
                          <a:cs typeface="Arial MT"/>
                        </a:rPr>
                        <a:t> </a:t>
                      </a:r>
                      <a:r>
                        <a:rPr sz="1000" dirty="0">
                          <a:latin typeface="Arial MT"/>
                          <a:cs typeface="Arial MT"/>
                        </a:rPr>
                        <a:t>they</a:t>
                      </a:r>
                      <a:r>
                        <a:rPr sz="1000" spc="-25" dirty="0">
                          <a:latin typeface="Arial MT"/>
                          <a:cs typeface="Arial MT"/>
                        </a:rPr>
                        <a:t> </a:t>
                      </a:r>
                      <a:r>
                        <a:rPr sz="1000" dirty="0">
                          <a:latin typeface="Arial MT"/>
                          <a:cs typeface="Arial MT"/>
                        </a:rPr>
                        <a:t>are</a:t>
                      </a:r>
                      <a:r>
                        <a:rPr sz="1000" spc="-20" dirty="0">
                          <a:latin typeface="Arial MT"/>
                          <a:cs typeface="Arial MT"/>
                        </a:rPr>
                        <a:t> </a:t>
                      </a:r>
                      <a:r>
                        <a:rPr sz="1000" dirty="0">
                          <a:latin typeface="Arial MT"/>
                          <a:cs typeface="Arial MT"/>
                        </a:rPr>
                        <a:t>not</a:t>
                      </a:r>
                      <a:r>
                        <a:rPr sz="1000" spc="-20" dirty="0">
                          <a:latin typeface="Arial MT"/>
                          <a:cs typeface="Arial MT"/>
                        </a:rPr>
                        <a:t> </a:t>
                      </a:r>
                      <a:r>
                        <a:rPr sz="1000" dirty="0">
                          <a:latin typeface="Arial MT"/>
                          <a:cs typeface="Arial MT"/>
                        </a:rPr>
                        <a:t>available</a:t>
                      </a:r>
                      <a:r>
                        <a:rPr sz="1000" spc="-20" dirty="0">
                          <a:latin typeface="Arial MT"/>
                          <a:cs typeface="Arial MT"/>
                        </a:rPr>
                        <a:t> </a:t>
                      </a:r>
                      <a:r>
                        <a:rPr sz="1000" dirty="0">
                          <a:latin typeface="Arial MT"/>
                          <a:cs typeface="Arial MT"/>
                        </a:rPr>
                        <a:t>in</a:t>
                      </a:r>
                      <a:r>
                        <a:rPr sz="1000" spc="-20"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dataset.</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61878">
                <a:tc>
                  <a:txBody>
                    <a:bodyPr/>
                    <a:lstStyle/>
                    <a:p>
                      <a:pPr marL="23495">
                        <a:lnSpc>
                          <a:spcPct val="100000"/>
                        </a:lnSpc>
                        <a:spcBef>
                          <a:spcPts val="150"/>
                        </a:spcBef>
                      </a:pPr>
                      <a:r>
                        <a:rPr sz="1000" spc="-10" dirty="0">
                          <a:latin typeface="Arial MT"/>
                          <a:cs typeface="Arial MT"/>
                        </a:rPr>
                        <a:t>NSGA-</a:t>
                      </a:r>
                      <a:r>
                        <a:rPr sz="1000" spc="-25" dirty="0">
                          <a:latin typeface="Arial MT"/>
                          <a:cs typeface="Arial MT"/>
                        </a:rPr>
                        <a:t>II</a:t>
                      </a:r>
                      <a:endParaRPr sz="1000">
                        <a:latin typeface="Arial MT"/>
                        <a:cs typeface="Arial MT"/>
                      </a:endParaRPr>
                    </a:p>
                  </a:txBody>
                  <a:tcPr marL="0" marR="0" marT="19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50"/>
                        </a:spcBef>
                      </a:pPr>
                      <a:r>
                        <a:rPr sz="1000" dirty="0">
                          <a:latin typeface="Arial MT"/>
                          <a:cs typeface="Arial MT"/>
                        </a:rPr>
                        <a:t>Selects</a:t>
                      </a:r>
                      <a:r>
                        <a:rPr sz="1000" spc="-15" dirty="0">
                          <a:latin typeface="Arial MT"/>
                          <a:cs typeface="Arial MT"/>
                        </a:rPr>
                        <a:t> </a:t>
                      </a:r>
                      <a:r>
                        <a:rPr sz="1000" dirty="0">
                          <a:latin typeface="Arial MT"/>
                          <a:cs typeface="Arial MT"/>
                        </a:rPr>
                        <a:t>and</a:t>
                      </a:r>
                      <a:r>
                        <a:rPr sz="1000" spc="-10" dirty="0">
                          <a:latin typeface="Arial MT"/>
                          <a:cs typeface="Arial MT"/>
                        </a:rPr>
                        <a:t> </a:t>
                      </a:r>
                      <a:r>
                        <a:rPr sz="1000" dirty="0">
                          <a:latin typeface="Arial MT"/>
                          <a:cs typeface="Arial MT"/>
                        </a:rPr>
                        <a:t>ranks</a:t>
                      </a:r>
                      <a:r>
                        <a:rPr sz="1000" spc="-15"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best</a:t>
                      </a:r>
                      <a:r>
                        <a:rPr sz="1000" spc="-10" dirty="0">
                          <a:latin typeface="Arial MT"/>
                          <a:cs typeface="Arial MT"/>
                        </a:rPr>
                        <a:t> </a:t>
                      </a:r>
                      <a:r>
                        <a:rPr sz="1000" dirty="0">
                          <a:latin typeface="Arial MT"/>
                          <a:cs typeface="Arial MT"/>
                        </a:rPr>
                        <a:t>MOFs</a:t>
                      </a:r>
                      <a:r>
                        <a:rPr sz="1000" spc="-15" dirty="0">
                          <a:latin typeface="Arial MT"/>
                          <a:cs typeface="Arial MT"/>
                        </a:rPr>
                        <a:t> </a:t>
                      </a:r>
                      <a:r>
                        <a:rPr sz="1000" dirty="0">
                          <a:latin typeface="Arial MT"/>
                          <a:cs typeface="Arial MT"/>
                        </a:rPr>
                        <a:t>by</a:t>
                      </a:r>
                      <a:r>
                        <a:rPr sz="1000" spc="-35" dirty="0">
                          <a:latin typeface="Arial MT"/>
                          <a:cs typeface="Arial MT"/>
                        </a:rPr>
                        <a:t> </a:t>
                      </a:r>
                      <a:r>
                        <a:rPr sz="1000" dirty="0">
                          <a:latin typeface="Arial MT"/>
                          <a:cs typeface="Arial MT"/>
                        </a:rPr>
                        <a:t>considering</a:t>
                      </a:r>
                      <a:r>
                        <a:rPr sz="1000" spc="-10" dirty="0">
                          <a:latin typeface="Arial MT"/>
                          <a:cs typeface="Arial MT"/>
                        </a:rPr>
                        <a:t> </a:t>
                      </a:r>
                      <a:r>
                        <a:rPr sz="1000" dirty="0">
                          <a:latin typeface="Arial MT"/>
                          <a:cs typeface="Arial MT"/>
                        </a:rPr>
                        <a:t>multiple</a:t>
                      </a:r>
                      <a:r>
                        <a:rPr sz="1000" spc="-10" dirty="0">
                          <a:latin typeface="Arial MT"/>
                          <a:cs typeface="Arial MT"/>
                        </a:rPr>
                        <a:t> </a:t>
                      </a:r>
                      <a:r>
                        <a:rPr sz="1000" dirty="0">
                          <a:latin typeface="Arial MT"/>
                          <a:cs typeface="Arial MT"/>
                        </a:rPr>
                        <a:t>properties</a:t>
                      </a:r>
                      <a:r>
                        <a:rPr sz="1000" spc="-15" dirty="0">
                          <a:latin typeface="Arial MT"/>
                          <a:cs typeface="Arial MT"/>
                        </a:rPr>
                        <a:t> </a:t>
                      </a:r>
                      <a:r>
                        <a:rPr sz="1000" dirty="0">
                          <a:latin typeface="Arial MT"/>
                          <a:cs typeface="Arial MT"/>
                        </a:rPr>
                        <a:t>together</a:t>
                      </a:r>
                      <a:r>
                        <a:rPr sz="1000" spc="-15" dirty="0">
                          <a:latin typeface="Arial MT"/>
                          <a:cs typeface="Arial MT"/>
                        </a:rPr>
                        <a:t> </a:t>
                      </a:r>
                      <a:r>
                        <a:rPr sz="1000" dirty="0">
                          <a:latin typeface="Arial MT"/>
                          <a:cs typeface="Arial MT"/>
                        </a:rPr>
                        <a:t>(e.g.,</a:t>
                      </a:r>
                      <a:r>
                        <a:rPr sz="1000" spc="20" dirty="0">
                          <a:latin typeface="Arial MT"/>
                          <a:cs typeface="Arial MT"/>
                        </a:rPr>
                        <a:t> </a:t>
                      </a:r>
                      <a:r>
                        <a:rPr sz="1000" dirty="0">
                          <a:latin typeface="Arial MT"/>
                          <a:cs typeface="Arial MT"/>
                        </a:rPr>
                        <a:t>high</a:t>
                      </a:r>
                      <a:r>
                        <a:rPr sz="1000" spc="-25" dirty="0">
                          <a:latin typeface="Arial MT"/>
                          <a:cs typeface="Arial MT"/>
                        </a:rPr>
                        <a:t> </a:t>
                      </a:r>
                      <a:r>
                        <a:rPr sz="1000" dirty="0">
                          <a:latin typeface="Arial MT"/>
                          <a:cs typeface="Arial MT"/>
                        </a:rPr>
                        <a:t>CO</a:t>
                      </a:r>
                      <a:r>
                        <a:rPr sz="1000" dirty="0">
                          <a:latin typeface="Cambria Math"/>
                          <a:cs typeface="Cambria Math"/>
                        </a:rPr>
                        <a:t>₂</a:t>
                      </a:r>
                      <a:r>
                        <a:rPr sz="1000" spc="55" dirty="0">
                          <a:latin typeface="Cambria Math"/>
                          <a:cs typeface="Cambria Math"/>
                        </a:rPr>
                        <a:t> </a:t>
                      </a:r>
                      <a:r>
                        <a:rPr sz="1000" dirty="0">
                          <a:latin typeface="Arial MT"/>
                          <a:cs typeface="Arial MT"/>
                        </a:rPr>
                        <a:t>uptake</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low</a:t>
                      </a:r>
                      <a:r>
                        <a:rPr sz="1000" spc="-20" dirty="0">
                          <a:latin typeface="Arial MT"/>
                          <a:cs typeface="Arial MT"/>
                        </a:rPr>
                        <a:t> </a:t>
                      </a:r>
                      <a:r>
                        <a:rPr sz="1000" spc="-10" dirty="0">
                          <a:latin typeface="Arial MT"/>
                          <a:cs typeface="Arial MT"/>
                        </a:rPr>
                        <a:t>density).</a:t>
                      </a:r>
                      <a:endParaRPr sz="1000">
                        <a:latin typeface="Arial MT"/>
                        <a:cs typeface="Arial MT"/>
                      </a:endParaRPr>
                    </a:p>
                  </a:txBody>
                  <a:tcPr marL="0" marR="0" marT="19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60453">
                <a:tc>
                  <a:txBody>
                    <a:bodyPr/>
                    <a:lstStyle/>
                    <a:p>
                      <a:pPr marL="23495">
                        <a:lnSpc>
                          <a:spcPct val="100000"/>
                        </a:lnSpc>
                        <a:spcBef>
                          <a:spcPts val="140"/>
                        </a:spcBef>
                      </a:pPr>
                      <a:r>
                        <a:rPr sz="1000" spc="-20" dirty="0">
                          <a:latin typeface="Arial MT"/>
                          <a:cs typeface="Arial MT"/>
                        </a:rPr>
                        <a:t>SHAP</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Explains</a:t>
                      </a:r>
                      <a:r>
                        <a:rPr sz="1000" spc="-10" dirty="0">
                          <a:latin typeface="Arial MT"/>
                          <a:cs typeface="Arial MT"/>
                        </a:rPr>
                        <a:t> </a:t>
                      </a:r>
                      <a:r>
                        <a:rPr sz="1000" dirty="0">
                          <a:latin typeface="Arial MT"/>
                          <a:cs typeface="Arial MT"/>
                        </a:rPr>
                        <a:t>why</a:t>
                      </a:r>
                      <a:r>
                        <a:rPr sz="1000" spc="-25" dirty="0">
                          <a:latin typeface="Arial MT"/>
                          <a:cs typeface="Arial MT"/>
                        </a:rPr>
                        <a:t> </a:t>
                      </a:r>
                      <a:r>
                        <a:rPr sz="1000" dirty="0">
                          <a:latin typeface="Arial MT"/>
                          <a:cs typeface="Arial MT"/>
                        </a:rPr>
                        <a:t>a</a:t>
                      </a:r>
                      <a:r>
                        <a:rPr sz="1000" spc="-20" dirty="0">
                          <a:latin typeface="Arial MT"/>
                          <a:cs typeface="Arial MT"/>
                        </a:rPr>
                        <a:t> </a:t>
                      </a:r>
                      <a:r>
                        <a:rPr sz="1000" dirty="0">
                          <a:latin typeface="Arial MT"/>
                          <a:cs typeface="Arial MT"/>
                        </a:rPr>
                        <a:t>particular</a:t>
                      </a:r>
                      <a:r>
                        <a:rPr sz="1000" spc="-20" dirty="0">
                          <a:latin typeface="Arial MT"/>
                          <a:cs typeface="Arial MT"/>
                        </a:rPr>
                        <a:t> </a:t>
                      </a:r>
                      <a:r>
                        <a:rPr sz="1000" dirty="0">
                          <a:latin typeface="Arial MT"/>
                          <a:cs typeface="Arial MT"/>
                        </a:rPr>
                        <a:t>MOF</a:t>
                      </a:r>
                      <a:r>
                        <a:rPr sz="1000" spc="-15" dirty="0">
                          <a:latin typeface="Arial MT"/>
                          <a:cs typeface="Arial MT"/>
                        </a:rPr>
                        <a:t> </a:t>
                      </a:r>
                      <a:r>
                        <a:rPr sz="1000" dirty="0">
                          <a:latin typeface="Arial MT"/>
                          <a:cs typeface="Arial MT"/>
                        </a:rPr>
                        <a:t>was</a:t>
                      </a:r>
                      <a:r>
                        <a:rPr sz="1000" spc="-15" dirty="0">
                          <a:latin typeface="Arial MT"/>
                          <a:cs typeface="Arial MT"/>
                        </a:rPr>
                        <a:t> </a:t>
                      </a:r>
                      <a:r>
                        <a:rPr sz="1000" dirty="0">
                          <a:latin typeface="Arial MT"/>
                          <a:cs typeface="Arial MT"/>
                        </a:rPr>
                        <a:t>recommended</a:t>
                      </a:r>
                      <a:r>
                        <a:rPr sz="1000" spc="-25" dirty="0">
                          <a:latin typeface="Arial MT"/>
                          <a:cs typeface="Arial MT"/>
                        </a:rPr>
                        <a:t> </a:t>
                      </a:r>
                      <a:r>
                        <a:rPr sz="1000" dirty="0">
                          <a:latin typeface="Arial MT"/>
                          <a:cs typeface="Arial MT"/>
                        </a:rPr>
                        <a:t>by</a:t>
                      </a:r>
                      <a:r>
                        <a:rPr sz="1000" spc="-30" dirty="0">
                          <a:latin typeface="Arial MT"/>
                          <a:cs typeface="Arial MT"/>
                        </a:rPr>
                        <a:t> </a:t>
                      </a:r>
                      <a:r>
                        <a:rPr sz="1000" dirty="0">
                          <a:latin typeface="Arial MT"/>
                          <a:cs typeface="Arial MT"/>
                        </a:rPr>
                        <a:t>showing</a:t>
                      </a:r>
                      <a:r>
                        <a:rPr sz="1000" spc="-20" dirty="0">
                          <a:latin typeface="Arial MT"/>
                          <a:cs typeface="Arial MT"/>
                        </a:rPr>
                        <a:t> </a:t>
                      </a:r>
                      <a:r>
                        <a:rPr sz="1000" dirty="0">
                          <a:latin typeface="Arial MT"/>
                          <a:cs typeface="Arial MT"/>
                        </a:rPr>
                        <a:t>which</a:t>
                      </a:r>
                      <a:r>
                        <a:rPr sz="1000" spc="-20" dirty="0">
                          <a:latin typeface="Arial MT"/>
                          <a:cs typeface="Arial MT"/>
                        </a:rPr>
                        <a:t> </a:t>
                      </a:r>
                      <a:r>
                        <a:rPr sz="1000" dirty="0">
                          <a:latin typeface="Arial MT"/>
                          <a:cs typeface="Arial MT"/>
                        </a:rPr>
                        <a:t>features were</a:t>
                      </a:r>
                      <a:r>
                        <a:rPr sz="1000" spc="-20" dirty="0">
                          <a:latin typeface="Arial MT"/>
                          <a:cs typeface="Arial MT"/>
                        </a:rPr>
                        <a:t> </a:t>
                      </a:r>
                      <a:r>
                        <a:rPr sz="1000" dirty="0">
                          <a:latin typeface="Arial MT"/>
                          <a:cs typeface="Arial MT"/>
                        </a:rPr>
                        <a:t>most</a:t>
                      </a:r>
                      <a:r>
                        <a:rPr sz="1000" spc="-20" dirty="0">
                          <a:latin typeface="Arial MT"/>
                          <a:cs typeface="Arial MT"/>
                        </a:rPr>
                        <a:t> </a:t>
                      </a:r>
                      <a:r>
                        <a:rPr sz="1000" spc="-10" dirty="0">
                          <a:latin typeface="Arial MT"/>
                          <a:cs typeface="Arial MT"/>
                        </a:rPr>
                        <a:t>important.</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547090">
                <a:tc>
                  <a:txBody>
                    <a:bodyPr/>
                    <a:lstStyle/>
                    <a:p>
                      <a:pPr marL="23495">
                        <a:lnSpc>
                          <a:spcPct val="100000"/>
                        </a:lnSpc>
                        <a:spcBef>
                          <a:spcPts val="790"/>
                        </a:spcBef>
                      </a:pPr>
                      <a:r>
                        <a:rPr sz="1000" spc="-10" dirty="0">
                          <a:latin typeface="Arial MT"/>
                          <a:cs typeface="Arial MT"/>
                        </a:rPr>
                        <a:t>LangChain</a:t>
                      </a:r>
                      <a:endParaRPr sz="1000">
                        <a:latin typeface="Arial MT"/>
                        <a:cs typeface="Arial MT"/>
                      </a:endParaRPr>
                    </a:p>
                  </a:txBody>
                  <a:tcPr marL="0" marR="0" marT="1003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marR="33655">
                        <a:lnSpc>
                          <a:spcPct val="110000"/>
                        </a:lnSpc>
                        <a:spcBef>
                          <a:spcPts val="10"/>
                        </a:spcBef>
                      </a:pPr>
                      <a:r>
                        <a:rPr sz="1000" dirty="0">
                          <a:latin typeface="Arial MT"/>
                          <a:cs typeface="Arial MT"/>
                        </a:rPr>
                        <a:t>Connects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LLM with</a:t>
                      </a:r>
                      <a:r>
                        <a:rPr sz="1000" spc="-20" dirty="0">
                          <a:latin typeface="Arial MT"/>
                          <a:cs typeface="Arial MT"/>
                        </a:rPr>
                        <a:t> </a:t>
                      </a:r>
                      <a:r>
                        <a:rPr sz="1000" dirty="0">
                          <a:latin typeface="Arial MT"/>
                          <a:cs typeface="Arial MT"/>
                        </a:rPr>
                        <a:t>the</a:t>
                      </a:r>
                      <a:r>
                        <a:rPr sz="1000" spc="-5" dirty="0">
                          <a:latin typeface="Arial MT"/>
                          <a:cs typeface="Arial MT"/>
                        </a:rPr>
                        <a:t> </a:t>
                      </a:r>
                      <a:r>
                        <a:rPr sz="1000" dirty="0">
                          <a:latin typeface="Arial MT"/>
                          <a:cs typeface="Arial MT"/>
                        </a:rPr>
                        <a:t>database,</a:t>
                      </a:r>
                      <a:r>
                        <a:rPr sz="1000" spc="-10" dirty="0">
                          <a:latin typeface="Arial MT"/>
                          <a:cs typeface="Arial MT"/>
                        </a:rPr>
                        <a:t> </a:t>
                      </a:r>
                      <a:r>
                        <a:rPr sz="1000" dirty="0">
                          <a:latin typeface="Arial MT"/>
                          <a:cs typeface="Arial MT"/>
                        </a:rPr>
                        <a:t>vector</a:t>
                      </a:r>
                      <a:r>
                        <a:rPr sz="1000" spc="-20" dirty="0">
                          <a:latin typeface="Arial MT"/>
                          <a:cs typeface="Arial MT"/>
                        </a:rPr>
                        <a:t> </a:t>
                      </a:r>
                      <a:r>
                        <a:rPr sz="1000" dirty="0">
                          <a:latin typeface="Arial MT"/>
                          <a:cs typeface="Arial MT"/>
                        </a:rPr>
                        <a:t>search,</a:t>
                      </a:r>
                      <a:r>
                        <a:rPr sz="1000" spc="-20" dirty="0">
                          <a:latin typeface="Arial MT"/>
                          <a:cs typeface="Arial MT"/>
                        </a:rPr>
                        <a:t> </a:t>
                      </a:r>
                      <a:r>
                        <a:rPr sz="1000" dirty="0">
                          <a:latin typeface="Arial MT"/>
                          <a:cs typeface="Arial MT"/>
                        </a:rPr>
                        <a:t>prediction</a:t>
                      </a:r>
                      <a:r>
                        <a:rPr sz="1000" spc="-20" dirty="0">
                          <a:latin typeface="Arial MT"/>
                          <a:cs typeface="Arial MT"/>
                        </a:rPr>
                        <a:t> </a:t>
                      </a:r>
                      <a:r>
                        <a:rPr sz="1000" dirty="0">
                          <a:latin typeface="Arial MT"/>
                          <a:cs typeface="Arial MT"/>
                        </a:rPr>
                        <a:t>model,</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optimization</a:t>
                      </a:r>
                      <a:r>
                        <a:rPr sz="1000" spc="-15" dirty="0">
                          <a:latin typeface="Arial MT"/>
                          <a:cs typeface="Arial MT"/>
                        </a:rPr>
                        <a:t> </a:t>
                      </a:r>
                      <a:r>
                        <a:rPr sz="1000" dirty="0">
                          <a:latin typeface="Arial MT"/>
                          <a:cs typeface="Arial MT"/>
                        </a:rPr>
                        <a:t>module.</a:t>
                      </a:r>
                      <a:r>
                        <a:rPr sz="1000" spc="-10" dirty="0">
                          <a:latin typeface="Arial MT"/>
                          <a:cs typeface="Arial MT"/>
                        </a:rPr>
                        <a:t> </a:t>
                      </a:r>
                      <a:r>
                        <a:rPr sz="1000" dirty="0">
                          <a:latin typeface="Arial MT"/>
                          <a:cs typeface="Arial MT"/>
                        </a:rPr>
                        <a:t>It</a:t>
                      </a:r>
                      <a:r>
                        <a:rPr sz="1000" spc="-20" dirty="0">
                          <a:latin typeface="Arial MT"/>
                          <a:cs typeface="Arial MT"/>
                        </a:rPr>
                        <a:t> </a:t>
                      </a:r>
                      <a:r>
                        <a:rPr sz="1000" dirty="0">
                          <a:latin typeface="Arial MT"/>
                          <a:cs typeface="Arial MT"/>
                        </a:rPr>
                        <a:t>manages</a:t>
                      </a:r>
                      <a:r>
                        <a:rPr sz="1000" spc="-15"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complete workflow.</a:t>
                      </a:r>
                      <a:endParaRPr sz="1000">
                        <a:latin typeface="Arial MT"/>
                        <a:cs typeface="Arial MT"/>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59029">
                <a:tc>
                  <a:txBody>
                    <a:bodyPr/>
                    <a:lstStyle/>
                    <a:p>
                      <a:pPr marL="23495">
                        <a:lnSpc>
                          <a:spcPct val="100000"/>
                        </a:lnSpc>
                        <a:spcBef>
                          <a:spcPts val="140"/>
                        </a:spcBef>
                      </a:pPr>
                      <a:r>
                        <a:rPr sz="1000" spc="-10" dirty="0">
                          <a:latin typeface="Arial MT"/>
                          <a:cs typeface="Arial MT"/>
                        </a:rPr>
                        <a:t>Pandas</a:t>
                      </a:r>
                      <a:endParaRPr sz="1000" dirty="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Cleans,</a:t>
                      </a:r>
                      <a:r>
                        <a:rPr sz="1000" spc="-20" dirty="0">
                          <a:latin typeface="Arial MT"/>
                          <a:cs typeface="Arial MT"/>
                        </a:rPr>
                        <a:t> </a:t>
                      </a:r>
                      <a:r>
                        <a:rPr sz="1000" dirty="0">
                          <a:latin typeface="Arial MT"/>
                          <a:cs typeface="Arial MT"/>
                        </a:rPr>
                        <a:t>processes,</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prepares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hMOF dataset</a:t>
                      </a:r>
                      <a:r>
                        <a:rPr sz="1000" spc="-20" dirty="0">
                          <a:latin typeface="Arial MT"/>
                          <a:cs typeface="Arial MT"/>
                        </a:rPr>
                        <a:t> </a:t>
                      </a:r>
                      <a:r>
                        <a:rPr sz="1000" dirty="0">
                          <a:latin typeface="Arial MT"/>
                          <a:cs typeface="Arial MT"/>
                        </a:rPr>
                        <a:t>for</a:t>
                      </a:r>
                      <a:r>
                        <a:rPr sz="1000" spc="-20" dirty="0">
                          <a:latin typeface="Arial MT"/>
                          <a:cs typeface="Arial MT"/>
                        </a:rPr>
                        <a:t> </a:t>
                      </a:r>
                      <a:r>
                        <a:rPr sz="1000" dirty="0">
                          <a:latin typeface="Arial MT"/>
                          <a:cs typeface="Arial MT"/>
                        </a:rPr>
                        <a:t>analysis</a:t>
                      </a:r>
                      <a:r>
                        <a:rPr sz="1000" spc="-10" dirty="0">
                          <a:latin typeface="Arial MT"/>
                          <a:cs typeface="Arial MT"/>
                        </a:rPr>
                        <a:t> </a:t>
                      </a:r>
                      <a:r>
                        <a:rPr sz="1000" dirty="0">
                          <a:latin typeface="Arial MT"/>
                          <a:cs typeface="Arial MT"/>
                        </a:rPr>
                        <a:t>and</a:t>
                      </a:r>
                      <a:r>
                        <a:rPr sz="1000" spc="-10" dirty="0">
                          <a:latin typeface="Arial MT"/>
                          <a:cs typeface="Arial MT"/>
                        </a:rPr>
                        <a:t> prediction.</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58316">
                <a:tc>
                  <a:txBody>
                    <a:bodyPr/>
                    <a:lstStyle/>
                    <a:p>
                      <a:pPr marL="23495">
                        <a:lnSpc>
                          <a:spcPct val="100000"/>
                        </a:lnSpc>
                        <a:spcBef>
                          <a:spcPts val="140"/>
                        </a:spcBef>
                      </a:pPr>
                      <a:r>
                        <a:rPr sz="1000" spc="-10" dirty="0">
                          <a:latin typeface="Arial MT"/>
                          <a:cs typeface="Arial MT"/>
                        </a:rPr>
                        <a:t>PyTorch</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Used</a:t>
                      </a:r>
                      <a:r>
                        <a:rPr sz="1000" spc="-20" dirty="0">
                          <a:latin typeface="Arial MT"/>
                          <a:cs typeface="Arial MT"/>
                        </a:rPr>
                        <a:t> </a:t>
                      </a:r>
                      <a:r>
                        <a:rPr sz="1000" dirty="0">
                          <a:latin typeface="Arial MT"/>
                          <a:cs typeface="Arial MT"/>
                        </a:rPr>
                        <a:t>to</a:t>
                      </a:r>
                      <a:r>
                        <a:rPr sz="1000" spc="-10" dirty="0">
                          <a:latin typeface="Arial MT"/>
                          <a:cs typeface="Arial MT"/>
                        </a:rPr>
                        <a:t> </a:t>
                      </a:r>
                      <a:r>
                        <a:rPr sz="1000" dirty="0">
                          <a:latin typeface="Arial MT"/>
                          <a:cs typeface="Arial MT"/>
                        </a:rPr>
                        <a:t>build and</a:t>
                      </a:r>
                      <a:r>
                        <a:rPr sz="1000" spc="-15" dirty="0">
                          <a:latin typeface="Arial MT"/>
                          <a:cs typeface="Arial MT"/>
                        </a:rPr>
                        <a:t> </a:t>
                      </a:r>
                      <a:r>
                        <a:rPr sz="1000" dirty="0">
                          <a:latin typeface="Arial MT"/>
                          <a:cs typeface="Arial MT"/>
                        </a:rPr>
                        <a:t>run the</a:t>
                      </a:r>
                      <a:r>
                        <a:rPr sz="1000" spc="-20" dirty="0">
                          <a:latin typeface="Arial MT"/>
                          <a:cs typeface="Arial MT"/>
                        </a:rPr>
                        <a:t> </a:t>
                      </a:r>
                      <a:r>
                        <a:rPr sz="1000" spc="-25" dirty="0">
                          <a:latin typeface="Arial MT"/>
                          <a:cs typeface="Arial MT"/>
                        </a:rPr>
                        <a:t>FT-</a:t>
                      </a:r>
                      <a:r>
                        <a:rPr sz="1000" spc="-10" dirty="0">
                          <a:latin typeface="Arial MT"/>
                          <a:cs typeface="Arial MT"/>
                        </a:rPr>
                        <a:t>Transformer </a:t>
                      </a:r>
                      <a:r>
                        <a:rPr sz="1000" dirty="0">
                          <a:latin typeface="Arial MT"/>
                          <a:cs typeface="Arial MT"/>
                        </a:rPr>
                        <a:t>prediction</a:t>
                      </a:r>
                      <a:r>
                        <a:rPr sz="1000" spc="-20" dirty="0">
                          <a:latin typeface="Arial MT"/>
                          <a:cs typeface="Arial MT"/>
                        </a:rPr>
                        <a:t> </a:t>
                      </a:r>
                      <a:r>
                        <a:rPr sz="1000" spc="-10" dirty="0">
                          <a:latin typeface="Arial MT"/>
                          <a:cs typeface="Arial MT"/>
                        </a:rPr>
                        <a:t>model.</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60453">
                <a:tc>
                  <a:txBody>
                    <a:bodyPr/>
                    <a:lstStyle/>
                    <a:p>
                      <a:pPr marL="23495">
                        <a:lnSpc>
                          <a:spcPct val="100000"/>
                        </a:lnSpc>
                        <a:spcBef>
                          <a:spcPts val="140"/>
                        </a:spcBef>
                      </a:pPr>
                      <a:r>
                        <a:rPr sz="1000" spc="-10" dirty="0">
                          <a:latin typeface="Arial MT"/>
                          <a:cs typeface="Arial MT"/>
                        </a:rPr>
                        <a:t>Streamlit</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Creates</a:t>
                      </a:r>
                      <a:r>
                        <a:rPr sz="1000" spc="-20"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web</a:t>
                      </a:r>
                      <a:r>
                        <a:rPr sz="1000" spc="-10" dirty="0">
                          <a:latin typeface="Arial MT"/>
                          <a:cs typeface="Arial MT"/>
                        </a:rPr>
                        <a:t> </a:t>
                      </a:r>
                      <a:r>
                        <a:rPr sz="1000" dirty="0">
                          <a:latin typeface="Arial MT"/>
                          <a:cs typeface="Arial MT"/>
                        </a:rPr>
                        <a:t>interface</a:t>
                      </a:r>
                      <a:r>
                        <a:rPr sz="1000" spc="-10" dirty="0">
                          <a:latin typeface="Arial MT"/>
                          <a:cs typeface="Arial MT"/>
                        </a:rPr>
                        <a:t> </a:t>
                      </a:r>
                      <a:r>
                        <a:rPr sz="1000" dirty="0">
                          <a:latin typeface="Arial MT"/>
                          <a:cs typeface="Arial MT"/>
                        </a:rPr>
                        <a:t>where</a:t>
                      </a:r>
                      <a:r>
                        <a:rPr sz="1000" spc="-20" dirty="0">
                          <a:latin typeface="Arial MT"/>
                          <a:cs typeface="Arial MT"/>
                        </a:rPr>
                        <a:t> </a:t>
                      </a:r>
                      <a:r>
                        <a:rPr sz="1000" dirty="0">
                          <a:latin typeface="Arial MT"/>
                          <a:cs typeface="Arial MT"/>
                        </a:rPr>
                        <a:t>users</a:t>
                      </a:r>
                      <a:r>
                        <a:rPr sz="1000" spc="-10" dirty="0">
                          <a:latin typeface="Arial MT"/>
                          <a:cs typeface="Arial MT"/>
                        </a:rPr>
                        <a:t> </a:t>
                      </a:r>
                      <a:r>
                        <a:rPr sz="1000" dirty="0">
                          <a:latin typeface="Arial MT"/>
                          <a:cs typeface="Arial MT"/>
                        </a:rPr>
                        <a:t>can</a:t>
                      </a:r>
                      <a:r>
                        <a:rPr sz="1000" spc="-25" dirty="0">
                          <a:latin typeface="Arial MT"/>
                          <a:cs typeface="Arial MT"/>
                        </a:rPr>
                        <a:t> </a:t>
                      </a:r>
                      <a:r>
                        <a:rPr sz="1000" dirty="0">
                          <a:latin typeface="Arial MT"/>
                          <a:cs typeface="Arial MT"/>
                        </a:rPr>
                        <a:t>chat</a:t>
                      </a:r>
                      <a:r>
                        <a:rPr sz="1000" spc="-10" dirty="0">
                          <a:latin typeface="Arial MT"/>
                          <a:cs typeface="Arial MT"/>
                        </a:rPr>
                        <a:t> </a:t>
                      </a:r>
                      <a:r>
                        <a:rPr sz="1000" dirty="0">
                          <a:latin typeface="Arial MT"/>
                          <a:cs typeface="Arial MT"/>
                        </a:rPr>
                        <a:t>with</a:t>
                      </a:r>
                      <a:r>
                        <a:rPr sz="1000" spc="-10" dirty="0">
                          <a:latin typeface="Arial MT"/>
                          <a:cs typeface="Arial MT"/>
                        </a:rPr>
                        <a:t> </a:t>
                      </a:r>
                      <a:r>
                        <a:rPr sz="1000" dirty="0">
                          <a:latin typeface="Arial MT"/>
                          <a:cs typeface="Arial MT"/>
                        </a:rPr>
                        <a:t>the</a:t>
                      </a:r>
                      <a:r>
                        <a:rPr sz="1000" spc="-25" dirty="0">
                          <a:latin typeface="Arial MT"/>
                          <a:cs typeface="Arial MT"/>
                        </a:rPr>
                        <a:t> </a:t>
                      </a:r>
                      <a:r>
                        <a:rPr sz="1000" dirty="0">
                          <a:latin typeface="Arial MT"/>
                          <a:cs typeface="Arial MT"/>
                        </a:rPr>
                        <a:t>system and</a:t>
                      </a:r>
                      <a:r>
                        <a:rPr sz="1000" spc="-10" dirty="0">
                          <a:latin typeface="Arial MT"/>
                          <a:cs typeface="Arial MT"/>
                        </a:rPr>
                        <a:t> </a:t>
                      </a:r>
                      <a:r>
                        <a:rPr sz="1000" dirty="0">
                          <a:latin typeface="Arial MT"/>
                          <a:cs typeface="Arial MT"/>
                        </a:rPr>
                        <a:t>view </a:t>
                      </a:r>
                      <a:r>
                        <a:rPr sz="1000" spc="-10" dirty="0">
                          <a:latin typeface="Arial MT"/>
                          <a:cs typeface="Arial MT"/>
                        </a:rPr>
                        <a:t>recommendations.</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58316">
                <a:tc>
                  <a:txBody>
                    <a:bodyPr/>
                    <a:lstStyle/>
                    <a:p>
                      <a:pPr marL="23495">
                        <a:lnSpc>
                          <a:spcPct val="100000"/>
                        </a:lnSpc>
                        <a:spcBef>
                          <a:spcPts val="125"/>
                        </a:spcBef>
                      </a:pPr>
                      <a:r>
                        <a:rPr sz="1000" dirty="0">
                          <a:latin typeface="Arial MT"/>
                          <a:cs typeface="Arial MT"/>
                        </a:rPr>
                        <a:t>Matplotlib</a:t>
                      </a:r>
                      <a:r>
                        <a:rPr sz="1000" spc="-30" dirty="0">
                          <a:latin typeface="Arial MT"/>
                          <a:cs typeface="Arial MT"/>
                        </a:rPr>
                        <a:t> </a:t>
                      </a:r>
                      <a:r>
                        <a:rPr sz="1000" dirty="0">
                          <a:latin typeface="Arial MT"/>
                          <a:cs typeface="Arial MT"/>
                        </a:rPr>
                        <a:t>/</a:t>
                      </a:r>
                      <a:r>
                        <a:rPr sz="1000" spc="-20" dirty="0">
                          <a:latin typeface="Arial MT"/>
                          <a:cs typeface="Arial MT"/>
                        </a:rPr>
                        <a:t> </a:t>
                      </a:r>
                      <a:r>
                        <a:rPr sz="1000" spc="-10" dirty="0">
                          <a:latin typeface="Arial MT"/>
                          <a:cs typeface="Arial MT"/>
                        </a:rPr>
                        <a:t>Plotly</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Displays</a:t>
                      </a:r>
                      <a:r>
                        <a:rPr sz="1000" spc="-15" dirty="0">
                          <a:latin typeface="Arial MT"/>
                          <a:cs typeface="Arial MT"/>
                        </a:rPr>
                        <a:t> </a:t>
                      </a:r>
                      <a:r>
                        <a:rPr sz="1000" dirty="0">
                          <a:latin typeface="Arial MT"/>
                          <a:cs typeface="Arial MT"/>
                        </a:rPr>
                        <a:t>graphs,</a:t>
                      </a:r>
                      <a:r>
                        <a:rPr sz="1000" spc="-15" dirty="0">
                          <a:latin typeface="Arial MT"/>
                          <a:cs typeface="Arial MT"/>
                        </a:rPr>
                        <a:t> </a:t>
                      </a:r>
                      <a:r>
                        <a:rPr sz="1000" dirty="0">
                          <a:latin typeface="Arial MT"/>
                          <a:cs typeface="Arial MT"/>
                        </a:rPr>
                        <a:t>charts,</a:t>
                      </a:r>
                      <a:r>
                        <a:rPr sz="1000" spc="-15" dirty="0">
                          <a:latin typeface="Arial MT"/>
                          <a:cs typeface="Arial MT"/>
                        </a:rPr>
                        <a:t> </a:t>
                      </a:r>
                      <a:r>
                        <a:rPr sz="1000" dirty="0">
                          <a:latin typeface="Arial MT"/>
                          <a:cs typeface="Arial MT"/>
                        </a:rPr>
                        <a:t>and</a:t>
                      </a:r>
                      <a:r>
                        <a:rPr sz="1000" spc="-15" dirty="0">
                          <a:latin typeface="Arial MT"/>
                          <a:cs typeface="Arial MT"/>
                        </a:rPr>
                        <a:t> </a:t>
                      </a:r>
                      <a:r>
                        <a:rPr sz="1000" dirty="0">
                          <a:latin typeface="Arial MT"/>
                          <a:cs typeface="Arial MT"/>
                        </a:rPr>
                        <a:t>recommendation</a:t>
                      </a:r>
                      <a:r>
                        <a:rPr sz="1000" spc="-20" dirty="0">
                          <a:latin typeface="Arial MT"/>
                          <a:cs typeface="Arial MT"/>
                        </a:rPr>
                        <a:t> </a:t>
                      </a:r>
                      <a:r>
                        <a:rPr sz="1000" dirty="0">
                          <a:latin typeface="Arial MT"/>
                          <a:cs typeface="Arial MT"/>
                        </a:rPr>
                        <a:t>results in</a:t>
                      </a:r>
                      <a:r>
                        <a:rPr sz="1000" spc="-15" dirty="0">
                          <a:latin typeface="Arial MT"/>
                          <a:cs typeface="Arial MT"/>
                        </a:rPr>
                        <a:t> </a:t>
                      </a:r>
                      <a:r>
                        <a:rPr sz="1000" dirty="0">
                          <a:latin typeface="Arial MT"/>
                          <a:cs typeface="Arial MT"/>
                        </a:rPr>
                        <a:t>an</a:t>
                      </a:r>
                      <a:r>
                        <a:rPr sz="1000" spc="-10" dirty="0">
                          <a:latin typeface="Arial MT"/>
                          <a:cs typeface="Arial MT"/>
                        </a:rPr>
                        <a:t> easy-to-</a:t>
                      </a:r>
                      <a:r>
                        <a:rPr sz="1000" dirty="0">
                          <a:latin typeface="Arial MT"/>
                          <a:cs typeface="Arial MT"/>
                        </a:rPr>
                        <a:t>understand</a:t>
                      </a:r>
                      <a:r>
                        <a:rPr sz="1000" spc="5" dirty="0">
                          <a:latin typeface="Arial MT"/>
                          <a:cs typeface="Arial MT"/>
                        </a:rPr>
                        <a:t> </a:t>
                      </a:r>
                      <a:r>
                        <a:rPr sz="1000" spc="-20" dirty="0">
                          <a:latin typeface="Arial MT"/>
                          <a:cs typeface="Arial MT"/>
                        </a:rPr>
                        <a:t>way.</a:t>
                      </a:r>
                      <a:endParaRPr sz="10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bl>
          </a:graphicData>
        </a:graphic>
      </p:graphicFrame>
      <p:grpSp>
        <p:nvGrpSpPr>
          <p:cNvPr id="3" name="object 3"/>
          <p:cNvGrpSpPr/>
          <p:nvPr/>
        </p:nvGrpSpPr>
        <p:grpSpPr>
          <a:xfrm>
            <a:off x="914400" y="5893054"/>
            <a:ext cx="189230" cy="646430"/>
            <a:chOff x="914400" y="5893054"/>
            <a:chExt cx="189230" cy="646430"/>
          </a:xfrm>
        </p:grpSpPr>
        <p:pic>
          <p:nvPicPr>
            <p:cNvPr id="4" name="object 4"/>
            <p:cNvPicPr/>
            <p:nvPr/>
          </p:nvPicPr>
          <p:blipFill>
            <a:blip r:embed="rId2" cstate="print"/>
            <a:stretch>
              <a:fillRect/>
            </a:stretch>
          </p:blipFill>
          <p:spPr>
            <a:xfrm>
              <a:off x="914400" y="5893054"/>
              <a:ext cx="188975" cy="141732"/>
            </a:xfrm>
            <a:prstGeom prst="rect">
              <a:avLst/>
            </a:prstGeom>
          </p:spPr>
        </p:pic>
        <p:pic>
          <p:nvPicPr>
            <p:cNvPr id="5" name="object 5"/>
            <p:cNvPicPr/>
            <p:nvPr/>
          </p:nvPicPr>
          <p:blipFill>
            <a:blip r:embed="rId2" cstate="print"/>
            <a:stretch>
              <a:fillRect/>
            </a:stretch>
          </p:blipFill>
          <p:spPr>
            <a:xfrm>
              <a:off x="914400" y="6060694"/>
              <a:ext cx="188975" cy="141731"/>
            </a:xfrm>
            <a:prstGeom prst="rect">
              <a:avLst/>
            </a:prstGeom>
          </p:spPr>
        </p:pic>
        <p:pic>
          <p:nvPicPr>
            <p:cNvPr id="6" name="object 6"/>
            <p:cNvPicPr/>
            <p:nvPr/>
          </p:nvPicPr>
          <p:blipFill>
            <a:blip r:embed="rId2" cstate="print"/>
            <a:stretch>
              <a:fillRect/>
            </a:stretch>
          </p:blipFill>
          <p:spPr>
            <a:xfrm>
              <a:off x="914400" y="6228283"/>
              <a:ext cx="188975" cy="141731"/>
            </a:xfrm>
            <a:prstGeom prst="rect">
              <a:avLst/>
            </a:prstGeom>
          </p:spPr>
        </p:pic>
        <p:pic>
          <p:nvPicPr>
            <p:cNvPr id="7" name="object 7"/>
            <p:cNvPicPr/>
            <p:nvPr/>
          </p:nvPicPr>
          <p:blipFill>
            <a:blip r:embed="rId2" cstate="print"/>
            <a:stretch>
              <a:fillRect/>
            </a:stretch>
          </p:blipFill>
          <p:spPr>
            <a:xfrm>
              <a:off x="914400" y="6397447"/>
              <a:ext cx="188975" cy="141731"/>
            </a:xfrm>
            <a:prstGeom prst="rect">
              <a:avLst/>
            </a:prstGeom>
          </p:spPr>
        </p:pic>
      </p:grpSp>
      <p:sp>
        <p:nvSpPr>
          <p:cNvPr id="8" name="object 8"/>
          <p:cNvSpPr txBox="1"/>
          <p:nvPr/>
        </p:nvSpPr>
        <p:spPr>
          <a:xfrm>
            <a:off x="109483" y="6026344"/>
            <a:ext cx="3298825" cy="1359346"/>
          </a:xfrm>
          <a:prstGeom prst="rect">
            <a:avLst/>
          </a:prstGeom>
        </p:spPr>
        <p:txBody>
          <a:bodyPr vert="horz" wrap="square" lIns="0" tIns="27940" rIns="0" bIns="0" rtlCol="0">
            <a:spAutoFit/>
          </a:bodyPr>
          <a:lstStyle/>
          <a:p>
            <a:pPr marL="12700">
              <a:lnSpc>
                <a:spcPct val="100000"/>
              </a:lnSpc>
              <a:spcBef>
                <a:spcPts val="220"/>
              </a:spcBef>
            </a:pPr>
            <a:r>
              <a:rPr sz="1400" b="1" dirty="0">
                <a:latin typeface="Arial"/>
                <a:cs typeface="Arial"/>
              </a:rPr>
              <a:t>LLM </a:t>
            </a:r>
            <a:r>
              <a:rPr sz="1400" dirty="0">
                <a:latin typeface="Arial MT"/>
                <a:cs typeface="Arial MT"/>
              </a:rPr>
              <a:t>→</a:t>
            </a:r>
            <a:r>
              <a:rPr sz="1400" spc="-20" dirty="0">
                <a:latin typeface="Arial MT"/>
                <a:cs typeface="Arial MT"/>
              </a:rPr>
              <a:t> </a:t>
            </a:r>
            <a:r>
              <a:rPr sz="1400" dirty="0">
                <a:latin typeface="Arial MT"/>
                <a:cs typeface="Arial MT"/>
              </a:rPr>
              <a:t>Understands</a:t>
            </a:r>
            <a:r>
              <a:rPr sz="1400" spc="-10" dirty="0">
                <a:latin typeface="Arial MT"/>
                <a:cs typeface="Arial MT"/>
              </a:rPr>
              <a:t> </a:t>
            </a:r>
            <a:r>
              <a:rPr sz="1400" dirty="0">
                <a:latin typeface="Arial MT"/>
                <a:cs typeface="Arial MT"/>
              </a:rPr>
              <a:t>the</a:t>
            </a:r>
            <a:r>
              <a:rPr sz="1400" spc="-15" dirty="0">
                <a:latin typeface="Arial MT"/>
                <a:cs typeface="Arial MT"/>
              </a:rPr>
              <a:t> </a:t>
            </a:r>
            <a:r>
              <a:rPr sz="1400" dirty="0">
                <a:latin typeface="Arial MT"/>
                <a:cs typeface="Arial MT"/>
              </a:rPr>
              <a:t>user's</a:t>
            </a:r>
            <a:r>
              <a:rPr sz="1400" spc="-15" dirty="0">
                <a:latin typeface="Arial MT"/>
                <a:cs typeface="Arial MT"/>
              </a:rPr>
              <a:t> </a:t>
            </a:r>
            <a:r>
              <a:rPr sz="1400" spc="-10" dirty="0">
                <a:latin typeface="Arial MT"/>
                <a:cs typeface="Arial MT"/>
              </a:rPr>
              <a:t>question.</a:t>
            </a:r>
            <a:endParaRPr sz="1400" dirty="0">
              <a:latin typeface="Arial MT"/>
              <a:cs typeface="Arial MT"/>
            </a:endParaRPr>
          </a:p>
          <a:p>
            <a:pPr marL="12700">
              <a:lnSpc>
                <a:spcPct val="100000"/>
              </a:lnSpc>
              <a:spcBef>
                <a:spcPts val="120"/>
              </a:spcBef>
            </a:pPr>
            <a:r>
              <a:rPr sz="1400" b="1" spc="-10" dirty="0">
                <a:latin typeface="Arial"/>
                <a:cs typeface="Arial"/>
              </a:rPr>
              <a:t>Sentence-</a:t>
            </a:r>
            <a:r>
              <a:rPr sz="1400" b="1" dirty="0">
                <a:latin typeface="Arial"/>
                <a:cs typeface="Arial"/>
              </a:rPr>
              <a:t>BERT</a:t>
            </a:r>
            <a:r>
              <a:rPr sz="1400" b="1" spc="5" dirty="0">
                <a:latin typeface="Arial"/>
                <a:cs typeface="Arial"/>
              </a:rPr>
              <a:t> </a:t>
            </a:r>
            <a:r>
              <a:rPr sz="1400" dirty="0">
                <a:latin typeface="Arial MT"/>
                <a:cs typeface="Arial MT"/>
              </a:rPr>
              <a:t>→</a:t>
            </a:r>
            <a:r>
              <a:rPr sz="1400" spc="-15" dirty="0">
                <a:latin typeface="Arial MT"/>
                <a:cs typeface="Arial MT"/>
              </a:rPr>
              <a:t> </a:t>
            </a:r>
            <a:r>
              <a:rPr sz="1400" dirty="0">
                <a:latin typeface="Arial MT"/>
                <a:cs typeface="Arial MT"/>
              </a:rPr>
              <a:t>Converts</a:t>
            </a:r>
            <a:r>
              <a:rPr sz="1400" spc="-5" dirty="0">
                <a:latin typeface="Arial MT"/>
                <a:cs typeface="Arial MT"/>
              </a:rPr>
              <a:t> </a:t>
            </a:r>
            <a:r>
              <a:rPr sz="1400" dirty="0">
                <a:latin typeface="Arial MT"/>
                <a:cs typeface="Arial MT"/>
              </a:rPr>
              <a:t>text</a:t>
            </a:r>
            <a:r>
              <a:rPr sz="1400" spc="-5" dirty="0">
                <a:latin typeface="Arial MT"/>
                <a:cs typeface="Arial MT"/>
              </a:rPr>
              <a:t> </a:t>
            </a:r>
            <a:r>
              <a:rPr sz="1400" dirty="0">
                <a:latin typeface="Arial MT"/>
                <a:cs typeface="Arial MT"/>
              </a:rPr>
              <a:t>into</a:t>
            </a:r>
            <a:r>
              <a:rPr sz="1400" spc="-15" dirty="0">
                <a:latin typeface="Arial MT"/>
                <a:cs typeface="Arial MT"/>
              </a:rPr>
              <a:t> </a:t>
            </a:r>
            <a:r>
              <a:rPr sz="1400" dirty="0">
                <a:latin typeface="Arial MT"/>
                <a:cs typeface="Arial MT"/>
              </a:rPr>
              <a:t>searchable</a:t>
            </a:r>
            <a:r>
              <a:rPr sz="1400" spc="-5" dirty="0">
                <a:latin typeface="Arial MT"/>
                <a:cs typeface="Arial MT"/>
              </a:rPr>
              <a:t> </a:t>
            </a:r>
            <a:r>
              <a:rPr sz="1400" spc="-10" dirty="0">
                <a:latin typeface="Arial MT"/>
                <a:cs typeface="Arial MT"/>
              </a:rPr>
              <a:t>vectors.</a:t>
            </a:r>
            <a:endParaRPr sz="1400" dirty="0">
              <a:latin typeface="Arial MT"/>
              <a:cs typeface="Arial MT"/>
            </a:endParaRPr>
          </a:p>
          <a:p>
            <a:pPr marL="12700">
              <a:lnSpc>
                <a:spcPct val="100000"/>
              </a:lnSpc>
              <a:spcBef>
                <a:spcPts val="120"/>
              </a:spcBef>
            </a:pPr>
            <a:r>
              <a:rPr sz="1400" b="1" dirty="0">
                <a:latin typeface="Arial"/>
                <a:cs typeface="Arial"/>
              </a:rPr>
              <a:t>FAISS</a:t>
            </a:r>
            <a:r>
              <a:rPr sz="1400" b="1" spc="-20"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Finds</a:t>
            </a:r>
            <a:r>
              <a:rPr sz="1400" spc="-20" dirty="0">
                <a:latin typeface="Arial MT"/>
                <a:cs typeface="Arial MT"/>
              </a:rPr>
              <a:t> </a:t>
            </a:r>
            <a:r>
              <a:rPr sz="1400" dirty="0">
                <a:latin typeface="Arial MT"/>
                <a:cs typeface="Arial MT"/>
              </a:rPr>
              <a:t>similar</a:t>
            </a:r>
            <a:r>
              <a:rPr sz="1400" spc="-25" dirty="0">
                <a:latin typeface="Arial MT"/>
                <a:cs typeface="Arial MT"/>
              </a:rPr>
              <a:t> </a:t>
            </a:r>
            <a:r>
              <a:rPr sz="1400" dirty="0">
                <a:latin typeface="Arial MT"/>
                <a:cs typeface="Arial MT"/>
              </a:rPr>
              <a:t>materials</a:t>
            </a:r>
            <a:r>
              <a:rPr sz="1400" spc="-25" dirty="0">
                <a:latin typeface="Arial MT"/>
                <a:cs typeface="Arial MT"/>
              </a:rPr>
              <a:t> </a:t>
            </a:r>
            <a:r>
              <a:rPr sz="1400" dirty="0">
                <a:latin typeface="Arial MT"/>
                <a:cs typeface="Arial MT"/>
              </a:rPr>
              <a:t>and</a:t>
            </a:r>
            <a:r>
              <a:rPr sz="1400" spc="-30" dirty="0">
                <a:latin typeface="Arial MT"/>
                <a:cs typeface="Arial MT"/>
              </a:rPr>
              <a:t> </a:t>
            </a:r>
            <a:r>
              <a:rPr sz="1400" spc="-10" dirty="0">
                <a:latin typeface="Arial MT"/>
                <a:cs typeface="Arial MT"/>
              </a:rPr>
              <a:t>documents.</a:t>
            </a:r>
            <a:endParaRPr sz="1400" dirty="0">
              <a:latin typeface="Arial MT"/>
              <a:cs typeface="Arial MT"/>
            </a:endParaRPr>
          </a:p>
          <a:p>
            <a:pPr marL="12700">
              <a:lnSpc>
                <a:spcPct val="100000"/>
              </a:lnSpc>
              <a:spcBef>
                <a:spcPts val="130"/>
              </a:spcBef>
            </a:pPr>
            <a:r>
              <a:rPr sz="1400" b="1" dirty="0">
                <a:latin typeface="Arial"/>
                <a:cs typeface="Arial"/>
              </a:rPr>
              <a:t>SQLite </a:t>
            </a:r>
            <a:r>
              <a:rPr sz="1400" dirty="0">
                <a:latin typeface="Arial MT"/>
                <a:cs typeface="Arial MT"/>
              </a:rPr>
              <a:t>→</a:t>
            </a:r>
            <a:r>
              <a:rPr sz="1400" spc="-15" dirty="0">
                <a:latin typeface="Arial MT"/>
                <a:cs typeface="Arial MT"/>
              </a:rPr>
              <a:t> </a:t>
            </a:r>
            <a:r>
              <a:rPr sz="1400" dirty="0">
                <a:latin typeface="Arial MT"/>
                <a:cs typeface="Arial MT"/>
              </a:rPr>
              <a:t>Stores</a:t>
            </a:r>
            <a:r>
              <a:rPr sz="1400" spc="-1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MOF</a:t>
            </a:r>
            <a:r>
              <a:rPr sz="1400" spc="-10" dirty="0">
                <a:latin typeface="Arial MT"/>
                <a:cs typeface="Arial MT"/>
              </a:rPr>
              <a:t> dataset.</a:t>
            </a:r>
            <a:endParaRPr sz="1400" dirty="0">
              <a:latin typeface="Arial MT"/>
              <a:cs typeface="Arial MT"/>
            </a:endParaRPr>
          </a:p>
        </p:txBody>
      </p:sp>
      <p:sp>
        <p:nvSpPr>
          <p:cNvPr id="9" name="Rectangle 8"/>
          <p:cNvSpPr/>
          <p:nvPr/>
        </p:nvSpPr>
        <p:spPr>
          <a:xfrm>
            <a:off x="88900" y="123825"/>
            <a:ext cx="10439400" cy="400110"/>
          </a:xfrm>
          <a:prstGeom prst="rect">
            <a:avLst/>
          </a:prstGeom>
          <a:solidFill>
            <a:schemeClr val="accent1">
              <a:lumMod val="40000"/>
              <a:lumOff val="60000"/>
            </a:schemeClr>
          </a:solidFill>
        </p:spPr>
        <p:txBody>
          <a:bodyPr wrap="square">
            <a:spAutoFit/>
          </a:bodyPr>
          <a:lstStyle/>
          <a:p>
            <a:pPr marL="12700">
              <a:lnSpc>
                <a:spcPct val="100000"/>
              </a:lnSpc>
              <a:spcBef>
                <a:spcPts val="885"/>
              </a:spcBef>
            </a:pPr>
            <a:r>
              <a:rPr lang="en-IN" sz="2000" b="1" dirty="0">
                <a:solidFill>
                  <a:srgbClr val="002060"/>
                </a:solidFill>
                <a:latin typeface="Arial"/>
                <a:cs typeface="Arial"/>
              </a:rPr>
              <a:t>Model</a:t>
            </a:r>
            <a:r>
              <a:rPr lang="en-IN" sz="2000" b="1" spc="-25" dirty="0">
                <a:solidFill>
                  <a:srgbClr val="002060"/>
                </a:solidFill>
                <a:latin typeface="Arial"/>
                <a:cs typeface="Arial"/>
              </a:rPr>
              <a:t> </a:t>
            </a:r>
            <a:r>
              <a:rPr lang="en-IN" sz="2000" b="1" dirty="0">
                <a:solidFill>
                  <a:srgbClr val="002060"/>
                </a:solidFill>
                <a:latin typeface="Arial"/>
                <a:cs typeface="Arial"/>
              </a:rPr>
              <a:t>and</a:t>
            </a:r>
            <a:r>
              <a:rPr lang="en-IN" sz="2000" b="1" spc="-25" dirty="0">
                <a:solidFill>
                  <a:srgbClr val="002060"/>
                </a:solidFill>
                <a:latin typeface="Arial"/>
                <a:cs typeface="Arial"/>
              </a:rPr>
              <a:t> </a:t>
            </a:r>
            <a:r>
              <a:rPr lang="en-IN" sz="2000" b="1" spc="-20" dirty="0">
                <a:solidFill>
                  <a:srgbClr val="002060"/>
                </a:solidFill>
                <a:latin typeface="Arial"/>
                <a:cs typeface="Arial"/>
              </a:rPr>
              <a:t>Tools</a:t>
            </a:r>
            <a:r>
              <a:rPr lang="en-IN" sz="2000" b="1" spc="-25" dirty="0">
                <a:solidFill>
                  <a:srgbClr val="002060"/>
                </a:solidFill>
                <a:latin typeface="Arial"/>
                <a:cs typeface="Arial"/>
              </a:rPr>
              <a:t> </a:t>
            </a:r>
            <a:r>
              <a:rPr lang="en-IN" sz="2000" b="1" spc="-20" dirty="0">
                <a:solidFill>
                  <a:srgbClr val="002060"/>
                </a:solidFill>
                <a:latin typeface="Arial"/>
                <a:cs typeface="Arial"/>
              </a:rPr>
              <a:t>Used:</a:t>
            </a:r>
            <a:endParaRPr lang="en-IN" sz="2000" dirty="0">
              <a:solidFill>
                <a:srgbClr val="002060"/>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14400" y="919226"/>
            <a:ext cx="189230" cy="1316990"/>
            <a:chOff x="914400" y="919226"/>
            <a:chExt cx="189230" cy="1316990"/>
          </a:xfrm>
        </p:grpSpPr>
        <p:pic>
          <p:nvPicPr>
            <p:cNvPr id="3" name="object 3"/>
            <p:cNvPicPr/>
            <p:nvPr/>
          </p:nvPicPr>
          <p:blipFill>
            <a:blip r:embed="rId2" cstate="print"/>
            <a:stretch>
              <a:fillRect/>
            </a:stretch>
          </p:blipFill>
          <p:spPr>
            <a:xfrm>
              <a:off x="914400" y="919226"/>
              <a:ext cx="188975" cy="141731"/>
            </a:xfrm>
            <a:prstGeom prst="rect">
              <a:avLst/>
            </a:prstGeom>
          </p:spPr>
        </p:pic>
        <p:pic>
          <p:nvPicPr>
            <p:cNvPr id="4" name="object 4"/>
            <p:cNvPicPr/>
            <p:nvPr/>
          </p:nvPicPr>
          <p:blipFill>
            <a:blip r:embed="rId2" cstate="print"/>
            <a:stretch>
              <a:fillRect/>
            </a:stretch>
          </p:blipFill>
          <p:spPr>
            <a:xfrm>
              <a:off x="914400" y="1086866"/>
              <a:ext cx="188975" cy="141732"/>
            </a:xfrm>
            <a:prstGeom prst="rect">
              <a:avLst/>
            </a:prstGeom>
          </p:spPr>
        </p:pic>
        <p:pic>
          <p:nvPicPr>
            <p:cNvPr id="5" name="object 5"/>
            <p:cNvPicPr/>
            <p:nvPr/>
          </p:nvPicPr>
          <p:blipFill>
            <a:blip r:embed="rId2" cstate="print"/>
            <a:stretch>
              <a:fillRect/>
            </a:stretch>
          </p:blipFill>
          <p:spPr>
            <a:xfrm>
              <a:off x="914400" y="1254506"/>
              <a:ext cx="188975" cy="141732"/>
            </a:xfrm>
            <a:prstGeom prst="rect">
              <a:avLst/>
            </a:prstGeom>
          </p:spPr>
        </p:pic>
        <p:pic>
          <p:nvPicPr>
            <p:cNvPr id="6" name="object 6"/>
            <p:cNvPicPr/>
            <p:nvPr/>
          </p:nvPicPr>
          <p:blipFill>
            <a:blip r:embed="rId2" cstate="print"/>
            <a:stretch>
              <a:fillRect/>
            </a:stretch>
          </p:blipFill>
          <p:spPr>
            <a:xfrm>
              <a:off x="914400" y="1423670"/>
              <a:ext cx="188975" cy="141732"/>
            </a:xfrm>
            <a:prstGeom prst="rect">
              <a:avLst/>
            </a:prstGeom>
          </p:spPr>
        </p:pic>
        <p:pic>
          <p:nvPicPr>
            <p:cNvPr id="7" name="object 7"/>
            <p:cNvPicPr/>
            <p:nvPr/>
          </p:nvPicPr>
          <p:blipFill>
            <a:blip r:embed="rId2" cstate="print"/>
            <a:stretch>
              <a:fillRect/>
            </a:stretch>
          </p:blipFill>
          <p:spPr>
            <a:xfrm>
              <a:off x="914400" y="1591310"/>
              <a:ext cx="188975" cy="141732"/>
            </a:xfrm>
            <a:prstGeom prst="rect">
              <a:avLst/>
            </a:prstGeom>
          </p:spPr>
        </p:pic>
        <p:pic>
          <p:nvPicPr>
            <p:cNvPr id="8" name="object 8"/>
            <p:cNvPicPr/>
            <p:nvPr/>
          </p:nvPicPr>
          <p:blipFill>
            <a:blip r:embed="rId2" cstate="print"/>
            <a:stretch>
              <a:fillRect/>
            </a:stretch>
          </p:blipFill>
          <p:spPr>
            <a:xfrm>
              <a:off x="914400" y="1758950"/>
              <a:ext cx="188975" cy="141732"/>
            </a:xfrm>
            <a:prstGeom prst="rect">
              <a:avLst/>
            </a:prstGeom>
          </p:spPr>
        </p:pic>
        <p:pic>
          <p:nvPicPr>
            <p:cNvPr id="9" name="object 9"/>
            <p:cNvPicPr/>
            <p:nvPr/>
          </p:nvPicPr>
          <p:blipFill>
            <a:blip r:embed="rId2" cstate="print"/>
            <a:stretch>
              <a:fillRect/>
            </a:stretch>
          </p:blipFill>
          <p:spPr>
            <a:xfrm>
              <a:off x="914400" y="1926590"/>
              <a:ext cx="188975" cy="141732"/>
            </a:xfrm>
            <a:prstGeom prst="rect">
              <a:avLst/>
            </a:prstGeom>
          </p:spPr>
        </p:pic>
        <p:pic>
          <p:nvPicPr>
            <p:cNvPr id="10" name="object 10"/>
            <p:cNvPicPr/>
            <p:nvPr/>
          </p:nvPicPr>
          <p:blipFill>
            <a:blip r:embed="rId2" cstate="print"/>
            <a:stretch>
              <a:fillRect/>
            </a:stretch>
          </p:blipFill>
          <p:spPr>
            <a:xfrm>
              <a:off x="914400" y="2094230"/>
              <a:ext cx="188975" cy="141732"/>
            </a:xfrm>
            <a:prstGeom prst="rect">
              <a:avLst/>
            </a:prstGeom>
          </p:spPr>
        </p:pic>
      </p:grpSp>
      <p:sp>
        <p:nvSpPr>
          <p:cNvPr id="11" name="object 11"/>
          <p:cNvSpPr txBox="1"/>
          <p:nvPr/>
        </p:nvSpPr>
        <p:spPr>
          <a:xfrm>
            <a:off x="165100" y="200025"/>
            <a:ext cx="10528300" cy="7538474"/>
          </a:xfrm>
          <a:prstGeom prst="rect">
            <a:avLst/>
          </a:prstGeom>
        </p:spPr>
        <p:txBody>
          <a:bodyPr vert="horz" wrap="square" lIns="0" tIns="27940" rIns="0" bIns="0" rtlCol="0">
            <a:spAutoFit/>
          </a:bodyPr>
          <a:lstStyle/>
          <a:p>
            <a:pPr marL="142240">
              <a:lnSpc>
                <a:spcPct val="100000"/>
              </a:lnSpc>
              <a:spcBef>
                <a:spcPts val="220"/>
              </a:spcBef>
            </a:pPr>
            <a:r>
              <a:rPr sz="1400" b="1" spc="-10" dirty="0">
                <a:latin typeface="Arial"/>
                <a:cs typeface="Arial"/>
              </a:rPr>
              <a:t>FT-</a:t>
            </a:r>
            <a:r>
              <a:rPr sz="1400" b="1" dirty="0">
                <a:latin typeface="Arial"/>
                <a:cs typeface="Arial"/>
              </a:rPr>
              <a:t>Transformer</a:t>
            </a:r>
            <a:r>
              <a:rPr sz="1400" b="1" spc="-25"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Predicts</a:t>
            </a:r>
            <a:r>
              <a:rPr sz="1400" spc="-25" dirty="0">
                <a:latin typeface="Arial MT"/>
                <a:cs typeface="Arial MT"/>
              </a:rPr>
              <a:t> </a:t>
            </a:r>
            <a:r>
              <a:rPr sz="1400" dirty="0">
                <a:latin typeface="Arial MT"/>
                <a:cs typeface="Arial MT"/>
              </a:rPr>
              <a:t>missing</a:t>
            </a:r>
            <a:r>
              <a:rPr sz="1400" spc="-35" dirty="0">
                <a:latin typeface="Arial MT"/>
                <a:cs typeface="Arial MT"/>
              </a:rPr>
              <a:t> </a:t>
            </a:r>
            <a:r>
              <a:rPr sz="1400" spc="-10" dirty="0">
                <a:latin typeface="Arial MT"/>
                <a:cs typeface="Arial MT"/>
              </a:rPr>
              <a:t>properties.</a:t>
            </a:r>
            <a:endParaRPr sz="1400" dirty="0">
              <a:latin typeface="Arial MT"/>
              <a:cs typeface="Arial MT"/>
            </a:endParaRPr>
          </a:p>
          <a:p>
            <a:pPr marL="142240">
              <a:lnSpc>
                <a:spcPct val="100000"/>
              </a:lnSpc>
              <a:spcBef>
                <a:spcPts val="120"/>
              </a:spcBef>
            </a:pPr>
            <a:r>
              <a:rPr sz="1400" b="1" spc="-10" dirty="0">
                <a:latin typeface="Arial"/>
                <a:cs typeface="Arial"/>
              </a:rPr>
              <a:t>NSGA-</a:t>
            </a:r>
            <a:r>
              <a:rPr sz="1400" b="1" dirty="0">
                <a:latin typeface="Arial"/>
                <a:cs typeface="Arial"/>
              </a:rPr>
              <a:t>II</a:t>
            </a:r>
            <a:r>
              <a:rPr sz="1400" b="1" spc="-15" dirty="0">
                <a:latin typeface="Arial"/>
                <a:cs typeface="Arial"/>
              </a:rPr>
              <a:t> </a:t>
            </a:r>
            <a:r>
              <a:rPr sz="1400" dirty="0">
                <a:latin typeface="Arial MT"/>
                <a:cs typeface="Arial MT"/>
              </a:rPr>
              <a:t>→</a:t>
            </a:r>
            <a:r>
              <a:rPr sz="1400" spc="-15" dirty="0">
                <a:latin typeface="Arial MT"/>
                <a:cs typeface="Arial MT"/>
              </a:rPr>
              <a:t> </a:t>
            </a:r>
            <a:r>
              <a:rPr sz="1400" dirty="0">
                <a:latin typeface="Arial MT"/>
                <a:cs typeface="Arial MT"/>
              </a:rPr>
              <a:t>Chooses</a:t>
            </a:r>
            <a:r>
              <a:rPr sz="1400" spc="-10" dirty="0">
                <a:latin typeface="Arial MT"/>
                <a:cs typeface="Arial MT"/>
              </a:rPr>
              <a:t> </a:t>
            </a:r>
            <a:r>
              <a:rPr sz="1400" dirty="0">
                <a:latin typeface="Arial MT"/>
                <a:cs typeface="Arial MT"/>
              </a:rPr>
              <a:t>the</a:t>
            </a:r>
            <a:r>
              <a:rPr sz="1400" spc="-5" dirty="0">
                <a:latin typeface="Arial MT"/>
                <a:cs typeface="Arial MT"/>
              </a:rPr>
              <a:t> </a:t>
            </a:r>
            <a:r>
              <a:rPr sz="1400" dirty="0">
                <a:latin typeface="Arial MT"/>
                <a:cs typeface="Arial MT"/>
              </a:rPr>
              <a:t>best</a:t>
            </a:r>
            <a:r>
              <a:rPr sz="1400" spc="-15" dirty="0">
                <a:latin typeface="Arial MT"/>
                <a:cs typeface="Arial MT"/>
              </a:rPr>
              <a:t> </a:t>
            </a:r>
            <a:r>
              <a:rPr sz="1400" dirty="0">
                <a:latin typeface="Arial MT"/>
                <a:cs typeface="Arial MT"/>
              </a:rPr>
              <a:t>MOFs</a:t>
            </a:r>
            <a:r>
              <a:rPr sz="1400" spc="-10" dirty="0">
                <a:latin typeface="Arial MT"/>
                <a:cs typeface="Arial MT"/>
              </a:rPr>
              <a:t> </a:t>
            </a:r>
            <a:r>
              <a:rPr sz="1400" dirty="0">
                <a:latin typeface="Arial MT"/>
                <a:cs typeface="Arial MT"/>
              </a:rPr>
              <a:t>based</a:t>
            </a:r>
            <a:r>
              <a:rPr sz="1400" spc="-15" dirty="0">
                <a:latin typeface="Arial MT"/>
                <a:cs typeface="Arial MT"/>
              </a:rPr>
              <a:t> </a:t>
            </a:r>
            <a:r>
              <a:rPr sz="1400" dirty="0">
                <a:latin typeface="Arial MT"/>
                <a:cs typeface="Arial MT"/>
              </a:rPr>
              <a:t>on</a:t>
            </a:r>
            <a:r>
              <a:rPr sz="1400" spc="-10" dirty="0">
                <a:latin typeface="Arial MT"/>
                <a:cs typeface="Arial MT"/>
              </a:rPr>
              <a:t> </a:t>
            </a:r>
            <a:r>
              <a:rPr sz="1400" dirty="0">
                <a:latin typeface="Arial MT"/>
                <a:cs typeface="Arial MT"/>
              </a:rPr>
              <a:t>multiple</a:t>
            </a:r>
            <a:r>
              <a:rPr sz="1400" spc="-15" dirty="0">
                <a:latin typeface="Arial MT"/>
                <a:cs typeface="Arial MT"/>
              </a:rPr>
              <a:t> </a:t>
            </a:r>
            <a:r>
              <a:rPr sz="1400" spc="-10" dirty="0">
                <a:latin typeface="Arial MT"/>
                <a:cs typeface="Arial MT"/>
              </a:rPr>
              <a:t>criteria.</a:t>
            </a:r>
            <a:endParaRPr sz="1400" dirty="0">
              <a:latin typeface="Arial MT"/>
              <a:cs typeface="Arial MT"/>
            </a:endParaRPr>
          </a:p>
          <a:p>
            <a:pPr marL="142240">
              <a:lnSpc>
                <a:spcPct val="100000"/>
              </a:lnSpc>
              <a:spcBef>
                <a:spcPts val="120"/>
              </a:spcBef>
            </a:pPr>
            <a:r>
              <a:rPr sz="1400" b="1" dirty="0">
                <a:latin typeface="Arial"/>
                <a:cs typeface="Arial"/>
              </a:rPr>
              <a:t>SHAP </a:t>
            </a:r>
            <a:r>
              <a:rPr sz="1400" dirty="0">
                <a:latin typeface="Arial MT"/>
                <a:cs typeface="Arial MT"/>
              </a:rPr>
              <a:t>→</a:t>
            </a:r>
            <a:r>
              <a:rPr sz="1400" spc="-20" dirty="0">
                <a:latin typeface="Arial MT"/>
                <a:cs typeface="Arial MT"/>
              </a:rPr>
              <a:t> </a:t>
            </a:r>
            <a:r>
              <a:rPr sz="1400" dirty="0">
                <a:latin typeface="Arial MT"/>
                <a:cs typeface="Arial MT"/>
              </a:rPr>
              <a:t>Explains</a:t>
            </a:r>
            <a:r>
              <a:rPr sz="1400" spc="-10" dirty="0">
                <a:latin typeface="Arial MT"/>
                <a:cs typeface="Arial MT"/>
              </a:rPr>
              <a:t> </a:t>
            </a:r>
            <a:r>
              <a:rPr sz="1400" dirty="0">
                <a:latin typeface="Arial MT"/>
                <a:cs typeface="Arial MT"/>
              </a:rPr>
              <a:t>why</a:t>
            </a:r>
            <a:r>
              <a:rPr sz="1400" spc="-25" dirty="0">
                <a:latin typeface="Arial MT"/>
                <a:cs typeface="Arial MT"/>
              </a:rPr>
              <a:t> </a:t>
            </a:r>
            <a:r>
              <a:rPr sz="1400" dirty="0">
                <a:latin typeface="Arial MT"/>
                <a:cs typeface="Arial MT"/>
              </a:rPr>
              <a:t>a</a:t>
            </a:r>
            <a:r>
              <a:rPr sz="1400" spc="-15" dirty="0">
                <a:latin typeface="Arial MT"/>
                <a:cs typeface="Arial MT"/>
              </a:rPr>
              <a:t> </a:t>
            </a:r>
            <a:r>
              <a:rPr sz="1400" dirty="0">
                <a:latin typeface="Arial MT"/>
                <a:cs typeface="Arial MT"/>
              </a:rPr>
              <a:t>MOF</a:t>
            </a:r>
            <a:r>
              <a:rPr sz="1400" spc="-5" dirty="0">
                <a:latin typeface="Arial MT"/>
                <a:cs typeface="Arial MT"/>
              </a:rPr>
              <a:t> </a:t>
            </a:r>
            <a:r>
              <a:rPr sz="1400" dirty="0">
                <a:latin typeface="Arial MT"/>
                <a:cs typeface="Arial MT"/>
              </a:rPr>
              <a:t>was</a:t>
            </a:r>
            <a:r>
              <a:rPr sz="1400" spc="-20" dirty="0">
                <a:latin typeface="Arial MT"/>
                <a:cs typeface="Arial MT"/>
              </a:rPr>
              <a:t> </a:t>
            </a:r>
            <a:r>
              <a:rPr sz="1400" spc="-10" dirty="0">
                <a:latin typeface="Arial MT"/>
                <a:cs typeface="Arial MT"/>
              </a:rPr>
              <a:t>selected.</a:t>
            </a:r>
            <a:endParaRPr sz="1400" dirty="0">
              <a:latin typeface="Arial MT"/>
              <a:cs typeface="Arial MT"/>
            </a:endParaRPr>
          </a:p>
          <a:p>
            <a:pPr marL="142240">
              <a:lnSpc>
                <a:spcPct val="100000"/>
              </a:lnSpc>
              <a:spcBef>
                <a:spcPts val="130"/>
              </a:spcBef>
            </a:pPr>
            <a:r>
              <a:rPr sz="1400" b="1" dirty="0">
                <a:latin typeface="Arial"/>
                <a:cs typeface="Arial"/>
              </a:rPr>
              <a:t>LangChain</a:t>
            </a:r>
            <a:r>
              <a:rPr sz="1400" b="1" spc="-10"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Connects</a:t>
            </a:r>
            <a:r>
              <a:rPr sz="1400" spc="-5" dirty="0">
                <a:latin typeface="Arial MT"/>
                <a:cs typeface="Arial MT"/>
              </a:rPr>
              <a:t> </a:t>
            </a:r>
            <a:r>
              <a:rPr sz="1400" dirty="0">
                <a:latin typeface="Arial MT"/>
                <a:cs typeface="Arial MT"/>
              </a:rPr>
              <a:t>all</a:t>
            </a:r>
            <a:r>
              <a:rPr sz="1400" spc="-25" dirty="0">
                <a:latin typeface="Arial MT"/>
                <a:cs typeface="Arial MT"/>
              </a:rPr>
              <a:t> </a:t>
            </a:r>
            <a:r>
              <a:rPr sz="1400" dirty="0">
                <a:latin typeface="Arial MT"/>
                <a:cs typeface="Arial MT"/>
              </a:rPr>
              <a:t>the</a:t>
            </a:r>
            <a:r>
              <a:rPr sz="1400" spc="-15" dirty="0">
                <a:latin typeface="Arial MT"/>
                <a:cs typeface="Arial MT"/>
              </a:rPr>
              <a:t> </a:t>
            </a:r>
            <a:r>
              <a:rPr sz="1400" spc="-10" dirty="0">
                <a:latin typeface="Arial MT"/>
                <a:cs typeface="Arial MT"/>
              </a:rPr>
              <a:t>components.</a:t>
            </a:r>
            <a:endParaRPr sz="1400" dirty="0">
              <a:latin typeface="Arial MT"/>
              <a:cs typeface="Arial MT"/>
            </a:endParaRPr>
          </a:p>
          <a:p>
            <a:pPr marL="142240" marR="6292850">
              <a:lnSpc>
                <a:spcPct val="110000"/>
              </a:lnSpc>
            </a:pPr>
            <a:r>
              <a:rPr sz="1400" b="1" dirty="0">
                <a:latin typeface="Arial"/>
                <a:cs typeface="Arial"/>
              </a:rPr>
              <a:t>Pandas</a:t>
            </a:r>
            <a:r>
              <a:rPr sz="1400" b="1" spc="-5" dirty="0">
                <a:latin typeface="Arial"/>
                <a:cs typeface="Arial"/>
              </a:rPr>
              <a:t> </a:t>
            </a:r>
            <a:r>
              <a:rPr sz="1400" dirty="0">
                <a:latin typeface="Arial MT"/>
                <a:cs typeface="Arial MT"/>
              </a:rPr>
              <a:t>→</a:t>
            </a:r>
            <a:r>
              <a:rPr sz="1400" spc="-10" dirty="0">
                <a:latin typeface="Arial MT"/>
                <a:cs typeface="Arial MT"/>
              </a:rPr>
              <a:t> </a:t>
            </a:r>
            <a:r>
              <a:rPr sz="1400" dirty="0">
                <a:latin typeface="Arial MT"/>
                <a:cs typeface="Arial MT"/>
              </a:rPr>
              <a:t>Processes</a:t>
            </a:r>
            <a:r>
              <a:rPr sz="1400" spc="-10" dirty="0">
                <a:latin typeface="Arial MT"/>
                <a:cs typeface="Arial MT"/>
              </a:rPr>
              <a:t> </a:t>
            </a:r>
            <a:r>
              <a:rPr sz="1400" dirty="0">
                <a:latin typeface="Arial MT"/>
                <a:cs typeface="Arial MT"/>
              </a:rPr>
              <a:t>the</a:t>
            </a:r>
            <a:r>
              <a:rPr sz="1400" spc="-15" dirty="0">
                <a:latin typeface="Arial MT"/>
                <a:cs typeface="Arial MT"/>
              </a:rPr>
              <a:t> </a:t>
            </a:r>
            <a:r>
              <a:rPr sz="1400" spc="-10" dirty="0">
                <a:latin typeface="Arial MT"/>
                <a:cs typeface="Arial MT"/>
              </a:rPr>
              <a:t>dataset.</a:t>
            </a:r>
            <a:endParaRPr lang="en-US" sz="1400" spc="-10" dirty="0">
              <a:latin typeface="Arial MT"/>
              <a:cs typeface="Arial MT"/>
            </a:endParaRPr>
          </a:p>
          <a:p>
            <a:pPr marL="142240" marR="6292850">
              <a:lnSpc>
                <a:spcPct val="110000"/>
              </a:lnSpc>
            </a:pPr>
            <a:r>
              <a:rPr sz="1400" b="1" dirty="0" err="1">
                <a:latin typeface="Arial"/>
                <a:cs typeface="Arial"/>
              </a:rPr>
              <a:t>PyTorch</a:t>
            </a:r>
            <a:r>
              <a:rPr sz="1400" b="1" spc="-5" dirty="0">
                <a:latin typeface="Arial"/>
                <a:cs typeface="Arial"/>
              </a:rPr>
              <a:t> </a:t>
            </a:r>
            <a:r>
              <a:rPr sz="1400" dirty="0">
                <a:latin typeface="Arial MT"/>
                <a:cs typeface="Arial MT"/>
              </a:rPr>
              <a:t>→</a:t>
            </a:r>
            <a:r>
              <a:rPr sz="1400" spc="-20" dirty="0">
                <a:latin typeface="Arial MT"/>
                <a:cs typeface="Arial MT"/>
              </a:rPr>
              <a:t> </a:t>
            </a:r>
            <a:r>
              <a:rPr sz="1400" dirty="0">
                <a:latin typeface="Arial MT"/>
                <a:cs typeface="Arial MT"/>
              </a:rPr>
              <a:t>Runs</a:t>
            </a:r>
            <a:r>
              <a:rPr sz="1400" spc="-2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deep</a:t>
            </a:r>
            <a:r>
              <a:rPr sz="1400" spc="-30" dirty="0">
                <a:latin typeface="Arial MT"/>
                <a:cs typeface="Arial MT"/>
              </a:rPr>
              <a:t> </a:t>
            </a:r>
            <a:r>
              <a:rPr sz="1400" dirty="0">
                <a:latin typeface="Arial MT"/>
                <a:cs typeface="Arial MT"/>
              </a:rPr>
              <a:t>learning</a:t>
            </a:r>
            <a:r>
              <a:rPr sz="1400" spc="-10" dirty="0">
                <a:latin typeface="Arial MT"/>
                <a:cs typeface="Arial MT"/>
              </a:rPr>
              <a:t> model. </a:t>
            </a:r>
            <a:r>
              <a:rPr sz="1400" b="1" dirty="0">
                <a:latin typeface="Arial"/>
                <a:cs typeface="Arial"/>
              </a:rPr>
              <a:t>Streamlit</a:t>
            </a:r>
            <a:r>
              <a:rPr sz="1400" b="1" spc="-10" dirty="0">
                <a:latin typeface="Arial"/>
                <a:cs typeface="Arial"/>
              </a:rPr>
              <a:t> </a:t>
            </a:r>
            <a:r>
              <a:rPr sz="1400" dirty="0">
                <a:latin typeface="Arial MT"/>
                <a:cs typeface="Arial MT"/>
              </a:rPr>
              <a:t>→</a:t>
            </a:r>
            <a:r>
              <a:rPr sz="1400" spc="-10" dirty="0">
                <a:latin typeface="Arial MT"/>
                <a:cs typeface="Arial MT"/>
              </a:rPr>
              <a:t> </a:t>
            </a:r>
            <a:r>
              <a:rPr sz="1400" dirty="0">
                <a:latin typeface="Arial MT"/>
                <a:cs typeface="Arial MT"/>
              </a:rPr>
              <a:t>Provides</a:t>
            </a:r>
            <a:r>
              <a:rPr sz="1400" spc="-15"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user</a:t>
            </a:r>
            <a:r>
              <a:rPr sz="1400" spc="-15" dirty="0">
                <a:latin typeface="Arial MT"/>
                <a:cs typeface="Arial MT"/>
              </a:rPr>
              <a:t> </a:t>
            </a:r>
            <a:r>
              <a:rPr sz="1400" spc="-10" dirty="0">
                <a:latin typeface="Arial MT"/>
                <a:cs typeface="Arial MT"/>
              </a:rPr>
              <a:t>interface.</a:t>
            </a:r>
            <a:endParaRPr sz="1400" dirty="0">
              <a:latin typeface="Arial MT"/>
              <a:cs typeface="Arial MT"/>
            </a:endParaRPr>
          </a:p>
          <a:p>
            <a:pPr marL="142240">
              <a:lnSpc>
                <a:spcPct val="100000"/>
              </a:lnSpc>
              <a:spcBef>
                <a:spcPts val="120"/>
              </a:spcBef>
            </a:pPr>
            <a:r>
              <a:rPr sz="1400" b="1" dirty="0">
                <a:latin typeface="Arial"/>
                <a:cs typeface="Arial"/>
              </a:rPr>
              <a:t>Matplotlib/Plotly</a:t>
            </a:r>
            <a:r>
              <a:rPr sz="1400" b="1" spc="-20" dirty="0">
                <a:latin typeface="Arial"/>
                <a:cs typeface="Arial"/>
              </a:rPr>
              <a:t> </a:t>
            </a:r>
            <a:r>
              <a:rPr sz="1400" dirty="0">
                <a:latin typeface="Arial MT"/>
                <a:cs typeface="Arial MT"/>
              </a:rPr>
              <a:t>→</a:t>
            </a:r>
            <a:r>
              <a:rPr sz="1400" spc="-20" dirty="0">
                <a:latin typeface="Arial MT"/>
                <a:cs typeface="Arial MT"/>
              </a:rPr>
              <a:t> </a:t>
            </a:r>
            <a:r>
              <a:rPr sz="1400" dirty="0">
                <a:latin typeface="Arial MT"/>
                <a:cs typeface="Arial MT"/>
              </a:rPr>
              <a:t>Visualizes</a:t>
            </a:r>
            <a:r>
              <a:rPr sz="1400" spc="-20" dirty="0">
                <a:latin typeface="Arial MT"/>
                <a:cs typeface="Arial MT"/>
              </a:rPr>
              <a:t> </a:t>
            </a:r>
            <a:r>
              <a:rPr sz="1400" dirty="0">
                <a:latin typeface="Arial MT"/>
                <a:cs typeface="Arial MT"/>
              </a:rPr>
              <a:t>the</a:t>
            </a:r>
            <a:r>
              <a:rPr sz="1400" spc="-25" dirty="0">
                <a:latin typeface="Arial MT"/>
                <a:cs typeface="Arial MT"/>
              </a:rPr>
              <a:t> </a:t>
            </a:r>
            <a:r>
              <a:rPr sz="1400" spc="-10" dirty="0">
                <a:latin typeface="Arial MT"/>
                <a:cs typeface="Arial MT"/>
              </a:rPr>
              <a:t>results.</a:t>
            </a:r>
            <a:endParaRPr sz="1400" dirty="0">
              <a:latin typeface="Arial MT"/>
              <a:cs typeface="Arial MT"/>
            </a:endParaRPr>
          </a:p>
          <a:p>
            <a:pPr marL="12700">
              <a:lnSpc>
                <a:spcPct val="100000"/>
              </a:lnSpc>
              <a:spcBef>
                <a:spcPts val="900"/>
              </a:spcBef>
            </a:pPr>
            <a:r>
              <a:rPr sz="2400" b="1" dirty="0">
                <a:solidFill>
                  <a:srgbClr val="C00000"/>
                </a:solidFill>
                <a:latin typeface="Arial Black" panose="020B0A04020102020204" pitchFamily="34" charset="0"/>
                <a:cs typeface="Arial"/>
              </a:rPr>
              <a:t>Overall</a:t>
            </a:r>
            <a:r>
              <a:rPr sz="2400" b="1" spc="-25" dirty="0">
                <a:solidFill>
                  <a:srgbClr val="C00000"/>
                </a:solidFill>
                <a:latin typeface="Arial Black" panose="020B0A04020102020204" pitchFamily="34" charset="0"/>
                <a:cs typeface="Arial"/>
              </a:rPr>
              <a:t> </a:t>
            </a:r>
            <a:r>
              <a:rPr sz="2400" b="1" spc="-10" dirty="0">
                <a:solidFill>
                  <a:srgbClr val="C00000"/>
                </a:solidFill>
                <a:latin typeface="Arial Black" panose="020B0A04020102020204" pitchFamily="34" charset="0"/>
                <a:cs typeface="Arial"/>
              </a:rPr>
              <a:t>Pipeline</a:t>
            </a:r>
            <a:endParaRPr lang="en-US" sz="1400" b="1" spc="-10" dirty="0">
              <a:solidFill>
                <a:srgbClr val="C00000"/>
              </a:solidFill>
              <a:latin typeface="Arial"/>
              <a:cs typeface="Arial"/>
            </a:endParaRPr>
          </a:p>
          <a:p>
            <a:r>
              <a:rPr lang="en-US" sz="1400" b="1" dirty="0">
                <a:solidFill>
                  <a:schemeClr val="accent6"/>
                </a:solidFill>
                <a:latin typeface="Arial Black" panose="020B0A04020102020204" pitchFamily="34" charset="0"/>
              </a:rPr>
              <a:t>Explanation of Completed Work</a:t>
            </a:r>
          </a:p>
          <a:p>
            <a:endParaRPr lang="en-US" sz="1400" b="1" dirty="0">
              <a:solidFill>
                <a:schemeClr val="accent6"/>
              </a:solidFill>
              <a:latin typeface="Arial Black" panose="020B0A04020102020204" pitchFamily="34" charset="0"/>
            </a:endParaRPr>
          </a:p>
          <a:p>
            <a:r>
              <a:rPr lang="en-US" sz="1400" b="1" dirty="0"/>
              <a:t>MOF Dataset:</a:t>
            </a:r>
            <a:r>
              <a:rPr lang="en-US" sz="1400" dirty="0"/>
              <a:t> Loaded and prepared the MOF material-property dataset for model development.</a:t>
            </a:r>
          </a:p>
          <a:p>
            <a:r>
              <a:rPr lang="en-US" sz="1400" dirty="0"/>
              <a:t> </a:t>
            </a:r>
          </a:p>
          <a:p>
            <a:r>
              <a:rPr lang="en-US" sz="1400" b="1" dirty="0"/>
              <a:t>Data Preprocessing:</a:t>
            </a:r>
            <a:r>
              <a:rPr lang="en-US" sz="1400" dirty="0"/>
              <a:t> Cleaned the dataset and handled missing values. </a:t>
            </a:r>
          </a:p>
          <a:p>
            <a:endParaRPr lang="en-US" sz="1400" dirty="0"/>
          </a:p>
          <a:p>
            <a:r>
              <a:rPr lang="en-US" sz="1400" b="1" dirty="0"/>
              <a:t>Feature Selection:</a:t>
            </a:r>
            <a:r>
              <a:rPr lang="en-US" sz="1400" dirty="0"/>
              <a:t> Selected Surface Area, Density, Pore Volume, and Void Fraction as input features. </a:t>
            </a:r>
          </a:p>
          <a:p>
            <a:endParaRPr lang="en-US" sz="1400" dirty="0"/>
          </a:p>
          <a:p>
            <a:r>
              <a:rPr lang="en-US" sz="1400" b="1" dirty="0"/>
              <a:t>Feature Normalization:</a:t>
            </a:r>
            <a:r>
              <a:rPr lang="en-US" sz="1400" dirty="0"/>
              <a:t> Applied Z-score normalization to standardize the numerical properties. </a:t>
            </a:r>
          </a:p>
          <a:p>
            <a:endParaRPr lang="en-US" sz="1400" dirty="0"/>
          </a:p>
          <a:p>
            <a:r>
              <a:rPr lang="en-US" sz="1400" b="1" dirty="0"/>
              <a:t>Custom FT-Transformer:</a:t>
            </a:r>
            <a:r>
              <a:rPr lang="en-US" sz="1400" dirty="0"/>
              <a:t> Developed a Transformer-based architecture to learn relationships between MOF physical properties.</a:t>
            </a:r>
          </a:p>
          <a:p>
            <a:r>
              <a:rPr lang="en-US" sz="1400" dirty="0"/>
              <a:t> </a:t>
            </a:r>
          </a:p>
          <a:p>
            <a:r>
              <a:rPr lang="en-US" sz="1400" b="1" dirty="0"/>
              <a:t>Self-Supervised Training:</a:t>
            </a:r>
            <a:r>
              <a:rPr lang="en-US" sz="1400" dirty="0"/>
              <a:t> Trained the model using an </a:t>
            </a:r>
            <a:r>
              <a:rPr lang="en-US" sz="1400" dirty="0" err="1"/>
              <a:t>autoencoder</a:t>
            </a:r>
            <a:r>
              <a:rPr lang="en-US" sz="1400" dirty="0"/>
              <a:t> with MSE reconstruction loss. </a:t>
            </a:r>
          </a:p>
          <a:p>
            <a:endParaRPr lang="en-US" sz="1400" dirty="0"/>
          </a:p>
          <a:p>
            <a:r>
              <a:rPr lang="en-US" sz="1400" b="1" dirty="0"/>
              <a:t>384-D Embedding:</a:t>
            </a:r>
            <a:r>
              <a:rPr lang="en-US" sz="1400" dirty="0"/>
              <a:t> Generated compact 384-dimensional representations of MOF properties. </a:t>
            </a:r>
          </a:p>
          <a:p>
            <a:endParaRPr lang="en-US" sz="1400" dirty="0"/>
          </a:p>
          <a:p>
            <a:r>
              <a:rPr lang="en-US" sz="1400" b="1" dirty="0"/>
              <a:t>FAISS Indexing:</a:t>
            </a:r>
            <a:r>
              <a:rPr lang="en-US" sz="1400" dirty="0"/>
              <a:t> Stored the learned MOF </a:t>
            </a:r>
            <a:r>
              <a:rPr lang="en-US" sz="1400" dirty="0" err="1"/>
              <a:t>embeddings</a:t>
            </a:r>
            <a:r>
              <a:rPr lang="en-US" sz="1400" dirty="0"/>
              <a:t> in a FAISS vector index. </a:t>
            </a:r>
          </a:p>
          <a:p>
            <a:endParaRPr lang="en-US" sz="1400" dirty="0"/>
          </a:p>
          <a:p>
            <a:r>
              <a:rPr lang="en-US" sz="1400" b="1" dirty="0"/>
              <a:t>Top-100 Retrieval:</a:t>
            </a:r>
            <a:r>
              <a:rPr lang="en-US" sz="1400" dirty="0"/>
              <a:t> Performed similarity-based retrieval to obtain the Top-100 candidate MOFs. </a:t>
            </a:r>
          </a:p>
          <a:p>
            <a:endParaRPr lang="en-US" sz="1400" dirty="0"/>
          </a:p>
          <a:p>
            <a:r>
              <a:rPr lang="en-US" sz="1400" b="1" dirty="0"/>
              <a:t>Evaluation:</a:t>
            </a:r>
            <a:r>
              <a:rPr lang="en-US" sz="1400" dirty="0"/>
              <a:t> Evaluated the learned </a:t>
            </a:r>
            <a:r>
              <a:rPr lang="en-US" sz="1400" dirty="0" err="1"/>
              <a:t>embeddings</a:t>
            </a:r>
            <a:r>
              <a:rPr lang="en-US" sz="1400" dirty="0"/>
              <a:t> using Accuracy, F1-score, Recall, AUC, and ROC analysis.</a:t>
            </a:r>
          </a:p>
          <a:p>
            <a:pPr marL="12700">
              <a:lnSpc>
                <a:spcPct val="100000"/>
              </a:lnSpc>
              <a:spcBef>
                <a:spcPts val="900"/>
              </a:spcBef>
            </a:pPr>
            <a:endParaRPr lang="en-US" sz="1400" b="1" spc="-10" dirty="0">
              <a:solidFill>
                <a:srgbClr val="C00000"/>
              </a:solidFill>
              <a:latin typeface="Arial"/>
              <a:cs typeface="Arial"/>
            </a:endParaRPr>
          </a:p>
          <a:p>
            <a:pPr marL="12700">
              <a:lnSpc>
                <a:spcPct val="100000"/>
              </a:lnSpc>
              <a:spcBef>
                <a:spcPts val="900"/>
              </a:spcBef>
            </a:pPr>
            <a:endParaRPr sz="14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7245" y="1038225"/>
            <a:ext cx="9829800" cy="6106159"/>
          </a:xfrm>
          <a:prstGeom prst="rect">
            <a:avLst/>
          </a:prstGeom>
        </p:spPr>
        <p:txBody>
          <a:bodyPr vert="horz" wrap="square" lIns="0" tIns="12065" rIns="0" bIns="0" rtlCol="0">
            <a:spAutoFit/>
          </a:bodyPr>
          <a:lstStyle/>
          <a:p>
            <a:r>
              <a:rPr lang="en-IN" b="1" dirty="0"/>
              <a:t>Sentence-BERT:</a:t>
            </a:r>
            <a:r>
              <a:rPr lang="en-IN" dirty="0"/>
              <a:t> Connect natural-language user queries to 384-dimensional query </a:t>
            </a:r>
            <a:r>
              <a:rPr lang="en-IN" dirty="0" err="1"/>
              <a:t>embeddings</a:t>
            </a:r>
            <a:r>
              <a:rPr lang="en-IN" dirty="0"/>
              <a:t> for actual text-to-MOF retrieval. </a:t>
            </a:r>
          </a:p>
          <a:p>
            <a:endParaRPr lang="en-IN" dirty="0"/>
          </a:p>
          <a:p>
            <a:r>
              <a:rPr lang="en-IN" b="1" dirty="0"/>
              <a:t>Natural Query Retrieval:</a:t>
            </a:r>
            <a:r>
              <a:rPr lang="en-IN" dirty="0"/>
              <a:t> Integrate the query embedding with the existing FAISS MOF embedding index. </a:t>
            </a:r>
          </a:p>
          <a:p>
            <a:endParaRPr lang="en-IN" dirty="0"/>
          </a:p>
          <a:p>
            <a:r>
              <a:rPr lang="en-IN" b="1" dirty="0"/>
              <a:t>RAG:</a:t>
            </a:r>
            <a:r>
              <a:rPr lang="en-IN" dirty="0"/>
              <a:t> Add scientific literature and MOF knowledge retrieval to ground the recommendations. </a:t>
            </a:r>
          </a:p>
          <a:p>
            <a:endParaRPr lang="en-IN" dirty="0"/>
          </a:p>
          <a:p>
            <a:r>
              <a:rPr lang="en-IN" b="1" dirty="0"/>
              <a:t>LLM:</a:t>
            </a:r>
            <a:r>
              <a:rPr lang="en-IN" dirty="0"/>
              <a:t> Integrate an LLM for query understanding, reasoning, and conversational responses. </a:t>
            </a:r>
          </a:p>
          <a:p>
            <a:endParaRPr lang="en-IN" dirty="0"/>
          </a:p>
          <a:p>
            <a:r>
              <a:rPr lang="en-IN" b="1" dirty="0"/>
              <a:t>Property Prediction:</a:t>
            </a:r>
            <a:r>
              <a:rPr lang="en-IN" dirty="0"/>
              <a:t> Develop and train models to predict missing MOF properties. </a:t>
            </a:r>
          </a:p>
          <a:p>
            <a:endParaRPr lang="en-IN" dirty="0"/>
          </a:p>
          <a:p>
            <a:r>
              <a:rPr lang="en-IN" b="1" dirty="0"/>
              <a:t>NSGA-II Optimization:</a:t>
            </a:r>
            <a:r>
              <a:rPr lang="en-IN" dirty="0"/>
              <a:t> Rank candidate MOFs using multiple material objectives simultaneously. </a:t>
            </a:r>
          </a:p>
          <a:p>
            <a:endParaRPr lang="en-IN" dirty="0"/>
          </a:p>
          <a:p>
            <a:r>
              <a:rPr lang="en-IN" b="1" dirty="0"/>
              <a:t>SHAP/XAI:</a:t>
            </a:r>
            <a:r>
              <a:rPr lang="en-IN" dirty="0"/>
              <a:t> Provide explanations showing why particular MOFs are recommended. </a:t>
            </a:r>
          </a:p>
          <a:p>
            <a:endParaRPr lang="en-IN" dirty="0"/>
          </a:p>
          <a:p>
            <a:r>
              <a:rPr lang="en-IN" b="1" dirty="0"/>
              <a:t>Hybrid SQL + Vector Retrieval:</a:t>
            </a:r>
            <a:r>
              <a:rPr lang="en-IN" dirty="0"/>
              <a:t> Integrate structured database search with embedding-based retrieval. </a:t>
            </a:r>
          </a:p>
          <a:p>
            <a:endParaRPr lang="en-IN" dirty="0"/>
          </a:p>
          <a:p>
            <a:r>
              <a:rPr lang="en-IN" b="1" dirty="0"/>
              <a:t>Planner/Validator:</a:t>
            </a:r>
            <a:r>
              <a:rPr lang="en-IN" dirty="0"/>
              <a:t> Add intelligent validation of generated queries and tool actions. </a:t>
            </a:r>
          </a:p>
          <a:p>
            <a:endParaRPr lang="en-IN" dirty="0"/>
          </a:p>
          <a:p>
            <a:r>
              <a:rPr lang="en-IN" b="1" dirty="0" err="1"/>
              <a:t>Streamlit</a:t>
            </a:r>
            <a:r>
              <a:rPr lang="en-IN" b="1" dirty="0"/>
              <a:t> Application:</a:t>
            </a:r>
            <a:r>
              <a:rPr lang="en-IN" dirty="0"/>
              <a:t> Integrate the complete pipeline into an interactive user-facing application. </a:t>
            </a:r>
          </a:p>
        </p:txBody>
      </p:sp>
      <p:graphicFrame>
        <p:nvGraphicFramePr>
          <p:cNvPr id="3" name="object 3"/>
          <p:cNvGraphicFramePr>
            <a:graphicFrameLocks noGrp="1"/>
          </p:cNvGraphicFramePr>
          <p:nvPr>
            <p:extLst>
              <p:ext uri="{D42A27DB-BD31-4B8C-83A1-F6EECF244321}">
                <p14:modId xmlns:p14="http://schemas.microsoft.com/office/powerpoint/2010/main" val="2730852211"/>
              </p:ext>
            </p:extLst>
          </p:nvPr>
        </p:nvGraphicFramePr>
        <p:xfrm>
          <a:off x="911605" y="1217720"/>
          <a:ext cx="8641080" cy="2498725"/>
        </p:xfrm>
        <a:graphic>
          <a:graphicData uri="http://schemas.openxmlformats.org/drawingml/2006/table">
            <a:tbl>
              <a:tblPr firstRow="1" bandRow="1">
                <a:tableStyleId>{2D5ABB26-0587-4C30-8999-92F81FD0307C}</a:tableStyleId>
              </a:tblPr>
              <a:tblGrid>
                <a:gridCol w="8641080">
                  <a:extLst>
                    <a:ext uri="{9D8B030D-6E8A-4147-A177-3AD203B41FA5}">
                      <a16:colId xmlns:a16="http://schemas.microsoft.com/office/drawing/2014/main" val="20000"/>
                    </a:ext>
                  </a:extLst>
                </a:gridCol>
              </a:tblGrid>
              <a:tr h="687705">
                <a:tc>
                  <a:txBody>
                    <a:bodyPr/>
                    <a:lstStyle/>
                    <a:p>
                      <a:endParaRPr lang="en-IN" dirty="0"/>
                    </a:p>
                  </a:txBody>
                  <a:tcPr marL="0" marR="0" marT="0" marB="0"/>
                </a:tc>
                <a:extLst>
                  <a:ext uri="{0D108BD9-81ED-4DB2-BD59-A6C34878D82A}">
                    <a16:rowId xmlns:a16="http://schemas.microsoft.com/office/drawing/2014/main" val="10000"/>
                  </a:ext>
                </a:extLst>
              </a:tr>
              <a:tr h="898525">
                <a:tc>
                  <a:txBody>
                    <a:bodyPr/>
                    <a:lstStyle/>
                    <a:p>
                      <a:endParaRPr lang="en-IN" dirty="0"/>
                    </a:p>
                  </a:txBody>
                  <a:tcPr marL="0" marR="0" marT="13335" marB="0"/>
                </a:tc>
                <a:extLst>
                  <a:ext uri="{0D108BD9-81ED-4DB2-BD59-A6C34878D82A}">
                    <a16:rowId xmlns:a16="http://schemas.microsoft.com/office/drawing/2014/main" val="10001"/>
                  </a:ext>
                </a:extLst>
              </a:tr>
              <a:tr h="560070">
                <a:tc>
                  <a:txBody>
                    <a:bodyPr/>
                    <a:lstStyle/>
                    <a:p>
                      <a:endParaRPr lang="en-IN" dirty="0"/>
                    </a:p>
                  </a:txBody>
                  <a:tcPr marL="0" marR="0" marT="30480" marB="0"/>
                </a:tc>
                <a:extLst>
                  <a:ext uri="{0D108BD9-81ED-4DB2-BD59-A6C34878D82A}">
                    <a16:rowId xmlns:a16="http://schemas.microsoft.com/office/drawing/2014/main" val="10002"/>
                  </a:ext>
                </a:extLst>
              </a:tr>
              <a:tr h="352425">
                <a:tc>
                  <a:txBody>
                    <a:bodyPr/>
                    <a:lstStyle/>
                    <a:p>
                      <a:endParaRPr lang="en-IN" dirty="0"/>
                    </a:p>
                  </a:txBody>
                  <a:tcPr marL="0" marR="0" marT="1270" marB="0"/>
                </a:tc>
                <a:extLst>
                  <a:ext uri="{0D108BD9-81ED-4DB2-BD59-A6C34878D82A}">
                    <a16:rowId xmlns:a16="http://schemas.microsoft.com/office/drawing/2014/main" val="10003"/>
                  </a:ext>
                </a:extLst>
              </a:tr>
            </a:tbl>
          </a:graphicData>
        </a:graphic>
      </p:graphicFrame>
      <p:sp>
        <p:nvSpPr>
          <p:cNvPr id="4" name="TextBox 3"/>
          <p:cNvSpPr txBox="1"/>
          <p:nvPr/>
        </p:nvSpPr>
        <p:spPr>
          <a:xfrm>
            <a:off x="165100" y="221072"/>
            <a:ext cx="10439399" cy="584775"/>
          </a:xfrm>
          <a:prstGeom prst="rect">
            <a:avLst/>
          </a:prstGeom>
          <a:solidFill>
            <a:schemeClr val="accent1">
              <a:lumMod val="40000"/>
              <a:lumOff val="60000"/>
            </a:schemeClr>
          </a:solidFill>
        </p:spPr>
        <p:txBody>
          <a:bodyPr wrap="square" rtlCol="0">
            <a:spAutoFit/>
          </a:bodyPr>
          <a:lstStyle/>
          <a:p>
            <a:r>
              <a:rPr lang="en-IN" sz="3200" b="1" dirty="0">
                <a:solidFill>
                  <a:srgbClr val="002060"/>
                </a:solidFill>
              </a:rPr>
              <a:t>Explanation of Pending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32A41A9-772A-02D3-47BA-F52DED5465AE}"/>
              </a:ext>
            </a:extLst>
          </p:cNvPr>
          <p:cNvSpPr/>
          <p:nvPr/>
        </p:nvSpPr>
        <p:spPr>
          <a:xfrm>
            <a:off x="3365500" y="123825"/>
            <a:ext cx="3866207" cy="671519"/>
          </a:xfrm>
          <a:prstGeom prst="roundRect">
            <a:avLst/>
          </a:prstGeom>
          <a:solidFill>
            <a:schemeClr val="accent5">
              <a:lumMod val="60000"/>
              <a:lumOff val="40000"/>
            </a:schemeClr>
          </a:solidFill>
          <a:ln>
            <a:solidFill>
              <a:schemeClr val="accent3">
                <a:lumMod val="20000"/>
                <a:lumOff val="80000"/>
              </a:schemeClr>
            </a:solidFill>
          </a:ln>
          <a:effectLst>
            <a:reflection blurRad="6350" stA="50000" endA="300" endPos="38500" dist="50800" dir="5400000" sy="-100000" algn="bl" rotWithShape="0"/>
          </a:effectLst>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WORK FLOW</a:t>
            </a:r>
          </a:p>
        </p:txBody>
      </p:sp>
      <p:sp>
        <p:nvSpPr>
          <p:cNvPr id="10" name="Rectangle: Rounded Corners 9">
            <a:extLst>
              <a:ext uri="{FF2B5EF4-FFF2-40B4-BE49-F238E27FC236}">
                <a16:creationId xmlns:a16="http://schemas.microsoft.com/office/drawing/2014/main" id="{D57E0BB1-0193-1AC8-3E33-016AFD0356E2}"/>
              </a:ext>
            </a:extLst>
          </p:cNvPr>
          <p:cNvSpPr/>
          <p:nvPr/>
        </p:nvSpPr>
        <p:spPr>
          <a:xfrm>
            <a:off x="393700" y="2562225"/>
            <a:ext cx="17526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USER QUERY</a:t>
            </a:r>
          </a:p>
        </p:txBody>
      </p:sp>
      <p:sp>
        <p:nvSpPr>
          <p:cNvPr id="12" name="Rectangle: Rounded Corners 11">
            <a:extLst>
              <a:ext uri="{FF2B5EF4-FFF2-40B4-BE49-F238E27FC236}">
                <a16:creationId xmlns:a16="http://schemas.microsoft.com/office/drawing/2014/main" id="{DDEE302C-B50B-1B07-57A2-7B4F34D48F6C}"/>
              </a:ext>
            </a:extLst>
          </p:cNvPr>
          <p:cNvSpPr/>
          <p:nvPr/>
        </p:nvSpPr>
        <p:spPr>
          <a:xfrm>
            <a:off x="2561665"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LLM(OLLEMA)</a:t>
            </a:r>
          </a:p>
        </p:txBody>
      </p:sp>
      <p:sp>
        <p:nvSpPr>
          <p:cNvPr id="14" name="Rectangle: Rounded Corners 13">
            <a:extLst>
              <a:ext uri="{FF2B5EF4-FFF2-40B4-BE49-F238E27FC236}">
                <a16:creationId xmlns:a16="http://schemas.microsoft.com/office/drawing/2014/main" id="{C6F588CC-6ECD-90E1-34BF-CED04AE2800B}"/>
              </a:ext>
            </a:extLst>
          </p:cNvPr>
          <p:cNvSpPr/>
          <p:nvPr/>
        </p:nvSpPr>
        <p:spPr>
          <a:xfrm>
            <a:off x="4673302"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RAG</a:t>
            </a:r>
          </a:p>
        </p:txBody>
      </p:sp>
      <p:sp>
        <p:nvSpPr>
          <p:cNvPr id="16" name="Rectangle: Rounded Corners 15">
            <a:extLst>
              <a:ext uri="{FF2B5EF4-FFF2-40B4-BE49-F238E27FC236}">
                <a16:creationId xmlns:a16="http://schemas.microsoft.com/office/drawing/2014/main" id="{56492147-AB54-A585-8EC6-9153BA695F21}"/>
              </a:ext>
            </a:extLst>
          </p:cNvPr>
          <p:cNvSpPr/>
          <p:nvPr/>
        </p:nvSpPr>
        <p:spPr>
          <a:xfrm>
            <a:off x="6782547"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CARDINATE RETRIVAL</a:t>
            </a:r>
          </a:p>
        </p:txBody>
      </p:sp>
      <p:sp>
        <p:nvSpPr>
          <p:cNvPr id="18" name="Rectangle: Rounded Corners 17">
            <a:extLst>
              <a:ext uri="{FF2B5EF4-FFF2-40B4-BE49-F238E27FC236}">
                <a16:creationId xmlns:a16="http://schemas.microsoft.com/office/drawing/2014/main" id="{D2AC0E7E-6BD9-26AC-9ED9-C82CDAE16903}"/>
              </a:ext>
            </a:extLst>
          </p:cNvPr>
          <p:cNvSpPr/>
          <p:nvPr/>
        </p:nvSpPr>
        <p:spPr>
          <a:xfrm>
            <a:off x="8928100" y="2562225"/>
            <a:ext cx="1534008" cy="1412949"/>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FT-TRANSFORMER</a:t>
            </a:r>
          </a:p>
        </p:txBody>
      </p:sp>
      <p:sp>
        <p:nvSpPr>
          <p:cNvPr id="20" name="Arrow: Right 19">
            <a:extLst>
              <a:ext uri="{FF2B5EF4-FFF2-40B4-BE49-F238E27FC236}">
                <a16:creationId xmlns:a16="http://schemas.microsoft.com/office/drawing/2014/main" id="{4040E5F1-E48A-950B-67FD-0D32137A7698}"/>
              </a:ext>
            </a:extLst>
          </p:cNvPr>
          <p:cNvSpPr/>
          <p:nvPr/>
        </p:nvSpPr>
        <p:spPr>
          <a:xfrm>
            <a:off x="2234453"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FBD00400-E23A-37BD-193B-5C3026544487}"/>
              </a:ext>
            </a:extLst>
          </p:cNvPr>
          <p:cNvSpPr/>
          <p:nvPr/>
        </p:nvSpPr>
        <p:spPr>
          <a:xfrm>
            <a:off x="4321212"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0BAABE19-2F21-8A41-6BE4-964005CCF8B0}"/>
              </a:ext>
            </a:extLst>
          </p:cNvPr>
          <p:cNvSpPr/>
          <p:nvPr/>
        </p:nvSpPr>
        <p:spPr>
          <a:xfrm>
            <a:off x="6432701"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9D8533A8-C232-095E-C6F2-CC24CC45EE28}"/>
              </a:ext>
            </a:extLst>
          </p:cNvPr>
          <p:cNvSpPr/>
          <p:nvPr/>
        </p:nvSpPr>
        <p:spPr>
          <a:xfrm>
            <a:off x="8563610" y="3144370"/>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3963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A20CF49-620F-7D29-BE2D-2AFACB0B0D09}"/>
              </a:ext>
            </a:extLst>
          </p:cNvPr>
          <p:cNvSpPr/>
          <p:nvPr/>
        </p:nvSpPr>
        <p:spPr>
          <a:xfrm>
            <a:off x="717348" y="1510411"/>
            <a:ext cx="1676400" cy="914400"/>
          </a:xfrm>
          <a:prstGeom prst="roundRect">
            <a:avLst/>
          </a:prstGeom>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MOF DATASET</a:t>
            </a:r>
          </a:p>
        </p:txBody>
      </p:sp>
      <p:sp>
        <p:nvSpPr>
          <p:cNvPr id="8" name="Rectangle: Rounded Corners 7">
            <a:extLst>
              <a:ext uri="{FF2B5EF4-FFF2-40B4-BE49-F238E27FC236}">
                <a16:creationId xmlns:a16="http://schemas.microsoft.com/office/drawing/2014/main" id="{50F5730B-E09D-EBEB-14C4-59827588E2BA}"/>
              </a:ext>
            </a:extLst>
          </p:cNvPr>
          <p:cNvSpPr/>
          <p:nvPr/>
        </p:nvSpPr>
        <p:spPr>
          <a:xfrm>
            <a:off x="2777452" y="1518970"/>
            <a:ext cx="18288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DATASET PREPROCESSING</a:t>
            </a:r>
          </a:p>
        </p:txBody>
      </p:sp>
      <p:sp>
        <p:nvSpPr>
          <p:cNvPr id="9" name="Oval 8">
            <a:extLst>
              <a:ext uri="{FF2B5EF4-FFF2-40B4-BE49-F238E27FC236}">
                <a16:creationId xmlns:a16="http://schemas.microsoft.com/office/drawing/2014/main" id="{6E1E5C53-2813-DCA6-AB25-600275636187}"/>
              </a:ext>
            </a:extLst>
          </p:cNvPr>
          <p:cNvSpPr/>
          <p:nvPr/>
        </p:nvSpPr>
        <p:spPr>
          <a:xfrm>
            <a:off x="5004585" y="1167511"/>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DATA CLEANING</a:t>
            </a:r>
          </a:p>
        </p:txBody>
      </p:sp>
      <p:sp>
        <p:nvSpPr>
          <p:cNvPr id="11" name="Oval 10">
            <a:extLst>
              <a:ext uri="{FF2B5EF4-FFF2-40B4-BE49-F238E27FC236}">
                <a16:creationId xmlns:a16="http://schemas.microsoft.com/office/drawing/2014/main" id="{2D32A9B2-599B-AD17-CDB2-23FB5EBCE050}"/>
              </a:ext>
            </a:extLst>
          </p:cNvPr>
          <p:cNvSpPr/>
          <p:nvPr/>
        </p:nvSpPr>
        <p:spPr>
          <a:xfrm>
            <a:off x="5056934" y="1984778"/>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FEATURE EXTRACTION</a:t>
            </a:r>
          </a:p>
        </p:txBody>
      </p:sp>
      <p:sp>
        <p:nvSpPr>
          <p:cNvPr id="13" name="Rectangle: Rounded Corners 12">
            <a:extLst>
              <a:ext uri="{FF2B5EF4-FFF2-40B4-BE49-F238E27FC236}">
                <a16:creationId xmlns:a16="http://schemas.microsoft.com/office/drawing/2014/main" id="{A06E794C-784B-D81E-A626-3BE690C6D285}"/>
              </a:ext>
            </a:extLst>
          </p:cNvPr>
          <p:cNvSpPr/>
          <p:nvPr/>
        </p:nvSpPr>
        <p:spPr>
          <a:xfrm>
            <a:off x="7959402" y="1513970"/>
            <a:ext cx="19812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FEATURE NORMALIZATION</a:t>
            </a:r>
          </a:p>
        </p:txBody>
      </p:sp>
      <p:sp>
        <p:nvSpPr>
          <p:cNvPr id="15" name="Rectangle: Rounded Corners 14">
            <a:extLst>
              <a:ext uri="{FF2B5EF4-FFF2-40B4-BE49-F238E27FC236}">
                <a16:creationId xmlns:a16="http://schemas.microsoft.com/office/drawing/2014/main" id="{89D776F1-27AB-DCB4-B771-EE8F1A5E2D83}"/>
              </a:ext>
            </a:extLst>
          </p:cNvPr>
          <p:cNvSpPr/>
          <p:nvPr/>
        </p:nvSpPr>
        <p:spPr>
          <a:xfrm>
            <a:off x="8061148" y="3287320"/>
            <a:ext cx="1917700" cy="914400"/>
          </a:xfrm>
          <a:prstGeom prst="roundRect">
            <a:avLst/>
          </a:prstGeom>
          <a:solidFill>
            <a:schemeClr val="accent4"/>
          </a:solidFill>
          <a:ln>
            <a:noFill/>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SELECTED MOF FEATURES</a:t>
            </a:r>
          </a:p>
        </p:txBody>
      </p:sp>
      <p:sp>
        <p:nvSpPr>
          <p:cNvPr id="17" name="Rectangle: Rounded Corners 16">
            <a:extLst>
              <a:ext uri="{FF2B5EF4-FFF2-40B4-BE49-F238E27FC236}">
                <a16:creationId xmlns:a16="http://schemas.microsoft.com/office/drawing/2014/main" id="{9EB3366B-AA11-19B6-93BF-8C1E9727A34D}"/>
              </a:ext>
            </a:extLst>
          </p:cNvPr>
          <p:cNvSpPr/>
          <p:nvPr/>
        </p:nvSpPr>
        <p:spPr>
          <a:xfrm>
            <a:off x="5988328" y="3353289"/>
            <a:ext cx="1828800" cy="914400"/>
          </a:xfrm>
          <a:prstGeom prst="roundRect">
            <a:avLst/>
          </a:prstGeom>
          <a:solidFill>
            <a:schemeClr val="bg2">
              <a:lumMod val="75000"/>
            </a:schemeClr>
          </a:solidFill>
          <a:ln>
            <a:noFill/>
          </a:ln>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FT-TRANSFORMER</a:t>
            </a:r>
          </a:p>
        </p:txBody>
      </p:sp>
      <p:sp>
        <p:nvSpPr>
          <p:cNvPr id="19" name="Oval 18">
            <a:extLst>
              <a:ext uri="{FF2B5EF4-FFF2-40B4-BE49-F238E27FC236}">
                <a16:creationId xmlns:a16="http://schemas.microsoft.com/office/drawing/2014/main" id="{1591DF82-9EF2-E533-03B1-5C62707ACF3D}"/>
              </a:ext>
            </a:extLst>
          </p:cNvPr>
          <p:cNvSpPr/>
          <p:nvPr/>
        </p:nvSpPr>
        <p:spPr>
          <a:xfrm>
            <a:off x="3162446" y="2947646"/>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rtlCol="0" anchor="ctr"/>
          <a:lstStyle/>
          <a:p>
            <a:pPr algn="ctr"/>
            <a:r>
              <a:rPr lang="en-IN" dirty="0"/>
              <a:t>FEATURE TOKENIZATION</a:t>
            </a:r>
          </a:p>
        </p:txBody>
      </p:sp>
      <p:sp>
        <p:nvSpPr>
          <p:cNvPr id="21" name="Oval 20">
            <a:extLst>
              <a:ext uri="{FF2B5EF4-FFF2-40B4-BE49-F238E27FC236}">
                <a16:creationId xmlns:a16="http://schemas.microsoft.com/office/drawing/2014/main" id="{FC505263-9859-E831-A981-EA60716E58B2}"/>
              </a:ext>
            </a:extLst>
          </p:cNvPr>
          <p:cNvSpPr/>
          <p:nvPr/>
        </p:nvSpPr>
        <p:spPr>
          <a:xfrm>
            <a:off x="3186071" y="3842754"/>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rtlCol="0" anchor="ctr"/>
          <a:lstStyle/>
          <a:p>
            <a:pPr algn="ctr"/>
            <a:r>
              <a:rPr lang="en-IN" dirty="0"/>
              <a:t>TRANSFORMER ENCODER</a:t>
            </a:r>
          </a:p>
        </p:txBody>
      </p:sp>
      <p:sp>
        <p:nvSpPr>
          <p:cNvPr id="23" name="Rectangle: Rounded Corners 22">
            <a:extLst>
              <a:ext uri="{FF2B5EF4-FFF2-40B4-BE49-F238E27FC236}">
                <a16:creationId xmlns:a16="http://schemas.microsoft.com/office/drawing/2014/main" id="{D709CC84-1F07-220F-FAEE-25D5F9D7D61B}"/>
              </a:ext>
            </a:extLst>
          </p:cNvPr>
          <p:cNvSpPr/>
          <p:nvPr/>
        </p:nvSpPr>
        <p:spPr>
          <a:xfrm>
            <a:off x="728233" y="3270232"/>
            <a:ext cx="19812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SELF-SUPERVISED LEARNING</a:t>
            </a:r>
          </a:p>
        </p:txBody>
      </p:sp>
      <p:sp>
        <p:nvSpPr>
          <p:cNvPr id="27" name="Arrow: Right 26">
            <a:extLst>
              <a:ext uri="{FF2B5EF4-FFF2-40B4-BE49-F238E27FC236}">
                <a16:creationId xmlns:a16="http://schemas.microsoft.com/office/drawing/2014/main" id="{CE5F1DE8-9C13-AC9D-9B4C-0B0392B13FA1}"/>
              </a:ext>
            </a:extLst>
          </p:cNvPr>
          <p:cNvSpPr/>
          <p:nvPr/>
        </p:nvSpPr>
        <p:spPr>
          <a:xfrm>
            <a:off x="2438619" y="1857905"/>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Right 28">
            <a:extLst>
              <a:ext uri="{FF2B5EF4-FFF2-40B4-BE49-F238E27FC236}">
                <a16:creationId xmlns:a16="http://schemas.microsoft.com/office/drawing/2014/main" id="{269DEEA5-A1BE-5A27-DAB2-1AE87C452514}"/>
              </a:ext>
            </a:extLst>
          </p:cNvPr>
          <p:cNvSpPr/>
          <p:nvPr/>
        </p:nvSpPr>
        <p:spPr>
          <a:xfrm rot="19926498">
            <a:off x="4707335" y="1554036"/>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E461179C-1666-E5C7-4FF9-983777E5C799}"/>
              </a:ext>
            </a:extLst>
          </p:cNvPr>
          <p:cNvSpPr/>
          <p:nvPr/>
        </p:nvSpPr>
        <p:spPr>
          <a:xfrm rot="1931225">
            <a:off x="4713549" y="2137894"/>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C186BD06-E6FA-176A-EB18-6B7E8C9CD7EA}"/>
              </a:ext>
            </a:extLst>
          </p:cNvPr>
          <p:cNvSpPr/>
          <p:nvPr/>
        </p:nvSpPr>
        <p:spPr>
          <a:xfrm rot="12147152">
            <a:off x="7554973" y="148895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4DCB4E30-56FE-81D1-F8F4-830B1EB7383B}"/>
              </a:ext>
            </a:extLst>
          </p:cNvPr>
          <p:cNvSpPr/>
          <p:nvPr/>
        </p:nvSpPr>
        <p:spPr>
          <a:xfrm rot="8556871">
            <a:off x="7554971" y="2067534"/>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0A0ACA27-4A6E-F76E-9201-79F2DAEE4B66}"/>
              </a:ext>
            </a:extLst>
          </p:cNvPr>
          <p:cNvSpPr/>
          <p:nvPr/>
        </p:nvSpPr>
        <p:spPr>
          <a:xfrm rot="12147152">
            <a:off x="5665058" y="3307229"/>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Right 40">
            <a:extLst>
              <a:ext uri="{FF2B5EF4-FFF2-40B4-BE49-F238E27FC236}">
                <a16:creationId xmlns:a16="http://schemas.microsoft.com/office/drawing/2014/main" id="{EA0D989C-D23D-02C4-C6C1-23FE644F6561}"/>
              </a:ext>
            </a:extLst>
          </p:cNvPr>
          <p:cNvSpPr/>
          <p:nvPr/>
        </p:nvSpPr>
        <p:spPr>
          <a:xfrm rot="8792702">
            <a:off x="5657656" y="3932763"/>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Right 42">
            <a:extLst>
              <a:ext uri="{FF2B5EF4-FFF2-40B4-BE49-F238E27FC236}">
                <a16:creationId xmlns:a16="http://schemas.microsoft.com/office/drawing/2014/main" id="{5773B053-07E8-8C24-B44D-566CE5FBFD11}"/>
              </a:ext>
            </a:extLst>
          </p:cNvPr>
          <p:cNvSpPr/>
          <p:nvPr/>
        </p:nvSpPr>
        <p:spPr>
          <a:xfrm rot="19926498">
            <a:off x="2889567" y="3290763"/>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Right 44">
            <a:extLst>
              <a:ext uri="{FF2B5EF4-FFF2-40B4-BE49-F238E27FC236}">
                <a16:creationId xmlns:a16="http://schemas.microsoft.com/office/drawing/2014/main" id="{A5C8B5B9-1F68-1A03-8DD4-87335922C290}"/>
              </a:ext>
            </a:extLst>
          </p:cNvPr>
          <p:cNvSpPr/>
          <p:nvPr/>
        </p:nvSpPr>
        <p:spPr>
          <a:xfrm rot="1931225">
            <a:off x="2894777" y="3918058"/>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Right 46">
            <a:extLst>
              <a:ext uri="{FF2B5EF4-FFF2-40B4-BE49-F238E27FC236}">
                <a16:creationId xmlns:a16="http://schemas.microsoft.com/office/drawing/2014/main" id="{3A3DC3E3-5935-F155-95DF-800705F78CDC}"/>
              </a:ext>
            </a:extLst>
          </p:cNvPr>
          <p:cNvSpPr/>
          <p:nvPr/>
        </p:nvSpPr>
        <p:spPr>
          <a:xfrm rot="3538696">
            <a:off x="8786565" y="2771465"/>
            <a:ext cx="539987" cy="35198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FF507543-8F14-6351-18EC-EA6B54A179CA}"/>
              </a:ext>
            </a:extLst>
          </p:cNvPr>
          <p:cNvSpPr/>
          <p:nvPr/>
        </p:nvSpPr>
        <p:spPr>
          <a:xfrm>
            <a:off x="717348" y="4905375"/>
            <a:ext cx="1676400" cy="914400"/>
          </a:xfrm>
          <a:prstGeom prst="roundRect">
            <a:avLst/>
          </a:prstGeom>
          <a:solidFill>
            <a:schemeClr val="accent3">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384-D MOF EMBEDDING</a:t>
            </a:r>
          </a:p>
        </p:txBody>
      </p:sp>
      <p:sp>
        <p:nvSpPr>
          <p:cNvPr id="51" name="Rectangle: Rounded Corners 50">
            <a:extLst>
              <a:ext uri="{FF2B5EF4-FFF2-40B4-BE49-F238E27FC236}">
                <a16:creationId xmlns:a16="http://schemas.microsoft.com/office/drawing/2014/main" id="{2B247B5D-5726-2E4A-018D-76DA42B8C50B}"/>
              </a:ext>
            </a:extLst>
          </p:cNvPr>
          <p:cNvSpPr/>
          <p:nvPr/>
        </p:nvSpPr>
        <p:spPr>
          <a:xfrm>
            <a:off x="2597203" y="4905375"/>
            <a:ext cx="1676400" cy="914400"/>
          </a:xfrm>
          <a:prstGeom prst="roundRect">
            <a:avLst/>
          </a:prstGeom>
          <a:solidFill>
            <a:schemeClr val="tx2">
              <a:lumMod val="40000"/>
              <a:lumOff val="6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FAISS RETRIEVAL</a:t>
            </a:r>
          </a:p>
        </p:txBody>
      </p:sp>
      <p:sp>
        <p:nvSpPr>
          <p:cNvPr id="53" name="Rectangle: Rounded Corners 52">
            <a:extLst>
              <a:ext uri="{FF2B5EF4-FFF2-40B4-BE49-F238E27FC236}">
                <a16:creationId xmlns:a16="http://schemas.microsoft.com/office/drawing/2014/main" id="{EA57BFB1-9B09-EFE5-2F42-7DF018017709}"/>
              </a:ext>
            </a:extLst>
          </p:cNvPr>
          <p:cNvSpPr/>
          <p:nvPr/>
        </p:nvSpPr>
        <p:spPr>
          <a:xfrm>
            <a:off x="4477058" y="4905375"/>
            <a:ext cx="1676400" cy="914400"/>
          </a:xfrm>
          <a:prstGeom prst="roundRect">
            <a:avLst/>
          </a:prstGeom>
          <a:solidFill>
            <a:schemeClr val="bg2">
              <a:lumMod val="9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TOP-K MOF SEARCH</a:t>
            </a:r>
          </a:p>
        </p:txBody>
      </p:sp>
      <p:sp>
        <p:nvSpPr>
          <p:cNvPr id="55" name="Rectangle: Rounded Corners 54">
            <a:extLst>
              <a:ext uri="{FF2B5EF4-FFF2-40B4-BE49-F238E27FC236}">
                <a16:creationId xmlns:a16="http://schemas.microsoft.com/office/drawing/2014/main" id="{3DF11CF3-787D-2493-1488-7C9A024CDA71}"/>
              </a:ext>
            </a:extLst>
          </p:cNvPr>
          <p:cNvSpPr/>
          <p:nvPr/>
        </p:nvSpPr>
        <p:spPr>
          <a:xfrm>
            <a:off x="6362774" y="4905375"/>
            <a:ext cx="1676400" cy="914400"/>
          </a:xfrm>
          <a:prstGeom prst="roundRect">
            <a:avLst/>
          </a:prstGeom>
          <a:solidFill>
            <a:schemeClr val="accent2">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SENTENCE-BERT + RAG</a:t>
            </a:r>
          </a:p>
        </p:txBody>
      </p:sp>
      <p:sp>
        <p:nvSpPr>
          <p:cNvPr id="57" name="Rectangle: Rounded Corners 56">
            <a:extLst>
              <a:ext uri="{FF2B5EF4-FFF2-40B4-BE49-F238E27FC236}">
                <a16:creationId xmlns:a16="http://schemas.microsoft.com/office/drawing/2014/main" id="{EE88BFA3-2DE8-3D62-7022-8150F63505DF}"/>
              </a:ext>
            </a:extLst>
          </p:cNvPr>
          <p:cNvSpPr/>
          <p:nvPr/>
        </p:nvSpPr>
        <p:spPr>
          <a:xfrm>
            <a:off x="8237056" y="4905375"/>
            <a:ext cx="1676400" cy="914400"/>
          </a:xfrm>
          <a:prstGeom prst="roundRect">
            <a:avLst/>
          </a:prstGeom>
          <a:solidFill>
            <a:schemeClr val="accent3">
              <a:lumMod val="75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LLM REASONING</a:t>
            </a:r>
          </a:p>
        </p:txBody>
      </p:sp>
      <p:sp>
        <p:nvSpPr>
          <p:cNvPr id="59" name="Rectangle: Rounded Corners 58">
            <a:extLst>
              <a:ext uri="{FF2B5EF4-FFF2-40B4-BE49-F238E27FC236}">
                <a16:creationId xmlns:a16="http://schemas.microsoft.com/office/drawing/2014/main" id="{B379C072-CC30-50CC-353B-4E8FE9DF43D9}"/>
              </a:ext>
            </a:extLst>
          </p:cNvPr>
          <p:cNvSpPr/>
          <p:nvPr/>
        </p:nvSpPr>
        <p:spPr>
          <a:xfrm>
            <a:off x="8272014" y="6202220"/>
            <a:ext cx="1676400" cy="914400"/>
          </a:xfrm>
          <a:prstGeom prst="roundRect">
            <a:avLst/>
          </a:prstGeom>
          <a:solidFill>
            <a:schemeClr val="accent5">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PROPERTY PREDICTION</a:t>
            </a:r>
          </a:p>
        </p:txBody>
      </p:sp>
      <p:sp>
        <p:nvSpPr>
          <p:cNvPr id="61" name="Rectangle: Rounded Corners 60">
            <a:extLst>
              <a:ext uri="{FF2B5EF4-FFF2-40B4-BE49-F238E27FC236}">
                <a16:creationId xmlns:a16="http://schemas.microsoft.com/office/drawing/2014/main" id="{77061913-B710-749A-432C-0323892804A1}"/>
              </a:ext>
            </a:extLst>
          </p:cNvPr>
          <p:cNvSpPr/>
          <p:nvPr/>
        </p:nvSpPr>
        <p:spPr>
          <a:xfrm>
            <a:off x="2597203" y="6207611"/>
            <a:ext cx="1676400" cy="914400"/>
          </a:xfrm>
          <a:prstGeom prst="roundRect">
            <a:avLst/>
          </a:prstGeom>
          <a:solidFill>
            <a:schemeClr val="accent6">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STREAMLIT APPLICATION</a:t>
            </a:r>
          </a:p>
        </p:txBody>
      </p:sp>
      <p:sp>
        <p:nvSpPr>
          <p:cNvPr id="63" name="Rectangle: Rounded Corners 62">
            <a:extLst>
              <a:ext uri="{FF2B5EF4-FFF2-40B4-BE49-F238E27FC236}">
                <a16:creationId xmlns:a16="http://schemas.microsoft.com/office/drawing/2014/main" id="{9925B4E9-C4B3-EFDE-C1D0-EBCC1E1F053A}"/>
              </a:ext>
            </a:extLst>
          </p:cNvPr>
          <p:cNvSpPr/>
          <p:nvPr/>
        </p:nvSpPr>
        <p:spPr>
          <a:xfrm>
            <a:off x="4466659" y="6211304"/>
            <a:ext cx="1676400" cy="914400"/>
          </a:xfrm>
          <a:prstGeom prst="roundRect">
            <a:avLst/>
          </a:prstGeom>
          <a:solidFill>
            <a:schemeClr val="accent5">
              <a:lumMod val="75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SHAP / XAI</a:t>
            </a:r>
          </a:p>
        </p:txBody>
      </p:sp>
      <p:sp>
        <p:nvSpPr>
          <p:cNvPr id="65" name="Rectangle: Rounded Corners 64">
            <a:extLst>
              <a:ext uri="{FF2B5EF4-FFF2-40B4-BE49-F238E27FC236}">
                <a16:creationId xmlns:a16="http://schemas.microsoft.com/office/drawing/2014/main" id="{5CE149C9-2AE1-0D60-6096-DCFCD55FA4DA}"/>
              </a:ext>
            </a:extLst>
          </p:cNvPr>
          <p:cNvSpPr/>
          <p:nvPr/>
        </p:nvSpPr>
        <p:spPr>
          <a:xfrm>
            <a:off x="6384748" y="6207996"/>
            <a:ext cx="1676400" cy="914400"/>
          </a:xfrm>
          <a:prstGeom prst="roundRect">
            <a:avLst/>
          </a:prstGeom>
          <a:solidFill>
            <a:schemeClr val="accent4">
              <a:lumMod val="40000"/>
              <a:lumOff val="6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NSGA-II OPTIMIZATION</a:t>
            </a:r>
          </a:p>
        </p:txBody>
      </p:sp>
      <p:sp>
        <p:nvSpPr>
          <p:cNvPr id="67" name="Rectangle: Rounded Corners 66">
            <a:extLst>
              <a:ext uri="{FF2B5EF4-FFF2-40B4-BE49-F238E27FC236}">
                <a16:creationId xmlns:a16="http://schemas.microsoft.com/office/drawing/2014/main" id="{83122125-3A90-EBD9-4319-229BA9AD5A95}"/>
              </a:ext>
            </a:extLst>
          </p:cNvPr>
          <p:cNvSpPr/>
          <p:nvPr/>
        </p:nvSpPr>
        <p:spPr>
          <a:xfrm>
            <a:off x="701361" y="6217716"/>
            <a:ext cx="1676400" cy="914400"/>
          </a:xfrm>
          <a:prstGeom prst="roundRect">
            <a:avLst/>
          </a:prstGeom>
          <a:solidFill>
            <a:schemeClr val="bg1">
              <a:lumMod val="5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AI-BASED MOF RECOMMENDATION</a:t>
            </a:r>
          </a:p>
        </p:txBody>
      </p:sp>
      <p:sp>
        <p:nvSpPr>
          <p:cNvPr id="69" name="Arrow: Right 68">
            <a:extLst>
              <a:ext uri="{FF2B5EF4-FFF2-40B4-BE49-F238E27FC236}">
                <a16:creationId xmlns:a16="http://schemas.microsoft.com/office/drawing/2014/main" id="{701F65DD-4A8E-AF7E-7628-E01548124B91}"/>
              </a:ext>
            </a:extLst>
          </p:cNvPr>
          <p:cNvSpPr/>
          <p:nvPr/>
        </p:nvSpPr>
        <p:spPr>
          <a:xfrm rot="3610354">
            <a:off x="1316053" y="4404806"/>
            <a:ext cx="520032" cy="35198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Arrow: Right 70">
            <a:extLst>
              <a:ext uri="{FF2B5EF4-FFF2-40B4-BE49-F238E27FC236}">
                <a16:creationId xmlns:a16="http://schemas.microsoft.com/office/drawing/2014/main" id="{502D08D2-52A9-96EF-E424-807975F024D0}"/>
              </a:ext>
            </a:extLst>
          </p:cNvPr>
          <p:cNvSpPr/>
          <p:nvPr/>
        </p:nvSpPr>
        <p:spPr>
          <a:xfrm>
            <a:off x="2406644"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Arrow: Right 72">
            <a:extLst>
              <a:ext uri="{FF2B5EF4-FFF2-40B4-BE49-F238E27FC236}">
                <a16:creationId xmlns:a16="http://schemas.microsoft.com/office/drawing/2014/main" id="{1F6F3BDB-E115-187A-3E06-54D4DE2E216F}"/>
              </a:ext>
            </a:extLst>
          </p:cNvPr>
          <p:cNvSpPr/>
          <p:nvPr/>
        </p:nvSpPr>
        <p:spPr>
          <a:xfrm>
            <a:off x="4318539"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5" name="Arrow: Right 74">
            <a:extLst>
              <a:ext uri="{FF2B5EF4-FFF2-40B4-BE49-F238E27FC236}">
                <a16:creationId xmlns:a16="http://schemas.microsoft.com/office/drawing/2014/main" id="{325FC3F5-D77D-CCC2-AEA1-F4698E1D5F71}"/>
              </a:ext>
            </a:extLst>
          </p:cNvPr>
          <p:cNvSpPr/>
          <p:nvPr/>
        </p:nvSpPr>
        <p:spPr>
          <a:xfrm>
            <a:off x="6179537"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Arrow: Right 76">
            <a:extLst>
              <a:ext uri="{FF2B5EF4-FFF2-40B4-BE49-F238E27FC236}">
                <a16:creationId xmlns:a16="http://schemas.microsoft.com/office/drawing/2014/main" id="{57CE6293-6FC2-C601-A108-F3408195F28B}"/>
              </a:ext>
            </a:extLst>
          </p:cNvPr>
          <p:cNvSpPr/>
          <p:nvPr/>
        </p:nvSpPr>
        <p:spPr>
          <a:xfrm>
            <a:off x="8076597" y="5252057"/>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3D7D7F07-0DE1-B603-A022-959CD4549F29}"/>
              </a:ext>
            </a:extLst>
          </p:cNvPr>
          <p:cNvSpPr/>
          <p:nvPr/>
        </p:nvSpPr>
        <p:spPr>
          <a:xfrm rot="7840510">
            <a:off x="8911847" y="5884769"/>
            <a:ext cx="308712" cy="24263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3065D073-3A9E-C16B-47CB-AB0C9E26A874}"/>
              </a:ext>
            </a:extLst>
          </p:cNvPr>
          <p:cNvSpPr/>
          <p:nvPr/>
        </p:nvSpPr>
        <p:spPr>
          <a:xfrm rot="10800000">
            <a:off x="7804578" y="3667162"/>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Arrow: Right 82">
            <a:extLst>
              <a:ext uri="{FF2B5EF4-FFF2-40B4-BE49-F238E27FC236}">
                <a16:creationId xmlns:a16="http://schemas.microsoft.com/office/drawing/2014/main" id="{2847F021-76DC-1B4A-C389-F58619C8BB2B}"/>
              </a:ext>
            </a:extLst>
          </p:cNvPr>
          <p:cNvSpPr/>
          <p:nvPr/>
        </p:nvSpPr>
        <p:spPr>
          <a:xfrm rot="10800000">
            <a:off x="2409574" y="6504546"/>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7" name="Arrow: Right 86">
            <a:extLst>
              <a:ext uri="{FF2B5EF4-FFF2-40B4-BE49-F238E27FC236}">
                <a16:creationId xmlns:a16="http://schemas.microsoft.com/office/drawing/2014/main" id="{361BC170-9021-946C-0A50-C25694A0434E}"/>
              </a:ext>
            </a:extLst>
          </p:cNvPr>
          <p:cNvSpPr/>
          <p:nvPr/>
        </p:nvSpPr>
        <p:spPr>
          <a:xfrm rot="10800000">
            <a:off x="4284230" y="6540518"/>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9" name="Arrow: Right 88">
            <a:extLst>
              <a:ext uri="{FF2B5EF4-FFF2-40B4-BE49-F238E27FC236}">
                <a16:creationId xmlns:a16="http://schemas.microsoft.com/office/drawing/2014/main" id="{27E7B056-81A4-E2C9-472F-FF97070AD8AD}"/>
              </a:ext>
            </a:extLst>
          </p:cNvPr>
          <p:cNvSpPr/>
          <p:nvPr/>
        </p:nvSpPr>
        <p:spPr>
          <a:xfrm rot="10800000">
            <a:off x="6172760" y="6540518"/>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1" name="Arrow: Right 90">
            <a:extLst>
              <a:ext uri="{FF2B5EF4-FFF2-40B4-BE49-F238E27FC236}">
                <a16:creationId xmlns:a16="http://schemas.microsoft.com/office/drawing/2014/main" id="{A7C8D74B-1562-FF35-4BF3-A05A1D8D087E}"/>
              </a:ext>
            </a:extLst>
          </p:cNvPr>
          <p:cNvSpPr/>
          <p:nvPr/>
        </p:nvSpPr>
        <p:spPr>
          <a:xfrm rot="10800000">
            <a:off x="8076598" y="6540518"/>
            <a:ext cx="171802" cy="202152"/>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2" name="Rectangle: Rounded Corners 91">
            <a:extLst>
              <a:ext uri="{FF2B5EF4-FFF2-40B4-BE49-F238E27FC236}">
                <a16:creationId xmlns:a16="http://schemas.microsoft.com/office/drawing/2014/main" id="{0DD7CDF9-CCC4-C58D-9FD0-4A475778EC91}"/>
              </a:ext>
            </a:extLst>
          </p:cNvPr>
          <p:cNvSpPr/>
          <p:nvPr/>
        </p:nvSpPr>
        <p:spPr>
          <a:xfrm>
            <a:off x="3360249" y="63075"/>
            <a:ext cx="3866207" cy="671519"/>
          </a:xfrm>
          <a:prstGeom prst="roundRect">
            <a:avLst/>
          </a:prstGeom>
          <a:solidFill>
            <a:schemeClr val="accent5">
              <a:lumMod val="60000"/>
              <a:lumOff val="40000"/>
            </a:schemeClr>
          </a:solidFill>
          <a:ln>
            <a:solidFill>
              <a:schemeClr val="accent3">
                <a:lumMod val="20000"/>
                <a:lumOff val="80000"/>
              </a:schemeClr>
            </a:solidFill>
          </a:ln>
          <a:effectLst>
            <a:reflection blurRad="6350" stA="50000" endA="300" endPos="38500" dist="50800" dir="5400000" sy="-100000" algn="bl" rotWithShape="0"/>
          </a:effectLst>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WORK FLOW</a:t>
            </a:r>
          </a:p>
        </p:txBody>
      </p:sp>
      <p:sp>
        <p:nvSpPr>
          <p:cNvPr id="95" name="Rectangle 94">
            <a:extLst>
              <a:ext uri="{FF2B5EF4-FFF2-40B4-BE49-F238E27FC236}">
                <a16:creationId xmlns:a16="http://schemas.microsoft.com/office/drawing/2014/main" id="{C9DCDEE5-82C0-8B3F-4478-F7A82B69D806}"/>
              </a:ext>
            </a:extLst>
          </p:cNvPr>
          <p:cNvSpPr/>
          <p:nvPr/>
        </p:nvSpPr>
        <p:spPr>
          <a:xfrm>
            <a:off x="469900" y="1038225"/>
            <a:ext cx="9677400" cy="6324600"/>
          </a:xfrm>
          <a:prstGeom prst="rect">
            <a:avLst/>
          </a:prstGeom>
          <a:noFill/>
          <a:ln w="28575">
            <a:solidFill>
              <a:schemeClr val="accent4">
                <a:lumMod val="60000"/>
                <a:lumOff val="40000"/>
              </a:schemeClr>
            </a:solid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232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622300" y="533870"/>
            <a:ext cx="9753600" cy="2743315"/>
          </a:xfrm>
          <a:prstGeom prst="rect">
            <a:avLst/>
          </a:prstGeom>
        </p:spPr>
        <p:txBody>
          <a:bodyPr wrap="square">
            <a:spAutoFit/>
          </a:bodyPr>
          <a:lstStyle/>
          <a:p>
            <a:pPr>
              <a:lnSpc>
                <a:spcPct val="115000"/>
              </a:lnSpc>
              <a:spcAft>
                <a:spcPts val="800"/>
              </a:spcAft>
            </a:pPr>
            <a:r>
              <a:rPr lang="en-IN" b="1" kern="100" dirty="0">
                <a:solidFill>
                  <a:srgbClr val="C00000"/>
                </a:solidFill>
                <a:effectLst/>
                <a:latin typeface="Bell MT" panose="02020503060305020303" pitchFamily="18" charset="0"/>
                <a:ea typeface="Aptos"/>
                <a:cs typeface="Times New Roman" panose="02020603050405020304" pitchFamily="18" charset="0"/>
              </a:rPr>
              <a:t>Overall Pipeline</a:t>
            </a:r>
            <a:r>
              <a:rPr lang="en-IN" kern="100" dirty="0">
                <a:effectLst/>
                <a:latin typeface="Bell MT" panose="02020503060305020303" pitchFamily="18" charset="0"/>
                <a:ea typeface="Aptos"/>
                <a:cs typeface="Times New Roman" panose="02020603050405020304" pitchFamily="18" charset="0"/>
              </a:rPr>
              <a:t> </a:t>
            </a:r>
          </a:p>
          <a:p>
            <a:pPr>
              <a:lnSpc>
                <a:spcPct val="115000"/>
              </a:lnSpc>
              <a:spcAft>
                <a:spcPts val="800"/>
              </a:spcAft>
            </a:pPr>
            <a:r>
              <a:rPr lang="en-IN" kern="100" dirty="0">
                <a:effectLst/>
                <a:latin typeface="Bell MT" panose="02020503060305020303" pitchFamily="18" charset="0"/>
                <a:ea typeface="Aptos"/>
                <a:cs typeface="Times New Roman" panose="02020603050405020304" pitchFamily="18" charset="0"/>
              </a:rPr>
              <a:t>The overall pipeline begins with the MOF dataset, where relevant material properties are extracted, cleaned, and normalized. The processed features are given to the custom FT-Transformer, which learns relationships among MOF properties through self-attention. A self-supervised </a:t>
            </a:r>
            <a:r>
              <a:rPr lang="en-IN" kern="100" dirty="0" err="1">
                <a:effectLst/>
                <a:latin typeface="Bell MT" panose="02020503060305020303" pitchFamily="18" charset="0"/>
                <a:ea typeface="Aptos"/>
                <a:cs typeface="Times New Roman" panose="02020603050405020304" pitchFamily="18" charset="0"/>
              </a:rPr>
              <a:t>autoencoder</a:t>
            </a:r>
            <a:r>
              <a:rPr lang="en-IN" kern="100" dirty="0">
                <a:effectLst/>
                <a:latin typeface="Bell MT" panose="02020503060305020303" pitchFamily="18" charset="0"/>
                <a:ea typeface="Aptos"/>
                <a:cs typeface="Times New Roman" panose="02020603050405020304" pitchFamily="18" charset="0"/>
              </a:rPr>
              <a:t> trains the model to generate meaningful 384-dimensional MOF </a:t>
            </a:r>
            <a:r>
              <a:rPr lang="en-IN" kern="100" dirty="0" err="1">
                <a:effectLst/>
                <a:latin typeface="Bell MT" panose="02020503060305020303" pitchFamily="18" charset="0"/>
                <a:ea typeface="Aptos"/>
                <a:cs typeface="Times New Roman" panose="02020603050405020304" pitchFamily="18" charset="0"/>
              </a:rPr>
              <a:t>embeddings</a:t>
            </a:r>
            <a:r>
              <a:rPr lang="en-IN" kern="100" dirty="0">
                <a:effectLst/>
                <a:latin typeface="Bell MT" panose="02020503060305020303" pitchFamily="18" charset="0"/>
                <a:ea typeface="Aptos"/>
                <a:cs typeface="Times New Roman" panose="02020603050405020304" pitchFamily="18" charset="0"/>
              </a:rPr>
              <a:t>. These </a:t>
            </a:r>
            <a:r>
              <a:rPr lang="en-IN" kern="100" dirty="0" err="1">
                <a:effectLst/>
                <a:latin typeface="Bell MT" panose="02020503060305020303" pitchFamily="18" charset="0"/>
                <a:ea typeface="Aptos"/>
                <a:cs typeface="Times New Roman" panose="02020603050405020304" pitchFamily="18" charset="0"/>
              </a:rPr>
              <a:t>embeddings</a:t>
            </a:r>
            <a:r>
              <a:rPr lang="en-IN" kern="100" dirty="0">
                <a:effectLst/>
                <a:latin typeface="Bell MT" panose="02020503060305020303" pitchFamily="18" charset="0"/>
                <a:ea typeface="Aptos"/>
                <a:cs typeface="Times New Roman" panose="02020603050405020304" pitchFamily="18" charset="0"/>
              </a:rPr>
              <a:t> are indexed using FAISS for efficient similarity-based retrieval, enabling the system to identify the Top-100 candidate MOFs. Finally, the learned representations are evaluated using Accuracy, F1-score, Recall, AUC, and ROC analysis.</a:t>
            </a:r>
          </a:p>
        </p:txBody>
      </p:sp>
      <p:sp>
        <p:nvSpPr>
          <p:cNvPr id="6" name="Rectangle 5"/>
          <p:cNvSpPr/>
          <p:nvPr/>
        </p:nvSpPr>
        <p:spPr>
          <a:xfrm>
            <a:off x="612541" y="3552825"/>
            <a:ext cx="9525000" cy="2942024"/>
          </a:xfrm>
          <a:prstGeom prst="rect">
            <a:avLst/>
          </a:prstGeom>
        </p:spPr>
        <p:txBody>
          <a:bodyPr wrap="square">
            <a:spAutoFit/>
          </a:bodyPr>
          <a:lstStyle/>
          <a:p>
            <a:pPr>
              <a:lnSpc>
                <a:spcPct val="107000"/>
              </a:lnSpc>
              <a:spcBef>
                <a:spcPts val="200"/>
              </a:spcBef>
              <a:spcAft>
                <a:spcPts val="0"/>
              </a:spcAft>
            </a:pPr>
            <a:r>
              <a:rPr lang="en-IN" sz="1600" b="1" kern="100" dirty="0">
                <a:solidFill>
                  <a:srgbClr val="0070C0"/>
                </a:solidFill>
                <a:effectLst/>
                <a:latin typeface="Bell MT" panose="02020503060305020303" pitchFamily="18" charset="0"/>
                <a:ea typeface="Times New Roman" panose="02020603050405020304" pitchFamily="18" charset="0"/>
                <a:cs typeface="Times New Roman" panose="02020603050405020304" pitchFamily="18" charset="0"/>
              </a:rPr>
              <a:t>Results &amp; Discussion – Completed Work</a:t>
            </a:r>
            <a:endParaRPr lang="en-IN" sz="1600" b="1" kern="100" dirty="0">
              <a:solidFill>
                <a:srgbClr val="0A2F40"/>
              </a:solidFill>
              <a:effectLst/>
              <a:latin typeface="Bell MT" panose="02020503060305020303"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Data Preparation:</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Successfully cleaned, selected, normalized, and </a:t>
            </a:r>
            <a:r>
              <a:rPr lang="en-IN" sz="1600" kern="100" dirty="0" err="1">
                <a:effectLst/>
                <a:latin typeface="Bell MT" panose="02020503060305020303" pitchFamily="18" charset="0"/>
                <a:ea typeface="Aptos"/>
                <a:cs typeface="Times New Roman" panose="02020603050405020304" pitchFamily="18" charset="0"/>
              </a:rPr>
              <a:t>tensorized</a:t>
            </a:r>
            <a:r>
              <a:rPr lang="en-IN" sz="1600" kern="100" dirty="0">
                <a:effectLst/>
                <a:latin typeface="Bell MT" panose="02020503060305020303" pitchFamily="18" charset="0"/>
                <a:ea typeface="Aptos"/>
                <a:cs typeface="Times New Roman" panose="02020603050405020304" pitchFamily="18" charset="0"/>
              </a:rPr>
              <a:t> four MOF physical properties.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Representation Learning:</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Custom FT-Transformer generated </a:t>
            </a:r>
            <a:r>
              <a:rPr lang="en-IN" sz="1600" b="1" kern="100" dirty="0">
                <a:effectLst/>
                <a:highlight>
                  <a:srgbClr val="C0C0C0"/>
                </a:highlight>
                <a:latin typeface="Bell MT" panose="02020503060305020303" pitchFamily="18" charset="0"/>
                <a:ea typeface="Aptos"/>
                <a:cs typeface="Times New Roman" panose="02020603050405020304" pitchFamily="18" charset="0"/>
              </a:rPr>
              <a:t>384-D MOF</a:t>
            </a:r>
            <a:r>
              <a:rPr lang="en-IN" sz="1600" b="1" kern="100" dirty="0">
                <a:effectLst/>
                <a:latin typeface="Bell MT" panose="02020503060305020303" pitchFamily="18" charset="0"/>
                <a:ea typeface="Aptos"/>
                <a:cs typeface="Times New Roman" panose="02020603050405020304" pitchFamily="18" charset="0"/>
              </a:rPr>
              <a:t> </a:t>
            </a:r>
            <a:r>
              <a:rPr lang="en-IN" sz="1600" b="1"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using self-supervised reconstruction.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Training:</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MSE loss was monitored over </a:t>
            </a:r>
            <a:r>
              <a:rPr lang="en-IN" sz="1600" b="1" kern="100" dirty="0">
                <a:effectLst/>
                <a:highlight>
                  <a:srgbClr val="C0C0C0"/>
                </a:highlight>
                <a:latin typeface="Bell MT" panose="02020503060305020303" pitchFamily="18" charset="0"/>
                <a:ea typeface="Aptos"/>
                <a:cs typeface="Times New Roman" panose="02020603050405020304" pitchFamily="18" charset="0"/>
              </a:rPr>
              <a:t>50 training epochs</a:t>
            </a:r>
            <a:r>
              <a:rPr lang="en-IN" sz="1600" kern="100" dirty="0">
                <a:effectLst/>
                <a:highlight>
                  <a:srgbClr val="C0C0C0"/>
                </a:highlight>
                <a:latin typeface="Bell MT" panose="02020503060305020303" pitchFamily="18" charset="0"/>
                <a:ea typeface="Aptos"/>
                <a:cs typeface="Times New Roman" panose="02020603050405020304" pitchFamily="18" charset="0"/>
              </a:rPr>
              <a:t>.</a:t>
            </a:r>
            <a:r>
              <a:rPr lang="en-IN" sz="1600" kern="100" dirty="0">
                <a:effectLst/>
                <a:latin typeface="Bell MT" panose="02020503060305020303" pitchFamily="18" charset="0"/>
                <a:ea typeface="Aptos"/>
                <a:cs typeface="Times New Roman" panose="02020603050405020304" pitchFamily="18" charset="0"/>
              </a:rPr>
              <a:t>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Retrieval:</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FAISS successfully indexed the learned </a:t>
            </a:r>
            <a:r>
              <a:rPr lang="en-IN" sz="1600"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and retrieved </a:t>
            </a:r>
            <a:r>
              <a:rPr lang="en-IN" sz="1600" b="1" kern="100" dirty="0">
                <a:effectLst/>
                <a:highlight>
                  <a:srgbClr val="C0C0C0"/>
                </a:highlight>
                <a:latin typeface="Bell MT" panose="02020503060305020303" pitchFamily="18" charset="0"/>
                <a:ea typeface="Aptos"/>
                <a:cs typeface="Times New Roman" panose="02020603050405020304" pitchFamily="18" charset="0"/>
              </a:rPr>
              <a:t>Top-100 candidates</a:t>
            </a:r>
            <a:r>
              <a:rPr lang="en-IN" sz="1600" kern="100" dirty="0">
                <a:effectLst/>
                <a:highlight>
                  <a:srgbClr val="C0C0C0"/>
                </a:highlight>
                <a:latin typeface="Bell MT" panose="02020503060305020303" pitchFamily="18" charset="0"/>
                <a:ea typeface="Aptos"/>
                <a:cs typeface="Times New Roman" panose="02020603050405020304" pitchFamily="18" charset="0"/>
              </a:rPr>
              <a:t>.</a:t>
            </a:r>
            <a:r>
              <a:rPr lang="en-IN" sz="1600" kern="100" dirty="0">
                <a:effectLst/>
                <a:latin typeface="Bell MT" panose="02020503060305020303" pitchFamily="18" charset="0"/>
                <a:ea typeface="Aptos"/>
                <a:cs typeface="Times New Roman" panose="02020603050405020304" pitchFamily="18" charset="0"/>
              </a:rPr>
              <a:t>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Evaluation:</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Learned </a:t>
            </a:r>
            <a:r>
              <a:rPr lang="en-IN" sz="1600"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were evaluated using </a:t>
            </a:r>
            <a:r>
              <a:rPr lang="en-IN" sz="1600" b="1" kern="100" dirty="0">
                <a:effectLst/>
                <a:highlight>
                  <a:srgbClr val="C0C0C0"/>
                </a:highlight>
                <a:latin typeface="Bell MT" panose="02020503060305020303" pitchFamily="18" charset="0"/>
                <a:ea typeface="Aptos"/>
                <a:cs typeface="Times New Roman" panose="02020603050405020304" pitchFamily="18" charset="0"/>
              </a:rPr>
              <a:t>Accuracy, F1, Recall, AUC, and ROC</a:t>
            </a:r>
            <a:r>
              <a:rPr lang="en-IN" sz="1600" kern="100" dirty="0">
                <a:effectLst/>
                <a:highlight>
                  <a:srgbClr val="C0C0C0"/>
                </a:highlight>
                <a:latin typeface="Bell MT" panose="02020503060305020303" pitchFamily="18" charset="0"/>
                <a:ea typeface="Aptos"/>
                <a:cs typeface="Times New Roman" panose="02020603050405020304" pitchFamily="18" charset="0"/>
              </a:rPr>
              <a:t>. </a:t>
            </a:r>
            <a:endParaRPr lang="en-IN" sz="1600" kern="100" dirty="0">
              <a:effectLst/>
              <a:latin typeface="Bell MT" panose="02020503060305020303" pitchFamily="18" charset="0"/>
              <a:ea typeface="Aptos"/>
              <a:cs typeface="Times New Roman" panose="02020603050405020304" pitchFamily="18" charset="0"/>
            </a:endParaRPr>
          </a:p>
          <a:p>
            <a:r>
              <a:rPr lang="en-IN" sz="1600" b="1" dirty="0">
                <a:effectLst/>
                <a:latin typeface="Bell MT" panose="02020503060305020303" pitchFamily="18" charset="0"/>
                <a:ea typeface="Aptos"/>
                <a:cs typeface="Times New Roman" panose="02020603050405020304" pitchFamily="18" charset="0"/>
              </a:rPr>
              <a:t>Outcome:</a:t>
            </a:r>
            <a:r>
              <a:rPr lang="en-IN" sz="1600" dirty="0">
                <a:effectLst/>
                <a:latin typeface="Bell MT" panose="02020503060305020303" pitchFamily="18" charset="0"/>
                <a:ea typeface="Aptos"/>
                <a:cs typeface="Times New Roman" panose="02020603050405020304" pitchFamily="18" charset="0"/>
              </a:rPr>
              <a:t> Established a deep-learning-based MOF representation and retrieval foundation for the proposed recommendation system</a:t>
            </a:r>
            <a:endParaRPr lang="en-IN" sz="1600" dirty="0">
              <a:latin typeface="Bell MT" panose="020205030603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flipH="1">
            <a:off x="241300" y="428625"/>
            <a:ext cx="10209924" cy="584775"/>
          </a:xfrm>
          <a:prstGeom prst="rect">
            <a:avLst/>
          </a:prstGeom>
          <a:solidFill>
            <a:schemeClr val="accent1">
              <a:lumMod val="40000"/>
              <a:lumOff val="60000"/>
            </a:schemeClr>
          </a:solidFill>
        </p:spPr>
        <p:txBody>
          <a:bodyPr wrap="square" rtlCol="0">
            <a:spAutoFit/>
          </a:bodyPr>
          <a:lstStyle/>
          <a:p>
            <a:r>
              <a:rPr lang="en-US" sz="3200" b="1" dirty="0"/>
              <a:t>Results</a:t>
            </a:r>
            <a:endParaRPr lang="en-IN" sz="3200" b="1" dirty="0"/>
          </a:p>
        </p:txBody>
      </p:sp>
      <p:pic>
        <p:nvPicPr>
          <p:cNvPr id="5" name="Picture 4"/>
          <p:cNvPicPr>
            <a:picLocks noChangeAspect="1"/>
          </p:cNvPicPr>
          <p:nvPr/>
        </p:nvPicPr>
        <p:blipFill>
          <a:blip r:embed="rId2"/>
          <a:stretch>
            <a:fillRect/>
          </a:stretch>
        </p:blipFill>
        <p:spPr>
          <a:xfrm>
            <a:off x="241299" y="1495425"/>
            <a:ext cx="4572507" cy="3733800"/>
          </a:xfrm>
          <a:prstGeom prst="rect">
            <a:avLst/>
          </a:prstGeom>
        </p:spPr>
      </p:pic>
      <p:pic>
        <p:nvPicPr>
          <p:cNvPr id="6" name="Picture 5"/>
          <p:cNvPicPr>
            <a:picLocks noChangeAspect="1"/>
          </p:cNvPicPr>
          <p:nvPr/>
        </p:nvPicPr>
        <p:blipFill>
          <a:blip r:embed="rId3"/>
          <a:stretch>
            <a:fillRect/>
          </a:stretch>
        </p:blipFill>
        <p:spPr>
          <a:xfrm>
            <a:off x="5499100" y="1428750"/>
            <a:ext cx="4620578" cy="3771900"/>
          </a:xfrm>
          <a:prstGeom prst="rect">
            <a:avLst/>
          </a:prstGeom>
        </p:spPr>
      </p:pic>
    </p:spTree>
    <p:extLst>
      <p:ext uri="{BB962C8B-B14F-4D97-AF65-F5344CB8AC3E}">
        <p14:creationId xmlns:p14="http://schemas.microsoft.com/office/powerpoint/2010/main" val="3943749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2755900" y="3248025"/>
            <a:ext cx="9093200" cy="1243930"/>
          </a:xfrm>
          <a:prstGeom prst="rect">
            <a:avLst/>
          </a:prstGeom>
        </p:spPr>
        <p:txBody>
          <a:bodyPr vert="horz" wrap="square" lIns="0" tIns="12700" rIns="0" bIns="0" rtlCol="0">
            <a:spAutoFit/>
          </a:bodyPr>
          <a:lstStyle/>
          <a:p>
            <a:pPr marL="12700">
              <a:lnSpc>
                <a:spcPct val="100000"/>
              </a:lnSpc>
              <a:spcBef>
                <a:spcPts val="100"/>
              </a:spcBef>
            </a:pPr>
            <a:r>
              <a:rPr sz="8000" dirty="0">
                <a:solidFill>
                  <a:srgbClr val="00B0F0"/>
                </a:solidFill>
              </a:rPr>
              <a:t>Thank</a:t>
            </a:r>
            <a:r>
              <a:rPr sz="8000" spc="-50" dirty="0">
                <a:solidFill>
                  <a:srgbClr val="00B0F0"/>
                </a:solidFill>
              </a:rPr>
              <a:t> </a:t>
            </a:r>
            <a:r>
              <a:rPr sz="8000" spc="-35" dirty="0">
                <a:solidFill>
                  <a:srgbClr val="00B0F0"/>
                </a:solidFill>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765</TotalTime>
  <Words>2767</Words>
  <Application>Microsoft Office PowerPoint</Application>
  <PresentationFormat>Custom</PresentationFormat>
  <Paragraphs>314</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Black</vt:lpstr>
      <vt:lpstr>Arial MT</vt:lpstr>
      <vt:lpstr>Bell MT</vt:lpstr>
      <vt:lpstr>Cambria Math</vt:lpstr>
      <vt:lpstr>Tahoma</vt:lpstr>
      <vt:lpstr>Times New Roman</vt:lpstr>
      <vt:lpstr>Wingdings</vt:lpstr>
      <vt:lpstr>Office Theme</vt:lpstr>
      <vt:lpstr>AI-Driven Explainable MOF Recommendation with RAG and Multi-Objective Optimization</vt:lpstr>
      <vt:lpstr>Introduction</vt:lpstr>
      <vt:lpstr>PowerPoint Presentation</vt:lpstr>
      <vt:lpstr>PowerPoint Presentation</vt:lpstr>
      <vt:lpstr>Optimize and preprocess MOF data. Develop a custom FT-Transformer for MOF representation learning. Generate 384-D MOF embeddings using self-supervised learning. Implement FAISS-based similarity retrieval. Evaluate the learned representations using standard ML metrics. Extend the framework toward natural-language, RAG-based, optimized and explainable MOF recommendation.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Explainable MOF Recommendation with RAG and Multi-Objective Optimization</dc:title>
  <dc:creator>AMRUTHA</dc:creator>
  <cp:lastModifiedBy>poojitha devineni</cp:lastModifiedBy>
  <cp:revision>14</cp:revision>
  <dcterms:created xsi:type="dcterms:W3CDTF">2026-08-17T16:20:55Z</dcterms:created>
  <dcterms:modified xsi:type="dcterms:W3CDTF">2026-08-18T05:13:10Z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2026-08-17T00:00:00Z</vt:filetime>
  </property>
  <property fmtid="{D5CDD505-2E9C-101B-9397-08002B2CF9AE}" pid="4" name="Creator">
    <vt:lpwstr>Microsoft® Word 2016</vt:lpwstr>
  </property>
  <property fmtid="{D5CDD505-2E9C-101B-9397-08002B2CF9AE}" pid="5" name="LastSaved">
    <vt:filetime>2026-08-17T00:00:00Z</vt:filetime>
  </property>
  <property fmtid="{D5CDD505-2E9C-101B-9397-08002B2CF9AE}" pid="6" name="Producer">
    <vt:lpwstr>Microsoft® Word 2016</vt:lpwstr>
  </property>
</Properties>
</file>