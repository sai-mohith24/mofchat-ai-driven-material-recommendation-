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057392c-ecc8-0b19-870e-fdd8bd8fa728}">
          <p14:sldIdLst>
            <p14:sldId id="256"/>
            <p14:sldId id="257"/>
            <p14:sldId id="258"/>
            <p14:sldId id="259"/>
          </p14:sldIdLst>
        </p14:section>
        <p14:section name="Literature" id="{a3bb3d86-6058-fb20-edf2-2e54b6ba4db7}">
          <p14:sldIdLst>
            <p14:sldId id="260"/>
            <p14:sldId id="261"/>
          </p14:sldIdLst>
        </p14:section>
        <p14:section name="Method" id="{02870f92-c162-b3f6-cb99-4c3660924c3e}">
          <p14:sldIdLst>
            <p14:sldId id="262"/>
            <p14:sldId id="263"/>
            <p14:sldId id="264"/>
            <p14:sldId id="265"/>
            <p14:sldId id="266"/>
            <p14:sldId id="267"/>
            <p14:sldId id="268"/>
            <p14:sldId id="269"/>
          </p14:sldIdLst>
        </p14:section>
        <p14:section name="Results" id="{d6b4b710-43e3-28f3-6c6d-1d7b900c6075}">
          <p14:sldIdLst>
            <p14:sldId id="270"/>
            <p14:sldId id="271"/>
            <p14:sldId id="272"/>
            <p14:sldId id="273"/>
            <p14:sldId id="274"/>
            <p14:sldId id="275"/>
            <p14:sldId id="276"/>
          </p14:sldIdLst>
        </p14:section>
        <p14:section name="Application" id="{c404ceb3-ddc6-1230-55da-af8be2b31967}">
          <p14:sldIdLst>
            <p14:sldId id="277"/>
          </p14:sldIdLst>
        </p14:section>
        <p14:section name="Conclusion" id="{5b1b83a2-651d-687f-7341-a0a4b012c610}">
          <p14:sldIdLst>
            <p14:sldId id="278"/>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433"/>
                </a:solidFill>
                <a:latin typeface="+mn-lt"/>
              </a:defRPr>
            </a:pPr>
            <a:r>
              <a:rPr sz="1400" b="0" i="0" u="none" strike="noStrike">
                <a:solidFill>
                  <a:srgbClr val="0F2433"/>
                </a:solidFill>
                <a:latin typeface="+mn-lt"/>
              </a:rPr>
              <a:t>H₂ storage: 10,226 MOFs with PLD ≥ 2.89 Å</a:t>
            </a:r>
          </a:p>
        </c:rich>
      </c:tx>
      <c:layout/>
      <c:overlay val="0"/>
    </c:title>
    <c:autoTitleDeleted val="0"/>
    <c:plotArea>
      <c:layout/>
      <c:scatterChart>
        <c:scatterStyle val="lineMarker"/>
        <c:varyColors val="0"/>
        <c:ser>
          <c:idx val="0"/>
          <c:order val="0"/>
          <c:tx>
            <c:strRef>
              <c:f>Sheet1!$B$1</c:f>
              <c:strCache>
                <c:ptCount val="1"/>
                <c:pt idx="0">
                  <c:v>Candidates (sample of 700)</c:v>
                </c:pt>
              </c:strCache>
            </c:strRef>
          </c:tx>
          <c:spPr>
            <a:solidFill>
              <a:srgbClr val="C5CFD3"/>
            </a:solidFill>
            <a:ln>
              <a:noFill/>
            </a:ln>
            <a:effectLst/>
          </c:spPr>
          <c:marker>
            <c:symbol val="circle"/>
            <c:size val="6"/>
            <c:spPr>
              <a:solidFill>
                <a:srgbClr val="C5CFD3"/>
              </a:solidFill>
              <a:ln w="9525" cap="flat">
                <a:solidFill>
                  <a:srgbClr val="C5CFD3"/>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Sheet1!$B$2:$B$714</c:f>
              <c:numCache>
                <c:formatCode>General</c:formatCode>
                <c:ptCount val="713"/>
                <c:pt idx="0">
                  <c:v>0.448</c:v>
                </c:pt>
                <c:pt idx="1">
                  <c:v>0.554</c:v>
                </c:pt>
                <c:pt idx="2">
                  <c:v>0.7312</c:v>
                </c:pt>
                <c:pt idx="3">
                  <c:v>0.7368</c:v>
                </c:pt>
                <c:pt idx="4">
                  <c:v>0.503</c:v>
                </c:pt>
                <c:pt idx="5">
                  <c:v>0.662</c:v>
                </c:pt>
                <c:pt idx="6">
                  <c:v>0.6096</c:v>
                </c:pt>
                <c:pt idx="7">
                  <c:v>0.4062</c:v>
                </c:pt>
                <c:pt idx="8">
                  <c:v>0.4692</c:v>
                </c:pt>
                <c:pt idx="9">
                  <c:v>0.4418</c:v>
                </c:pt>
                <c:pt idx="10">
                  <c:v>0.6396</c:v>
                </c:pt>
                <c:pt idx="11">
                  <c:v>0.4898</c:v>
                </c:pt>
                <c:pt idx="12">
                  <c:v>0.5302</c:v>
                </c:pt>
                <c:pt idx="13">
                  <c:v>0.3928</c:v>
                </c:pt>
                <c:pt idx="14">
                  <c:v>0.4036</c:v>
                </c:pt>
                <c:pt idx="15">
                  <c:v>0.5828</c:v>
                </c:pt>
                <c:pt idx="16">
                  <c:v>0.5378</c:v>
                </c:pt>
                <c:pt idx="17">
                  <c:v>0.566</c:v>
                </c:pt>
                <c:pt idx="18">
                  <c:v>0.4848</c:v>
                </c:pt>
                <c:pt idx="19">
                  <c:v>0.4918</c:v>
                </c:pt>
                <c:pt idx="20">
                  <c:v>0.4378</c:v>
                </c:pt>
                <c:pt idx="21">
                  <c:v>0.59</c:v>
                </c:pt>
                <c:pt idx="22">
                  <c:v>0.5452</c:v>
                </c:pt>
                <c:pt idx="23">
                  <c:v>0.5494</c:v>
                </c:pt>
                <c:pt idx="24">
                  <c:v>0.4776</c:v>
                </c:pt>
                <c:pt idx="25">
                  <c:v>0.8196</c:v>
                </c:pt>
                <c:pt idx="26">
                  <c:v>0.644</c:v>
                </c:pt>
                <c:pt idx="27">
                  <c:v>0.4624</c:v>
                </c:pt>
                <c:pt idx="28">
                  <c:v>0.4686</c:v>
                </c:pt>
                <c:pt idx="29">
                  <c:v>0.5974</c:v>
                </c:pt>
                <c:pt idx="30">
                  <c:v>0.3946</c:v>
                </c:pt>
                <c:pt idx="31">
                  <c:v>0.6638</c:v>
                </c:pt>
                <c:pt idx="32">
                  <c:v>0.8662</c:v>
                </c:pt>
                <c:pt idx="33">
                  <c:v>0.5956</c:v>
                </c:pt>
                <c:pt idx="34">
                  <c:v>0.674</c:v>
                </c:pt>
                <c:pt idx="35">
                  <c:v>0.8658</c:v>
                </c:pt>
                <c:pt idx="36">
                  <c:v>0.5546</c:v>
                </c:pt>
                <c:pt idx="37">
                  <c:v>0.7084</c:v>
                </c:pt>
                <c:pt idx="38">
                  <c:v>0.596</c:v>
                </c:pt>
                <c:pt idx="39">
                  <c:v>0.529</c:v>
                </c:pt>
                <c:pt idx="40">
                  <c:v>0.5298</c:v>
                </c:pt>
                <c:pt idx="41">
                  <c:v>0.5514</c:v>
                </c:pt>
                <c:pt idx="42">
                  <c:v>0.6086</c:v>
                </c:pt>
                <c:pt idx="43">
                  <c:v>0.459</c:v>
                </c:pt>
                <c:pt idx="44">
                  <c:v>0.5792</c:v>
                </c:pt>
                <c:pt idx="45">
                  <c:v>0.5722</c:v>
                </c:pt>
                <c:pt idx="46">
                  <c:v>0.6808</c:v>
                </c:pt>
                <c:pt idx="47">
                  <c:v>0.5408</c:v>
                </c:pt>
                <c:pt idx="48">
                  <c:v>0.7312</c:v>
                </c:pt>
                <c:pt idx="49">
                  <c:v>0.6246</c:v>
                </c:pt>
                <c:pt idx="50">
                  <c:v>0.621</c:v>
                </c:pt>
                <c:pt idx="51">
                  <c:v>0.5752</c:v>
                </c:pt>
                <c:pt idx="52">
                  <c:v>0.4844</c:v>
                </c:pt>
                <c:pt idx="53">
                  <c:v>0.4742</c:v>
                </c:pt>
                <c:pt idx="54">
                  <c:v>0.4496</c:v>
                </c:pt>
                <c:pt idx="55">
                  <c:v>0.4944</c:v>
                </c:pt>
                <c:pt idx="56">
                  <c:v>0.5568</c:v>
                </c:pt>
                <c:pt idx="57">
                  <c:v>0.5274</c:v>
                </c:pt>
                <c:pt idx="58">
                  <c:v>0.573</c:v>
                </c:pt>
                <c:pt idx="59">
                  <c:v>0.4966</c:v>
                </c:pt>
                <c:pt idx="60">
                  <c:v>0.4434</c:v>
                </c:pt>
                <c:pt idx="61">
                  <c:v>0.5116</c:v>
                </c:pt>
                <c:pt idx="62">
                  <c:v>0.827</c:v>
                </c:pt>
                <c:pt idx="63">
                  <c:v>0.6478</c:v>
                </c:pt>
                <c:pt idx="64">
                  <c:v>0.614</c:v>
                </c:pt>
                <c:pt idx="65">
                  <c:v>0.416</c:v>
                </c:pt>
                <c:pt idx="66">
                  <c:v>0.4754</c:v>
                </c:pt>
                <c:pt idx="67">
                  <c:v>0.6366</c:v>
                </c:pt>
                <c:pt idx="68">
                  <c:v>0.4722</c:v>
                </c:pt>
                <c:pt idx="69">
                  <c:v>0.5156</c:v>
                </c:pt>
                <c:pt idx="70">
                  <c:v>0.5446</c:v>
                </c:pt>
                <c:pt idx="71">
                  <c:v>0.5542</c:v>
                </c:pt>
                <c:pt idx="72">
                  <c:v>0.5486</c:v>
                </c:pt>
                <c:pt idx="73">
                  <c:v>0.6776</c:v>
                </c:pt>
                <c:pt idx="74">
                  <c:v>0.659</c:v>
                </c:pt>
                <c:pt idx="75">
                  <c:v>0.5434</c:v>
                </c:pt>
                <c:pt idx="76">
                  <c:v>0.6094</c:v>
                </c:pt>
                <c:pt idx="77">
                  <c:v>0.5212</c:v>
                </c:pt>
                <c:pt idx="78">
                  <c:v>0.5128</c:v>
                </c:pt>
                <c:pt idx="79">
                  <c:v>0.67</c:v>
                </c:pt>
                <c:pt idx="80">
                  <c:v>0.5976</c:v>
                </c:pt>
                <c:pt idx="81">
                  <c:v>0.4524</c:v>
                </c:pt>
                <c:pt idx="82">
                  <c:v>0.631</c:v>
                </c:pt>
                <c:pt idx="83">
                  <c:v>0.4672</c:v>
                </c:pt>
                <c:pt idx="84">
                  <c:v>0.788</c:v>
                </c:pt>
                <c:pt idx="85">
                  <c:v>0.693</c:v>
                </c:pt>
                <c:pt idx="86">
                  <c:v>0.7914</c:v>
                </c:pt>
                <c:pt idx="87">
                  <c:v>0.7402</c:v>
                </c:pt>
                <c:pt idx="88">
                  <c:v>0.6398</c:v>
                </c:pt>
                <c:pt idx="89">
                  <c:v>0.5474</c:v>
                </c:pt>
                <c:pt idx="90">
                  <c:v>0.5964</c:v>
                </c:pt>
                <c:pt idx="91">
                  <c:v>0.4558</c:v>
                </c:pt>
                <c:pt idx="92">
                  <c:v>0.648</c:v>
                </c:pt>
                <c:pt idx="93">
                  <c:v>0.5024</c:v>
                </c:pt>
                <c:pt idx="94">
                  <c:v>0.64</c:v>
                </c:pt>
                <c:pt idx="95">
                  <c:v>0.7268</c:v>
                </c:pt>
                <c:pt idx="96">
                  <c:v>0.5352</c:v>
                </c:pt>
                <c:pt idx="97">
                  <c:v>0.4756</c:v>
                </c:pt>
                <c:pt idx="98">
                  <c:v>0.6024</c:v>
                </c:pt>
                <c:pt idx="99">
                  <c:v>0.4648</c:v>
                </c:pt>
                <c:pt idx="100">
                  <c:v>0.4016</c:v>
                </c:pt>
                <c:pt idx="101">
                  <c:v>0.495</c:v>
                </c:pt>
                <c:pt idx="102">
                  <c:v>0.5586</c:v>
                </c:pt>
                <c:pt idx="103">
                  <c:v>0.5114</c:v>
                </c:pt>
                <c:pt idx="104">
                  <c:v>0.701</c:v>
                </c:pt>
                <c:pt idx="105">
                  <c:v>0.626</c:v>
                </c:pt>
                <c:pt idx="106">
                  <c:v>0.3762</c:v>
                </c:pt>
                <c:pt idx="107">
                  <c:v>0.6114</c:v>
                </c:pt>
                <c:pt idx="108">
                  <c:v>0.5858</c:v>
                </c:pt>
                <c:pt idx="109">
                  <c:v>0.507</c:v>
                </c:pt>
                <c:pt idx="110">
                  <c:v>0.4168</c:v>
                </c:pt>
                <c:pt idx="111">
                  <c:v>0.7288</c:v>
                </c:pt>
                <c:pt idx="112">
                  <c:v>0.6304</c:v>
                </c:pt>
                <c:pt idx="113">
                  <c:v>0.5034</c:v>
                </c:pt>
                <c:pt idx="114">
                  <c:v>0.3948</c:v>
                </c:pt>
                <c:pt idx="115">
                  <c:v>0.4926</c:v>
                </c:pt>
                <c:pt idx="116">
                  <c:v>0.4116</c:v>
                </c:pt>
                <c:pt idx="117">
                  <c:v>0.4712</c:v>
                </c:pt>
                <c:pt idx="118">
                  <c:v>0.5602</c:v>
                </c:pt>
                <c:pt idx="119">
                  <c:v>0.72</c:v>
                </c:pt>
                <c:pt idx="120">
                  <c:v>0.6198</c:v>
                </c:pt>
                <c:pt idx="121">
                  <c:v>0.6956</c:v>
                </c:pt>
                <c:pt idx="122">
                  <c:v>0.6888</c:v>
                </c:pt>
                <c:pt idx="123">
                  <c:v>0.542</c:v>
                </c:pt>
                <c:pt idx="124">
                  <c:v>0.5074</c:v>
                </c:pt>
                <c:pt idx="125">
                  <c:v>0.476</c:v>
                </c:pt>
                <c:pt idx="126">
                  <c:v>0.3626</c:v>
                </c:pt>
                <c:pt idx="127">
                  <c:v>0.644</c:v>
                </c:pt>
                <c:pt idx="128">
                  <c:v>0.5114</c:v>
                </c:pt>
                <c:pt idx="129">
                  <c:v>0.4804</c:v>
                </c:pt>
                <c:pt idx="130">
                  <c:v>0.4296</c:v>
                </c:pt>
                <c:pt idx="131">
                  <c:v>0.7576</c:v>
                </c:pt>
                <c:pt idx="132">
                  <c:v>0.5368</c:v>
                </c:pt>
                <c:pt idx="133">
                  <c:v>0.4328</c:v>
                </c:pt>
                <c:pt idx="134">
                  <c:v>0.3716</c:v>
                </c:pt>
                <c:pt idx="135">
                  <c:v>0.4474</c:v>
                </c:pt>
                <c:pt idx="136">
                  <c:v>0.691</c:v>
                </c:pt>
                <c:pt idx="137">
                  <c:v>0.6542</c:v>
                </c:pt>
                <c:pt idx="138">
                  <c:v>0.4784</c:v>
                </c:pt>
                <c:pt idx="139">
                  <c:v>0.5356</c:v>
                </c:pt>
                <c:pt idx="140">
                  <c:v>0.7418</c:v>
                </c:pt>
                <c:pt idx="141">
                  <c:v>0.5924</c:v>
                </c:pt>
                <c:pt idx="142">
                  <c:v>0.4688</c:v>
                </c:pt>
                <c:pt idx="143">
                  <c:v>0.5254</c:v>
                </c:pt>
                <c:pt idx="144">
                  <c:v>0.5126</c:v>
                </c:pt>
                <c:pt idx="145">
                  <c:v>0.4992</c:v>
                </c:pt>
                <c:pt idx="146">
                  <c:v>0.7354</c:v>
                </c:pt>
                <c:pt idx="147">
                  <c:v>0.6824</c:v>
                </c:pt>
                <c:pt idx="148">
                  <c:v>0.577</c:v>
                </c:pt>
                <c:pt idx="149">
                  <c:v>0.4472</c:v>
                </c:pt>
                <c:pt idx="150">
                  <c:v>0.431</c:v>
                </c:pt>
                <c:pt idx="151">
                  <c:v>0.4148</c:v>
                </c:pt>
                <c:pt idx="152">
                  <c:v>0.4642</c:v>
                </c:pt>
                <c:pt idx="153">
                  <c:v>0.764</c:v>
                </c:pt>
                <c:pt idx="154">
                  <c:v>0.6074</c:v>
                </c:pt>
                <c:pt idx="155">
                  <c:v>0.811</c:v>
                </c:pt>
                <c:pt idx="156">
                  <c:v>0.5122</c:v>
                </c:pt>
                <c:pt idx="157">
                  <c:v>0.4634</c:v>
                </c:pt>
                <c:pt idx="158">
                  <c:v>0.3428</c:v>
                </c:pt>
                <c:pt idx="159">
                  <c:v>0.552</c:v>
                </c:pt>
                <c:pt idx="160">
                  <c:v>0.4604</c:v>
                </c:pt>
                <c:pt idx="161">
                  <c:v>0.6258</c:v>
                </c:pt>
                <c:pt idx="162">
                  <c:v>0.749</c:v>
                </c:pt>
                <c:pt idx="163">
                  <c:v>0.783</c:v>
                </c:pt>
                <c:pt idx="164">
                  <c:v>0.6286</c:v>
                </c:pt>
                <c:pt idx="165">
                  <c:v>0.7584</c:v>
                </c:pt>
                <c:pt idx="166">
                  <c:v>0.4406</c:v>
                </c:pt>
                <c:pt idx="167">
                  <c:v>0.499</c:v>
                </c:pt>
                <c:pt idx="168">
                  <c:v>0.5752</c:v>
                </c:pt>
                <c:pt idx="169">
                  <c:v>0.612</c:v>
                </c:pt>
                <c:pt idx="170">
                  <c:v>0.815</c:v>
                </c:pt>
                <c:pt idx="171">
                  <c:v>0.461</c:v>
                </c:pt>
                <c:pt idx="172">
                  <c:v>0.608</c:v>
                </c:pt>
                <c:pt idx="173">
                  <c:v>0.4626</c:v>
                </c:pt>
                <c:pt idx="174">
                  <c:v>0.6472</c:v>
                </c:pt>
                <c:pt idx="175">
                  <c:v>0.6628</c:v>
                </c:pt>
                <c:pt idx="176">
                  <c:v>0.577</c:v>
                </c:pt>
                <c:pt idx="177">
                  <c:v>0.5094</c:v>
                </c:pt>
                <c:pt idx="178">
                  <c:v>0.4686</c:v>
                </c:pt>
                <c:pt idx="179">
                  <c:v>0.6442</c:v>
                </c:pt>
                <c:pt idx="180">
                  <c:v>0.445</c:v>
                </c:pt>
                <c:pt idx="181">
                  <c:v>0.5216</c:v>
                </c:pt>
                <c:pt idx="182">
                  <c:v>0.4526</c:v>
                </c:pt>
                <c:pt idx="183">
                  <c:v>0.5298</c:v>
                </c:pt>
                <c:pt idx="184">
                  <c:v>0.3472</c:v>
                </c:pt>
                <c:pt idx="185">
                  <c:v>0.6948</c:v>
                </c:pt>
                <c:pt idx="186">
                  <c:v>0.397</c:v>
                </c:pt>
                <c:pt idx="187">
                  <c:v>0.6146</c:v>
                </c:pt>
                <c:pt idx="188">
                  <c:v>0.4654</c:v>
                </c:pt>
                <c:pt idx="189">
                  <c:v>0.7208</c:v>
                </c:pt>
                <c:pt idx="190">
                  <c:v>0.4076</c:v>
                </c:pt>
                <c:pt idx="191">
                  <c:v>0.493</c:v>
                </c:pt>
                <c:pt idx="192">
                  <c:v>0.5476</c:v>
                </c:pt>
                <c:pt idx="193">
                  <c:v>0.64</c:v>
                </c:pt>
                <c:pt idx="194">
                  <c:v>0.4674</c:v>
                </c:pt>
                <c:pt idx="195">
                  <c:v>0.6286</c:v>
                </c:pt>
                <c:pt idx="196">
                  <c:v>0.6462</c:v>
                </c:pt>
                <c:pt idx="197">
                  <c:v>0.826</c:v>
                </c:pt>
                <c:pt idx="198">
                  <c:v>0.5276</c:v>
                </c:pt>
                <c:pt idx="199">
                  <c:v>0.6638</c:v>
                </c:pt>
                <c:pt idx="200">
                  <c:v>0.7296</c:v>
                </c:pt>
                <c:pt idx="201">
                  <c:v>0.7096</c:v>
                </c:pt>
                <c:pt idx="202">
                  <c:v>0.5068</c:v>
                </c:pt>
                <c:pt idx="203">
                  <c:v>0.4366</c:v>
                </c:pt>
                <c:pt idx="204">
                  <c:v>0.3842</c:v>
                </c:pt>
                <c:pt idx="205">
                  <c:v>0.7072</c:v>
                </c:pt>
                <c:pt idx="206">
                  <c:v>0.7298</c:v>
                </c:pt>
                <c:pt idx="207">
                  <c:v>0.4538</c:v>
                </c:pt>
                <c:pt idx="208">
                  <c:v>0.6858</c:v>
                </c:pt>
                <c:pt idx="209">
                  <c:v>0.6654</c:v>
                </c:pt>
                <c:pt idx="210">
                  <c:v>0.6596</c:v>
                </c:pt>
                <c:pt idx="211">
                  <c:v>0.4834</c:v>
                </c:pt>
                <c:pt idx="212">
                  <c:v>0.6484</c:v>
                </c:pt>
                <c:pt idx="213">
                  <c:v>0.654</c:v>
                </c:pt>
                <c:pt idx="214">
                  <c:v>0.5844</c:v>
                </c:pt>
                <c:pt idx="215">
                  <c:v>0.8696</c:v>
                </c:pt>
                <c:pt idx="216">
                  <c:v>0.554</c:v>
                </c:pt>
                <c:pt idx="217">
                  <c:v>0.6526</c:v>
                </c:pt>
                <c:pt idx="218">
                  <c:v>0.538</c:v>
                </c:pt>
                <c:pt idx="219">
                  <c:v>0.464</c:v>
                </c:pt>
                <c:pt idx="220">
                  <c:v>0.577</c:v>
                </c:pt>
                <c:pt idx="221">
                  <c:v>0.4048</c:v>
                </c:pt>
                <c:pt idx="222">
                  <c:v>0.5652</c:v>
                </c:pt>
                <c:pt idx="223">
                  <c:v>0.3406</c:v>
                </c:pt>
                <c:pt idx="224">
                  <c:v>0.72</c:v>
                </c:pt>
                <c:pt idx="225">
                  <c:v>0.562</c:v>
                </c:pt>
                <c:pt idx="226">
                  <c:v>0.6024</c:v>
                </c:pt>
                <c:pt idx="227">
                  <c:v>0.4368</c:v>
                </c:pt>
                <c:pt idx="228">
                  <c:v>0.7912</c:v>
                </c:pt>
                <c:pt idx="229">
                  <c:v>0.5686</c:v>
                </c:pt>
                <c:pt idx="230">
                  <c:v>0.4572</c:v>
                </c:pt>
                <c:pt idx="231">
                  <c:v>0.788</c:v>
                </c:pt>
                <c:pt idx="232">
                  <c:v>0.4682</c:v>
                </c:pt>
                <c:pt idx="233">
                  <c:v>0.6218</c:v>
                </c:pt>
                <c:pt idx="234">
                  <c:v>0.6328</c:v>
                </c:pt>
                <c:pt idx="235">
                  <c:v>0.6084</c:v>
                </c:pt>
                <c:pt idx="236">
                  <c:v>0.5908</c:v>
                </c:pt>
                <c:pt idx="237">
                  <c:v>0.5404</c:v>
                </c:pt>
                <c:pt idx="238">
                  <c:v>0.3926</c:v>
                </c:pt>
                <c:pt idx="239">
                  <c:v>0.506</c:v>
                </c:pt>
                <c:pt idx="240">
                  <c:v>0.7072</c:v>
                </c:pt>
                <c:pt idx="241">
                  <c:v>0.5394</c:v>
                </c:pt>
                <c:pt idx="242">
                  <c:v>0.5084</c:v>
                </c:pt>
                <c:pt idx="243">
                  <c:v>0.5288</c:v>
                </c:pt>
                <c:pt idx="244">
                  <c:v>0.46</c:v>
                </c:pt>
                <c:pt idx="245">
                  <c:v>0.4648</c:v>
                </c:pt>
                <c:pt idx="246">
                  <c:v>0.5972</c:v>
                </c:pt>
                <c:pt idx="247">
                  <c:v>0.5782</c:v>
                </c:pt>
                <c:pt idx="248">
                  <c:v>0.7178</c:v>
                </c:pt>
                <c:pt idx="249">
                  <c:v>0.6018</c:v>
                </c:pt>
                <c:pt idx="250">
                  <c:v>0.4842</c:v>
                </c:pt>
                <c:pt idx="251">
                  <c:v>0.6876</c:v>
                </c:pt>
                <c:pt idx="252">
                  <c:v>0.639</c:v>
                </c:pt>
                <c:pt idx="253">
                  <c:v>0.4888</c:v>
                </c:pt>
                <c:pt idx="254">
                  <c:v>0.4422</c:v>
                </c:pt>
                <c:pt idx="255">
                  <c:v>0.664</c:v>
                </c:pt>
                <c:pt idx="256">
                  <c:v>0.4148</c:v>
                </c:pt>
                <c:pt idx="257">
                  <c:v>0.5026</c:v>
                </c:pt>
                <c:pt idx="258">
                  <c:v>0.4388</c:v>
                </c:pt>
                <c:pt idx="259">
                  <c:v>0.5058</c:v>
                </c:pt>
                <c:pt idx="260">
                  <c:v>0.7494</c:v>
                </c:pt>
                <c:pt idx="261">
                  <c:v>0.5896</c:v>
                </c:pt>
                <c:pt idx="262">
                  <c:v>0.4452</c:v>
                </c:pt>
                <c:pt idx="263">
                  <c:v>0.6964</c:v>
                </c:pt>
                <c:pt idx="264">
                  <c:v>0.4606</c:v>
                </c:pt>
                <c:pt idx="265">
                  <c:v>0.6308</c:v>
                </c:pt>
                <c:pt idx="266">
                  <c:v>0.538</c:v>
                </c:pt>
                <c:pt idx="267">
                  <c:v>0.7342</c:v>
                </c:pt>
                <c:pt idx="268">
                  <c:v>0.6024</c:v>
                </c:pt>
                <c:pt idx="269">
                  <c:v>0.7068</c:v>
                </c:pt>
                <c:pt idx="270">
                  <c:v>0.4354</c:v>
                </c:pt>
                <c:pt idx="271">
                  <c:v>0.5676</c:v>
                </c:pt>
                <c:pt idx="272">
                  <c:v>0.6292</c:v>
                </c:pt>
                <c:pt idx="273">
                  <c:v>0.4296</c:v>
                </c:pt>
                <c:pt idx="274">
                  <c:v>0.4792</c:v>
                </c:pt>
                <c:pt idx="275">
                  <c:v>0.5828</c:v>
                </c:pt>
                <c:pt idx="276">
                  <c:v>0.4284</c:v>
                </c:pt>
                <c:pt idx="277">
                  <c:v>0.5456</c:v>
                </c:pt>
                <c:pt idx="278">
                  <c:v>0.546</c:v>
                </c:pt>
                <c:pt idx="279">
                  <c:v>0.6208</c:v>
                </c:pt>
                <c:pt idx="280">
                  <c:v>0.4994</c:v>
                </c:pt>
                <c:pt idx="281">
                  <c:v>0.419</c:v>
                </c:pt>
                <c:pt idx="282">
                  <c:v>0.5198</c:v>
                </c:pt>
                <c:pt idx="283">
                  <c:v>0.5276</c:v>
                </c:pt>
                <c:pt idx="284">
                  <c:v>0.8008</c:v>
                </c:pt>
                <c:pt idx="285">
                  <c:v>0.7142</c:v>
                </c:pt>
                <c:pt idx="286">
                  <c:v>0.4716</c:v>
                </c:pt>
                <c:pt idx="287">
                  <c:v>0.7038</c:v>
                </c:pt>
                <c:pt idx="288">
                  <c:v>0.5584</c:v>
                </c:pt>
                <c:pt idx="289">
                  <c:v>0.4372</c:v>
                </c:pt>
                <c:pt idx="290">
                  <c:v>0.5712</c:v>
                </c:pt>
                <c:pt idx="291">
                  <c:v>0.3906</c:v>
                </c:pt>
                <c:pt idx="292">
                  <c:v>0.6228</c:v>
                </c:pt>
                <c:pt idx="293">
                  <c:v>0.7602</c:v>
                </c:pt>
                <c:pt idx="294">
                  <c:v>0.7068</c:v>
                </c:pt>
                <c:pt idx="295">
                  <c:v>0.4784</c:v>
                </c:pt>
                <c:pt idx="296">
                  <c:v>0.4096</c:v>
                </c:pt>
                <c:pt idx="297">
                  <c:v>0.4432</c:v>
                </c:pt>
                <c:pt idx="298">
                  <c:v>0.5256</c:v>
                </c:pt>
                <c:pt idx="299">
                  <c:v>0.6036</c:v>
                </c:pt>
                <c:pt idx="300">
                  <c:v>0.5938</c:v>
                </c:pt>
                <c:pt idx="301">
                  <c:v>0.7346</c:v>
                </c:pt>
                <c:pt idx="302">
                  <c:v>0.6166</c:v>
                </c:pt>
                <c:pt idx="303">
                  <c:v>0.5686</c:v>
                </c:pt>
                <c:pt idx="304">
                  <c:v>0.3614</c:v>
                </c:pt>
                <c:pt idx="305">
                  <c:v>0.5004</c:v>
                </c:pt>
                <c:pt idx="306">
                  <c:v>0.4932</c:v>
                </c:pt>
                <c:pt idx="307">
                  <c:v>0.7056</c:v>
                </c:pt>
                <c:pt idx="308">
                  <c:v>0.5614</c:v>
                </c:pt>
                <c:pt idx="309">
                  <c:v>0.503</c:v>
                </c:pt>
                <c:pt idx="310">
                  <c:v>0.8668</c:v>
                </c:pt>
                <c:pt idx="311">
                  <c:v>0.3766</c:v>
                </c:pt>
                <c:pt idx="312">
                  <c:v>0.522</c:v>
                </c:pt>
                <c:pt idx="313">
                  <c:v>0.5514</c:v>
                </c:pt>
                <c:pt idx="314">
                  <c:v>0.452</c:v>
                </c:pt>
                <c:pt idx="315">
                  <c:v>0.4398</c:v>
                </c:pt>
                <c:pt idx="316">
                  <c:v>0.4318</c:v>
                </c:pt>
                <c:pt idx="317">
                  <c:v>0.8616</c:v>
                </c:pt>
                <c:pt idx="318">
                  <c:v>0.6348</c:v>
                </c:pt>
                <c:pt idx="319">
                  <c:v>0.42</c:v>
                </c:pt>
                <c:pt idx="320">
                  <c:v>0.548</c:v>
                </c:pt>
                <c:pt idx="321">
                  <c:v>0.432</c:v>
                </c:pt>
                <c:pt idx="322">
                  <c:v>0.5756</c:v>
                </c:pt>
                <c:pt idx="323">
                  <c:v>0.4478</c:v>
                </c:pt>
                <c:pt idx="324">
                  <c:v>0.6666</c:v>
                </c:pt>
                <c:pt idx="325">
                  <c:v>0.5072</c:v>
                </c:pt>
                <c:pt idx="326">
                  <c:v>0.6676</c:v>
                </c:pt>
                <c:pt idx="327">
                  <c:v>0.5638</c:v>
                </c:pt>
                <c:pt idx="328">
                  <c:v>0.7118</c:v>
                </c:pt>
                <c:pt idx="329">
                  <c:v>0.4168</c:v>
                </c:pt>
                <c:pt idx="330">
                  <c:v>0.4966</c:v>
                </c:pt>
                <c:pt idx="331">
                  <c:v>0.724</c:v>
                </c:pt>
                <c:pt idx="332">
                  <c:v>0.8068</c:v>
                </c:pt>
                <c:pt idx="333">
                  <c:v>0.6184</c:v>
                </c:pt>
                <c:pt idx="334">
                  <c:v>0.6318</c:v>
                </c:pt>
                <c:pt idx="335">
                  <c:v>0.491</c:v>
                </c:pt>
                <c:pt idx="336">
                  <c:v>0.6454</c:v>
                </c:pt>
                <c:pt idx="337">
                  <c:v>0.5964</c:v>
                </c:pt>
                <c:pt idx="338">
                  <c:v>0.5262</c:v>
                </c:pt>
                <c:pt idx="339">
                  <c:v>0.6558</c:v>
                </c:pt>
                <c:pt idx="340">
                  <c:v>0.4612</c:v>
                </c:pt>
                <c:pt idx="341">
                  <c:v>0.7048</c:v>
                </c:pt>
                <c:pt idx="342">
                  <c:v>0.8176</c:v>
                </c:pt>
                <c:pt idx="343">
                  <c:v>0.6454</c:v>
                </c:pt>
                <c:pt idx="344">
                  <c:v>0.4442</c:v>
                </c:pt>
                <c:pt idx="345">
                  <c:v>0.6562</c:v>
                </c:pt>
                <c:pt idx="346">
                  <c:v>0.7034</c:v>
                </c:pt>
                <c:pt idx="347">
                  <c:v>0.56</c:v>
                </c:pt>
                <c:pt idx="348">
                  <c:v>0.7442</c:v>
                </c:pt>
                <c:pt idx="349">
                  <c:v>0.5182</c:v>
                </c:pt>
                <c:pt idx="350">
                  <c:v>0.6576</c:v>
                </c:pt>
                <c:pt idx="351">
                  <c:v>0.6108</c:v>
                </c:pt>
                <c:pt idx="352">
                  <c:v>0.4656</c:v>
                </c:pt>
                <c:pt idx="353">
                  <c:v>0.4826</c:v>
                </c:pt>
                <c:pt idx="354">
                  <c:v>0.4792</c:v>
                </c:pt>
                <c:pt idx="355">
                  <c:v>0.5942</c:v>
                </c:pt>
                <c:pt idx="356">
                  <c:v>0.8002</c:v>
                </c:pt>
                <c:pt idx="357">
                  <c:v>0.608</c:v>
                </c:pt>
                <c:pt idx="358">
                  <c:v>0.5198</c:v>
                </c:pt>
                <c:pt idx="359">
                  <c:v>0.47</c:v>
                </c:pt>
                <c:pt idx="360">
                  <c:v>0.808</c:v>
                </c:pt>
                <c:pt idx="361">
                  <c:v>0.651</c:v>
                </c:pt>
                <c:pt idx="362">
                  <c:v>0.3242</c:v>
                </c:pt>
                <c:pt idx="363">
                  <c:v>0.7374</c:v>
                </c:pt>
                <c:pt idx="364">
                  <c:v>0.3818</c:v>
                </c:pt>
                <c:pt idx="365">
                  <c:v>0.5722</c:v>
                </c:pt>
                <c:pt idx="366">
                  <c:v>0.5144</c:v>
                </c:pt>
                <c:pt idx="367">
                  <c:v>0.5742</c:v>
                </c:pt>
                <c:pt idx="368">
                  <c:v>0.5304</c:v>
                </c:pt>
                <c:pt idx="369">
                  <c:v>0.5754</c:v>
                </c:pt>
                <c:pt idx="370">
                  <c:v>0.4954</c:v>
                </c:pt>
                <c:pt idx="371">
                  <c:v>0.5052</c:v>
                </c:pt>
                <c:pt idx="372">
                  <c:v>0.617</c:v>
                </c:pt>
                <c:pt idx="373">
                  <c:v>0.4806</c:v>
                </c:pt>
                <c:pt idx="374">
                  <c:v>0.659</c:v>
                </c:pt>
                <c:pt idx="375">
                  <c:v>0.6662</c:v>
                </c:pt>
                <c:pt idx="376">
                  <c:v>0.568</c:v>
                </c:pt>
                <c:pt idx="377">
                  <c:v>0.4494</c:v>
                </c:pt>
                <c:pt idx="378">
                  <c:v>0.6572</c:v>
                </c:pt>
                <c:pt idx="379">
                  <c:v>0.7548</c:v>
                </c:pt>
                <c:pt idx="380">
                  <c:v>0.487</c:v>
                </c:pt>
                <c:pt idx="381">
                  <c:v>0.64</c:v>
                </c:pt>
                <c:pt idx="382">
                  <c:v>0.5814</c:v>
                </c:pt>
                <c:pt idx="383">
                  <c:v>0.6116</c:v>
                </c:pt>
                <c:pt idx="384">
                  <c:v>0.694</c:v>
                </c:pt>
                <c:pt idx="385">
                  <c:v>0.865</c:v>
                </c:pt>
                <c:pt idx="386">
                  <c:v>0.5382</c:v>
                </c:pt>
                <c:pt idx="387">
                  <c:v>0.555</c:v>
                </c:pt>
                <c:pt idx="388">
                  <c:v>0.4512</c:v>
                </c:pt>
                <c:pt idx="389">
                  <c:v>0.594</c:v>
                </c:pt>
                <c:pt idx="390">
                  <c:v>0.7242</c:v>
                </c:pt>
                <c:pt idx="391">
                  <c:v>0.7212</c:v>
                </c:pt>
                <c:pt idx="392">
                  <c:v>0.3962</c:v>
                </c:pt>
                <c:pt idx="393">
                  <c:v>0.7408</c:v>
                </c:pt>
                <c:pt idx="394">
                  <c:v>0.6152</c:v>
                </c:pt>
                <c:pt idx="395">
                  <c:v>0.664</c:v>
                </c:pt>
                <c:pt idx="396">
                  <c:v>0.4962</c:v>
                </c:pt>
                <c:pt idx="397">
                  <c:v>0.48</c:v>
                </c:pt>
                <c:pt idx="398">
                  <c:v>0.6968</c:v>
                </c:pt>
                <c:pt idx="399">
                  <c:v>0.573</c:v>
                </c:pt>
                <c:pt idx="400">
                  <c:v>0.7258</c:v>
                </c:pt>
                <c:pt idx="401">
                  <c:v>0.474</c:v>
                </c:pt>
                <c:pt idx="402">
                  <c:v>0.5532</c:v>
                </c:pt>
                <c:pt idx="403">
                  <c:v>0.521</c:v>
                </c:pt>
                <c:pt idx="404">
                  <c:v>0.6648</c:v>
                </c:pt>
                <c:pt idx="405">
                  <c:v>0.6388</c:v>
                </c:pt>
                <c:pt idx="406">
                  <c:v>0.4642</c:v>
                </c:pt>
                <c:pt idx="407">
                  <c:v>0.4934</c:v>
                </c:pt>
                <c:pt idx="408">
                  <c:v>0.7566</c:v>
                </c:pt>
                <c:pt idx="409">
                  <c:v>0.6498</c:v>
                </c:pt>
                <c:pt idx="410">
                  <c:v>0.5016</c:v>
                </c:pt>
                <c:pt idx="411">
                  <c:v>0.4668</c:v>
                </c:pt>
                <c:pt idx="412">
                  <c:v>0.5748</c:v>
                </c:pt>
                <c:pt idx="413">
                  <c:v>0.6742</c:v>
                </c:pt>
                <c:pt idx="414">
                  <c:v>0.6618</c:v>
                </c:pt>
                <c:pt idx="415">
                  <c:v>0.4514</c:v>
                </c:pt>
                <c:pt idx="416">
                  <c:v>0.5758</c:v>
                </c:pt>
                <c:pt idx="417">
                  <c:v>0.6042</c:v>
                </c:pt>
                <c:pt idx="418">
                  <c:v>0.3762</c:v>
                </c:pt>
                <c:pt idx="419">
                  <c:v>0.4554</c:v>
                </c:pt>
                <c:pt idx="420">
                  <c:v>0.6012</c:v>
                </c:pt>
                <c:pt idx="421">
                  <c:v>0.6308</c:v>
                </c:pt>
                <c:pt idx="422">
                  <c:v>0.641</c:v>
                </c:pt>
                <c:pt idx="423">
                  <c:v>0.7124</c:v>
                </c:pt>
                <c:pt idx="424">
                  <c:v>0.6308</c:v>
                </c:pt>
                <c:pt idx="425">
                  <c:v>0.5592</c:v>
                </c:pt>
                <c:pt idx="426">
                  <c:v>0.7182</c:v>
                </c:pt>
                <c:pt idx="427">
                  <c:v>0.5698</c:v>
                </c:pt>
                <c:pt idx="428">
                  <c:v>0.48</c:v>
                </c:pt>
                <c:pt idx="429">
                  <c:v>0.4238</c:v>
                </c:pt>
                <c:pt idx="430">
                  <c:v>0.4644</c:v>
                </c:pt>
                <c:pt idx="431">
                  <c:v>0.526</c:v>
                </c:pt>
                <c:pt idx="432">
                  <c:v>0.4566</c:v>
                </c:pt>
                <c:pt idx="433">
                  <c:v>0.459</c:v>
                </c:pt>
                <c:pt idx="434">
                  <c:v>0.6094</c:v>
                </c:pt>
                <c:pt idx="435">
                  <c:v>0.533</c:v>
                </c:pt>
                <c:pt idx="436">
                  <c:v>0.466</c:v>
                </c:pt>
                <c:pt idx="437">
                  <c:v>0.5038</c:v>
                </c:pt>
                <c:pt idx="438">
                  <c:v>0.4882</c:v>
                </c:pt>
                <c:pt idx="439">
                  <c:v>0.4332</c:v>
                </c:pt>
                <c:pt idx="440">
                  <c:v>0.6496</c:v>
                </c:pt>
                <c:pt idx="441">
                  <c:v>0.5466</c:v>
                </c:pt>
                <c:pt idx="442">
                  <c:v>0.6112</c:v>
                </c:pt>
                <c:pt idx="443">
                  <c:v>0.3806</c:v>
                </c:pt>
                <c:pt idx="444">
                  <c:v>0.6516</c:v>
                </c:pt>
                <c:pt idx="445">
                  <c:v>0.4282</c:v>
                </c:pt>
                <c:pt idx="446">
                  <c:v>0.4426</c:v>
                </c:pt>
                <c:pt idx="447">
                  <c:v>0.6956</c:v>
                </c:pt>
                <c:pt idx="448">
                  <c:v>0.4534</c:v>
                </c:pt>
                <c:pt idx="449">
                  <c:v>0.5226</c:v>
                </c:pt>
                <c:pt idx="450">
                  <c:v>0.635</c:v>
                </c:pt>
                <c:pt idx="451">
                  <c:v>0.4626</c:v>
                </c:pt>
                <c:pt idx="452">
                  <c:v>0.4302</c:v>
                </c:pt>
                <c:pt idx="453">
                  <c:v>0.4336</c:v>
                </c:pt>
                <c:pt idx="454">
                  <c:v>0.4544</c:v>
                </c:pt>
                <c:pt idx="455">
                  <c:v>0.6096</c:v>
                </c:pt>
                <c:pt idx="456">
                  <c:v>0.582</c:v>
                </c:pt>
                <c:pt idx="457">
                  <c:v>0.7298</c:v>
                </c:pt>
                <c:pt idx="458">
                  <c:v>0.516</c:v>
                </c:pt>
                <c:pt idx="459">
                  <c:v>0.6988</c:v>
                </c:pt>
                <c:pt idx="460">
                  <c:v>0.5826</c:v>
                </c:pt>
                <c:pt idx="461">
                  <c:v>0.3554</c:v>
                </c:pt>
                <c:pt idx="462">
                  <c:v>0.4794</c:v>
                </c:pt>
                <c:pt idx="463">
                  <c:v>0.4472</c:v>
                </c:pt>
                <c:pt idx="464">
                  <c:v>0.6094</c:v>
                </c:pt>
                <c:pt idx="465">
                  <c:v>0.4976</c:v>
                </c:pt>
                <c:pt idx="466">
                  <c:v>0.653</c:v>
                </c:pt>
                <c:pt idx="467">
                  <c:v>0.6202</c:v>
                </c:pt>
                <c:pt idx="468">
                  <c:v>0.5382</c:v>
                </c:pt>
                <c:pt idx="469">
                  <c:v>0.5628</c:v>
                </c:pt>
                <c:pt idx="470">
                  <c:v>0.448</c:v>
                </c:pt>
                <c:pt idx="471">
                  <c:v>0.638</c:v>
                </c:pt>
                <c:pt idx="472">
                  <c:v>0.4708</c:v>
                </c:pt>
                <c:pt idx="473">
                  <c:v>0.4536</c:v>
                </c:pt>
                <c:pt idx="474">
                  <c:v>0.558</c:v>
                </c:pt>
                <c:pt idx="475">
                  <c:v>0.4794</c:v>
                </c:pt>
                <c:pt idx="476">
                  <c:v>0.5636</c:v>
                </c:pt>
                <c:pt idx="477">
                  <c:v>0.5562</c:v>
                </c:pt>
                <c:pt idx="478">
                  <c:v>0.5494</c:v>
                </c:pt>
                <c:pt idx="479">
                  <c:v>0.621</c:v>
                </c:pt>
                <c:pt idx="480">
                  <c:v>0.6074</c:v>
                </c:pt>
                <c:pt idx="481">
                  <c:v>0.6482</c:v>
                </c:pt>
                <c:pt idx="482">
                  <c:v>0.481</c:v>
                </c:pt>
                <c:pt idx="483">
                  <c:v>0.5848</c:v>
                </c:pt>
                <c:pt idx="484">
                  <c:v>0.7556</c:v>
                </c:pt>
                <c:pt idx="485">
                  <c:v>0.542</c:v>
                </c:pt>
                <c:pt idx="486">
                  <c:v>0.5164</c:v>
                </c:pt>
                <c:pt idx="487">
                  <c:v>0.504</c:v>
                </c:pt>
                <c:pt idx="488">
                  <c:v>0.515</c:v>
                </c:pt>
                <c:pt idx="489">
                  <c:v>0.7358</c:v>
                </c:pt>
                <c:pt idx="490">
                  <c:v>0.5176</c:v>
                </c:pt>
                <c:pt idx="491">
                  <c:v>0.6064</c:v>
                </c:pt>
                <c:pt idx="492">
                  <c:v>0.6304</c:v>
                </c:pt>
                <c:pt idx="493">
                  <c:v>0.6966</c:v>
                </c:pt>
                <c:pt idx="494">
                  <c:v>0.7282</c:v>
                </c:pt>
                <c:pt idx="495">
                  <c:v>0.6574</c:v>
                </c:pt>
                <c:pt idx="496">
                  <c:v>0.6092</c:v>
                </c:pt>
                <c:pt idx="497">
                  <c:v>0.4076</c:v>
                </c:pt>
                <c:pt idx="498">
                  <c:v>0.502</c:v>
                </c:pt>
                <c:pt idx="499">
                  <c:v>0.7364</c:v>
                </c:pt>
                <c:pt idx="500">
                  <c:v>0.4246</c:v>
                </c:pt>
                <c:pt idx="501">
                  <c:v>0.6044</c:v>
                </c:pt>
                <c:pt idx="502">
                  <c:v>0.5346</c:v>
                </c:pt>
                <c:pt idx="503">
                  <c:v>0.5364</c:v>
                </c:pt>
                <c:pt idx="504">
                  <c:v>0.4508</c:v>
                </c:pt>
                <c:pt idx="505">
                  <c:v>0.3874</c:v>
                </c:pt>
                <c:pt idx="506">
                  <c:v>0.4902</c:v>
                </c:pt>
                <c:pt idx="507">
                  <c:v>0.5328</c:v>
                </c:pt>
                <c:pt idx="508">
                  <c:v>0.3928</c:v>
                </c:pt>
                <c:pt idx="509">
                  <c:v>0.4646</c:v>
                </c:pt>
                <c:pt idx="510">
                  <c:v>0.54</c:v>
                </c:pt>
                <c:pt idx="511">
                  <c:v>0.7394</c:v>
                </c:pt>
                <c:pt idx="512">
                  <c:v>0.4926</c:v>
                </c:pt>
                <c:pt idx="513">
                  <c:v>0.5098</c:v>
                </c:pt>
                <c:pt idx="514">
                  <c:v>0.5978</c:v>
                </c:pt>
                <c:pt idx="515">
                  <c:v>0.4664</c:v>
                </c:pt>
                <c:pt idx="516">
                  <c:v>0.594</c:v>
                </c:pt>
                <c:pt idx="517">
                  <c:v>0.4538</c:v>
                </c:pt>
                <c:pt idx="518">
                  <c:v>0.4326</c:v>
                </c:pt>
                <c:pt idx="519">
                  <c:v>0.4918</c:v>
                </c:pt>
                <c:pt idx="520">
                  <c:v>0.7172</c:v>
                </c:pt>
                <c:pt idx="521">
                  <c:v>0.7812</c:v>
                </c:pt>
                <c:pt idx="522">
                  <c:v>0.526</c:v>
                </c:pt>
                <c:pt idx="523">
                  <c:v>0.3474</c:v>
                </c:pt>
                <c:pt idx="524">
                  <c:v>0.6104</c:v>
                </c:pt>
                <c:pt idx="525">
                  <c:v>0.5948</c:v>
                </c:pt>
                <c:pt idx="526">
                  <c:v>0.7608</c:v>
                </c:pt>
                <c:pt idx="527">
                  <c:v>0.6096</c:v>
                </c:pt>
                <c:pt idx="528">
                  <c:v>0.6474</c:v>
                </c:pt>
                <c:pt idx="529">
                  <c:v>0.5532</c:v>
                </c:pt>
                <c:pt idx="530">
                  <c:v>0.6328</c:v>
                </c:pt>
                <c:pt idx="531">
                  <c:v>0.3404</c:v>
                </c:pt>
                <c:pt idx="532">
                  <c:v>0.6212</c:v>
                </c:pt>
                <c:pt idx="533">
                  <c:v>0.4904</c:v>
                </c:pt>
                <c:pt idx="534">
                  <c:v>0.4218</c:v>
                </c:pt>
                <c:pt idx="535">
                  <c:v>0.414</c:v>
                </c:pt>
                <c:pt idx="536">
                  <c:v>0.681</c:v>
                </c:pt>
                <c:pt idx="537">
                  <c:v>0.7808</c:v>
                </c:pt>
                <c:pt idx="538">
                  <c:v>0.3834</c:v>
                </c:pt>
                <c:pt idx="539">
                  <c:v>0.6426</c:v>
                </c:pt>
                <c:pt idx="540">
                  <c:v>0.5668</c:v>
                </c:pt>
                <c:pt idx="541">
                  <c:v>0.5082</c:v>
                </c:pt>
                <c:pt idx="542">
                  <c:v>0.6112</c:v>
                </c:pt>
                <c:pt idx="543">
                  <c:v>0.4732</c:v>
                </c:pt>
                <c:pt idx="544">
                  <c:v>0.771</c:v>
                </c:pt>
                <c:pt idx="545">
                  <c:v>0.4814</c:v>
                </c:pt>
                <c:pt idx="546">
                  <c:v>0.6426</c:v>
                </c:pt>
                <c:pt idx="547">
                  <c:v>0.4776</c:v>
                </c:pt>
                <c:pt idx="548">
                  <c:v>0.4852</c:v>
                </c:pt>
                <c:pt idx="549">
                  <c:v>0.5852</c:v>
                </c:pt>
                <c:pt idx="550">
                  <c:v>0.6424</c:v>
                </c:pt>
                <c:pt idx="551">
                  <c:v>0.6276</c:v>
                </c:pt>
                <c:pt idx="552">
                  <c:v>0.5204</c:v>
                </c:pt>
                <c:pt idx="553">
                  <c:v>0.5312</c:v>
                </c:pt>
                <c:pt idx="554">
                  <c:v>0.5346</c:v>
                </c:pt>
                <c:pt idx="555">
                  <c:v>0.5908</c:v>
                </c:pt>
                <c:pt idx="556">
                  <c:v>0.4356</c:v>
                </c:pt>
                <c:pt idx="557">
                  <c:v>0.5684</c:v>
                </c:pt>
                <c:pt idx="558">
                  <c:v>0.709</c:v>
                </c:pt>
                <c:pt idx="559">
                  <c:v>0.5212</c:v>
                </c:pt>
                <c:pt idx="560">
                  <c:v>0.4434</c:v>
                </c:pt>
                <c:pt idx="561">
                  <c:v>0.516</c:v>
                </c:pt>
                <c:pt idx="562">
                  <c:v>0.6984</c:v>
                </c:pt>
                <c:pt idx="563">
                  <c:v>0.6174</c:v>
                </c:pt>
                <c:pt idx="564">
                  <c:v>0.5464</c:v>
                </c:pt>
                <c:pt idx="565">
                  <c:v>0.355</c:v>
                </c:pt>
                <c:pt idx="566">
                  <c:v>0.4616</c:v>
                </c:pt>
                <c:pt idx="567">
                  <c:v>0.5992</c:v>
                </c:pt>
                <c:pt idx="568">
                  <c:v>0.4398</c:v>
                </c:pt>
                <c:pt idx="569">
                  <c:v>0.6568</c:v>
                </c:pt>
                <c:pt idx="570">
                  <c:v>0.5342</c:v>
                </c:pt>
                <c:pt idx="571">
                  <c:v>0.6898</c:v>
                </c:pt>
                <c:pt idx="572">
                  <c:v>0.705</c:v>
                </c:pt>
                <c:pt idx="573">
                  <c:v>0.7296</c:v>
                </c:pt>
                <c:pt idx="574">
                  <c:v>0.521</c:v>
                </c:pt>
                <c:pt idx="575">
                  <c:v>0.5992</c:v>
                </c:pt>
                <c:pt idx="576">
                  <c:v>0.602</c:v>
                </c:pt>
                <c:pt idx="577">
                  <c:v>0.4602</c:v>
                </c:pt>
                <c:pt idx="578">
                  <c:v>0.7806</c:v>
                </c:pt>
                <c:pt idx="579">
                  <c:v>0.5038</c:v>
                </c:pt>
                <c:pt idx="580">
                  <c:v>0.433</c:v>
                </c:pt>
                <c:pt idx="581">
                  <c:v>0.6828</c:v>
                </c:pt>
                <c:pt idx="582">
                  <c:v>0.6228</c:v>
                </c:pt>
                <c:pt idx="583">
                  <c:v>0.5328</c:v>
                </c:pt>
                <c:pt idx="584">
                  <c:v>0.6026</c:v>
                </c:pt>
                <c:pt idx="585">
                  <c:v>0.5324</c:v>
                </c:pt>
                <c:pt idx="586">
                  <c:v>0.5004</c:v>
                </c:pt>
                <c:pt idx="587">
                  <c:v>0.7396</c:v>
                </c:pt>
                <c:pt idx="588">
                  <c:v>0.6514</c:v>
                </c:pt>
                <c:pt idx="589">
                  <c:v>0.5008</c:v>
                </c:pt>
                <c:pt idx="590">
                  <c:v>0.6182</c:v>
                </c:pt>
                <c:pt idx="591">
                  <c:v>0.6082</c:v>
                </c:pt>
                <c:pt idx="592">
                  <c:v>0.578</c:v>
                </c:pt>
                <c:pt idx="593">
                  <c:v>0.787</c:v>
                </c:pt>
                <c:pt idx="594">
                  <c:v>0.559</c:v>
                </c:pt>
                <c:pt idx="595">
                  <c:v>0.3828</c:v>
                </c:pt>
                <c:pt idx="596">
                  <c:v>0.6546</c:v>
                </c:pt>
                <c:pt idx="597">
                  <c:v>0.3994</c:v>
                </c:pt>
                <c:pt idx="598">
                  <c:v>0.4566</c:v>
                </c:pt>
                <c:pt idx="599">
                  <c:v>0.7708</c:v>
                </c:pt>
                <c:pt idx="600">
                  <c:v>0.7894</c:v>
                </c:pt>
                <c:pt idx="601">
                  <c:v>0.4964</c:v>
                </c:pt>
                <c:pt idx="602">
                  <c:v>0.5552</c:v>
                </c:pt>
                <c:pt idx="603">
                  <c:v>0.609</c:v>
                </c:pt>
                <c:pt idx="604">
                  <c:v>0.4558</c:v>
                </c:pt>
                <c:pt idx="605">
                  <c:v>0.549</c:v>
                </c:pt>
                <c:pt idx="606">
                  <c:v>0.6946</c:v>
                </c:pt>
                <c:pt idx="607">
                  <c:v>0.6702</c:v>
                </c:pt>
                <c:pt idx="608">
                  <c:v>0.8104</c:v>
                </c:pt>
                <c:pt idx="609">
                  <c:v>0.4496</c:v>
                </c:pt>
                <c:pt idx="610">
                  <c:v>0.4702</c:v>
                </c:pt>
                <c:pt idx="611">
                  <c:v>0.5418</c:v>
                </c:pt>
                <c:pt idx="612">
                  <c:v>0.4816</c:v>
                </c:pt>
                <c:pt idx="613">
                  <c:v>0.388</c:v>
                </c:pt>
                <c:pt idx="614">
                  <c:v>0.718</c:v>
                </c:pt>
                <c:pt idx="615">
                  <c:v>0.4734</c:v>
                </c:pt>
                <c:pt idx="616">
                  <c:v>0.7078</c:v>
                </c:pt>
                <c:pt idx="617">
                  <c:v>0.5578</c:v>
                </c:pt>
                <c:pt idx="618">
                  <c:v>0.5834</c:v>
                </c:pt>
                <c:pt idx="619">
                  <c:v>0.6398</c:v>
                </c:pt>
                <c:pt idx="620">
                  <c:v>0.3714</c:v>
                </c:pt>
                <c:pt idx="621">
                  <c:v>0.6078</c:v>
                </c:pt>
                <c:pt idx="622">
                  <c:v>0.7352</c:v>
                </c:pt>
                <c:pt idx="623">
                  <c:v>0.5646</c:v>
                </c:pt>
                <c:pt idx="624">
                  <c:v>0.496</c:v>
                </c:pt>
                <c:pt idx="625">
                  <c:v>0.734</c:v>
                </c:pt>
                <c:pt idx="626">
                  <c:v>0.6454</c:v>
                </c:pt>
                <c:pt idx="627">
                  <c:v>0.5294</c:v>
                </c:pt>
                <c:pt idx="628">
                  <c:v>0.5242</c:v>
                </c:pt>
                <c:pt idx="629">
                  <c:v>0.3936</c:v>
                </c:pt>
                <c:pt idx="630">
                  <c:v>0.5614</c:v>
                </c:pt>
                <c:pt idx="631">
                  <c:v>0.4486</c:v>
                </c:pt>
                <c:pt idx="632">
                  <c:v>0.696</c:v>
                </c:pt>
                <c:pt idx="633">
                  <c:v>0.4036</c:v>
                </c:pt>
                <c:pt idx="634">
                  <c:v>0.6238</c:v>
                </c:pt>
                <c:pt idx="635">
                  <c:v>0.481</c:v>
                </c:pt>
                <c:pt idx="636">
                  <c:v>0.796</c:v>
                </c:pt>
                <c:pt idx="637">
                  <c:v>0.5428</c:v>
                </c:pt>
                <c:pt idx="638">
                  <c:v>0.5942</c:v>
                </c:pt>
                <c:pt idx="639">
                  <c:v>0.6912</c:v>
                </c:pt>
                <c:pt idx="640">
                  <c:v>0.37</c:v>
                </c:pt>
                <c:pt idx="641">
                  <c:v>0.571</c:v>
                </c:pt>
                <c:pt idx="642">
                  <c:v>0.8398</c:v>
                </c:pt>
                <c:pt idx="643">
                  <c:v>0.5798</c:v>
                </c:pt>
                <c:pt idx="644">
                  <c:v>0.4486</c:v>
                </c:pt>
                <c:pt idx="645">
                  <c:v>0.2856</c:v>
                </c:pt>
                <c:pt idx="646">
                  <c:v>0.5342</c:v>
                </c:pt>
                <c:pt idx="647">
                  <c:v>0.6058</c:v>
                </c:pt>
                <c:pt idx="648">
                  <c:v>0.6012</c:v>
                </c:pt>
                <c:pt idx="649">
                  <c:v>0.6</c:v>
                </c:pt>
                <c:pt idx="650">
                  <c:v>0.7012</c:v>
                </c:pt>
                <c:pt idx="651">
                  <c:v>0.7322</c:v>
                </c:pt>
                <c:pt idx="652">
                  <c:v>0.6952</c:v>
                </c:pt>
                <c:pt idx="653">
                  <c:v>0.4896</c:v>
                </c:pt>
                <c:pt idx="654">
                  <c:v>0.6158</c:v>
                </c:pt>
                <c:pt idx="655">
                  <c:v>0.3872</c:v>
                </c:pt>
                <c:pt idx="656">
                  <c:v>0.5164</c:v>
                </c:pt>
                <c:pt idx="657">
                  <c:v>0.6596</c:v>
                </c:pt>
                <c:pt idx="658">
                  <c:v>0.6436</c:v>
                </c:pt>
                <c:pt idx="659">
                  <c:v>0.6962</c:v>
                </c:pt>
                <c:pt idx="660">
                  <c:v>0.5588</c:v>
                </c:pt>
                <c:pt idx="661">
                  <c:v>0.3552</c:v>
                </c:pt>
                <c:pt idx="662">
                  <c:v>0.437</c:v>
                </c:pt>
                <c:pt idx="663">
                  <c:v>0.7676</c:v>
                </c:pt>
                <c:pt idx="664">
                  <c:v>0.4326</c:v>
                </c:pt>
                <c:pt idx="665">
                  <c:v>0.499</c:v>
                </c:pt>
                <c:pt idx="666">
                  <c:v>0.5436</c:v>
                </c:pt>
                <c:pt idx="667">
                  <c:v>0.5514</c:v>
                </c:pt>
                <c:pt idx="668">
                  <c:v>0.6746</c:v>
                </c:pt>
                <c:pt idx="669">
                  <c:v>0.5774</c:v>
                </c:pt>
                <c:pt idx="670">
                  <c:v>0.473</c:v>
                </c:pt>
                <c:pt idx="671">
                  <c:v>0.5934</c:v>
                </c:pt>
                <c:pt idx="672">
                  <c:v>0.5968</c:v>
                </c:pt>
                <c:pt idx="673">
                  <c:v>0.4712</c:v>
                </c:pt>
                <c:pt idx="674">
                  <c:v>0.7482</c:v>
                </c:pt>
                <c:pt idx="675">
                  <c:v>0.5078</c:v>
                </c:pt>
                <c:pt idx="676">
                  <c:v>0.7248</c:v>
                </c:pt>
                <c:pt idx="677">
                  <c:v>0.6152</c:v>
                </c:pt>
                <c:pt idx="678">
                  <c:v>0.3326</c:v>
                </c:pt>
                <c:pt idx="679">
                  <c:v>0.5834</c:v>
                </c:pt>
                <c:pt idx="680">
                  <c:v>0.4442</c:v>
                </c:pt>
                <c:pt idx="681">
                  <c:v>0.4616</c:v>
                </c:pt>
                <c:pt idx="682">
                  <c:v>0.7182</c:v>
                </c:pt>
                <c:pt idx="683">
                  <c:v>0.4892</c:v>
                </c:pt>
                <c:pt idx="684">
                  <c:v>0.5844</c:v>
                </c:pt>
                <c:pt idx="685">
                  <c:v>0.4566</c:v>
                </c:pt>
                <c:pt idx="686">
                  <c:v>0.6618</c:v>
                </c:pt>
                <c:pt idx="687">
                  <c:v>0.4836</c:v>
                </c:pt>
                <c:pt idx="688">
                  <c:v>0.5394</c:v>
                </c:pt>
                <c:pt idx="689">
                  <c:v>0.4696</c:v>
                </c:pt>
                <c:pt idx="690">
                  <c:v>0.6106</c:v>
                </c:pt>
                <c:pt idx="691">
                  <c:v>0.4278</c:v>
                </c:pt>
                <c:pt idx="692">
                  <c:v>0.7174</c:v>
                </c:pt>
                <c:pt idx="693">
                  <c:v>0.8104</c:v>
                </c:pt>
                <c:pt idx="694">
                  <c:v>0.4404</c:v>
                </c:pt>
                <c:pt idx="695">
                  <c:v>0.4582</c:v>
                </c:pt>
                <c:pt idx="696">
                  <c:v>0.5076</c:v>
                </c:pt>
                <c:pt idx="697">
                  <c:v>0.4892</c:v>
                </c:pt>
                <c:pt idx="698">
                  <c:v>0.3902</c:v>
                </c:pt>
                <c:pt idx="699">
                  <c:v>0.4364</c:v>
                </c:pt>
                <c:pt idx="700">
                  <c:v/>
                </c:pt>
                <c:pt idx="701">
                  <c:v/>
                </c:pt>
                <c:pt idx="702">
                  <c:v/>
                </c:pt>
                <c:pt idx="703">
                  <c:v/>
                </c:pt>
                <c:pt idx="704">
                  <c:v/>
                </c:pt>
                <c:pt idx="705">
                  <c:v/>
                </c:pt>
                <c:pt idx="706">
                  <c:v/>
                </c:pt>
                <c:pt idx="707">
                  <c:v/>
                </c:pt>
                <c:pt idx="708">
                  <c:v/>
                </c:pt>
                <c:pt idx="709">
                  <c:v/>
                </c:pt>
                <c:pt idx="710">
                  <c:v/>
                </c:pt>
                <c:pt idx="711">
                  <c:v/>
                </c:pt>
                <c:pt idx="712">
                  <c:v/>
                </c:pt>
              </c:numCache>
            </c:numRef>
          </c:yVal>
          <c:smooth val="0"/>
        </c:ser>
        <c:ser>
          <c:idx val="1"/>
          <c:order val="1"/>
          <c:tx>
            <c:strRef>
              <c:f>Sheet1!$C$1</c:f>
              <c:strCache>
                <c:ptCount val="1"/>
                <c:pt idx="0">
                  <c:v>Pareto fronts 2–3</c:v>
                </c:pt>
              </c:strCache>
            </c:strRef>
          </c:tx>
          <c:spPr>
            <a:solidFill>
              <a:srgbClr val="0891B2"/>
            </a:solidFill>
            <a:ln>
              <a:noFill/>
            </a:ln>
            <a:effectLst/>
          </c:spPr>
          <c:marker>
            <c:symbol val="circle"/>
            <c:size val="6"/>
            <c:spPr>
              <a:solidFill>
                <a:srgbClr val="0891B2"/>
              </a:solidFill>
              <a:ln w="9525" cap="flat">
                <a:solidFill>
                  <a:srgbClr val="0891B2"/>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Sheet1!$C$2:$C$714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0.7762</c:v>
                </c:pt>
                <c:pt idx="701">
                  <c:v>0.8306</c:v>
                </c:pt>
                <c:pt idx="702">
                  <c:v>0.8498</c:v>
                </c:pt>
                <c:pt idx="703">
                  <c:v>0.9182</c:v>
                </c:pt>
                <c:pt idx="704">
                  <c:v>0.9392</c:v>
                </c:pt>
                <c:pt idx="705">
                  <c:v>0.7822</c:v>
                </c:pt>
                <c:pt idx="706">
                  <c:v>0.9124</c:v>
                </c:pt>
                <c:pt idx="707">
                  <c:v>0.9154</c:v>
                </c:pt>
                <c:pt idx="708">
                  <c:v>0.9292</c:v>
                </c:pt>
                <c:pt idx="709">
                  <c:v>0.9304</c:v>
                </c:pt>
                <c:pt idx="710">
                  <c:v>0.9382</c:v>
                </c:pt>
                <c:pt idx="711">
                  <c:v/>
                </c:pt>
                <c:pt idx="712">
                  <c:v/>
                </c:pt>
              </c:numCache>
            </c:numRef>
          </c:yVal>
          <c:smooth val="0"/>
        </c:ser>
        <c:ser>
          <c:idx val="2"/>
          <c:order val="2"/>
          <c:tx>
            <c:strRef>
              <c:f>Sheet1!$D$1</c:f>
              <c:strCache>
                <c:ptCount val="1"/>
                <c:pt idx="0">
                  <c:v>Front 1 (recommended)</c:v>
                </c:pt>
              </c:strCache>
            </c:strRef>
          </c:tx>
          <c:spPr>
            <a:solidFill>
              <a:srgbClr val="D9622B"/>
            </a:solidFill>
            <a:ln>
              <a:noFill/>
            </a:ln>
            <a:effectLst/>
          </c:spPr>
          <c:marker>
            <c:symbol val="circle"/>
            <c:size val="6"/>
            <c:spPr>
              <a:solidFill>
                <a:srgbClr val="D9622B"/>
              </a:solidFill>
              <a:ln w="9525" cap="flat">
                <a:solidFill>
                  <a:srgbClr val="D9622B"/>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Sheet1!$D$2:$D$714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0.969</c:v>
                </c:pt>
                <c:pt idx="712">
                  <c:v>0.9694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9000"/>
          <c:min val="0"/>
        </c:scaling>
        <c:delete val="0"/>
        <c:axPos val="b"/>
        <c:title>
          <c:tx>
            <c:rich>
              <a:bodyPr/>
              <a:lstStyle/>
              <a:p>
                <a:pPr>
                  <a:defRPr sz="1200" b="0" i="0" u="none" strike="noStrike">
                    <a:solidFill>
                      <a:srgbClr val="5B6B73"/>
                    </a:solidFill>
                    <a:latin typeface="+mn-lt"/>
                  </a:defRPr>
                </a:pPr>
                <a:r>
                  <a:rPr sz="1200" b="0" i="0" u="none" strike="noStrike">
                    <a:solidFill>
                      <a:srgbClr val="5B6B73"/>
                    </a:solidFill>
                    <a:latin typeface="+mn-lt"/>
                  </a:rPr>
                  <a:t>Gravimetric surface area (m²/g)</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2"/>
        <c:crosses val="autoZero"/>
        <c:auto val="1"/>
        <c:lblAlgn val="ctr"/>
        <c:noMultiLvlLbl val="1"/>
      </c:valAx>
      <c:valAx>
        <c:axId val="2094734552"/>
        <c:scaling>
          <c:orientation val="minMax"/>
          <c:max val="1"/>
          <c:min val="0"/>
        </c:scaling>
        <c:delete val="0"/>
        <c:axPos val="l"/>
        <c:majorGridlines>
          <c:spPr>
            <a:ln w="6350" cap="flat">
              <a:solidFill>
                <a:srgbClr val="E3E9EC"/>
              </a:solidFill>
              <a:prstDash val="solid"/>
              <a:round/>
            </a:ln>
          </c:spPr>
        </c:majorGridlines>
        <c:title>
          <c:tx>
            <c:rich>
              <a:bodyPr/>
              <a:lstStyle/>
              <a:p>
                <a:pPr>
                  <a:defRPr sz="1200" b="0" i="0" u="none" strike="noStrike">
                    <a:solidFill>
                      <a:srgbClr val="5B6B73"/>
                    </a:solidFill>
                    <a:latin typeface="+mn-lt"/>
                  </a:defRPr>
                </a:pPr>
                <a:r>
                  <a:rPr sz="1200" b="0" i="0" u="none" strike="noStrike">
                    <a:solidFill>
                      <a:srgbClr val="5B6B73"/>
                    </a:solidFill>
                    <a:latin typeface="+mn-lt"/>
                  </a:rPr>
                  <a:t>Void fraction</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200">
              <a:solidFill>
                <a:srgbClr val="5B6B73"/>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433"/>
                </a:solidFill>
                <a:latin typeface="+mn-lt"/>
              </a:defRPr>
            </a:pPr>
            <a:r>
              <a:rPr sz="1400" b="0" i="0" u="none" strike="noStrike">
                <a:solidFill>
                  <a:srgbClr val="0F2433"/>
                </a:solidFill>
                <a:latin typeface="+mn-lt"/>
              </a:rPr>
              <a:t>Exact answer match (%), LLM = Gemini 3.1 Flash-Lite</a:t>
            </a:r>
          </a:p>
        </c:rich>
      </c:tx>
      <c:layout/>
      <c:overlay val="0"/>
    </c:title>
    <c:autoTitleDeleted val="0"/>
    <c:plotArea>
      <c:layout/>
      <c:barChart>
        <c:barDir val="col"/>
        <c:grouping val="clustered"/>
        <c:varyColors val="0"/>
        <c:ser>
          <c:idx val="0"/>
          <c:order val="0"/>
          <c:tx>
            <c:strRef>
              <c:f>Sheet1!$B$1</c:f>
              <c:strCache>
                <c:ptCount val="1"/>
                <c:pt idx="0">
                  <c:v>Development set (64 questions)</c:v>
                </c:pt>
              </c:strCache>
            </c:strRef>
          </c:tx>
          <c:spPr>
            <a:solidFill>
              <a:srgbClr val="C5CFD3"/>
            </a:solidFill>
            <a:effectLst/>
          </c:spPr>
          <c:invertIfNegative val="0"/>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 (no LLM)</c:v>
                  </c:pt>
                  <c:pt idx="2">
                    <c:v>LLM single shot</c:v>
                  </c:pt>
                  <c:pt idx="3">
                    <c:v>LLM + validator</c:v>
                  </c:pt>
                  <c:pt idx="4">
                    <c:v>Hybrid (default)</c:v>
                  </c:pt>
                </c:lvl>
              </c:multiLvlStrCache>
            </c:multiLvlStrRef>
          </c:cat>
          <c:val>
            <c:numRef>
              <c:f>Sheet1!$B$2:$B$6</c:f>
              <c:numCache>
                <c:formatCode>General</c:formatCode>
                <c:ptCount val="5"/>
                <c:pt idx="0">
                  <c:v>9.4</c:v>
                </c:pt>
                <c:pt idx="1">
                  <c:v>100</c:v>
                </c:pt>
                <c:pt idx="2">
                  <c:v>100</c:v>
                </c:pt>
                <c:pt idx="3">
                  <c:v>100</c:v>
                </c:pt>
                <c:pt idx="4">
                  <c:v>100</c:v>
                </c:pt>
              </c:numCache>
            </c:numRef>
          </c:val>
        </c:ser>
        <c:ser>
          <c:idx val="1"/>
          <c:order val="1"/>
          <c:tx>
            <c:strRef>
              <c:f>Sheet1!$C$1</c:f>
              <c:strCache>
                <c:ptCount val="1"/>
                <c:pt idx="0">
                  <c:v>Held-out set (20 questions)</c:v>
                </c:pt>
              </c:strCache>
            </c:strRef>
          </c:tx>
          <c:spPr>
            <a:solidFill>
              <a:srgbClr val="0891B2"/>
            </a:solidFill>
            <a:effectLst/>
          </c:spPr>
          <c:invertIfNegative val="0"/>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 (no LLM)</c:v>
                  </c:pt>
                  <c:pt idx="2">
                    <c:v>LLM single shot</c:v>
                  </c:pt>
                  <c:pt idx="3">
                    <c:v>LLM + validator</c:v>
                  </c:pt>
                  <c:pt idx="4">
                    <c:v>Hybrid (default)</c:v>
                  </c:pt>
                </c:lvl>
              </c:multiLvlStrCache>
            </c:multiLvlStrRef>
          </c:cat>
          <c:val>
            <c:numRef>
              <c:f>Sheet1!$C$2:$C$6</c:f>
              <c:numCache>
                <c:formatCode>General</c:formatCode>
                <c:ptCount val="5"/>
                <c:pt idx="0">
                  <c:v>5</c:v>
                </c:pt>
                <c:pt idx="1">
                  <c:v>80</c:v>
                </c:pt>
                <c:pt idx="2">
                  <c:v>100</c:v>
                </c:pt>
                <c:pt idx="3">
                  <c:v>100</c:v>
                </c:pt>
                <c:pt idx="4">
                  <c:v>100</c:v>
                </c:pt>
              </c:numCache>
            </c:numRef>
          </c:val>
        </c:ser>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B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433"/>
                </a:solidFill>
                <a:latin typeface="+mn-lt"/>
              </a:defRPr>
            </a:pPr>
            <a:r>
              <a:rPr sz="1400" b="0" i="0" u="none" strike="noStrike">
                <a:solidFill>
                  <a:srgbClr val="0F2433"/>
                </a:solidFill>
                <a:latin typeface="+mn-lt"/>
              </a:rPr>
              <a:t>Exact answer match (%), local Llama 3 8B via Ollama</a:t>
            </a:r>
          </a:p>
        </c:rich>
      </c:tx>
      <c:layout/>
      <c:overlay val="0"/>
    </c:title>
    <c:autoTitleDeleted val="0"/>
    <c:plotArea>
      <c:layout/>
      <c:barChart>
        <c:barDir val="col"/>
        <c:grouping val="clustered"/>
        <c:varyColors val="0"/>
        <c:ser>
          <c:idx val="0"/>
          <c:order val="0"/>
          <c:tx>
            <c:strRef>
              <c:f>Sheet1!$B$1</c:f>
              <c:strCache>
                <c:ptCount val="1"/>
                <c:pt idx="0">
                  <c:v>Held-out set</c:v>
                </c:pt>
              </c:strCache>
            </c:strRef>
          </c:tx>
          <c:spPr>
            <a:solidFill>
              <a:srgbClr val="D9622B"/>
            </a:solidFill>
            <a:effectLst/>
          </c:spPr>
          <c:invertIfNegative val="0"/>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cat>
            <c:multiLvlStrRef>
              <c:f>Sheet1!$A$2:$A$4</c:f>
              <c:multiLvlStrCache>
                <c:ptCount val="3"/>
                <c:lvl>
                  <c:pt idx="0">
                    <c:v>Llama 3 8B alone</c:v>
                  </c:pt>
                  <c:pt idx="1">
                    <c:v>+ validator</c:v>
                  </c:pt>
                  <c:pt idx="2">
                    <c:v>+ hybrid planner</c:v>
                  </c:pt>
                </c:lvl>
              </c:multiLvlStrCache>
            </c:multiLvlStrRef>
          </c:cat>
          <c:val>
            <c:numRef>
              <c:f>Sheet1!$B$2:$B$4</c:f>
              <c:numCache>
                <c:formatCode>General</c:formatCode>
                <c:ptCount val="3"/>
                <c:pt idx="0">
                  <c:v>65</c:v>
                </c:pt>
                <c:pt idx="1">
                  <c:v>70</c:v>
                </c:pt>
                <c:pt idx="2">
                  <c:v>80</c:v>
                </c:pt>
              </c:numCache>
            </c:numRef>
          </c:val>
        </c:ser>
        <c:ser>
          <c:idx val="1"/>
          <c:order val="1"/>
          <c:tx>
            <c:strRef>
              <c:f>Sheet1!$C$1</c:f>
              <c:strCache>
                <c:ptCount val="1"/>
                <c:pt idx="0">
                  <c:v>Development set</c:v>
                </c:pt>
              </c:strCache>
            </c:strRef>
          </c:tx>
          <c:spPr>
            <a:solidFill>
              <a:srgbClr val="C5CFD3"/>
            </a:solidFill>
            <a:effectLst/>
          </c:spPr>
          <c:invertIfNegative val="0"/>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cat>
            <c:multiLvlStrRef>
              <c:f>Sheet1!$A$2:$A$4</c:f>
              <c:multiLvlStrCache>
                <c:ptCount val="3"/>
                <c:lvl>
                  <c:pt idx="0">
                    <c:v>Llama 3 8B alone</c:v>
                  </c:pt>
                  <c:pt idx="1">
                    <c:v>+ validator</c:v>
                  </c:pt>
                  <c:pt idx="2">
                    <c:v>+ hybrid planner</c:v>
                  </c:pt>
                </c:lvl>
              </c:multiLvlStrCache>
            </c:multiLvlStrRef>
          </c:cat>
          <c:val>
            <c:numRef>
              <c:f>Sheet1!$C$2:$C$4</c:f>
              <c:numCache>
                <c:formatCode>General</c:formatCode>
                <c:ptCount val="3"/>
                <c:pt idx="0">
                  <c:v>85.9</c:v>
                </c:pt>
                <c:pt idx="1">
                  <c:v>93.8</c:v>
                </c:pt>
                <c:pt idx="2">
                  <c:v>100</c:v>
                </c:pt>
              </c:numCache>
            </c:numRef>
          </c:val>
        </c:ser>
        <c:dLbls>
          <c:numFmt formatCode="General&quot;%&quot;" sourceLinked="0"/>
          <c:txPr>
            <a:bodyPr/>
            <a:lstStyle/>
            <a:p>
              <a:pPr>
                <a:defRPr b="0" i="0" strike="noStrike" sz="1100" u="none">
                  <a:solidFill>
                    <a:srgbClr val="0F24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B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433"/>
                </a:solidFill>
                <a:latin typeface="+mn-lt"/>
              </a:defRPr>
            </a:pPr>
            <a:r>
              <a:rPr sz="1300" b="0" i="0" u="none" strike="noStrike">
                <a:solidFill>
                  <a:srgbClr val="0F2433"/>
                </a:solidFill>
                <a:latin typeface="+mn-lt"/>
              </a:rPr>
              <a:t>Test R² (held-out 10 %)</a:t>
            </a:r>
          </a:p>
        </c:rich>
      </c:tx>
      <c:layout/>
      <c:overlay val="0"/>
    </c:title>
    <c:autoTitleDeleted val="0"/>
    <c:plotArea>
      <c:layout/>
      <c:barChart>
        <c:barDir val="bar"/>
        <c:grouping val="clustered"/>
        <c:varyColors val="0"/>
        <c:ser>
          <c:idx val="0"/>
          <c:order val="0"/>
          <c:tx>
            <c:strRef>
              <c:f>Sheet1!$B$1</c:f>
              <c:strCache>
                <c:ptCount val="1"/>
                <c:pt idx="0">
                  <c:v>Surface area</c:v>
                </c:pt>
              </c:strCache>
            </c:strRef>
          </c:tx>
          <c:spPr>
            <a:solidFill>
              <a:srgbClr val="0891B2"/>
            </a:solidFill>
            <a:effectLst/>
          </c:spPr>
          <c:invertIfNegative val="0"/>
          <c:dLbls>
            <c:numFmt formatCode="0.000" sourceLinked="0"/>
            <c:txPr>
              <a:bodyPr/>
              <a:lstStyle/>
              <a:p>
                <a:pPr>
                  <a:defRPr b="0" i="0" strike="noStrike" sz="1000" u="none">
                    <a:solidFill>
                      <a:srgbClr val="0F2433"/>
                    </a:solidFill>
                    <a:latin typeface="+mn-lt"/>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Sheet1!$B$2:$B$6</c:f>
              <c:numCache>
                <c:formatCode>General</c:formatCode>
                <c:ptCount val="5"/>
                <c:pt idx="0">
                  <c:v>0.343</c:v>
                </c:pt>
                <c:pt idx="1">
                  <c:v>0.947</c:v>
                </c:pt>
                <c:pt idx="2">
                  <c:v>0.977</c:v>
                </c:pt>
                <c:pt idx="3">
                  <c:v>0.982</c:v>
                </c:pt>
                <c:pt idx="4">
                  <c:v>0.981</c:v>
                </c:pt>
              </c:numCache>
            </c:numRef>
          </c:val>
        </c:ser>
        <c:ser>
          <c:idx val="1"/>
          <c:order val="1"/>
          <c:tx>
            <c:strRef>
              <c:f>Sheet1!$C$1</c:f>
              <c:strCache>
                <c:ptCount val="1"/>
                <c:pt idx="0">
                  <c:v>Void fraction</c:v>
                </c:pt>
              </c:strCache>
            </c:strRef>
          </c:tx>
          <c:spPr>
            <a:solidFill>
              <a:srgbClr val="C5CFD3"/>
            </a:solidFill>
            <a:effectLst/>
          </c:spPr>
          <c:invertIfNegative val="0"/>
          <c:dLbls>
            <c:numFmt formatCode="0.000" sourceLinked="0"/>
            <c:txPr>
              <a:bodyPr/>
              <a:lstStyle/>
              <a:p>
                <a:pPr>
                  <a:defRPr b="0" i="0" strike="noStrike" sz="1000" u="none">
                    <a:solidFill>
                      <a:srgbClr val="0F2433"/>
                    </a:solidFill>
                    <a:latin typeface="+mn-lt"/>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Sheet1!$C$2:$C$6</c:f>
              <c:numCache>
                <c:formatCode>General</c:formatCode>
                <c:ptCount val="5"/>
                <c:pt idx="0">
                  <c:v>0</c:v>
                </c:pt>
                <c:pt idx="1">
                  <c:v>0.78</c:v>
                </c:pt>
                <c:pt idx="2">
                  <c:v>0.796</c:v>
                </c:pt>
                <c:pt idx="3">
                  <c:v>0.828</c:v>
                </c:pt>
                <c:pt idx="4">
                  <c:v>0.823</c:v>
                </c:pt>
              </c:numCache>
            </c:numRef>
          </c:val>
        </c:ser>
        <c:dLbls>
          <c:numFmt formatCode="0.000" sourceLinked="0"/>
          <c:txPr>
            <a:bodyPr/>
            <a:lstStyle/>
            <a:p>
              <a:pPr>
                <a:defRPr b="0" i="0" strike="noStrike" sz="1000" u="none">
                  <a:solidFill>
                    <a:srgbClr val="0F24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in one sentence: MOFChat is a conversational assistant that recommends metal-organic frameworks from the 12,020-MOF CoRE-MOF database, where every number in the answer is checked against the data. It builds on the ChatMOF paper and fixes the problems that paper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results section is the core: every number on those slides is produced by evaluate.py and recorded in docs/RESULTS.md.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MOFs are built from metal nodes and organic linkers. The database we use, CoRE MOF 2019, has 12,020 experimental structures with geometric descriptors computed by Zeo++. Picking one for, say, CO2 capture means filtering on several properties and ranking trade-offs, which is hard to do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ChatMOF is our base paper. It is impressive, but its own analysis lists these problems: token-limit failures, logic errors in generated code, dependence on GPT-4, a separate pretrained model per property, and no validation of the final answer. Each of these is a design goal for MOFChat.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of the fifteen verified papers. The point to make: each paper gives us one building block, but no prior system validates the language model's final answer against the database. That gap is MOFChat's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last one matters most for a review: we do not just claim the system works, we measure it on 64 labelled questions and on 20 held-out questions written after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review 1 we searched an FT-Transformer index with a Sentence-BERT question vector. The two vectors had the same size but no shared training, so the retrieved MOFs did not depend on the question. It scored 9.4% on our benchmark. The rebuilt system plans, validates and queries, and reaches 100% on both sets with the default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setup_db.py loads the ChatMOF descriptor table and asserts each of these facts. Key one: the 3,252 MOFs with zero surface area are not missing data. All of them have a pore limiting diameter below the 3.31 Angstrom probe, so the probe cannot enter. We turn that into an exact physics rule in the surrogate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Only the two orange boxes use a language model. The plan is validated and sent back for correction up to twice; then the router picks one of four tools. The answer writer sees at most 10 verified rows, so token limits never occur, and the answer validator checks the text before it is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plan for the demo question. The LLM fills a fixed JSON schema at temperature 0. The validator checks it; if there are errors they go back to the LLM up to twice, and then the rule-parser plan is used. The executor turns the plan into SQL using only whitelisted column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is a swappable part. mofchat/llm.py has a registry of 14 models from four providers; each reports whether it is usable right now. If every model fails, the rule parser plans and a template writes the answer, so a question is never left unanswered.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multi-objective questions we use NSGA-II's selection step: non-dominated sorting plus crowding distance. The chart is the real data for the hydrogen-storage preset: grey points are a sample of candidates, orange are the first Pareto front, teal the next two fronts. Application presets are explicit heuristics, because the dataset has no adsorption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FT-Transformer turns each descriptor into a token, adds a CLS token, and runs three Transformer blocks. Trained self-supervised by masking 30% of tokens, its CLS state becomes a MOF embedding for similarity search. Right: the surrogate setup. The physics rule makes zero surface areas exact, and conformal calibration gives intervals with guaranteed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was added after testing the app: a sentence like 'A, B and C all have surface areas of at least 6000' passes a simple number check, because 6000 appears somewhere, but it is false if B has 4,564. The validator now looks up each named MOF and checks the claim, including Pareto-front claims against the NSGA-II ranks.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counts as correct only if it returns exactly the gold MOFs. The held-out set is the honest estimate: 20 phrasings like 'tops 5500' or 'lighter than 0.4' written after the rule parser was finished. Review 1 gets 5%, rules alone 80%, and the default system 100%. Caveat: 20 questions, so one question is 5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ablation. A local 8-billion-parameter model gets 65% alone on held-out questions; the validator lifts it to 70% and the hybrid merge to 80%. For a strong cloud model these layers change nothing, which is the point: they cost almost nothing and protect us when the model is weak or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model planned both question sets on its own, with fallback switched off. The cloud models are effectively tied on accuracy, so we chose the default order by held-out score and by reliability: Flash-Lite first, then GPT-OSS 120B from a different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first draft is checked. The default model needed no corrections. The local model invented numbers once and garbled an ID, which was fixed automatically. GPT-OSS 120B made a false Pareto-front claim that a plain number check would have missed; the claim checker flagged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is the production model: R squared 0.982, mean error 90 m2/g. The FT-Transformer ties it, which matches Grinsztajn et al.: on medium-sized tabular data, trees are as good and much faster. The conformal interval covers 90.5% of test MOFs, close to the promised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shows which descriptors drive each prediction; the ranking is physically sensible. For similarity, the FT-Transformer neighbours are almost as close as raw k-NN on the descriptors, but share the query's metal more often, which is what a chemist expects from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each limitation from the base paper to what we built. Be upfront about the two asterisks: we recommend existing MOFs rather than generating new ones, and we cannot predict gas uptake because the table has no uptake labels. The LLM is not fine-tuned, so that one is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order (docs/VIVA_GUIDE.md): 1) 'Find me 3 MOFs with surface area greater than 4000 and void fraction greater than 0.8', open 'How this answer was produced'. 2) 'Which zinc MOFs have high surface area and low density?', open the Pareto plot. 3) 'Recommend MOFs for CO2 capture', show sources and caveats. 4) 'MOFs with surface area above 20000', it says none exist and shows the closest. 5) A prediction question, show the interval and SHAP. The app also works with no language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we learned: these four. The third is worth emphasising: our benchmark was at 100%, yet using the finished app with GPT-OSS 20B exposed four real bugs in the written answers. Each was fixed, given a unit test built from the real output, and the evaluation was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scope. The biggest gap is gas uptake: the table has geometry only. The hMOF folder already has structures and energy grids, so attaching uptake labels would let the same pipeline predict adsorption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four numbers, then the one-line summary: we kept ChatMOF's convenience and added the checks that make its answers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of the fifteen verified references; the full annotated list is docs/LITERATURE_REVIEW.md.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app for the demo questions on the application slide, or take questions. docs/VIVA_GUIDE.md lists likely questions and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OF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MOFChat  ·  Team 09  ·  22AIE452 Final Review</a:t>
            </a:r>
            <a:endParaRPr lang="en-US" sz="1000" dirty="0"/>
          </a:p>
        </p:txBody>
      </p:sp>
      <p:sp>
        <p:nvSpPr>
          <p:cNvPr id="3" name="Text 1"/>
          <p:cNvSpPr/>
          <p:nvPr>
            <p:ph idx="101" type="body" hasCustomPrompt="1"/>
          </p:nvPr>
        </p:nvSpPr>
        <p:spPr>
          <a:xfrm>
            <a:off x="548640" y="292608"/>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4" name="Text 1"/>
          <p:cNvSpPr/>
          <p:nvPr>
            <p:ph idx="102" type="title" hasCustomPrompt="1"/>
          </p:nvPr>
        </p:nvSpPr>
        <p:spPr>
          <a:xfrm>
            <a:off x="548640" y="603504"/>
            <a:ext cx="11064240" cy="68580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OF_DARK">
    <p:bg>
      <p:bgPr>
        <a:solidFill>
          <a:srgbClr val="0F24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9-1.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589520" y="914400"/>
            <a:ext cx="914400" cy="0"/>
          </a:xfrm>
          <a:prstGeom prst="line">
            <a:avLst/>
          </a:prstGeom>
          <a:noFill/>
          <a:ln w="15875">
            <a:solidFill>
              <a:srgbClr val="2E5266"/>
            </a:solidFill>
            <a:prstDash val="solid"/>
          </a:ln>
        </p:spPr>
      </p:sp>
      <p:sp>
        <p:nvSpPr>
          <p:cNvPr id="3" name="Shape 1"/>
          <p:cNvSpPr/>
          <p:nvPr/>
        </p:nvSpPr>
        <p:spPr>
          <a:xfrm>
            <a:off x="7589520" y="914400"/>
            <a:ext cx="0" cy="914400"/>
          </a:xfrm>
          <a:prstGeom prst="line">
            <a:avLst/>
          </a:prstGeom>
          <a:noFill/>
          <a:ln w="15875">
            <a:solidFill>
              <a:srgbClr val="2E5266"/>
            </a:solidFill>
            <a:prstDash val="solid"/>
          </a:ln>
        </p:spPr>
      </p:sp>
      <p:sp>
        <p:nvSpPr>
          <p:cNvPr id="4" name="Shape 2"/>
          <p:cNvSpPr/>
          <p:nvPr/>
        </p:nvSpPr>
        <p:spPr>
          <a:xfrm>
            <a:off x="7964424" y="841248"/>
            <a:ext cx="164592" cy="146304"/>
          </a:xfrm>
          <a:prstGeom prst="hexagon">
            <a:avLst/>
          </a:prstGeom>
          <a:solidFill>
            <a:srgbClr val="0F2433"/>
          </a:solidFill>
          <a:ln w="12700">
            <a:solidFill>
              <a:srgbClr val="3B6A80"/>
            </a:solidFill>
            <a:prstDash val="solid"/>
          </a:ln>
        </p:spPr>
      </p:sp>
      <p:sp>
        <p:nvSpPr>
          <p:cNvPr id="5" name="Shape 3"/>
          <p:cNvSpPr/>
          <p:nvPr/>
        </p:nvSpPr>
        <p:spPr>
          <a:xfrm>
            <a:off x="7507224" y="1298448"/>
            <a:ext cx="164592" cy="146304"/>
          </a:xfrm>
          <a:prstGeom prst="hexagon">
            <a:avLst/>
          </a:prstGeom>
          <a:solidFill>
            <a:srgbClr val="0F2433"/>
          </a:solidFill>
          <a:ln w="12700">
            <a:solidFill>
              <a:srgbClr val="3B6A80"/>
            </a:solidFill>
            <a:prstDash val="solid"/>
          </a:ln>
        </p:spPr>
      </p:sp>
      <p:sp>
        <p:nvSpPr>
          <p:cNvPr id="6" name="Shape 4"/>
          <p:cNvSpPr/>
          <p:nvPr/>
        </p:nvSpPr>
        <p:spPr>
          <a:xfrm>
            <a:off x="8503920" y="914400"/>
            <a:ext cx="914400" cy="0"/>
          </a:xfrm>
          <a:prstGeom prst="line">
            <a:avLst/>
          </a:prstGeom>
          <a:noFill/>
          <a:ln w="15875">
            <a:solidFill>
              <a:srgbClr val="2E5266"/>
            </a:solidFill>
            <a:prstDash val="solid"/>
          </a:ln>
        </p:spPr>
      </p:sp>
      <p:sp>
        <p:nvSpPr>
          <p:cNvPr id="7" name="Shape 5"/>
          <p:cNvSpPr/>
          <p:nvPr/>
        </p:nvSpPr>
        <p:spPr>
          <a:xfrm>
            <a:off x="8503920" y="914400"/>
            <a:ext cx="0" cy="914400"/>
          </a:xfrm>
          <a:prstGeom prst="line">
            <a:avLst/>
          </a:prstGeom>
          <a:noFill/>
          <a:ln w="15875">
            <a:solidFill>
              <a:srgbClr val="2E5266"/>
            </a:solidFill>
            <a:prstDash val="solid"/>
          </a:ln>
        </p:spPr>
      </p:sp>
      <p:sp>
        <p:nvSpPr>
          <p:cNvPr id="8" name="Shape 6"/>
          <p:cNvSpPr/>
          <p:nvPr/>
        </p:nvSpPr>
        <p:spPr>
          <a:xfrm>
            <a:off x="8878824" y="841248"/>
            <a:ext cx="164592" cy="146304"/>
          </a:xfrm>
          <a:prstGeom prst="hexagon">
            <a:avLst/>
          </a:prstGeom>
          <a:solidFill>
            <a:srgbClr val="0F2433"/>
          </a:solidFill>
          <a:ln w="12700">
            <a:solidFill>
              <a:srgbClr val="3B6A80"/>
            </a:solidFill>
            <a:prstDash val="solid"/>
          </a:ln>
        </p:spPr>
      </p:sp>
      <p:sp>
        <p:nvSpPr>
          <p:cNvPr id="9" name="Shape 7"/>
          <p:cNvSpPr/>
          <p:nvPr/>
        </p:nvSpPr>
        <p:spPr>
          <a:xfrm>
            <a:off x="8421624" y="1298448"/>
            <a:ext cx="164592" cy="146304"/>
          </a:xfrm>
          <a:prstGeom prst="hexagon">
            <a:avLst/>
          </a:prstGeom>
          <a:solidFill>
            <a:srgbClr val="0F2433"/>
          </a:solidFill>
          <a:ln w="12700">
            <a:solidFill>
              <a:srgbClr val="3B6A80"/>
            </a:solidFill>
            <a:prstDash val="solid"/>
          </a:ln>
        </p:spPr>
      </p:sp>
      <p:sp>
        <p:nvSpPr>
          <p:cNvPr id="10" name="Shape 8"/>
          <p:cNvSpPr/>
          <p:nvPr/>
        </p:nvSpPr>
        <p:spPr>
          <a:xfrm>
            <a:off x="9418320" y="914400"/>
            <a:ext cx="914400" cy="0"/>
          </a:xfrm>
          <a:prstGeom prst="line">
            <a:avLst/>
          </a:prstGeom>
          <a:noFill/>
          <a:ln w="15875">
            <a:solidFill>
              <a:srgbClr val="2E5266"/>
            </a:solidFill>
            <a:prstDash val="solid"/>
          </a:ln>
        </p:spPr>
      </p:sp>
      <p:sp>
        <p:nvSpPr>
          <p:cNvPr id="11" name="Shape 9"/>
          <p:cNvSpPr/>
          <p:nvPr/>
        </p:nvSpPr>
        <p:spPr>
          <a:xfrm>
            <a:off x="9418320" y="914400"/>
            <a:ext cx="0" cy="914400"/>
          </a:xfrm>
          <a:prstGeom prst="line">
            <a:avLst/>
          </a:prstGeom>
          <a:noFill/>
          <a:ln w="15875">
            <a:solidFill>
              <a:srgbClr val="2E5266"/>
            </a:solidFill>
            <a:prstDash val="solid"/>
          </a:ln>
        </p:spPr>
      </p:sp>
      <p:sp>
        <p:nvSpPr>
          <p:cNvPr id="12" name="Shape 10"/>
          <p:cNvSpPr/>
          <p:nvPr/>
        </p:nvSpPr>
        <p:spPr>
          <a:xfrm>
            <a:off x="9793224" y="841248"/>
            <a:ext cx="164592" cy="146304"/>
          </a:xfrm>
          <a:prstGeom prst="hexagon">
            <a:avLst/>
          </a:prstGeom>
          <a:solidFill>
            <a:srgbClr val="0F2433"/>
          </a:solidFill>
          <a:ln w="12700">
            <a:solidFill>
              <a:srgbClr val="3B6A80"/>
            </a:solidFill>
            <a:prstDash val="solid"/>
          </a:ln>
        </p:spPr>
      </p:sp>
      <p:sp>
        <p:nvSpPr>
          <p:cNvPr id="13" name="Shape 11"/>
          <p:cNvSpPr/>
          <p:nvPr/>
        </p:nvSpPr>
        <p:spPr>
          <a:xfrm>
            <a:off x="9336024" y="1298448"/>
            <a:ext cx="164592" cy="146304"/>
          </a:xfrm>
          <a:prstGeom prst="hexagon">
            <a:avLst/>
          </a:prstGeom>
          <a:solidFill>
            <a:srgbClr val="0F2433"/>
          </a:solidFill>
          <a:ln w="12700">
            <a:solidFill>
              <a:srgbClr val="3B6A80"/>
            </a:solidFill>
            <a:prstDash val="solid"/>
          </a:ln>
        </p:spPr>
      </p:sp>
      <p:sp>
        <p:nvSpPr>
          <p:cNvPr id="14" name="Shape 12"/>
          <p:cNvSpPr/>
          <p:nvPr/>
        </p:nvSpPr>
        <p:spPr>
          <a:xfrm>
            <a:off x="10332720" y="914400"/>
            <a:ext cx="914400" cy="0"/>
          </a:xfrm>
          <a:prstGeom prst="line">
            <a:avLst/>
          </a:prstGeom>
          <a:noFill/>
          <a:ln w="15875">
            <a:solidFill>
              <a:srgbClr val="2E5266"/>
            </a:solidFill>
            <a:prstDash val="solid"/>
          </a:ln>
        </p:spPr>
      </p:sp>
      <p:sp>
        <p:nvSpPr>
          <p:cNvPr id="15" name="Shape 13"/>
          <p:cNvSpPr/>
          <p:nvPr/>
        </p:nvSpPr>
        <p:spPr>
          <a:xfrm>
            <a:off x="10332720" y="914400"/>
            <a:ext cx="0" cy="914400"/>
          </a:xfrm>
          <a:prstGeom prst="line">
            <a:avLst/>
          </a:prstGeom>
          <a:noFill/>
          <a:ln w="15875">
            <a:solidFill>
              <a:srgbClr val="2E5266"/>
            </a:solidFill>
            <a:prstDash val="solid"/>
          </a:ln>
        </p:spPr>
      </p:sp>
      <p:sp>
        <p:nvSpPr>
          <p:cNvPr id="16" name="Shape 14"/>
          <p:cNvSpPr/>
          <p:nvPr/>
        </p:nvSpPr>
        <p:spPr>
          <a:xfrm>
            <a:off x="10707624" y="841248"/>
            <a:ext cx="164592" cy="146304"/>
          </a:xfrm>
          <a:prstGeom prst="hexagon">
            <a:avLst/>
          </a:prstGeom>
          <a:solidFill>
            <a:srgbClr val="0F2433"/>
          </a:solidFill>
          <a:ln w="12700">
            <a:solidFill>
              <a:srgbClr val="3B6A80"/>
            </a:solidFill>
            <a:prstDash val="solid"/>
          </a:ln>
        </p:spPr>
      </p:sp>
      <p:sp>
        <p:nvSpPr>
          <p:cNvPr id="17" name="Shape 15"/>
          <p:cNvSpPr/>
          <p:nvPr/>
        </p:nvSpPr>
        <p:spPr>
          <a:xfrm>
            <a:off x="10250424" y="1298448"/>
            <a:ext cx="164592" cy="146304"/>
          </a:xfrm>
          <a:prstGeom prst="hexagon">
            <a:avLst/>
          </a:prstGeom>
          <a:solidFill>
            <a:srgbClr val="0F2433"/>
          </a:solidFill>
          <a:ln w="12700">
            <a:solidFill>
              <a:srgbClr val="3B6A80"/>
            </a:solidFill>
            <a:prstDash val="solid"/>
          </a:ln>
        </p:spPr>
      </p:sp>
      <p:sp>
        <p:nvSpPr>
          <p:cNvPr id="18" name="Shape 16"/>
          <p:cNvSpPr/>
          <p:nvPr/>
        </p:nvSpPr>
        <p:spPr>
          <a:xfrm>
            <a:off x="11247120" y="914400"/>
            <a:ext cx="0" cy="914400"/>
          </a:xfrm>
          <a:prstGeom prst="line">
            <a:avLst/>
          </a:prstGeom>
          <a:noFill/>
          <a:ln w="15875">
            <a:solidFill>
              <a:srgbClr val="2E5266"/>
            </a:solidFill>
            <a:prstDash val="solid"/>
          </a:ln>
        </p:spPr>
      </p:sp>
      <p:sp>
        <p:nvSpPr>
          <p:cNvPr id="19" name="Shape 17"/>
          <p:cNvSpPr/>
          <p:nvPr/>
        </p:nvSpPr>
        <p:spPr>
          <a:xfrm>
            <a:off x="11164824" y="1298448"/>
            <a:ext cx="164592" cy="146304"/>
          </a:xfrm>
          <a:prstGeom prst="hexagon">
            <a:avLst/>
          </a:prstGeom>
          <a:solidFill>
            <a:srgbClr val="0F2433"/>
          </a:solidFill>
          <a:ln w="12700">
            <a:solidFill>
              <a:srgbClr val="3B6A80"/>
            </a:solidFill>
            <a:prstDash val="solid"/>
          </a:ln>
        </p:spPr>
      </p:sp>
      <p:sp>
        <p:nvSpPr>
          <p:cNvPr id="20" name="Shape 18"/>
          <p:cNvSpPr/>
          <p:nvPr/>
        </p:nvSpPr>
        <p:spPr>
          <a:xfrm>
            <a:off x="7589520" y="1828800"/>
            <a:ext cx="914400" cy="0"/>
          </a:xfrm>
          <a:prstGeom prst="line">
            <a:avLst/>
          </a:prstGeom>
          <a:noFill/>
          <a:ln w="15875">
            <a:solidFill>
              <a:srgbClr val="2E5266"/>
            </a:solidFill>
            <a:prstDash val="solid"/>
          </a:ln>
        </p:spPr>
      </p:sp>
      <p:sp>
        <p:nvSpPr>
          <p:cNvPr id="21" name="Shape 19"/>
          <p:cNvSpPr/>
          <p:nvPr/>
        </p:nvSpPr>
        <p:spPr>
          <a:xfrm>
            <a:off x="7589520" y="1828800"/>
            <a:ext cx="0" cy="914400"/>
          </a:xfrm>
          <a:prstGeom prst="line">
            <a:avLst/>
          </a:prstGeom>
          <a:noFill/>
          <a:ln w="15875">
            <a:solidFill>
              <a:srgbClr val="2E5266"/>
            </a:solidFill>
            <a:prstDash val="solid"/>
          </a:ln>
        </p:spPr>
      </p:sp>
      <p:sp>
        <p:nvSpPr>
          <p:cNvPr id="22" name="Shape 20"/>
          <p:cNvSpPr/>
          <p:nvPr/>
        </p:nvSpPr>
        <p:spPr>
          <a:xfrm>
            <a:off x="7964424" y="1755648"/>
            <a:ext cx="164592" cy="146304"/>
          </a:xfrm>
          <a:prstGeom prst="hexagon">
            <a:avLst/>
          </a:prstGeom>
          <a:solidFill>
            <a:srgbClr val="0F2433"/>
          </a:solidFill>
          <a:ln w="12700">
            <a:solidFill>
              <a:srgbClr val="3B6A80"/>
            </a:solidFill>
            <a:prstDash val="solid"/>
          </a:ln>
        </p:spPr>
      </p:sp>
      <p:sp>
        <p:nvSpPr>
          <p:cNvPr id="23" name="Shape 21"/>
          <p:cNvSpPr/>
          <p:nvPr/>
        </p:nvSpPr>
        <p:spPr>
          <a:xfrm>
            <a:off x="7507224" y="2212848"/>
            <a:ext cx="164592" cy="146304"/>
          </a:xfrm>
          <a:prstGeom prst="hexagon">
            <a:avLst/>
          </a:prstGeom>
          <a:solidFill>
            <a:srgbClr val="0F2433"/>
          </a:solidFill>
          <a:ln w="12700">
            <a:solidFill>
              <a:srgbClr val="3B6A80"/>
            </a:solidFill>
            <a:prstDash val="solid"/>
          </a:ln>
        </p:spPr>
      </p:sp>
      <p:sp>
        <p:nvSpPr>
          <p:cNvPr id="24" name="Shape 22"/>
          <p:cNvSpPr/>
          <p:nvPr/>
        </p:nvSpPr>
        <p:spPr>
          <a:xfrm>
            <a:off x="8503920" y="1828800"/>
            <a:ext cx="914400" cy="0"/>
          </a:xfrm>
          <a:prstGeom prst="line">
            <a:avLst/>
          </a:prstGeom>
          <a:noFill/>
          <a:ln w="15875">
            <a:solidFill>
              <a:srgbClr val="2E5266"/>
            </a:solidFill>
            <a:prstDash val="solid"/>
          </a:ln>
        </p:spPr>
      </p:sp>
      <p:sp>
        <p:nvSpPr>
          <p:cNvPr id="25" name="Shape 23"/>
          <p:cNvSpPr/>
          <p:nvPr/>
        </p:nvSpPr>
        <p:spPr>
          <a:xfrm>
            <a:off x="8503920" y="1828800"/>
            <a:ext cx="0" cy="914400"/>
          </a:xfrm>
          <a:prstGeom prst="line">
            <a:avLst/>
          </a:prstGeom>
          <a:noFill/>
          <a:ln w="15875">
            <a:solidFill>
              <a:srgbClr val="2E5266"/>
            </a:solidFill>
            <a:prstDash val="solid"/>
          </a:ln>
        </p:spPr>
      </p:sp>
      <p:sp>
        <p:nvSpPr>
          <p:cNvPr id="26" name="Shape 24"/>
          <p:cNvSpPr/>
          <p:nvPr/>
        </p:nvSpPr>
        <p:spPr>
          <a:xfrm>
            <a:off x="8878824" y="1755648"/>
            <a:ext cx="164592" cy="146304"/>
          </a:xfrm>
          <a:prstGeom prst="hexagon">
            <a:avLst/>
          </a:prstGeom>
          <a:solidFill>
            <a:srgbClr val="0F2433"/>
          </a:solidFill>
          <a:ln w="12700">
            <a:solidFill>
              <a:srgbClr val="3B6A80"/>
            </a:solidFill>
            <a:prstDash val="solid"/>
          </a:ln>
        </p:spPr>
      </p:sp>
      <p:sp>
        <p:nvSpPr>
          <p:cNvPr id="27" name="Shape 25"/>
          <p:cNvSpPr/>
          <p:nvPr/>
        </p:nvSpPr>
        <p:spPr>
          <a:xfrm>
            <a:off x="8421624" y="2212848"/>
            <a:ext cx="164592" cy="146304"/>
          </a:xfrm>
          <a:prstGeom prst="hexagon">
            <a:avLst/>
          </a:prstGeom>
          <a:solidFill>
            <a:srgbClr val="0F2433"/>
          </a:solidFill>
          <a:ln w="12700">
            <a:solidFill>
              <a:srgbClr val="3B6A80"/>
            </a:solidFill>
            <a:prstDash val="solid"/>
          </a:ln>
        </p:spPr>
      </p:sp>
      <p:sp>
        <p:nvSpPr>
          <p:cNvPr id="28" name="Shape 26"/>
          <p:cNvSpPr/>
          <p:nvPr/>
        </p:nvSpPr>
        <p:spPr>
          <a:xfrm>
            <a:off x="9418320" y="1828800"/>
            <a:ext cx="914400" cy="0"/>
          </a:xfrm>
          <a:prstGeom prst="line">
            <a:avLst/>
          </a:prstGeom>
          <a:noFill/>
          <a:ln w="15875">
            <a:solidFill>
              <a:srgbClr val="2E5266"/>
            </a:solidFill>
            <a:prstDash val="solid"/>
          </a:ln>
        </p:spPr>
      </p:sp>
      <p:sp>
        <p:nvSpPr>
          <p:cNvPr id="29" name="Shape 27"/>
          <p:cNvSpPr/>
          <p:nvPr/>
        </p:nvSpPr>
        <p:spPr>
          <a:xfrm>
            <a:off x="9418320" y="1828800"/>
            <a:ext cx="0" cy="914400"/>
          </a:xfrm>
          <a:prstGeom prst="line">
            <a:avLst/>
          </a:prstGeom>
          <a:noFill/>
          <a:ln w="15875">
            <a:solidFill>
              <a:srgbClr val="2E5266"/>
            </a:solidFill>
            <a:prstDash val="solid"/>
          </a:ln>
        </p:spPr>
      </p:sp>
      <p:sp>
        <p:nvSpPr>
          <p:cNvPr id="30" name="Shape 28"/>
          <p:cNvSpPr/>
          <p:nvPr/>
        </p:nvSpPr>
        <p:spPr>
          <a:xfrm>
            <a:off x="9793224" y="1755648"/>
            <a:ext cx="164592" cy="146304"/>
          </a:xfrm>
          <a:prstGeom prst="hexagon">
            <a:avLst/>
          </a:prstGeom>
          <a:solidFill>
            <a:srgbClr val="0F2433"/>
          </a:solidFill>
          <a:ln w="12700">
            <a:solidFill>
              <a:srgbClr val="3B6A80"/>
            </a:solidFill>
            <a:prstDash val="solid"/>
          </a:ln>
        </p:spPr>
      </p:sp>
      <p:sp>
        <p:nvSpPr>
          <p:cNvPr id="31" name="Shape 29"/>
          <p:cNvSpPr/>
          <p:nvPr/>
        </p:nvSpPr>
        <p:spPr>
          <a:xfrm>
            <a:off x="9336024" y="2212848"/>
            <a:ext cx="164592" cy="146304"/>
          </a:xfrm>
          <a:prstGeom prst="hexagon">
            <a:avLst/>
          </a:prstGeom>
          <a:solidFill>
            <a:srgbClr val="0F2433"/>
          </a:solidFill>
          <a:ln w="12700">
            <a:solidFill>
              <a:srgbClr val="3B6A80"/>
            </a:solidFill>
            <a:prstDash val="solid"/>
          </a:ln>
        </p:spPr>
      </p:sp>
      <p:sp>
        <p:nvSpPr>
          <p:cNvPr id="32" name="Shape 30"/>
          <p:cNvSpPr/>
          <p:nvPr/>
        </p:nvSpPr>
        <p:spPr>
          <a:xfrm>
            <a:off x="10332720" y="1828800"/>
            <a:ext cx="914400" cy="0"/>
          </a:xfrm>
          <a:prstGeom prst="line">
            <a:avLst/>
          </a:prstGeom>
          <a:noFill/>
          <a:ln w="15875">
            <a:solidFill>
              <a:srgbClr val="2E5266"/>
            </a:solidFill>
            <a:prstDash val="solid"/>
          </a:ln>
        </p:spPr>
      </p:sp>
      <p:sp>
        <p:nvSpPr>
          <p:cNvPr id="33" name="Shape 31"/>
          <p:cNvSpPr/>
          <p:nvPr/>
        </p:nvSpPr>
        <p:spPr>
          <a:xfrm>
            <a:off x="10332720" y="1828800"/>
            <a:ext cx="0" cy="914400"/>
          </a:xfrm>
          <a:prstGeom prst="line">
            <a:avLst/>
          </a:prstGeom>
          <a:noFill/>
          <a:ln w="15875">
            <a:solidFill>
              <a:srgbClr val="2E5266"/>
            </a:solidFill>
            <a:prstDash val="solid"/>
          </a:ln>
        </p:spPr>
      </p:sp>
      <p:sp>
        <p:nvSpPr>
          <p:cNvPr id="34" name="Shape 32"/>
          <p:cNvSpPr/>
          <p:nvPr/>
        </p:nvSpPr>
        <p:spPr>
          <a:xfrm>
            <a:off x="10707624" y="1755648"/>
            <a:ext cx="164592" cy="146304"/>
          </a:xfrm>
          <a:prstGeom prst="hexagon">
            <a:avLst/>
          </a:prstGeom>
          <a:solidFill>
            <a:srgbClr val="0F2433"/>
          </a:solidFill>
          <a:ln w="12700">
            <a:solidFill>
              <a:srgbClr val="3B6A80"/>
            </a:solidFill>
            <a:prstDash val="solid"/>
          </a:ln>
        </p:spPr>
      </p:sp>
      <p:sp>
        <p:nvSpPr>
          <p:cNvPr id="35" name="Shape 33"/>
          <p:cNvSpPr/>
          <p:nvPr/>
        </p:nvSpPr>
        <p:spPr>
          <a:xfrm>
            <a:off x="10250424" y="2212848"/>
            <a:ext cx="164592" cy="146304"/>
          </a:xfrm>
          <a:prstGeom prst="hexagon">
            <a:avLst/>
          </a:prstGeom>
          <a:solidFill>
            <a:srgbClr val="0F2433"/>
          </a:solidFill>
          <a:ln w="12700">
            <a:solidFill>
              <a:srgbClr val="3B6A80"/>
            </a:solidFill>
            <a:prstDash val="solid"/>
          </a:ln>
        </p:spPr>
      </p:sp>
      <p:sp>
        <p:nvSpPr>
          <p:cNvPr id="36" name="Shape 34"/>
          <p:cNvSpPr/>
          <p:nvPr/>
        </p:nvSpPr>
        <p:spPr>
          <a:xfrm>
            <a:off x="11247120" y="1828800"/>
            <a:ext cx="0" cy="914400"/>
          </a:xfrm>
          <a:prstGeom prst="line">
            <a:avLst/>
          </a:prstGeom>
          <a:noFill/>
          <a:ln w="15875">
            <a:solidFill>
              <a:srgbClr val="2E5266"/>
            </a:solidFill>
            <a:prstDash val="solid"/>
          </a:ln>
        </p:spPr>
      </p:sp>
      <p:sp>
        <p:nvSpPr>
          <p:cNvPr id="37" name="Shape 35"/>
          <p:cNvSpPr/>
          <p:nvPr/>
        </p:nvSpPr>
        <p:spPr>
          <a:xfrm>
            <a:off x="11164824" y="2212848"/>
            <a:ext cx="164592" cy="146304"/>
          </a:xfrm>
          <a:prstGeom prst="hexagon">
            <a:avLst/>
          </a:prstGeom>
          <a:solidFill>
            <a:srgbClr val="0F2433"/>
          </a:solidFill>
          <a:ln w="12700">
            <a:solidFill>
              <a:srgbClr val="3B6A80"/>
            </a:solidFill>
            <a:prstDash val="solid"/>
          </a:ln>
        </p:spPr>
      </p:sp>
      <p:sp>
        <p:nvSpPr>
          <p:cNvPr id="38" name="Shape 36"/>
          <p:cNvSpPr/>
          <p:nvPr/>
        </p:nvSpPr>
        <p:spPr>
          <a:xfrm>
            <a:off x="7589520" y="2743200"/>
            <a:ext cx="914400" cy="0"/>
          </a:xfrm>
          <a:prstGeom prst="line">
            <a:avLst/>
          </a:prstGeom>
          <a:noFill/>
          <a:ln w="15875">
            <a:solidFill>
              <a:srgbClr val="2E5266"/>
            </a:solidFill>
            <a:prstDash val="solid"/>
          </a:ln>
        </p:spPr>
      </p:sp>
      <p:sp>
        <p:nvSpPr>
          <p:cNvPr id="39" name="Shape 37"/>
          <p:cNvSpPr/>
          <p:nvPr/>
        </p:nvSpPr>
        <p:spPr>
          <a:xfrm>
            <a:off x="7589520" y="2743200"/>
            <a:ext cx="0" cy="914400"/>
          </a:xfrm>
          <a:prstGeom prst="line">
            <a:avLst/>
          </a:prstGeom>
          <a:noFill/>
          <a:ln w="15875">
            <a:solidFill>
              <a:srgbClr val="2E5266"/>
            </a:solidFill>
            <a:prstDash val="solid"/>
          </a:ln>
        </p:spPr>
      </p:sp>
      <p:sp>
        <p:nvSpPr>
          <p:cNvPr id="40" name="Shape 38"/>
          <p:cNvSpPr/>
          <p:nvPr/>
        </p:nvSpPr>
        <p:spPr>
          <a:xfrm>
            <a:off x="7964424" y="2670048"/>
            <a:ext cx="164592" cy="146304"/>
          </a:xfrm>
          <a:prstGeom prst="hexagon">
            <a:avLst/>
          </a:prstGeom>
          <a:solidFill>
            <a:srgbClr val="0F2433"/>
          </a:solidFill>
          <a:ln w="12700">
            <a:solidFill>
              <a:srgbClr val="3B6A80"/>
            </a:solidFill>
            <a:prstDash val="solid"/>
          </a:ln>
        </p:spPr>
      </p:sp>
      <p:sp>
        <p:nvSpPr>
          <p:cNvPr id="41" name="Shape 39"/>
          <p:cNvSpPr/>
          <p:nvPr/>
        </p:nvSpPr>
        <p:spPr>
          <a:xfrm>
            <a:off x="7507224" y="3127248"/>
            <a:ext cx="164592" cy="146304"/>
          </a:xfrm>
          <a:prstGeom prst="hexagon">
            <a:avLst/>
          </a:prstGeom>
          <a:solidFill>
            <a:srgbClr val="0F2433"/>
          </a:solidFill>
          <a:ln w="12700">
            <a:solidFill>
              <a:srgbClr val="3B6A80"/>
            </a:solidFill>
            <a:prstDash val="solid"/>
          </a:ln>
        </p:spPr>
      </p:sp>
      <p:sp>
        <p:nvSpPr>
          <p:cNvPr id="42" name="Shape 40"/>
          <p:cNvSpPr/>
          <p:nvPr/>
        </p:nvSpPr>
        <p:spPr>
          <a:xfrm>
            <a:off x="8503920" y="2743200"/>
            <a:ext cx="914400" cy="0"/>
          </a:xfrm>
          <a:prstGeom prst="line">
            <a:avLst/>
          </a:prstGeom>
          <a:noFill/>
          <a:ln w="15875">
            <a:solidFill>
              <a:srgbClr val="2E5266"/>
            </a:solidFill>
            <a:prstDash val="solid"/>
          </a:ln>
        </p:spPr>
      </p:sp>
      <p:sp>
        <p:nvSpPr>
          <p:cNvPr id="43" name="Shape 41"/>
          <p:cNvSpPr/>
          <p:nvPr/>
        </p:nvSpPr>
        <p:spPr>
          <a:xfrm>
            <a:off x="8503920" y="2743200"/>
            <a:ext cx="0" cy="914400"/>
          </a:xfrm>
          <a:prstGeom prst="line">
            <a:avLst/>
          </a:prstGeom>
          <a:noFill/>
          <a:ln w="15875">
            <a:solidFill>
              <a:srgbClr val="2E5266"/>
            </a:solidFill>
            <a:prstDash val="solid"/>
          </a:ln>
        </p:spPr>
      </p:sp>
      <p:sp>
        <p:nvSpPr>
          <p:cNvPr id="44" name="Shape 42"/>
          <p:cNvSpPr/>
          <p:nvPr/>
        </p:nvSpPr>
        <p:spPr>
          <a:xfrm>
            <a:off x="8878824" y="2670048"/>
            <a:ext cx="164592" cy="146304"/>
          </a:xfrm>
          <a:prstGeom prst="hexagon">
            <a:avLst/>
          </a:prstGeom>
          <a:solidFill>
            <a:srgbClr val="0F2433"/>
          </a:solidFill>
          <a:ln w="12700">
            <a:solidFill>
              <a:srgbClr val="3B6A80"/>
            </a:solidFill>
            <a:prstDash val="solid"/>
          </a:ln>
        </p:spPr>
      </p:sp>
      <p:sp>
        <p:nvSpPr>
          <p:cNvPr id="45" name="Shape 43"/>
          <p:cNvSpPr/>
          <p:nvPr/>
        </p:nvSpPr>
        <p:spPr>
          <a:xfrm>
            <a:off x="8421624" y="3127248"/>
            <a:ext cx="164592" cy="146304"/>
          </a:xfrm>
          <a:prstGeom prst="hexagon">
            <a:avLst/>
          </a:prstGeom>
          <a:solidFill>
            <a:srgbClr val="0F2433"/>
          </a:solidFill>
          <a:ln w="12700">
            <a:solidFill>
              <a:srgbClr val="3B6A80"/>
            </a:solidFill>
            <a:prstDash val="solid"/>
          </a:ln>
        </p:spPr>
      </p:sp>
      <p:sp>
        <p:nvSpPr>
          <p:cNvPr id="46" name="Shape 44"/>
          <p:cNvSpPr/>
          <p:nvPr/>
        </p:nvSpPr>
        <p:spPr>
          <a:xfrm>
            <a:off x="9418320" y="2743200"/>
            <a:ext cx="914400" cy="0"/>
          </a:xfrm>
          <a:prstGeom prst="line">
            <a:avLst/>
          </a:prstGeom>
          <a:noFill/>
          <a:ln w="15875">
            <a:solidFill>
              <a:srgbClr val="2E5266"/>
            </a:solidFill>
            <a:prstDash val="solid"/>
          </a:ln>
        </p:spPr>
      </p:sp>
      <p:sp>
        <p:nvSpPr>
          <p:cNvPr id="47" name="Shape 45"/>
          <p:cNvSpPr/>
          <p:nvPr/>
        </p:nvSpPr>
        <p:spPr>
          <a:xfrm>
            <a:off x="9418320" y="2743200"/>
            <a:ext cx="0" cy="914400"/>
          </a:xfrm>
          <a:prstGeom prst="line">
            <a:avLst/>
          </a:prstGeom>
          <a:noFill/>
          <a:ln w="15875">
            <a:solidFill>
              <a:srgbClr val="2E5266"/>
            </a:solidFill>
            <a:prstDash val="solid"/>
          </a:ln>
        </p:spPr>
      </p:sp>
      <p:sp>
        <p:nvSpPr>
          <p:cNvPr id="48" name="Shape 46"/>
          <p:cNvSpPr/>
          <p:nvPr/>
        </p:nvSpPr>
        <p:spPr>
          <a:xfrm>
            <a:off x="9793224" y="2670048"/>
            <a:ext cx="164592" cy="146304"/>
          </a:xfrm>
          <a:prstGeom prst="hexagon">
            <a:avLst/>
          </a:prstGeom>
          <a:solidFill>
            <a:srgbClr val="0F2433"/>
          </a:solidFill>
          <a:ln w="12700">
            <a:solidFill>
              <a:srgbClr val="3B6A80"/>
            </a:solidFill>
            <a:prstDash val="solid"/>
          </a:ln>
        </p:spPr>
      </p:sp>
      <p:sp>
        <p:nvSpPr>
          <p:cNvPr id="49" name="Shape 47"/>
          <p:cNvSpPr/>
          <p:nvPr/>
        </p:nvSpPr>
        <p:spPr>
          <a:xfrm>
            <a:off x="9336024" y="3127248"/>
            <a:ext cx="164592" cy="146304"/>
          </a:xfrm>
          <a:prstGeom prst="hexagon">
            <a:avLst/>
          </a:prstGeom>
          <a:solidFill>
            <a:srgbClr val="0F2433"/>
          </a:solidFill>
          <a:ln w="12700">
            <a:solidFill>
              <a:srgbClr val="3B6A80"/>
            </a:solidFill>
            <a:prstDash val="solid"/>
          </a:ln>
        </p:spPr>
      </p:sp>
      <p:sp>
        <p:nvSpPr>
          <p:cNvPr id="50" name="Shape 48"/>
          <p:cNvSpPr/>
          <p:nvPr/>
        </p:nvSpPr>
        <p:spPr>
          <a:xfrm>
            <a:off x="10332720" y="2743200"/>
            <a:ext cx="914400" cy="0"/>
          </a:xfrm>
          <a:prstGeom prst="line">
            <a:avLst/>
          </a:prstGeom>
          <a:noFill/>
          <a:ln w="15875">
            <a:solidFill>
              <a:srgbClr val="2E5266"/>
            </a:solidFill>
            <a:prstDash val="solid"/>
          </a:ln>
        </p:spPr>
      </p:sp>
      <p:sp>
        <p:nvSpPr>
          <p:cNvPr id="51" name="Shape 49"/>
          <p:cNvSpPr/>
          <p:nvPr/>
        </p:nvSpPr>
        <p:spPr>
          <a:xfrm>
            <a:off x="10332720" y="2743200"/>
            <a:ext cx="0" cy="914400"/>
          </a:xfrm>
          <a:prstGeom prst="line">
            <a:avLst/>
          </a:prstGeom>
          <a:noFill/>
          <a:ln w="15875">
            <a:solidFill>
              <a:srgbClr val="2E5266"/>
            </a:solidFill>
            <a:prstDash val="solid"/>
          </a:ln>
        </p:spPr>
      </p:sp>
      <p:sp>
        <p:nvSpPr>
          <p:cNvPr id="52" name="Shape 50"/>
          <p:cNvSpPr/>
          <p:nvPr/>
        </p:nvSpPr>
        <p:spPr>
          <a:xfrm>
            <a:off x="10707624" y="2670048"/>
            <a:ext cx="164592" cy="146304"/>
          </a:xfrm>
          <a:prstGeom prst="hexagon">
            <a:avLst/>
          </a:prstGeom>
          <a:solidFill>
            <a:srgbClr val="0F2433"/>
          </a:solidFill>
          <a:ln w="12700">
            <a:solidFill>
              <a:srgbClr val="3B6A80"/>
            </a:solidFill>
            <a:prstDash val="solid"/>
          </a:ln>
        </p:spPr>
      </p:sp>
      <p:sp>
        <p:nvSpPr>
          <p:cNvPr id="53" name="Shape 51"/>
          <p:cNvSpPr/>
          <p:nvPr/>
        </p:nvSpPr>
        <p:spPr>
          <a:xfrm>
            <a:off x="10250424" y="3127248"/>
            <a:ext cx="164592" cy="146304"/>
          </a:xfrm>
          <a:prstGeom prst="hexagon">
            <a:avLst/>
          </a:prstGeom>
          <a:solidFill>
            <a:srgbClr val="0F2433"/>
          </a:solidFill>
          <a:ln w="12700">
            <a:solidFill>
              <a:srgbClr val="3B6A80"/>
            </a:solidFill>
            <a:prstDash val="solid"/>
          </a:ln>
        </p:spPr>
      </p:sp>
      <p:sp>
        <p:nvSpPr>
          <p:cNvPr id="54" name="Shape 52"/>
          <p:cNvSpPr/>
          <p:nvPr/>
        </p:nvSpPr>
        <p:spPr>
          <a:xfrm>
            <a:off x="11247120" y="2743200"/>
            <a:ext cx="0" cy="914400"/>
          </a:xfrm>
          <a:prstGeom prst="line">
            <a:avLst/>
          </a:prstGeom>
          <a:noFill/>
          <a:ln w="15875">
            <a:solidFill>
              <a:srgbClr val="2E5266"/>
            </a:solidFill>
            <a:prstDash val="solid"/>
          </a:ln>
        </p:spPr>
      </p:sp>
      <p:sp>
        <p:nvSpPr>
          <p:cNvPr id="55" name="Shape 53"/>
          <p:cNvSpPr/>
          <p:nvPr/>
        </p:nvSpPr>
        <p:spPr>
          <a:xfrm>
            <a:off x="11164824" y="3127248"/>
            <a:ext cx="164592" cy="146304"/>
          </a:xfrm>
          <a:prstGeom prst="hexagon">
            <a:avLst/>
          </a:prstGeom>
          <a:solidFill>
            <a:srgbClr val="0F2433"/>
          </a:solidFill>
          <a:ln w="12700">
            <a:solidFill>
              <a:srgbClr val="3B6A80"/>
            </a:solidFill>
            <a:prstDash val="solid"/>
          </a:ln>
        </p:spPr>
      </p:sp>
      <p:sp>
        <p:nvSpPr>
          <p:cNvPr id="56" name="Shape 54"/>
          <p:cNvSpPr/>
          <p:nvPr/>
        </p:nvSpPr>
        <p:spPr>
          <a:xfrm>
            <a:off x="7589520" y="3657600"/>
            <a:ext cx="914400" cy="0"/>
          </a:xfrm>
          <a:prstGeom prst="line">
            <a:avLst/>
          </a:prstGeom>
          <a:noFill/>
          <a:ln w="15875">
            <a:solidFill>
              <a:srgbClr val="2E5266"/>
            </a:solidFill>
            <a:prstDash val="solid"/>
          </a:ln>
        </p:spPr>
      </p:sp>
      <p:sp>
        <p:nvSpPr>
          <p:cNvPr id="57" name="Shape 55"/>
          <p:cNvSpPr/>
          <p:nvPr/>
        </p:nvSpPr>
        <p:spPr>
          <a:xfrm>
            <a:off x="7589520" y="3657600"/>
            <a:ext cx="0" cy="914400"/>
          </a:xfrm>
          <a:prstGeom prst="line">
            <a:avLst/>
          </a:prstGeom>
          <a:noFill/>
          <a:ln w="15875">
            <a:solidFill>
              <a:srgbClr val="2E5266"/>
            </a:solidFill>
            <a:prstDash val="solid"/>
          </a:ln>
        </p:spPr>
      </p:sp>
      <p:sp>
        <p:nvSpPr>
          <p:cNvPr id="58" name="Shape 56"/>
          <p:cNvSpPr/>
          <p:nvPr/>
        </p:nvSpPr>
        <p:spPr>
          <a:xfrm>
            <a:off x="7964424" y="3584448"/>
            <a:ext cx="164592" cy="146304"/>
          </a:xfrm>
          <a:prstGeom prst="hexagon">
            <a:avLst/>
          </a:prstGeom>
          <a:solidFill>
            <a:srgbClr val="0F2433"/>
          </a:solidFill>
          <a:ln w="12700">
            <a:solidFill>
              <a:srgbClr val="3B6A80"/>
            </a:solidFill>
            <a:prstDash val="solid"/>
          </a:ln>
        </p:spPr>
      </p:sp>
      <p:sp>
        <p:nvSpPr>
          <p:cNvPr id="59" name="Shape 57"/>
          <p:cNvSpPr/>
          <p:nvPr/>
        </p:nvSpPr>
        <p:spPr>
          <a:xfrm>
            <a:off x="7507224" y="4041648"/>
            <a:ext cx="164592" cy="146304"/>
          </a:xfrm>
          <a:prstGeom prst="hexagon">
            <a:avLst/>
          </a:prstGeom>
          <a:solidFill>
            <a:srgbClr val="0F2433"/>
          </a:solidFill>
          <a:ln w="12700">
            <a:solidFill>
              <a:srgbClr val="3B6A80"/>
            </a:solidFill>
            <a:prstDash val="solid"/>
          </a:ln>
        </p:spPr>
      </p:sp>
      <p:sp>
        <p:nvSpPr>
          <p:cNvPr id="60" name="Shape 58"/>
          <p:cNvSpPr/>
          <p:nvPr/>
        </p:nvSpPr>
        <p:spPr>
          <a:xfrm>
            <a:off x="8503920" y="3657600"/>
            <a:ext cx="914400" cy="0"/>
          </a:xfrm>
          <a:prstGeom prst="line">
            <a:avLst/>
          </a:prstGeom>
          <a:noFill/>
          <a:ln w="15875">
            <a:solidFill>
              <a:srgbClr val="2E5266"/>
            </a:solidFill>
            <a:prstDash val="solid"/>
          </a:ln>
        </p:spPr>
      </p:sp>
      <p:sp>
        <p:nvSpPr>
          <p:cNvPr id="61" name="Shape 59"/>
          <p:cNvSpPr/>
          <p:nvPr/>
        </p:nvSpPr>
        <p:spPr>
          <a:xfrm>
            <a:off x="8503920" y="3657600"/>
            <a:ext cx="0" cy="914400"/>
          </a:xfrm>
          <a:prstGeom prst="line">
            <a:avLst/>
          </a:prstGeom>
          <a:noFill/>
          <a:ln w="15875">
            <a:solidFill>
              <a:srgbClr val="2E5266"/>
            </a:solidFill>
            <a:prstDash val="solid"/>
          </a:ln>
        </p:spPr>
      </p:sp>
      <p:sp>
        <p:nvSpPr>
          <p:cNvPr id="62" name="Shape 60"/>
          <p:cNvSpPr/>
          <p:nvPr/>
        </p:nvSpPr>
        <p:spPr>
          <a:xfrm>
            <a:off x="8878824" y="3584448"/>
            <a:ext cx="164592" cy="146304"/>
          </a:xfrm>
          <a:prstGeom prst="hexagon">
            <a:avLst/>
          </a:prstGeom>
          <a:solidFill>
            <a:srgbClr val="0F2433"/>
          </a:solidFill>
          <a:ln w="12700">
            <a:solidFill>
              <a:srgbClr val="3B6A80"/>
            </a:solidFill>
            <a:prstDash val="solid"/>
          </a:ln>
        </p:spPr>
      </p:sp>
      <p:sp>
        <p:nvSpPr>
          <p:cNvPr id="63" name="Shape 61"/>
          <p:cNvSpPr/>
          <p:nvPr/>
        </p:nvSpPr>
        <p:spPr>
          <a:xfrm>
            <a:off x="8421624" y="4041648"/>
            <a:ext cx="164592" cy="146304"/>
          </a:xfrm>
          <a:prstGeom prst="hexagon">
            <a:avLst/>
          </a:prstGeom>
          <a:solidFill>
            <a:srgbClr val="0F2433"/>
          </a:solidFill>
          <a:ln w="12700">
            <a:solidFill>
              <a:srgbClr val="3B6A80"/>
            </a:solidFill>
            <a:prstDash val="solid"/>
          </a:ln>
        </p:spPr>
      </p:sp>
      <p:sp>
        <p:nvSpPr>
          <p:cNvPr id="64" name="Shape 62"/>
          <p:cNvSpPr/>
          <p:nvPr/>
        </p:nvSpPr>
        <p:spPr>
          <a:xfrm>
            <a:off x="9418320" y="3657600"/>
            <a:ext cx="914400" cy="0"/>
          </a:xfrm>
          <a:prstGeom prst="line">
            <a:avLst/>
          </a:prstGeom>
          <a:noFill/>
          <a:ln w="15875">
            <a:solidFill>
              <a:srgbClr val="2E5266"/>
            </a:solidFill>
            <a:prstDash val="solid"/>
          </a:ln>
        </p:spPr>
      </p:sp>
      <p:sp>
        <p:nvSpPr>
          <p:cNvPr id="65" name="Shape 63"/>
          <p:cNvSpPr/>
          <p:nvPr/>
        </p:nvSpPr>
        <p:spPr>
          <a:xfrm>
            <a:off x="9418320" y="3657600"/>
            <a:ext cx="0" cy="914400"/>
          </a:xfrm>
          <a:prstGeom prst="line">
            <a:avLst/>
          </a:prstGeom>
          <a:noFill/>
          <a:ln w="15875">
            <a:solidFill>
              <a:srgbClr val="2E5266"/>
            </a:solidFill>
            <a:prstDash val="solid"/>
          </a:ln>
        </p:spPr>
      </p:sp>
      <p:sp>
        <p:nvSpPr>
          <p:cNvPr id="66" name="Shape 64"/>
          <p:cNvSpPr/>
          <p:nvPr/>
        </p:nvSpPr>
        <p:spPr>
          <a:xfrm>
            <a:off x="9793224" y="3584448"/>
            <a:ext cx="164592" cy="146304"/>
          </a:xfrm>
          <a:prstGeom prst="hexagon">
            <a:avLst/>
          </a:prstGeom>
          <a:solidFill>
            <a:srgbClr val="0F2433"/>
          </a:solidFill>
          <a:ln w="12700">
            <a:solidFill>
              <a:srgbClr val="3B6A80"/>
            </a:solidFill>
            <a:prstDash val="solid"/>
          </a:ln>
        </p:spPr>
      </p:sp>
      <p:sp>
        <p:nvSpPr>
          <p:cNvPr id="67" name="Shape 65"/>
          <p:cNvSpPr/>
          <p:nvPr/>
        </p:nvSpPr>
        <p:spPr>
          <a:xfrm>
            <a:off x="9336024" y="4041648"/>
            <a:ext cx="164592" cy="146304"/>
          </a:xfrm>
          <a:prstGeom prst="hexagon">
            <a:avLst/>
          </a:prstGeom>
          <a:solidFill>
            <a:srgbClr val="0F2433"/>
          </a:solidFill>
          <a:ln w="12700">
            <a:solidFill>
              <a:srgbClr val="3B6A80"/>
            </a:solidFill>
            <a:prstDash val="solid"/>
          </a:ln>
        </p:spPr>
      </p:sp>
      <p:sp>
        <p:nvSpPr>
          <p:cNvPr id="68" name="Shape 66"/>
          <p:cNvSpPr/>
          <p:nvPr/>
        </p:nvSpPr>
        <p:spPr>
          <a:xfrm>
            <a:off x="10332720" y="3657600"/>
            <a:ext cx="914400" cy="0"/>
          </a:xfrm>
          <a:prstGeom prst="line">
            <a:avLst/>
          </a:prstGeom>
          <a:noFill/>
          <a:ln w="15875">
            <a:solidFill>
              <a:srgbClr val="2E5266"/>
            </a:solidFill>
            <a:prstDash val="solid"/>
          </a:ln>
        </p:spPr>
      </p:sp>
      <p:sp>
        <p:nvSpPr>
          <p:cNvPr id="69" name="Shape 67"/>
          <p:cNvSpPr/>
          <p:nvPr/>
        </p:nvSpPr>
        <p:spPr>
          <a:xfrm>
            <a:off x="10332720" y="3657600"/>
            <a:ext cx="0" cy="914400"/>
          </a:xfrm>
          <a:prstGeom prst="line">
            <a:avLst/>
          </a:prstGeom>
          <a:noFill/>
          <a:ln w="15875">
            <a:solidFill>
              <a:srgbClr val="2E5266"/>
            </a:solidFill>
            <a:prstDash val="solid"/>
          </a:ln>
        </p:spPr>
      </p:sp>
      <p:sp>
        <p:nvSpPr>
          <p:cNvPr id="70" name="Shape 68"/>
          <p:cNvSpPr/>
          <p:nvPr/>
        </p:nvSpPr>
        <p:spPr>
          <a:xfrm>
            <a:off x="10707624" y="3584448"/>
            <a:ext cx="164592" cy="146304"/>
          </a:xfrm>
          <a:prstGeom prst="hexagon">
            <a:avLst/>
          </a:prstGeom>
          <a:solidFill>
            <a:srgbClr val="0F2433"/>
          </a:solidFill>
          <a:ln w="12700">
            <a:solidFill>
              <a:srgbClr val="3B6A80"/>
            </a:solidFill>
            <a:prstDash val="solid"/>
          </a:ln>
        </p:spPr>
      </p:sp>
      <p:sp>
        <p:nvSpPr>
          <p:cNvPr id="71" name="Shape 69"/>
          <p:cNvSpPr/>
          <p:nvPr/>
        </p:nvSpPr>
        <p:spPr>
          <a:xfrm>
            <a:off x="10250424" y="4041648"/>
            <a:ext cx="164592" cy="146304"/>
          </a:xfrm>
          <a:prstGeom prst="hexagon">
            <a:avLst/>
          </a:prstGeom>
          <a:solidFill>
            <a:srgbClr val="0F2433"/>
          </a:solidFill>
          <a:ln w="12700">
            <a:solidFill>
              <a:srgbClr val="3B6A80"/>
            </a:solidFill>
            <a:prstDash val="solid"/>
          </a:ln>
        </p:spPr>
      </p:sp>
      <p:sp>
        <p:nvSpPr>
          <p:cNvPr id="72" name="Shape 70"/>
          <p:cNvSpPr/>
          <p:nvPr/>
        </p:nvSpPr>
        <p:spPr>
          <a:xfrm>
            <a:off x="11247120" y="3657600"/>
            <a:ext cx="0" cy="914400"/>
          </a:xfrm>
          <a:prstGeom prst="line">
            <a:avLst/>
          </a:prstGeom>
          <a:noFill/>
          <a:ln w="15875">
            <a:solidFill>
              <a:srgbClr val="2E5266"/>
            </a:solidFill>
            <a:prstDash val="solid"/>
          </a:ln>
        </p:spPr>
      </p:sp>
      <p:sp>
        <p:nvSpPr>
          <p:cNvPr id="73" name="Shape 71"/>
          <p:cNvSpPr/>
          <p:nvPr/>
        </p:nvSpPr>
        <p:spPr>
          <a:xfrm>
            <a:off x="11164824" y="4041648"/>
            <a:ext cx="164592" cy="146304"/>
          </a:xfrm>
          <a:prstGeom prst="hexagon">
            <a:avLst/>
          </a:prstGeom>
          <a:solidFill>
            <a:srgbClr val="0F2433"/>
          </a:solidFill>
          <a:ln w="12700">
            <a:solidFill>
              <a:srgbClr val="3B6A80"/>
            </a:solidFill>
            <a:prstDash val="solid"/>
          </a:ln>
        </p:spPr>
      </p:sp>
      <p:sp>
        <p:nvSpPr>
          <p:cNvPr id="74" name="Shape 72"/>
          <p:cNvSpPr/>
          <p:nvPr/>
        </p:nvSpPr>
        <p:spPr>
          <a:xfrm>
            <a:off x="7589520" y="4572000"/>
            <a:ext cx="914400" cy="0"/>
          </a:xfrm>
          <a:prstGeom prst="line">
            <a:avLst/>
          </a:prstGeom>
          <a:noFill/>
          <a:ln w="15875">
            <a:solidFill>
              <a:srgbClr val="2E5266"/>
            </a:solidFill>
            <a:prstDash val="solid"/>
          </a:ln>
        </p:spPr>
      </p:sp>
      <p:sp>
        <p:nvSpPr>
          <p:cNvPr id="75" name="Shape 73"/>
          <p:cNvSpPr/>
          <p:nvPr/>
        </p:nvSpPr>
        <p:spPr>
          <a:xfrm>
            <a:off x="7589520" y="4572000"/>
            <a:ext cx="0" cy="914400"/>
          </a:xfrm>
          <a:prstGeom prst="line">
            <a:avLst/>
          </a:prstGeom>
          <a:noFill/>
          <a:ln w="15875">
            <a:solidFill>
              <a:srgbClr val="2E5266"/>
            </a:solidFill>
            <a:prstDash val="solid"/>
          </a:ln>
        </p:spPr>
      </p:sp>
      <p:sp>
        <p:nvSpPr>
          <p:cNvPr id="76" name="Shape 74"/>
          <p:cNvSpPr/>
          <p:nvPr/>
        </p:nvSpPr>
        <p:spPr>
          <a:xfrm>
            <a:off x="7964424" y="4498848"/>
            <a:ext cx="164592" cy="146304"/>
          </a:xfrm>
          <a:prstGeom prst="hexagon">
            <a:avLst/>
          </a:prstGeom>
          <a:solidFill>
            <a:srgbClr val="0F2433"/>
          </a:solidFill>
          <a:ln w="12700">
            <a:solidFill>
              <a:srgbClr val="3B6A80"/>
            </a:solidFill>
            <a:prstDash val="solid"/>
          </a:ln>
        </p:spPr>
      </p:sp>
      <p:sp>
        <p:nvSpPr>
          <p:cNvPr id="77" name="Shape 75"/>
          <p:cNvSpPr/>
          <p:nvPr/>
        </p:nvSpPr>
        <p:spPr>
          <a:xfrm>
            <a:off x="7507224" y="4956048"/>
            <a:ext cx="164592" cy="146304"/>
          </a:xfrm>
          <a:prstGeom prst="hexagon">
            <a:avLst/>
          </a:prstGeom>
          <a:solidFill>
            <a:srgbClr val="0F2433"/>
          </a:solidFill>
          <a:ln w="12700">
            <a:solidFill>
              <a:srgbClr val="3B6A80"/>
            </a:solidFill>
            <a:prstDash val="solid"/>
          </a:ln>
        </p:spPr>
      </p:sp>
      <p:sp>
        <p:nvSpPr>
          <p:cNvPr id="78" name="Shape 76"/>
          <p:cNvSpPr/>
          <p:nvPr/>
        </p:nvSpPr>
        <p:spPr>
          <a:xfrm>
            <a:off x="8503920" y="4572000"/>
            <a:ext cx="914400" cy="0"/>
          </a:xfrm>
          <a:prstGeom prst="line">
            <a:avLst/>
          </a:prstGeom>
          <a:noFill/>
          <a:ln w="15875">
            <a:solidFill>
              <a:srgbClr val="2E5266"/>
            </a:solidFill>
            <a:prstDash val="solid"/>
          </a:ln>
        </p:spPr>
      </p:sp>
      <p:sp>
        <p:nvSpPr>
          <p:cNvPr id="79" name="Shape 77"/>
          <p:cNvSpPr/>
          <p:nvPr/>
        </p:nvSpPr>
        <p:spPr>
          <a:xfrm>
            <a:off x="8503920" y="4572000"/>
            <a:ext cx="0" cy="914400"/>
          </a:xfrm>
          <a:prstGeom prst="line">
            <a:avLst/>
          </a:prstGeom>
          <a:noFill/>
          <a:ln w="15875">
            <a:solidFill>
              <a:srgbClr val="2E5266"/>
            </a:solidFill>
            <a:prstDash val="solid"/>
          </a:ln>
        </p:spPr>
      </p:sp>
      <p:sp>
        <p:nvSpPr>
          <p:cNvPr id="80" name="Shape 78"/>
          <p:cNvSpPr/>
          <p:nvPr/>
        </p:nvSpPr>
        <p:spPr>
          <a:xfrm>
            <a:off x="8878824" y="4498848"/>
            <a:ext cx="164592" cy="146304"/>
          </a:xfrm>
          <a:prstGeom prst="hexagon">
            <a:avLst/>
          </a:prstGeom>
          <a:solidFill>
            <a:srgbClr val="0F2433"/>
          </a:solidFill>
          <a:ln w="12700">
            <a:solidFill>
              <a:srgbClr val="3B6A80"/>
            </a:solidFill>
            <a:prstDash val="solid"/>
          </a:ln>
        </p:spPr>
      </p:sp>
      <p:sp>
        <p:nvSpPr>
          <p:cNvPr id="81" name="Shape 79"/>
          <p:cNvSpPr/>
          <p:nvPr/>
        </p:nvSpPr>
        <p:spPr>
          <a:xfrm>
            <a:off x="8421624" y="4956048"/>
            <a:ext cx="164592" cy="146304"/>
          </a:xfrm>
          <a:prstGeom prst="hexagon">
            <a:avLst/>
          </a:prstGeom>
          <a:solidFill>
            <a:srgbClr val="0F2433"/>
          </a:solidFill>
          <a:ln w="12700">
            <a:solidFill>
              <a:srgbClr val="3B6A80"/>
            </a:solidFill>
            <a:prstDash val="solid"/>
          </a:ln>
        </p:spPr>
      </p:sp>
      <p:sp>
        <p:nvSpPr>
          <p:cNvPr id="82" name="Shape 80"/>
          <p:cNvSpPr/>
          <p:nvPr/>
        </p:nvSpPr>
        <p:spPr>
          <a:xfrm>
            <a:off x="9418320" y="4572000"/>
            <a:ext cx="914400" cy="0"/>
          </a:xfrm>
          <a:prstGeom prst="line">
            <a:avLst/>
          </a:prstGeom>
          <a:noFill/>
          <a:ln w="15875">
            <a:solidFill>
              <a:srgbClr val="2E5266"/>
            </a:solidFill>
            <a:prstDash val="solid"/>
          </a:ln>
        </p:spPr>
      </p:sp>
      <p:sp>
        <p:nvSpPr>
          <p:cNvPr id="83" name="Shape 81"/>
          <p:cNvSpPr/>
          <p:nvPr/>
        </p:nvSpPr>
        <p:spPr>
          <a:xfrm>
            <a:off x="9418320" y="4572000"/>
            <a:ext cx="0" cy="914400"/>
          </a:xfrm>
          <a:prstGeom prst="line">
            <a:avLst/>
          </a:prstGeom>
          <a:noFill/>
          <a:ln w="15875">
            <a:solidFill>
              <a:srgbClr val="2E5266"/>
            </a:solidFill>
            <a:prstDash val="solid"/>
          </a:ln>
        </p:spPr>
      </p:sp>
      <p:sp>
        <p:nvSpPr>
          <p:cNvPr id="84" name="Shape 82"/>
          <p:cNvSpPr/>
          <p:nvPr/>
        </p:nvSpPr>
        <p:spPr>
          <a:xfrm>
            <a:off x="9793224" y="4498848"/>
            <a:ext cx="164592" cy="146304"/>
          </a:xfrm>
          <a:prstGeom prst="hexagon">
            <a:avLst/>
          </a:prstGeom>
          <a:solidFill>
            <a:srgbClr val="0F2433"/>
          </a:solidFill>
          <a:ln w="12700">
            <a:solidFill>
              <a:srgbClr val="3B6A80"/>
            </a:solidFill>
            <a:prstDash val="solid"/>
          </a:ln>
        </p:spPr>
      </p:sp>
      <p:sp>
        <p:nvSpPr>
          <p:cNvPr id="85" name="Shape 83"/>
          <p:cNvSpPr/>
          <p:nvPr/>
        </p:nvSpPr>
        <p:spPr>
          <a:xfrm>
            <a:off x="9336024" y="4956048"/>
            <a:ext cx="164592" cy="146304"/>
          </a:xfrm>
          <a:prstGeom prst="hexagon">
            <a:avLst/>
          </a:prstGeom>
          <a:solidFill>
            <a:srgbClr val="0F2433"/>
          </a:solidFill>
          <a:ln w="12700">
            <a:solidFill>
              <a:srgbClr val="3B6A80"/>
            </a:solidFill>
            <a:prstDash val="solid"/>
          </a:ln>
        </p:spPr>
      </p:sp>
      <p:sp>
        <p:nvSpPr>
          <p:cNvPr id="86" name="Shape 84"/>
          <p:cNvSpPr/>
          <p:nvPr/>
        </p:nvSpPr>
        <p:spPr>
          <a:xfrm>
            <a:off x="10332720" y="4572000"/>
            <a:ext cx="914400" cy="0"/>
          </a:xfrm>
          <a:prstGeom prst="line">
            <a:avLst/>
          </a:prstGeom>
          <a:noFill/>
          <a:ln w="15875">
            <a:solidFill>
              <a:srgbClr val="2E5266"/>
            </a:solidFill>
            <a:prstDash val="solid"/>
          </a:ln>
        </p:spPr>
      </p:sp>
      <p:sp>
        <p:nvSpPr>
          <p:cNvPr id="87" name="Shape 85"/>
          <p:cNvSpPr/>
          <p:nvPr/>
        </p:nvSpPr>
        <p:spPr>
          <a:xfrm>
            <a:off x="10332720" y="4572000"/>
            <a:ext cx="0" cy="914400"/>
          </a:xfrm>
          <a:prstGeom prst="line">
            <a:avLst/>
          </a:prstGeom>
          <a:noFill/>
          <a:ln w="15875">
            <a:solidFill>
              <a:srgbClr val="2E5266"/>
            </a:solidFill>
            <a:prstDash val="solid"/>
          </a:ln>
        </p:spPr>
      </p:sp>
      <p:sp>
        <p:nvSpPr>
          <p:cNvPr id="88" name="Shape 86"/>
          <p:cNvSpPr/>
          <p:nvPr/>
        </p:nvSpPr>
        <p:spPr>
          <a:xfrm>
            <a:off x="10707624" y="4498848"/>
            <a:ext cx="164592" cy="146304"/>
          </a:xfrm>
          <a:prstGeom prst="hexagon">
            <a:avLst/>
          </a:prstGeom>
          <a:solidFill>
            <a:srgbClr val="0F2433"/>
          </a:solidFill>
          <a:ln w="12700">
            <a:solidFill>
              <a:srgbClr val="3B6A80"/>
            </a:solidFill>
            <a:prstDash val="solid"/>
          </a:ln>
        </p:spPr>
      </p:sp>
      <p:sp>
        <p:nvSpPr>
          <p:cNvPr id="89" name="Shape 87"/>
          <p:cNvSpPr/>
          <p:nvPr/>
        </p:nvSpPr>
        <p:spPr>
          <a:xfrm>
            <a:off x="10250424" y="4956048"/>
            <a:ext cx="164592" cy="146304"/>
          </a:xfrm>
          <a:prstGeom prst="hexagon">
            <a:avLst/>
          </a:prstGeom>
          <a:solidFill>
            <a:srgbClr val="0F2433"/>
          </a:solidFill>
          <a:ln w="12700">
            <a:solidFill>
              <a:srgbClr val="3B6A80"/>
            </a:solidFill>
            <a:prstDash val="solid"/>
          </a:ln>
        </p:spPr>
      </p:sp>
      <p:sp>
        <p:nvSpPr>
          <p:cNvPr id="90" name="Shape 88"/>
          <p:cNvSpPr/>
          <p:nvPr/>
        </p:nvSpPr>
        <p:spPr>
          <a:xfrm>
            <a:off x="11247120" y="4572000"/>
            <a:ext cx="0" cy="914400"/>
          </a:xfrm>
          <a:prstGeom prst="line">
            <a:avLst/>
          </a:prstGeom>
          <a:noFill/>
          <a:ln w="15875">
            <a:solidFill>
              <a:srgbClr val="2E5266"/>
            </a:solidFill>
            <a:prstDash val="solid"/>
          </a:ln>
        </p:spPr>
      </p:sp>
      <p:sp>
        <p:nvSpPr>
          <p:cNvPr id="91" name="Shape 89"/>
          <p:cNvSpPr/>
          <p:nvPr/>
        </p:nvSpPr>
        <p:spPr>
          <a:xfrm>
            <a:off x="11164824" y="4956048"/>
            <a:ext cx="164592" cy="146304"/>
          </a:xfrm>
          <a:prstGeom prst="hexagon">
            <a:avLst/>
          </a:prstGeom>
          <a:solidFill>
            <a:srgbClr val="0F2433"/>
          </a:solidFill>
          <a:ln w="12700">
            <a:solidFill>
              <a:srgbClr val="3B6A80"/>
            </a:solidFill>
            <a:prstDash val="solid"/>
          </a:ln>
        </p:spPr>
      </p:sp>
      <p:sp>
        <p:nvSpPr>
          <p:cNvPr id="92" name="Shape 90"/>
          <p:cNvSpPr/>
          <p:nvPr/>
        </p:nvSpPr>
        <p:spPr>
          <a:xfrm>
            <a:off x="7589520" y="5486400"/>
            <a:ext cx="914400" cy="0"/>
          </a:xfrm>
          <a:prstGeom prst="line">
            <a:avLst/>
          </a:prstGeom>
          <a:noFill/>
          <a:ln w="15875">
            <a:solidFill>
              <a:srgbClr val="2E5266"/>
            </a:solidFill>
            <a:prstDash val="solid"/>
          </a:ln>
        </p:spPr>
      </p:sp>
      <p:sp>
        <p:nvSpPr>
          <p:cNvPr id="93" name="Shape 91"/>
          <p:cNvSpPr/>
          <p:nvPr/>
        </p:nvSpPr>
        <p:spPr>
          <a:xfrm>
            <a:off x="7964424" y="5413248"/>
            <a:ext cx="164592" cy="146304"/>
          </a:xfrm>
          <a:prstGeom prst="hexagon">
            <a:avLst/>
          </a:prstGeom>
          <a:solidFill>
            <a:srgbClr val="0F2433"/>
          </a:solidFill>
          <a:ln w="12700">
            <a:solidFill>
              <a:srgbClr val="3B6A80"/>
            </a:solidFill>
            <a:prstDash val="solid"/>
          </a:ln>
        </p:spPr>
      </p:sp>
      <p:sp>
        <p:nvSpPr>
          <p:cNvPr id="94" name="Shape 92"/>
          <p:cNvSpPr/>
          <p:nvPr/>
        </p:nvSpPr>
        <p:spPr>
          <a:xfrm>
            <a:off x="8503920" y="5486400"/>
            <a:ext cx="914400" cy="0"/>
          </a:xfrm>
          <a:prstGeom prst="line">
            <a:avLst/>
          </a:prstGeom>
          <a:noFill/>
          <a:ln w="15875">
            <a:solidFill>
              <a:srgbClr val="2E5266"/>
            </a:solidFill>
            <a:prstDash val="solid"/>
          </a:ln>
        </p:spPr>
      </p:sp>
      <p:sp>
        <p:nvSpPr>
          <p:cNvPr id="95" name="Shape 93"/>
          <p:cNvSpPr/>
          <p:nvPr/>
        </p:nvSpPr>
        <p:spPr>
          <a:xfrm>
            <a:off x="8878824" y="5413248"/>
            <a:ext cx="164592" cy="146304"/>
          </a:xfrm>
          <a:prstGeom prst="hexagon">
            <a:avLst/>
          </a:prstGeom>
          <a:solidFill>
            <a:srgbClr val="0F2433"/>
          </a:solidFill>
          <a:ln w="12700">
            <a:solidFill>
              <a:srgbClr val="3B6A80"/>
            </a:solidFill>
            <a:prstDash val="solid"/>
          </a:ln>
        </p:spPr>
      </p:sp>
      <p:sp>
        <p:nvSpPr>
          <p:cNvPr id="96" name="Shape 94"/>
          <p:cNvSpPr/>
          <p:nvPr/>
        </p:nvSpPr>
        <p:spPr>
          <a:xfrm>
            <a:off x="9418320" y="5486400"/>
            <a:ext cx="914400" cy="0"/>
          </a:xfrm>
          <a:prstGeom prst="line">
            <a:avLst/>
          </a:prstGeom>
          <a:noFill/>
          <a:ln w="15875">
            <a:solidFill>
              <a:srgbClr val="2E5266"/>
            </a:solidFill>
            <a:prstDash val="solid"/>
          </a:ln>
        </p:spPr>
      </p:sp>
      <p:sp>
        <p:nvSpPr>
          <p:cNvPr id="97" name="Shape 95"/>
          <p:cNvSpPr/>
          <p:nvPr/>
        </p:nvSpPr>
        <p:spPr>
          <a:xfrm>
            <a:off x="9793224" y="5413248"/>
            <a:ext cx="164592" cy="146304"/>
          </a:xfrm>
          <a:prstGeom prst="hexagon">
            <a:avLst/>
          </a:prstGeom>
          <a:solidFill>
            <a:srgbClr val="0F2433"/>
          </a:solidFill>
          <a:ln w="12700">
            <a:solidFill>
              <a:srgbClr val="3B6A80"/>
            </a:solidFill>
            <a:prstDash val="solid"/>
          </a:ln>
        </p:spPr>
      </p:sp>
      <p:sp>
        <p:nvSpPr>
          <p:cNvPr id="98" name="Shape 96"/>
          <p:cNvSpPr/>
          <p:nvPr/>
        </p:nvSpPr>
        <p:spPr>
          <a:xfrm>
            <a:off x="10332720" y="5486400"/>
            <a:ext cx="914400" cy="0"/>
          </a:xfrm>
          <a:prstGeom prst="line">
            <a:avLst/>
          </a:prstGeom>
          <a:noFill/>
          <a:ln w="15875">
            <a:solidFill>
              <a:srgbClr val="2E5266"/>
            </a:solidFill>
            <a:prstDash val="solid"/>
          </a:ln>
        </p:spPr>
      </p:sp>
      <p:sp>
        <p:nvSpPr>
          <p:cNvPr id="99" name="Shape 97"/>
          <p:cNvSpPr/>
          <p:nvPr/>
        </p:nvSpPr>
        <p:spPr>
          <a:xfrm>
            <a:off x="10707624" y="5413248"/>
            <a:ext cx="164592" cy="146304"/>
          </a:xfrm>
          <a:prstGeom prst="hexagon">
            <a:avLst/>
          </a:prstGeom>
          <a:solidFill>
            <a:srgbClr val="0F2433"/>
          </a:solidFill>
          <a:ln w="12700">
            <a:solidFill>
              <a:srgbClr val="3B6A80"/>
            </a:solidFill>
            <a:prstDash val="solid"/>
          </a:ln>
        </p:spPr>
      </p:sp>
      <p:sp>
        <p:nvSpPr>
          <p:cNvPr id="100" name="Shape 98"/>
          <p:cNvSpPr/>
          <p:nvPr/>
        </p:nvSpPr>
        <p:spPr>
          <a:xfrm>
            <a:off x="7488936" y="813816"/>
            <a:ext cx="201168" cy="201168"/>
          </a:xfrm>
          <a:prstGeom prst="ellipse">
            <a:avLst/>
          </a:prstGeom>
          <a:solidFill>
            <a:srgbClr val="17394B"/>
          </a:solidFill>
          <a:ln w="19050">
            <a:solidFill>
              <a:srgbClr val="0891B2"/>
            </a:solidFill>
            <a:prstDash val="solid"/>
          </a:ln>
        </p:spPr>
      </p:sp>
      <p:sp>
        <p:nvSpPr>
          <p:cNvPr id="101" name="Shape 99"/>
          <p:cNvSpPr/>
          <p:nvPr/>
        </p:nvSpPr>
        <p:spPr>
          <a:xfrm>
            <a:off x="8403336" y="813816"/>
            <a:ext cx="201168" cy="201168"/>
          </a:xfrm>
          <a:prstGeom prst="ellipse">
            <a:avLst/>
          </a:prstGeom>
          <a:solidFill>
            <a:srgbClr val="17394B"/>
          </a:solidFill>
          <a:ln w="19050">
            <a:solidFill>
              <a:srgbClr val="0891B2"/>
            </a:solidFill>
            <a:prstDash val="solid"/>
          </a:ln>
        </p:spPr>
      </p:sp>
      <p:sp>
        <p:nvSpPr>
          <p:cNvPr id="102" name="Shape 100"/>
          <p:cNvSpPr/>
          <p:nvPr/>
        </p:nvSpPr>
        <p:spPr>
          <a:xfrm>
            <a:off x="9317736" y="813816"/>
            <a:ext cx="201168" cy="201168"/>
          </a:xfrm>
          <a:prstGeom prst="ellipse">
            <a:avLst/>
          </a:prstGeom>
          <a:solidFill>
            <a:srgbClr val="17394B"/>
          </a:solidFill>
          <a:ln w="19050">
            <a:solidFill>
              <a:srgbClr val="0891B2"/>
            </a:solidFill>
            <a:prstDash val="solid"/>
          </a:ln>
        </p:spPr>
      </p:sp>
      <p:sp>
        <p:nvSpPr>
          <p:cNvPr id="103" name="Shape 101"/>
          <p:cNvSpPr/>
          <p:nvPr/>
        </p:nvSpPr>
        <p:spPr>
          <a:xfrm>
            <a:off x="10232136" y="813816"/>
            <a:ext cx="201168" cy="201168"/>
          </a:xfrm>
          <a:prstGeom prst="ellipse">
            <a:avLst/>
          </a:prstGeom>
          <a:solidFill>
            <a:srgbClr val="17394B"/>
          </a:solidFill>
          <a:ln w="19050">
            <a:solidFill>
              <a:srgbClr val="0891B2"/>
            </a:solidFill>
            <a:prstDash val="solid"/>
          </a:ln>
        </p:spPr>
      </p:sp>
      <p:sp>
        <p:nvSpPr>
          <p:cNvPr id="104" name="Shape 102"/>
          <p:cNvSpPr/>
          <p:nvPr/>
        </p:nvSpPr>
        <p:spPr>
          <a:xfrm>
            <a:off x="11146536" y="813816"/>
            <a:ext cx="201168" cy="201168"/>
          </a:xfrm>
          <a:prstGeom prst="ellipse">
            <a:avLst/>
          </a:prstGeom>
          <a:solidFill>
            <a:srgbClr val="17394B"/>
          </a:solidFill>
          <a:ln w="19050">
            <a:solidFill>
              <a:srgbClr val="0891B2"/>
            </a:solidFill>
            <a:prstDash val="solid"/>
          </a:ln>
        </p:spPr>
      </p:sp>
      <p:sp>
        <p:nvSpPr>
          <p:cNvPr id="105" name="Shape 103"/>
          <p:cNvSpPr/>
          <p:nvPr/>
        </p:nvSpPr>
        <p:spPr>
          <a:xfrm>
            <a:off x="7488936" y="1728216"/>
            <a:ext cx="201168" cy="201168"/>
          </a:xfrm>
          <a:prstGeom prst="ellipse">
            <a:avLst/>
          </a:prstGeom>
          <a:solidFill>
            <a:srgbClr val="17394B"/>
          </a:solidFill>
          <a:ln w="19050">
            <a:solidFill>
              <a:srgbClr val="0891B2"/>
            </a:solidFill>
            <a:prstDash val="solid"/>
          </a:ln>
        </p:spPr>
      </p:sp>
      <p:sp>
        <p:nvSpPr>
          <p:cNvPr id="106" name="Shape 104"/>
          <p:cNvSpPr/>
          <p:nvPr/>
        </p:nvSpPr>
        <p:spPr>
          <a:xfrm>
            <a:off x="8403336" y="1728216"/>
            <a:ext cx="201168" cy="201168"/>
          </a:xfrm>
          <a:prstGeom prst="ellipse">
            <a:avLst/>
          </a:prstGeom>
          <a:solidFill>
            <a:srgbClr val="17394B"/>
          </a:solidFill>
          <a:ln w="19050">
            <a:solidFill>
              <a:srgbClr val="0891B2"/>
            </a:solidFill>
            <a:prstDash val="solid"/>
          </a:ln>
        </p:spPr>
      </p:sp>
      <p:sp>
        <p:nvSpPr>
          <p:cNvPr id="107" name="Shape 105"/>
          <p:cNvSpPr/>
          <p:nvPr/>
        </p:nvSpPr>
        <p:spPr>
          <a:xfrm>
            <a:off x="9317736" y="1728216"/>
            <a:ext cx="201168" cy="201168"/>
          </a:xfrm>
          <a:prstGeom prst="ellipse">
            <a:avLst/>
          </a:prstGeom>
          <a:solidFill>
            <a:srgbClr val="17394B"/>
          </a:solidFill>
          <a:ln w="19050">
            <a:solidFill>
              <a:srgbClr val="0891B2"/>
            </a:solidFill>
            <a:prstDash val="solid"/>
          </a:ln>
        </p:spPr>
      </p:sp>
      <p:sp>
        <p:nvSpPr>
          <p:cNvPr id="108" name="Shape 106"/>
          <p:cNvSpPr/>
          <p:nvPr/>
        </p:nvSpPr>
        <p:spPr>
          <a:xfrm>
            <a:off x="10195560" y="1691640"/>
            <a:ext cx="274320" cy="274320"/>
          </a:xfrm>
          <a:prstGeom prst="ellipse">
            <a:avLst/>
          </a:prstGeom>
          <a:solidFill>
            <a:srgbClr val="D9622B"/>
          </a:solidFill>
          <a:ln w="19050">
            <a:solidFill>
              <a:srgbClr val="F4A57C"/>
            </a:solidFill>
            <a:prstDash val="solid"/>
          </a:ln>
        </p:spPr>
      </p:sp>
      <p:sp>
        <p:nvSpPr>
          <p:cNvPr id="109" name="Shape 107"/>
          <p:cNvSpPr/>
          <p:nvPr/>
        </p:nvSpPr>
        <p:spPr>
          <a:xfrm>
            <a:off x="11109960" y="1691640"/>
            <a:ext cx="274320" cy="274320"/>
          </a:xfrm>
          <a:prstGeom prst="ellipse">
            <a:avLst/>
          </a:prstGeom>
          <a:solidFill>
            <a:srgbClr val="D9622B"/>
          </a:solidFill>
          <a:ln w="19050">
            <a:solidFill>
              <a:srgbClr val="F4A57C"/>
            </a:solidFill>
            <a:prstDash val="solid"/>
          </a:ln>
        </p:spPr>
      </p:sp>
      <p:sp>
        <p:nvSpPr>
          <p:cNvPr id="110" name="Shape 108"/>
          <p:cNvSpPr/>
          <p:nvPr/>
        </p:nvSpPr>
        <p:spPr>
          <a:xfrm>
            <a:off x="7488936" y="2642616"/>
            <a:ext cx="201168" cy="201168"/>
          </a:xfrm>
          <a:prstGeom prst="ellipse">
            <a:avLst/>
          </a:prstGeom>
          <a:solidFill>
            <a:srgbClr val="17394B"/>
          </a:solidFill>
          <a:ln w="19050">
            <a:solidFill>
              <a:srgbClr val="0891B2"/>
            </a:solidFill>
            <a:prstDash val="solid"/>
          </a:ln>
        </p:spPr>
      </p:sp>
      <p:sp>
        <p:nvSpPr>
          <p:cNvPr id="111" name="Shape 109"/>
          <p:cNvSpPr/>
          <p:nvPr/>
        </p:nvSpPr>
        <p:spPr>
          <a:xfrm>
            <a:off x="8403336" y="2642616"/>
            <a:ext cx="201168" cy="201168"/>
          </a:xfrm>
          <a:prstGeom prst="ellipse">
            <a:avLst/>
          </a:prstGeom>
          <a:solidFill>
            <a:srgbClr val="17394B"/>
          </a:solidFill>
          <a:ln w="19050">
            <a:solidFill>
              <a:srgbClr val="0891B2"/>
            </a:solidFill>
            <a:prstDash val="solid"/>
          </a:ln>
        </p:spPr>
      </p:sp>
      <p:sp>
        <p:nvSpPr>
          <p:cNvPr id="112" name="Shape 110"/>
          <p:cNvSpPr/>
          <p:nvPr/>
        </p:nvSpPr>
        <p:spPr>
          <a:xfrm>
            <a:off x="9317736" y="2642616"/>
            <a:ext cx="201168" cy="201168"/>
          </a:xfrm>
          <a:prstGeom prst="ellipse">
            <a:avLst/>
          </a:prstGeom>
          <a:solidFill>
            <a:srgbClr val="17394B"/>
          </a:solidFill>
          <a:ln w="19050">
            <a:solidFill>
              <a:srgbClr val="0891B2"/>
            </a:solidFill>
            <a:prstDash val="solid"/>
          </a:ln>
        </p:spPr>
      </p:sp>
      <p:sp>
        <p:nvSpPr>
          <p:cNvPr id="113" name="Shape 111"/>
          <p:cNvSpPr/>
          <p:nvPr/>
        </p:nvSpPr>
        <p:spPr>
          <a:xfrm>
            <a:off x="10195560" y="2606040"/>
            <a:ext cx="274320" cy="274320"/>
          </a:xfrm>
          <a:prstGeom prst="ellipse">
            <a:avLst/>
          </a:prstGeom>
          <a:solidFill>
            <a:srgbClr val="D9622B"/>
          </a:solidFill>
          <a:ln w="19050">
            <a:solidFill>
              <a:srgbClr val="F4A57C"/>
            </a:solidFill>
            <a:prstDash val="solid"/>
          </a:ln>
        </p:spPr>
      </p:sp>
      <p:sp>
        <p:nvSpPr>
          <p:cNvPr id="114" name="Shape 112"/>
          <p:cNvSpPr/>
          <p:nvPr/>
        </p:nvSpPr>
        <p:spPr>
          <a:xfrm>
            <a:off x="11146536" y="2642616"/>
            <a:ext cx="201168" cy="201168"/>
          </a:xfrm>
          <a:prstGeom prst="ellipse">
            <a:avLst/>
          </a:prstGeom>
          <a:solidFill>
            <a:srgbClr val="17394B"/>
          </a:solidFill>
          <a:ln w="19050">
            <a:solidFill>
              <a:srgbClr val="0891B2"/>
            </a:solidFill>
            <a:prstDash val="solid"/>
          </a:ln>
        </p:spPr>
      </p:sp>
      <p:sp>
        <p:nvSpPr>
          <p:cNvPr id="115" name="Shape 113"/>
          <p:cNvSpPr/>
          <p:nvPr/>
        </p:nvSpPr>
        <p:spPr>
          <a:xfrm>
            <a:off x="7488936" y="3557016"/>
            <a:ext cx="201168" cy="201168"/>
          </a:xfrm>
          <a:prstGeom prst="ellipse">
            <a:avLst/>
          </a:prstGeom>
          <a:solidFill>
            <a:srgbClr val="17394B"/>
          </a:solidFill>
          <a:ln w="19050">
            <a:solidFill>
              <a:srgbClr val="0891B2"/>
            </a:solidFill>
            <a:prstDash val="solid"/>
          </a:ln>
        </p:spPr>
      </p:sp>
      <p:sp>
        <p:nvSpPr>
          <p:cNvPr id="116" name="Shape 114"/>
          <p:cNvSpPr/>
          <p:nvPr/>
        </p:nvSpPr>
        <p:spPr>
          <a:xfrm>
            <a:off x="8403336" y="3557016"/>
            <a:ext cx="201168" cy="201168"/>
          </a:xfrm>
          <a:prstGeom prst="ellipse">
            <a:avLst/>
          </a:prstGeom>
          <a:solidFill>
            <a:srgbClr val="17394B"/>
          </a:solidFill>
          <a:ln w="19050">
            <a:solidFill>
              <a:srgbClr val="0891B2"/>
            </a:solidFill>
            <a:prstDash val="solid"/>
          </a:ln>
        </p:spPr>
      </p:sp>
      <p:sp>
        <p:nvSpPr>
          <p:cNvPr id="117" name="Shape 115"/>
          <p:cNvSpPr/>
          <p:nvPr/>
        </p:nvSpPr>
        <p:spPr>
          <a:xfrm>
            <a:off x="9317736" y="3557016"/>
            <a:ext cx="201168" cy="201168"/>
          </a:xfrm>
          <a:prstGeom prst="ellipse">
            <a:avLst/>
          </a:prstGeom>
          <a:solidFill>
            <a:srgbClr val="17394B"/>
          </a:solidFill>
          <a:ln w="19050">
            <a:solidFill>
              <a:srgbClr val="0891B2"/>
            </a:solidFill>
            <a:prstDash val="solid"/>
          </a:ln>
        </p:spPr>
      </p:sp>
      <p:sp>
        <p:nvSpPr>
          <p:cNvPr id="118" name="Shape 116"/>
          <p:cNvSpPr/>
          <p:nvPr/>
        </p:nvSpPr>
        <p:spPr>
          <a:xfrm>
            <a:off x="10232136" y="3557016"/>
            <a:ext cx="201168" cy="201168"/>
          </a:xfrm>
          <a:prstGeom prst="ellipse">
            <a:avLst/>
          </a:prstGeom>
          <a:solidFill>
            <a:srgbClr val="17394B"/>
          </a:solidFill>
          <a:ln w="19050">
            <a:solidFill>
              <a:srgbClr val="0891B2"/>
            </a:solidFill>
            <a:prstDash val="solid"/>
          </a:ln>
        </p:spPr>
      </p:sp>
      <p:sp>
        <p:nvSpPr>
          <p:cNvPr id="119" name="Shape 117"/>
          <p:cNvSpPr/>
          <p:nvPr/>
        </p:nvSpPr>
        <p:spPr>
          <a:xfrm>
            <a:off x="11146536" y="3557016"/>
            <a:ext cx="201168" cy="201168"/>
          </a:xfrm>
          <a:prstGeom prst="ellipse">
            <a:avLst/>
          </a:prstGeom>
          <a:solidFill>
            <a:srgbClr val="17394B"/>
          </a:solidFill>
          <a:ln w="19050">
            <a:solidFill>
              <a:srgbClr val="0891B2"/>
            </a:solidFill>
            <a:prstDash val="solid"/>
          </a:ln>
        </p:spPr>
      </p:sp>
      <p:sp>
        <p:nvSpPr>
          <p:cNvPr id="120" name="Shape 118"/>
          <p:cNvSpPr/>
          <p:nvPr/>
        </p:nvSpPr>
        <p:spPr>
          <a:xfrm>
            <a:off x="7488936" y="4471416"/>
            <a:ext cx="201168" cy="201168"/>
          </a:xfrm>
          <a:prstGeom prst="ellipse">
            <a:avLst/>
          </a:prstGeom>
          <a:solidFill>
            <a:srgbClr val="17394B"/>
          </a:solidFill>
          <a:ln w="19050">
            <a:solidFill>
              <a:srgbClr val="0891B2"/>
            </a:solidFill>
            <a:prstDash val="solid"/>
          </a:ln>
        </p:spPr>
      </p:sp>
      <p:sp>
        <p:nvSpPr>
          <p:cNvPr id="121" name="Shape 119"/>
          <p:cNvSpPr/>
          <p:nvPr/>
        </p:nvSpPr>
        <p:spPr>
          <a:xfrm>
            <a:off x="8366760" y="4434840"/>
            <a:ext cx="274320" cy="274320"/>
          </a:xfrm>
          <a:prstGeom prst="ellipse">
            <a:avLst/>
          </a:prstGeom>
          <a:solidFill>
            <a:srgbClr val="D9622B"/>
          </a:solidFill>
          <a:ln w="19050">
            <a:solidFill>
              <a:srgbClr val="F4A57C"/>
            </a:solidFill>
            <a:prstDash val="solid"/>
          </a:ln>
        </p:spPr>
      </p:sp>
      <p:sp>
        <p:nvSpPr>
          <p:cNvPr id="122" name="Shape 120"/>
          <p:cNvSpPr/>
          <p:nvPr/>
        </p:nvSpPr>
        <p:spPr>
          <a:xfrm>
            <a:off x="9317736" y="4471416"/>
            <a:ext cx="201168" cy="201168"/>
          </a:xfrm>
          <a:prstGeom prst="ellipse">
            <a:avLst/>
          </a:prstGeom>
          <a:solidFill>
            <a:srgbClr val="17394B"/>
          </a:solidFill>
          <a:ln w="19050">
            <a:solidFill>
              <a:srgbClr val="0891B2"/>
            </a:solidFill>
            <a:prstDash val="solid"/>
          </a:ln>
        </p:spPr>
      </p:sp>
      <p:sp>
        <p:nvSpPr>
          <p:cNvPr id="123" name="Shape 121"/>
          <p:cNvSpPr/>
          <p:nvPr/>
        </p:nvSpPr>
        <p:spPr>
          <a:xfrm>
            <a:off x="10232136" y="4471416"/>
            <a:ext cx="201168" cy="201168"/>
          </a:xfrm>
          <a:prstGeom prst="ellipse">
            <a:avLst/>
          </a:prstGeom>
          <a:solidFill>
            <a:srgbClr val="17394B"/>
          </a:solidFill>
          <a:ln w="19050">
            <a:solidFill>
              <a:srgbClr val="0891B2"/>
            </a:solidFill>
            <a:prstDash val="solid"/>
          </a:ln>
        </p:spPr>
      </p:sp>
      <p:sp>
        <p:nvSpPr>
          <p:cNvPr id="124" name="Shape 122"/>
          <p:cNvSpPr/>
          <p:nvPr/>
        </p:nvSpPr>
        <p:spPr>
          <a:xfrm>
            <a:off x="11146536" y="4471416"/>
            <a:ext cx="201168" cy="201168"/>
          </a:xfrm>
          <a:prstGeom prst="ellipse">
            <a:avLst/>
          </a:prstGeom>
          <a:solidFill>
            <a:srgbClr val="17394B"/>
          </a:solidFill>
          <a:ln w="19050">
            <a:solidFill>
              <a:srgbClr val="0891B2"/>
            </a:solidFill>
            <a:prstDash val="solid"/>
          </a:ln>
        </p:spPr>
      </p:sp>
      <p:sp>
        <p:nvSpPr>
          <p:cNvPr id="125" name="Shape 123"/>
          <p:cNvSpPr/>
          <p:nvPr/>
        </p:nvSpPr>
        <p:spPr>
          <a:xfrm>
            <a:off x="7488936" y="5385816"/>
            <a:ext cx="201168" cy="201168"/>
          </a:xfrm>
          <a:prstGeom prst="ellipse">
            <a:avLst/>
          </a:prstGeom>
          <a:solidFill>
            <a:srgbClr val="17394B"/>
          </a:solidFill>
          <a:ln w="19050">
            <a:solidFill>
              <a:srgbClr val="0891B2"/>
            </a:solidFill>
            <a:prstDash val="solid"/>
          </a:ln>
        </p:spPr>
      </p:sp>
      <p:sp>
        <p:nvSpPr>
          <p:cNvPr id="126" name="Shape 124"/>
          <p:cNvSpPr/>
          <p:nvPr/>
        </p:nvSpPr>
        <p:spPr>
          <a:xfrm>
            <a:off x="8403336" y="5385816"/>
            <a:ext cx="201168" cy="201168"/>
          </a:xfrm>
          <a:prstGeom prst="ellipse">
            <a:avLst/>
          </a:prstGeom>
          <a:solidFill>
            <a:srgbClr val="17394B"/>
          </a:solidFill>
          <a:ln w="19050">
            <a:solidFill>
              <a:srgbClr val="0891B2"/>
            </a:solidFill>
            <a:prstDash val="solid"/>
          </a:ln>
        </p:spPr>
      </p:sp>
      <p:sp>
        <p:nvSpPr>
          <p:cNvPr id="127" name="Shape 125"/>
          <p:cNvSpPr/>
          <p:nvPr/>
        </p:nvSpPr>
        <p:spPr>
          <a:xfrm>
            <a:off x="9317736" y="5385816"/>
            <a:ext cx="201168" cy="201168"/>
          </a:xfrm>
          <a:prstGeom prst="ellipse">
            <a:avLst/>
          </a:prstGeom>
          <a:solidFill>
            <a:srgbClr val="17394B"/>
          </a:solidFill>
          <a:ln w="19050">
            <a:solidFill>
              <a:srgbClr val="0891B2"/>
            </a:solidFill>
            <a:prstDash val="solid"/>
          </a:ln>
        </p:spPr>
      </p:sp>
      <p:sp>
        <p:nvSpPr>
          <p:cNvPr id="128" name="Shape 126"/>
          <p:cNvSpPr/>
          <p:nvPr/>
        </p:nvSpPr>
        <p:spPr>
          <a:xfrm>
            <a:off x="10232136" y="5385816"/>
            <a:ext cx="201168" cy="201168"/>
          </a:xfrm>
          <a:prstGeom prst="ellipse">
            <a:avLst/>
          </a:prstGeom>
          <a:solidFill>
            <a:srgbClr val="17394B"/>
          </a:solidFill>
          <a:ln w="19050">
            <a:solidFill>
              <a:srgbClr val="0891B2"/>
            </a:solidFill>
            <a:prstDash val="solid"/>
          </a:ln>
        </p:spPr>
      </p:sp>
      <p:sp>
        <p:nvSpPr>
          <p:cNvPr id="129" name="Shape 127"/>
          <p:cNvSpPr/>
          <p:nvPr/>
        </p:nvSpPr>
        <p:spPr>
          <a:xfrm>
            <a:off x="11146536" y="5385816"/>
            <a:ext cx="201168" cy="201168"/>
          </a:xfrm>
          <a:prstGeom prst="ellipse">
            <a:avLst/>
          </a:prstGeom>
          <a:solidFill>
            <a:srgbClr val="17394B"/>
          </a:solidFill>
          <a:ln w="19050">
            <a:solidFill>
              <a:srgbClr val="0891B2"/>
            </a:solidFill>
            <a:prstDash val="solid"/>
          </a:ln>
        </p:spPr>
      </p:sp>
      <p:sp>
        <p:nvSpPr>
          <p:cNvPr id="130" name="Text 128"/>
          <p:cNvSpPr txBox="1"/>
          <p:nvPr/>
        </p:nvSpPr>
        <p:spPr>
          <a:xfrm>
            <a:off x="640080" y="685800"/>
            <a:ext cx="6766560" cy="548640"/>
          </a:xfrm>
          <a:prstGeom prst="rect">
            <a:avLst/>
          </a:prstGeom>
          <a:noFill/>
          <a:ln/>
        </p:spPr>
        <p:txBody>
          <a:bodyPr wrap="square" lIns="0" tIns="0" rIns="0" bIns="0" rtlCol="0" anchor="t"/>
          <a:lstStyle/>
          <a:p>
            <a:pPr indent="0" marL="0">
              <a:buNone/>
            </a:pPr>
            <a:r>
              <a:rPr lang="en-US" sz="1200" b="1" spc="150" kern="0" dirty="0">
                <a:solidFill>
                  <a:schemeClr val="accent5"/>
                </a:solidFill>
              </a:rPr>
              <a:t>22AIE452  ·  DATA DRIVEN MATERIAL MODELING AND SIMULATION</a:t>
            </a:r>
            <a:endParaRPr lang="en-US" sz="1200" dirty="0"/>
          </a:p>
        </p:txBody>
      </p:sp>
      <p:sp>
        <p:nvSpPr>
          <p:cNvPr id="131" name="Text 129"/>
          <p:cNvSpPr txBox="1"/>
          <p:nvPr/>
        </p:nvSpPr>
        <p:spPr>
          <a:xfrm>
            <a:off x="640080" y="1417320"/>
            <a:ext cx="6766560" cy="1188720"/>
          </a:xfrm>
          <a:prstGeom prst="rect">
            <a:avLst/>
          </a:prstGeom>
          <a:noFill/>
          <a:ln/>
        </p:spPr>
        <p:txBody>
          <a:bodyPr wrap="square" lIns="0" tIns="0" rIns="0" bIns="0" rtlCol="0" anchor="t"/>
          <a:lstStyle/>
          <a:p>
            <a:pPr indent="0" marL="0">
              <a:buNone/>
            </a:pPr>
            <a:r>
              <a:rPr lang="en-US" sz="6600" b="1" dirty="0">
                <a:solidFill>
                  <a:schemeClr val="bg1"/>
                </a:solidFill>
                <a:latin typeface="Cambria" pitchFamily="34" charset="0"/>
                <a:ea typeface="Cambria" pitchFamily="34" charset="-122"/>
                <a:cs typeface="Cambria" pitchFamily="34" charset="-120"/>
              </a:rPr>
              <a:t>MOF</a:t>
            </a:r>
            <a:pPr indent="0" marL="0">
              <a:buNone/>
            </a:pPr>
            <a:r>
              <a:rPr lang="en-US" sz="6600" b="1" dirty="0">
                <a:solidFill>
                  <a:schemeClr val="accent6"/>
                </a:solidFill>
                <a:latin typeface="Cambria" pitchFamily="34" charset="0"/>
                <a:ea typeface="Cambria" pitchFamily="34" charset="-122"/>
                <a:cs typeface="Cambria" pitchFamily="34" charset="-120"/>
              </a:rPr>
              <a:t>Chat</a:t>
            </a:r>
            <a:endParaRPr lang="en-US" sz="6600" dirty="0"/>
          </a:p>
        </p:txBody>
      </p:sp>
      <p:sp>
        <p:nvSpPr>
          <p:cNvPr id="132" name="Text 130"/>
          <p:cNvSpPr txBox="1"/>
          <p:nvPr/>
        </p:nvSpPr>
        <p:spPr>
          <a:xfrm>
            <a:off x="640080" y="2697480"/>
            <a:ext cx="6400800" cy="1188720"/>
          </a:xfrm>
          <a:prstGeom prst="rect">
            <a:avLst/>
          </a:prstGeom>
          <a:noFill/>
          <a:ln/>
        </p:spPr>
        <p:txBody>
          <a:bodyPr wrap="square" lIns="0" tIns="0" rIns="0" bIns="0" rtlCol="0" anchor="t"/>
          <a:lstStyle/>
          <a:p>
            <a:pPr indent="0" marL="0">
              <a:buNone/>
            </a:pPr>
            <a:r>
              <a:rPr lang="en-US" sz="1900" dirty="0">
                <a:solidFill>
                  <a:srgbClr val="D6E4EA"/>
                </a:solidFill>
              </a:rPr>
              <a:t>Explainable, data-grounded metal-organic framework recommendation with validated LLM planning, multi-objective optimisation and surrogate models</a:t>
            </a:r>
            <a:endParaRPr lang="en-US" sz="1900" dirty="0"/>
          </a:p>
        </p:txBody>
      </p:sp>
      <p:sp>
        <p:nvSpPr>
          <p:cNvPr id="133" name="Text 131"/>
          <p:cNvSpPr txBox="1"/>
          <p:nvPr/>
        </p:nvSpPr>
        <p:spPr>
          <a:xfrm>
            <a:off x="640080" y="4251960"/>
            <a:ext cx="36576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TEAM 09  ·  FINAL REVIEW</a:t>
            </a:r>
            <a:endParaRPr lang="en-US" sz="1200" dirty="0"/>
          </a:p>
        </p:txBody>
      </p:sp>
      <p:sp>
        <p:nvSpPr>
          <p:cNvPr id="134" name="Text 132"/>
          <p:cNvSpPr txBox="1"/>
          <p:nvPr/>
        </p:nvSpPr>
        <p:spPr>
          <a:xfrm>
            <a:off x="640080" y="4617720"/>
            <a:ext cx="3108960" cy="347472"/>
          </a:xfrm>
          <a:prstGeom prst="rect">
            <a:avLst/>
          </a:prstGeom>
          <a:noFill/>
          <a:ln/>
        </p:spPr>
        <p:txBody>
          <a:bodyPr wrap="square" lIns="0" tIns="0" rIns="0" bIns="0" rtlCol="0" anchor="t"/>
          <a:lstStyle/>
          <a:p>
            <a:pPr indent="0" marL="0">
              <a:buNone/>
            </a:pPr>
            <a:r>
              <a:rPr lang="en-US" sz="1500" b="1" dirty="0">
                <a:solidFill>
                  <a:schemeClr val="bg1"/>
                </a:solidFill>
              </a:rPr>
              <a:t>Amrutha T</a:t>
            </a:r>
            <a:pPr indent="0" marL="0">
              <a:buNone/>
            </a:pPr>
            <a:r>
              <a:rPr lang="en-US" sz="1500" dirty="0">
                <a:solidFill>
                  <a:srgbClr val="9FB6C1"/>
                </a:solidFill>
              </a:rPr>
              <a:t>   24255</a:t>
            </a:r>
            <a:endParaRPr lang="en-US" sz="1500" dirty="0"/>
          </a:p>
        </p:txBody>
      </p:sp>
      <p:sp>
        <p:nvSpPr>
          <p:cNvPr id="135" name="Text 133"/>
          <p:cNvSpPr txBox="1"/>
          <p:nvPr/>
        </p:nvSpPr>
        <p:spPr>
          <a:xfrm>
            <a:off x="640080" y="5001768"/>
            <a:ext cx="3108960" cy="347472"/>
          </a:xfrm>
          <a:prstGeom prst="rect">
            <a:avLst/>
          </a:prstGeom>
          <a:noFill/>
          <a:ln/>
        </p:spPr>
        <p:txBody>
          <a:bodyPr wrap="square" lIns="0" tIns="0" rIns="0" bIns="0" rtlCol="0" anchor="t"/>
          <a:lstStyle/>
          <a:p>
            <a:pPr indent="0" marL="0">
              <a:buNone/>
            </a:pPr>
            <a:r>
              <a:rPr lang="en-US" sz="1500" b="1" dirty="0">
                <a:solidFill>
                  <a:schemeClr val="bg1"/>
                </a:solidFill>
              </a:rPr>
              <a:t>Charan Tej Reddy Y</a:t>
            </a:r>
            <a:pPr indent="0" marL="0">
              <a:buNone/>
            </a:pPr>
            <a:r>
              <a:rPr lang="en-US" sz="1500" dirty="0">
                <a:solidFill>
                  <a:srgbClr val="9FB6C1"/>
                </a:solidFill>
              </a:rPr>
              <a:t>   24259</a:t>
            </a:r>
            <a:endParaRPr lang="en-US" sz="1500" dirty="0"/>
          </a:p>
        </p:txBody>
      </p:sp>
      <p:sp>
        <p:nvSpPr>
          <p:cNvPr id="136" name="Text 134"/>
          <p:cNvSpPr txBox="1"/>
          <p:nvPr/>
        </p:nvSpPr>
        <p:spPr>
          <a:xfrm>
            <a:off x="640080" y="5385816"/>
            <a:ext cx="3108960" cy="347472"/>
          </a:xfrm>
          <a:prstGeom prst="rect">
            <a:avLst/>
          </a:prstGeom>
          <a:noFill/>
          <a:ln/>
        </p:spPr>
        <p:txBody>
          <a:bodyPr wrap="square" lIns="0" tIns="0" rIns="0" bIns="0" rtlCol="0" anchor="t"/>
          <a:lstStyle/>
          <a:p>
            <a:pPr indent="0" marL="0">
              <a:buNone/>
            </a:pPr>
            <a:r>
              <a:rPr lang="en-US" sz="1500" b="1" dirty="0">
                <a:solidFill>
                  <a:schemeClr val="bg1"/>
                </a:solidFill>
              </a:rPr>
              <a:t>Poojitha D</a:t>
            </a:r>
            <a:pPr indent="0" marL="0">
              <a:buNone/>
            </a:pPr>
            <a:r>
              <a:rPr lang="en-US" sz="1500" dirty="0">
                <a:solidFill>
                  <a:srgbClr val="9FB6C1"/>
                </a:solidFill>
              </a:rPr>
              <a:t>   24263</a:t>
            </a:r>
            <a:endParaRPr lang="en-US" sz="1500" dirty="0"/>
          </a:p>
        </p:txBody>
      </p:sp>
      <p:sp>
        <p:nvSpPr>
          <p:cNvPr id="137" name="Text 135"/>
          <p:cNvSpPr txBox="1"/>
          <p:nvPr/>
        </p:nvSpPr>
        <p:spPr>
          <a:xfrm>
            <a:off x="3840480" y="4617720"/>
            <a:ext cx="3108960" cy="347472"/>
          </a:xfrm>
          <a:prstGeom prst="rect">
            <a:avLst/>
          </a:prstGeom>
          <a:noFill/>
          <a:ln/>
        </p:spPr>
        <p:txBody>
          <a:bodyPr wrap="square" lIns="0" tIns="0" rIns="0" bIns="0" rtlCol="0" anchor="t"/>
          <a:lstStyle/>
          <a:p>
            <a:pPr indent="0" marL="0">
              <a:buNone/>
            </a:pPr>
            <a:r>
              <a:rPr lang="en-US" sz="1500" b="1" dirty="0">
                <a:solidFill>
                  <a:schemeClr val="bg1"/>
                </a:solidFill>
              </a:rPr>
              <a:t>Enku Sai Mohith</a:t>
            </a:r>
            <a:pPr indent="0" marL="0">
              <a:buNone/>
            </a:pPr>
            <a:r>
              <a:rPr lang="en-US" sz="1500" dirty="0">
                <a:solidFill>
                  <a:srgbClr val="9FB6C1"/>
                </a:solidFill>
              </a:rPr>
              <a:t>   24316</a:t>
            </a:r>
            <a:endParaRPr lang="en-US" sz="1500" dirty="0"/>
          </a:p>
        </p:txBody>
      </p:sp>
      <p:sp>
        <p:nvSpPr>
          <p:cNvPr id="138" name="Text 136"/>
          <p:cNvSpPr txBox="1"/>
          <p:nvPr/>
        </p:nvSpPr>
        <p:spPr>
          <a:xfrm>
            <a:off x="3840480" y="5001768"/>
            <a:ext cx="3108960" cy="347472"/>
          </a:xfrm>
          <a:prstGeom prst="rect">
            <a:avLst/>
          </a:prstGeom>
          <a:noFill/>
          <a:ln/>
        </p:spPr>
        <p:txBody>
          <a:bodyPr wrap="square" lIns="0" tIns="0" rIns="0" bIns="0" rtlCol="0" anchor="t"/>
          <a:lstStyle/>
          <a:p>
            <a:pPr indent="0" marL="0">
              <a:buNone/>
            </a:pPr>
            <a:r>
              <a:rPr lang="en-US" sz="1500" b="1" dirty="0">
                <a:solidFill>
                  <a:schemeClr val="bg1"/>
                </a:solidFill>
              </a:rPr>
              <a:t>Ramu Jahna Bindu</a:t>
            </a:r>
            <a:pPr indent="0" marL="0">
              <a:buNone/>
            </a:pPr>
            <a:r>
              <a:rPr lang="en-US" sz="1500" dirty="0">
                <a:solidFill>
                  <a:srgbClr val="9FB6C1"/>
                </a:solidFill>
              </a:rPr>
              <a:t>   24249</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OVERVIEW</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Outline</a:t>
            </a:r>
            <a:endParaRPr lang="en-US" sz="2800" dirty="0"/>
          </a:p>
        </p:txBody>
      </p:sp>
      <p:sp>
        <p:nvSpPr>
          <p:cNvPr id="4" name="Shape 2"/>
          <p:cNvSpPr/>
          <p:nvPr/>
        </p:nvSpPr>
        <p:spPr>
          <a:xfrm>
            <a:off x="731520" y="1645920"/>
            <a:ext cx="868680" cy="764438"/>
          </a:xfrm>
          <a:prstGeom prst="hexagon">
            <a:avLst/>
          </a:prstGeom>
          <a:solidFill>
            <a:schemeClr val="accent1"/>
          </a:solidFill>
          <a:ln w="12700">
            <a:solidFill>
              <a:schemeClr val="accent1"/>
            </a:solidFill>
            <a:prstDash val="solid"/>
          </a:ln>
        </p:spPr>
      </p:sp>
      <p:sp>
        <p:nvSpPr>
          <p:cNvPr id="5" name="Text 3"/>
          <p:cNvSpPr txBox="1"/>
          <p:nvPr/>
        </p:nvSpPr>
        <p:spPr>
          <a:xfrm>
            <a:off x="731520" y="164592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01</a:t>
            </a:r>
            <a:endParaRPr lang="en-US" sz="1600" dirty="0"/>
          </a:p>
        </p:txBody>
      </p:sp>
      <p:sp>
        <p:nvSpPr>
          <p:cNvPr id="6" name="Text 4"/>
          <p:cNvSpPr txBox="1"/>
          <p:nvPr/>
        </p:nvSpPr>
        <p:spPr>
          <a:xfrm>
            <a:off x="1828800" y="166420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Problem and base paper</a:t>
            </a:r>
            <a:endParaRPr lang="en-US" sz="2000" dirty="0"/>
          </a:p>
        </p:txBody>
      </p:sp>
      <p:sp>
        <p:nvSpPr>
          <p:cNvPr id="7" name="Text 5"/>
          <p:cNvSpPr txBox="1"/>
          <p:nvPr/>
        </p:nvSpPr>
        <p:spPr>
          <a:xfrm>
            <a:off x="1828800" y="206654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MOF selection, ChatMOF and its limitations</a:t>
            </a:r>
            <a:endParaRPr lang="en-US" sz="1500" dirty="0"/>
          </a:p>
        </p:txBody>
      </p:sp>
      <p:sp>
        <p:nvSpPr>
          <p:cNvPr id="8" name="Shape 6"/>
          <p:cNvSpPr/>
          <p:nvPr/>
        </p:nvSpPr>
        <p:spPr>
          <a:xfrm>
            <a:off x="6309360" y="1645920"/>
            <a:ext cx="868680" cy="764438"/>
          </a:xfrm>
          <a:prstGeom prst="hexagon">
            <a:avLst/>
          </a:prstGeom>
          <a:solidFill>
            <a:schemeClr val="accent1"/>
          </a:solidFill>
          <a:ln w="12700">
            <a:solidFill>
              <a:schemeClr val="accent1"/>
            </a:solidFill>
            <a:prstDash val="solid"/>
          </a:ln>
        </p:spPr>
      </p:sp>
      <p:sp>
        <p:nvSpPr>
          <p:cNvPr id="9" name="Text 7"/>
          <p:cNvSpPr txBox="1"/>
          <p:nvPr/>
        </p:nvSpPr>
        <p:spPr>
          <a:xfrm>
            <a:off x="6309360" y="164592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02</a:t>
            </a:r>
            <a:endParaRPr lang="en-US" sz="1600" dirty="0"/>
          </a:p>
        </p:txBody>
      </p:sp>
      <p:sp>
        <p:nvSpPr>
          <p:cNvPr id="10" name="Text 8"/>
          <p:cNvSpPr txBox="1"/>
          <p:nvPr/>
        </p:nvSpPr>
        <p:spPr>
          <a:xfrm>
            <a:off x="7406640" y="166420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Literature and objectives</a:t>
            </a:r>
            <a:endParaRPr lang="en-US" sz="2000" dirty="0"/>
          </a:p>
        </p:txBody>
      </p:sp>
      <p:sp>
        <p:nvSpPr>
          <p:cNvPr id="11" name="Text 9"/>
          <p:cNvSpPr txBox="1"/>
          <p:nvPr/>
        </p:nvSpPr>
        <p:spPr>
          <a:xfrm>
            <a:off x="7406640" y="206654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What prior work gives us, what is missing</a:t>
            </a:r>
            <a:endParaRPr lang="en-US" sz="1500" dirty="0"/>
          </a:p>
        </p:txBody>
      </p:sp>
      <p:sp>
        <p:nvSpPr>
          <p:cNvPr id="12" name="Shape 10"/>
          <p:cNvSpPr/>
          <p:nvPr/>
        </p:nvSpPr>
        <p:spPr>
          <a:xfrm>
            <a:off x="731520" y="3154680"/>
            <a:ext cx="868680" cy="764438"/>
          </a:xfrm>
          <a:prstGeom prst="hexagon">
            <a:avLst/>
          </a:prstGeom>
          <a:solidFill>
            <a:schemeClr val="accent1"/>
          </a:solidFill>
          <a:ln w="12700">
            <a:solidFill>
              <a:schemeClr val="accent1"/>
            </a:solidFill>
            <a:prstDash val="solid"/>
          </a:ln>
        </p:spPr>
      </p:sp>
      <p:sp>
        <p:nvSpPr>
          <p:cNvPr id="13" name="Text 11"/>
          <p:cNvSpPr txBox="1"/>
          <p:nvPr/>
        </p:nvSpPr>
        <p:spPr>
          <a:xfrm>
            <a:off x="731520" y="315468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03</a:t>
            </a:r>
            <a:endParaRPr lang="en-US" sz="1600" dirty="0"/>
          </a:p>
        </p:txBody>
      </p:sp>
      <p:sp>
        <p:nvSpPr>
          <p:cNvPr id="14" name="Text 12"/>
          <p:cNvSpPr txBox="1"/>
          <p:nvPr/>
        </p:nvSpPr>
        <p:spPr>
          <a:xfrm>
            <a:off x="1828800" y="317296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Data and method</a:t>
            </a:r>
            <a:endParaRPr lang="en-US" sz="2000" dirty="0"/>
          </a:p>
        </p:txBody>
      </p:sp>
      <p:sp>
        <p:nvSpPr>
          <p:cNvPr id="15" name="Text 13"/>
          <p:cNvSpPr txBox="1"/>
          <p:nvPr/>
        </p:nvSpPr>
        <p:spPr>
          <a:xfrm>
            <a:off x="1828800" y="357530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CoRE-MOF ETL, architecture, planner, validator, models</a:t>
            </a:r>
            <a:endParaRPr lang="en-US" sz="1500" dirty="0"/>
          </a:p>
        </p:txBody>
      </p:sp>
      <p:sp>
        <p:nvSpPr>
          <p:cNvPr id="16" name="Shape 14"/>
          <p:cNvSpPr/>
          <p:nvPr/>
        </p:nvSpPr>
        <p:spPr>
          <a:xfrm>
            <a:off x="6309360" y="3154680"/>
            <a:ext cx="868680" cy="764438"/>
          </a:xfrm>
          <a:prstGeom prst="hexagon">
            <a:avLst/>
          </a:prstGeom>
          <a:solidFill>
            <a:schemeClr val="accent2"/>
          </a:solidFill>
          <a:ln w="12700">
            <a:solidFill>
              <a:schemeClr val="accent2"/>
            </a:solidFill>
            <a:prstDash val="solid"/>
          </a:ln>
        </p:spPr>
      </p:sp>
      <p:sp>
        <p:nvSpPr>
          <p:cNvPr id="17" name="Text 15"/>
          <p:cNvSpPr txBox="1"/>
          <p:nvPr/>
        </p:nvSpPr>
        <p:spPr>
          <a:xfrm>
            <a:off x="6309360" y="315468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04</a:t>
            </a:r>
            <a:endParaRPr lang="en-US" sz="1600" dirty="0"/>
          </a:p>
        </p:txBody>
      </p:sp>
      <p:sp>
        <p:nvSpPr>
          <p:cNvPr id="18" name="Text 16"/>
          <p:cNvSpPr txBox="1"/>
          <p:nvPr/>
        </p:nvSpPr>
        <p:spPr>
          <a:xfrm>
            <a:off x="7406640" y="317296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Results</a:t>
            </a:r>
            <a:endParaRPr lang="en-US" sz="2000" dirty="0"/>
          </a:p>
        </p:txBody>
      </p:sp>
      <p:sp>
        <p:nvSpPr>
          <p:cNvPr id="19" name="Text 17"/>
          <p:cNvSpPr txBox="1"/>
          <p:nvPr/>
        </p:nvSpPr>
        <p:spPr>
          <a:xfrm>
            <a:off x="7406640" y="357530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Benchmark, model comparison, surrogates, explanations</a:t>
            </a:r>
            <a:endParaRPr lang="en-US" sz="1500" dirty="0"/>
          </a:p>
        </p:txBody>
      </p:sp>
      <p:sp>
        <p:nvSpPr>
          <p:cNvPr id="20" name="Shape 18"/>
          <p:cNvSpPr/>
          <p:nvPr/>
        </p:nvSpPr>
        <p:spPr>
          <a:xfrm>
            <a:off x="731520" y="4663440"/>
            <a:ext cx="868680" cy="764438"/>
          </a:xfrm>
          <a:prstGeom prst="hexagon">
            <a:avLst/>
          </a:prstGeom>
          <a:solidFill>
            <a:schemeClr val="accent1"/>
          </a:solidFill>
          <a:ln w="12700">
            <a:solidFill>
              <a:schemeClr val="accent1"/>
            </a:solidFill>
            <a:prstDash val="solid"/>
          </a:ln>
        </p:spPr>
      </p:sp>
      <p:sp>
        <p:nvSpPr>
          <p:cNvPr id="21" name="Text 19"/>
          <p:cNvSpPr txBox="1"/>
          <p:nvPr/>
        </p:nvSpPr>
        <p:spPr>
          <a:xfrm>
            <a:off x="731520" y="466344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05</a:t>
            </a:r>
            <a:endParaRPr lang="en-US" sz="1600" dirty="0"/>
          </a:p>
        </p:txBody>
      </p:sp>
      <p:sp>
        <p:nvSpPr>
          <p:cNvPr id="22" name="Text 20"/>
          <p:cNvSpPr txBox="1"/>
          <p:nvPr/>
        </p:nvSpPr>
        <p:spPr>
          <a:xfrm>
            <a:off x="1828800" y="468172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Live application</a:t>
            </a:r>
            <a:endParaRPr lang="en-US" sz="2000" dirty="0"/>
          </a:p>
        </p:txBody>
      </p:sp>
      <p:sp>
        <p:nvSpPr>
          <p:cNvPr id="23" name="Text 21"/>
          <p:cNvSpPr txBox="1"/>
          <p:nvPr/>
        </p:nvSpPr>
        <p:spPr>
          <a:xfrm>
            <a:off x="1828800" y="508406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The Streamlit app and demo questions</a:t>
            </a:r>
            <a:endParaRPr lang="en-US" sz="1500" dirty="0"/>
          </a:p>
        </p:txBody>
      </p:sp>
      <p:sp>
        <p:nvSpPr>
          <p:cNvPr id="24" name="Shape 22"/>
          <p:cNvSpPr/>
          <p:nvPr/>
        </p:nvSpPr>
        <p:spPr>
          <a:xfrm>
            <a:off x="6309360" y="4663440"/>
            <a:ext cx="868680" cy="764438"/>
          </a:xfrm>
          <a:prstGeom prst="hexagon">
            <a:avLst/>
          </a:prstGeom>
          <a:solidFill>
            <a:schemeClr val="accent1"/>
          </a:solidFill>
          <a:ln w="12700">
            <a:solidFill>
              <a:schemeClr val="accent1"/>
            </a:solidFill>
            <a:prstDash val="solid"/>
          </a:ln>
        </p:spPr>
      </p:sp>
      <p:sp>
        <p:nvSpPr>
          <p:cNvPr id="25" name="Text 23"/>
          <p:cNvSpPr txBox="1"/>
          <p:nvPr/>
        </p:nvSpPr>
        <p:spPr>
          <a:xfrm>
            <a:off x="6309360" y="4663440"/>
            <a:ext cx="868680" cy="764438"/>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06</a:t>
            </a:r>
            <a:endParaRPr lang="en-US" sz="1600" dirty="0"/>
          </a:p>
        </p:txBody>
      </p:sp>
      <p:sp>
        <p:nvSpPr>
          <p:cNvPr id="26" name="Text 24"/>
          <p:cNvSpPr txBox="1"/>
          <p:nvPr/>
        </p:nvSpPr>
        <p:spPr>
          <a:xfrm>
            <a:off x="7406640" y="4681728"/>
            <a:ext cx="4206240" cy="384048"/>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Lessons and conclusion</a:t>
            </a:r>
            <a:endParaRPr lang="en-US" sz="2000" dirty="0"/>
          </a:p>
        </p:txBody>
      </p:sp>
      <p:sp>
        <p:nvSpPr>
          <p:cNvPr id="27" name="Text 25"/>
          <p:cNvSpPr txBox="1"/>
          <p:nvPr/>
        </p:nvSpPr>
        <p:spPr>
          <a:xfrm>
            <a:off x="7406640" y="5084064"/>
            <a:ext cx="4206240" cy="457200"/>
          </a:xfrm>
          <a:prstGeom prst="rect">
            <a:avLst/>
          </a:prstGeom>
          <a:noFill/>
          <a:ln/>
        </p:spPr>
        <p:txBody>
          <a:bodyPr wrap="square" lIns="0" tIns="0" rIns="0" bIns="0" rtlCol="0" anchor="t"/>
          <a:lstStyle/>
          <a:p>
            <a:pPr indent="0" marL="0">
              <a:buNone/>
            </a:pPr>
            <a:r>
              <a:rPr lang="en-US" sz="1500" dirty="0">
                <a:solidFill>
                  <a:schemeClr val="accent3"/>
                </a:solidFill>
              </a:rPr>
              <a:t>What we learned, limits, future work</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01 · INTRODUCTION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Choosing a MOF means searching thousands of structures at once</a:t>
            </a:r>
            <a:endParaRPr lang="en-US" sz="2800" dirty="0"/>
          </a:p>
        </p:txBody>
      </p:sp>
      <p:sp>
        <p:nvSpPr>
          <p:cNvPr id="4" name="Text 2"/>
          <p:cNvSpPr txBox="1"/>
          <p:nvPr/>
        </p:nvSpPr>
        <p:spPr>
          <a:xfrm>
            <a:off x="548640" y="1600200"/>
            <a:ext cx="5760720" cy="822960"/>
          </a:xfrm>
          <a:prstGeom prst="rect">
            <a:avLst/>
          </a:prstGeom>
          <a:noFill/>
          <a:ln/>
        </p:spPr>
        <p:txBody>
          <a:bodyPr wrap="square" lIns="0" tIns="0" rIns="0" bIns="0" rtlCol="0" anchor="t"/>
          <a:lstStyle/>
          <a:p>
            <a:pPr indent="0" marL="0">
              <a:buNone/>
            </a:pPr>
            <a:r>
              <a:rPr lang="en-US" sz="1600" dirty="0">
                <a:solidFill>
                  <a:schemeClr val="tx1"/>
                </a:solidFill>
              </a:rPr>
              <a:t>Metal-organic frameworks are crystalline porous materials: metal nodes joined by organic linkers. Their tunable pores make them candidates for:</a:t>
            </a:r>
            <a:endParaRPr lang="en-US" sz="1600" dirty="0"/>
          </a:p>
        </p:txBody>
      </p:sp>
      <p:sp>
        <p:nvSpPr>
          <p:cNvPr id="5" name="hex FaCloud"/>
          <p:cNvSpPr/>
          <p:nvPr/>
        </p:nvSpPr>
        <p:spPr>
          <a:xfrm>
            <a:off x="640080" y="2560320"/>
            <a:ext cx="548640" cy="482803"/>
          </a:xfrm>
          <a:prstGeom prst="hexagon">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99186" y="2686507"/>
            <a:ext cx="230429" cy="230429"/>
          </a:xfrm>
          <a:prstGeom prst="rect">
            <a:avLst/>
          </a:prstGeom>
        </p:spPr>
      </p:pic>
      <p:sp>
        <p:nvSpPr>
          <p:cNvPr id="7" name="Text 4"/>
          <p:cNvSpPr txBox="1"/>
          <p:nvPr/>
        </p:nvSpPr>
        <p:spPr>
          <a:xfrm>
            <a:off x="1371600" y="2633472"/>
            <a:ext cx="4114800" cy="365760"/>
          </a:xfrm>
          <a:prstGeom prst="rect">
            <a:avLst/>
          </a:prstGeom>
          <a:noFill/>
          <a:ln/>
        </p:spPr>
        <p:txBody>
          <a:bodyPr wrap="square" lIns="0" tIns="0" rIns="0" bIns="0" rtlCol="0" anchor="t"/>
          <a:lstStyle/>
          <a:p>
            <a:pPr indent="0" marL="0">
              <a:buNone/>
            </a:pPr>
            <a:r>
              <a:rPr lang="en-US" sz="1700" b="1" dirty="0">
                <a:solidFill>
                  <a:schemeClr val="tx1"/>
                </a:solidFill>
              </a:rPr>
              <a:t>CO₂ capture</a:t>
            </a:r>
            <a:endParaRPr lang="en-US" sz="1700" dirty="0"/>
          </a:p>
        </p:txBody>
      </p:sp>
      <p:sp>
        <p:nvSpPr>
          <p:cNvPr id="8" name="hex FaGasPump"/>
          <p:cNvSpPr/>
          <p:nvPr/>
        </p:nvSpPr>
        <p:spPr>
          <a:xfrm>
            <a:off x="640080" y="3273552"/>
            <a:ext cx="548640" cy="482803"/>
          </a:xfrm>
          <a:prstGeom prst="hexagon">
            <a:avLst/>
          </a:prstGeom>
          <a:solidFill>
            <a:schemeClr val="accent2"/>
          </a:solidFill>
          <a:ln w="12700">
            <a:solidFill>
              <a:schemeClr val="accent2"/>
            </a:solidFill>
            <a:prstDash val="solid"/>
          </a:ln>
        </p:spPr>
      </p:sp>
      <p:pic>
        <p:nvPicPr>
          <p:cNvPr id="9" name="Image 1" descr="preencoded.png">    </p:cNvPr>
          <p:cNvPicPr>
            <a:picLocks noChangeAspect="1"/>
          </p:cNvPicPr>
          <p:nvPr/>
        </p:nvPicPr>
        <p:blipFill>
          <a:blip r:embed="rId2"/>
          <a:stretch>
            <a:fillRect/>
          </a:stretch>
        </p:blipFill>
        <p:spPr>
          <a:xfrm>
            <a:off x="799186" y="3399739"/>
            <a:ext cx="230429" cy="230429"/>
          </a:xfrm>
          <a:prstGeom prst="rect">
            <a:avLst/>
          </a:prstGeom>
        </p:spPr>
      </p:pic>
      <p:sp>
        <p:nvSpPr>
          <p:cNvPr id="10" name="Text 6"/>
          <p:cNvSpPr txBox="1"/>
          <p:nvPr/>
        </p:nvSpPr>
        <p:spPr>
          <a:xfrm>
            <a:off x="1371600" y="3346704"/>
            <a:ext cx="4114800" cy="365760"/>
          </a:xfrm>
          <a:prstGeom prst="rect">
            <a:avLst/>
          </a:prstGeom>
          <a:noFill/>
          <a:ln/>
        </p:spPr>
        <p:txBody>
          <a:bodyPr wrap="square" lIns="0" tIns="0" rIns="0" bIns="0" rtlCol="0" anchor="t"/>
          <a:lstStyle/>
          <a:p>
            <a:pPr indent="0" marL="0">
              <a:buNone/>
            </a:pPr>
            <a:r>
              <a:rPr lang="en-US" sz="1700" b="1" dirty="0">
                <a:solidFill>
                  <a:schemeClr val="tx1"/>
                </a:solidFill>
              </a:rPr>
              <a:t>H₂ and CH₄ storage</a:t>
            </a:r>
            <a:endParaRPr lang="en-US" sz="1700" dirty="0"/>
          </a:p>
        </p:txBody>
      </p:sp>
      <p:sp>
        <p:nvSpPr>
          <p:cNvPr id="11" name="hex FaFilter"/>
          <p:cNvSpPr/>
          <p:nvPr/>
        </p:nvSpPr>
        <p:spPr>
          <a:xfrm>
            <a:off x="640080" y="3986784"/>
            <a:ext cx="548640" cy="482803"/>
          </a:xfrm>
          <a:prstGeom prst="hexagon">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799186" y="4112971"/>
            <a:ext cx="230429" cy="230429"/>
          </a:xfrm>
          <a:prstGeom prst="rect">
            <a:avLst/>
          </a:prstGeom>
        </p:spPr>
      </p:pic>
      <p:sp>
        <p:nvSpPr>
          <p:cNvPr id="13" name="Text 8"/>
          <p:cNvSpPr txBox="1"/>
          <p:nvPr/>
        </p:nvSpPr>
        <p:spPr>
          <a:xfrm>
            <a:off x="1371600" y="4059936"/>
            <a:ext cx="4114800" cy="365760"/>
          </a:xfrm>
          <a:prstGeom prst="rect">
            <a:avLst/>
          </a:prstGeom>
          <a:noFill/>
          <a:ln/>
        </p:spPr>
        <p:txBody>
          <a:bodyPr wrap="square" lIns="0" tIns="0" rIns="0" bIns="0" rtlCol="0" anchor="t"/>
          <a:lstStyle/>
          <a:p>
            <a:pPr indent="0" marL="0">
              <a:buNone/>
            </a:pPr>
            <a:r>
              <a:rPr lang="en-US" sz="1700" b="1" dirty="0">
                <a:solidFill>
                  <a:schemeClr val="tx1"/>
                </a:solidFill>
              </a:rPr>
              <a:t>Gas separation</a:t>
            </a:r>
            <a:endParaRPr lang="en-US" sz="1700" dirty="0"/>
          </a:p>
        </p:txBody>
      </p:sp>
      <p:sp>
        <p:nvSpPr>
          <p:cNvPr id="14" name="hex FaFlask"/>
          <p:cNvSpPr/>
          <p:nvPr/>
        </p:nvSpPr>
        <p:spPr>
          <a:xfrm>
            <a:off x="640080" y="4700016"/>
            <a:ext cx="548640" cy="482803"/>
          </a:xfrm>
          <a:prstGeom prst="hexagon">
            <a:avLst/>
          </a:prstGeom>
          <a:solidFill>
            <a:schemeClr val="accent2"/>
          </a:solidFill>
          <a:ln w="12700">
            <a:solidFill>
              <a:schemeClr val="accent2"/>
            </a:solidFill>
            <a:prstDash val="solid"/>
          </a:ln>
        </p:spPr>
      </p:sp>
      <p:pic>
        <p:nvPicPr>
          <p:cNvPr id="15" name="Image 3" descr="preencoded.png">    </p:cNvPr>
          <p:cNvPicPr>
            <a:picLocks noChangeAspect="1"/>
          </p:cNvPicPr>
          <p:nvPr/>
        </p:nvPicPr>
        <p:blipFill>
          <a:blip r:embed="rId4"/>
          <a:stretch>
            <a:fillRect/>
          </a:stretch>
        </p:blipFill>
        <p:spPr>
          <a:xfrm>
            <a:off x="799186" y="4826203"/>
            <a:ext cx="230429" cy="230429"/>
          </a:xfrm>
          <a:prstGeom prst="rect">
            <a:avLst/>
          </a:prstGeom>
        </p:spPr>
      </p:pic>
      <p:sp>
        <p:nvSpPr>
          <p:cNvPr id="16" name="Text 10"/>
          <p:cNvSpPr txBox="1"/>
          <p:nvPr/>
        </p:nvSpPr>
        <p:spPr>
          <a:xfrm>
            <a:off x="1371600" y="4773168"/>
            <a:ext cx="4114800" cy="365760"/>
          </a:xfrm>
          <a:prstGeom prst="rect">
            <a:avLst/>
          </a:prstGeom>
          <a:noFill/>
          <a:ln/>
        </p:spPr>
        <p:txBody>
          <a:bodyPr wrap="square" lIns="0" tIns="0" rIns="0" bIns="0" rtlCol="0" anchor="t"/>
          <a:lstStyle/>
          <a:p>
            <a:pPr indent="0" marL="0">
              <a:buNone/>
            </a:pPr>
            <a:r>
              <a:rPr lang="en-US" sz="1700" b="1" dirty="0">
                <a:solidFill>
                  <a:schemeClr val="tx1"/>
                </a:solidFill>
              </a:rPr>
              <a:t>Catalysis</a:t>
            </a:r>
            <a:endParaRPr lang="en-US" sz="1700" dirty="0"/>
          </a:p>
        </p:txBody>
      </p:sp>
      <p:sp>
        <p:nvSpPr>
          <p:cNvPr id="17" name="Text 11"/>
          <p:cNvSpPr txBox="1"/>
          <p:nvPr/>
        </p:nvSpPr>
        <p:spPr>
          <a:xfrm>
            <a:off x="548640" y="5486400"/>
            <a:ext cx="5760720" cy="731520"/>
          </a:xfrm>
          <a:prstGeom prst="rect">
            <a:avLst/>
          </a:prstGeom>
          <a:noFill/>
          <a:ln/>
        </p:spPr>
        <p:txBody>
          <a:bodyPr wrap="square" lIns="0" tIns="0" rIns="0" bIns="0" rtlCol="0" anchor="t"/>
          <a:lstStyle/>
          <a:p>
            <a:pPr indent="0" marL="0">
              <a:buNone/>
            </a:pPr>
            <a:r>
              <a:rPr lang="en-US" sz="1400" i="1" dirty="0">
                <a:solidFill>
                  <a:schemeClr val="accent3"/>
                </a:solidFill>
              </a:rPr>
              <a:t>A good choice needs database queries, several properties traded off together, and domain knowledge (which pore sizes admit which gases).</a:t>
            </a:r>
            <a:endParaRPr lang="en-US" sz="1400" dirty="0"/>
          </a:p>
        </p:txBody>
      </p:sp>
      <p:sp>
        <p:nvSpPr>
          <p:cNvPr id="18" name="card"/>
          <p:cNvSpPr/>
          <p:nvPr/>
        </p:nvSpPr>
        <p:spPr>
          <a:xfrm>
            <a:off x="6766560" y="1600200"/>
            <a:ext cx="4846320" cy="4526280"/>
          </a:xfrm>
          <a:prstGeom prst="roundRect">
            <a:avLst>
              <a:gd name="adj" fmla="val 1616"/>
            </a:avLst>
          </a:prstGeom>
          <a:solidFill>
            <a:schemeClr val="bg2"/>
          </a:solidFill>
          <a:ln w="12700">
            <a:solidFill>
              <a:schemeClr val="bg2"/>
            </a:solidFill>
            <a:prstDash val="solid"/>
          </a:ln>
        </p:spPr>
      </p:sp>
      <p:sp>
        <p:nvSpPr>
          <p:cNvPr id="19" name="Text 13"/>
          <p:cNvSpPr txBox="1"/>
          <p:nvPr/>
        </p:nvSpPr>
        <p:spPr>
          <a:xfrm>
            <a:off x="7132320" y="1783080"/>
            <a:ext cx="4206240" cy="6858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12,020</a:t>
            </a:r>
            <a:endParaRPr lang="en-US" sz="4400" dirty="0"/>
          </a:p>
        </p:txBody>
      </p:sp>
      <p:sp>
        <p:nvSpPr>
          <p:cNvPr id="20" name="Text 14"/>
          <p:cNvSpPr txBox="1"/>
          <p:nvPr/>
        </p:nvSpPr>
        <p:spPr>
          <a:xfrm>
            <a:off x="7132320" y="2514600"/>
            <a:ext cx="4206240" cy="548640"/>
          </a:xfrm>
          <a:prstGeom prst="rect">
            <a:avLst/>
          </a:prstGeom>
          <a:noFill/>
          <a:ln/>
        </p:spPr>
        <p:txBody>
          <a:bodyPr wrap="square" lIns="0" tIns="0" rIns="0" bIns="0" rtlCol="0" anchor="t"/>
          <a:lstStyle/>
          <a:p>
            <a:pPr indent="0" marL="0">
              <a:buNone/>
            </a:pPr>
            <a:r>
              <a:rPr lang="en-US" sz="1300" dirty="0">
                <a:solidFill>
                  <a:schemeClr val="accent3"/>
                </a:solidFill>
              </a:rPr>
              <a:t>experimental MOFs in CoRE MOF 2019</a:t>
            </a:r>
            <a:endParaRPr lang="en-US" sz="1300" dirty="0"/>
          </a:p>
        </p:txBody>
      </p:sp>
      <p:sp>
        <p:nvSpPr>
          <p:cNvPr id="21" name="Text 15"/>
          <p:cNvSpPr txBox="1"/>
          <p:nvPr/>
        </p:nvSpPr>
        <p:spPr>
          <a:xfrm>
            <a:off x="7132320" y="3200400"/>
            <a:ext cx="4206240" cy="68580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65</a:t>
            </a:r>
            <a:endParaRPr lang="en-US" sz="4400" dirty="0"/>
          </a:p>
        </p:txBody>
      </p:sp>
      <p:sp>
        <p:nvSpPr>
          <p:cNvPr id="22" name="Text 16"/>
          <p:cNvSpPr txBox="1"/>
          <p:nvPr/>
        </p:nvSpPr>
        <p:spPr>
          <a:xfrm>
            <a:off x="7132320" y="3931920"/>
            <a:ext cx="4206240" cy="548640"/>
          </a:xfrm>
          <a:prstGeom prst="rect">
            <a:avLst/>
          </a:prstGeom>
          <a:noFill/>
          <a:ln/>
        </p:spPr>
        <p:txBody>
          <a:bodyPr wrap="square" lIns="0" tIns="0" rIns="0" bIns="0" rtlCol="0" anchor="t"/>
          <a:lstStyle/>
          <a:p>
            <a:pPr indent="0" marL="0">
              <a:buNone/>
            </a:pPr>
            <a:r>
              <a:rPr lang="en-US" sz="1300" dirty="0">
                <a:solidFill>
                  <a:schemeClr val="accent3"/>
                </a:solidFill>
              </a:rPr>
              <a:t>different metals across the structures</a:t>
            </a:r>
            <a:endParaRPr lang="en-US" sz="1300" dirty="0"/>
          </a:p>
        </p:txBody>
      </p:sp>
      <p:sp>
        <p:nvSpPr>
          <p:cNvPr id="23" name="Text 17"/>
          <p:cNvSpPr txBox="1"/>
          <p:nvPr/>
        </p:nvSpPr>
        <p:spPr>
          <a:xfrm>
            <a:off x="7132320" y="4617720"/>
            <a:ext cx="4206240" cy="6858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27 %</a:t>
            </a:r>
            <a:endParaRPr lang="en-US" sz="4400" dirty="0"/>
          </a:p>
        </p:txBody>
      </p:sp>
      <p:sp>
        <p:nvSpPr>
          <p:cNvPr id="24" name="Text 18"/>
          <p:cNvSpPr txBox="1"/>
          <p:nvPr/>
        </p:nvSpPr>
        <p:spPr>
          <a:xfrm>
            <a:off x="7132320" y="5349240"/>
            <a:ext cx="4206240" cy="548640"/>
          </a:xfrm>
          <a:prstGeom prst="rect">
            <a:avLst/>
          </a:prstGeom>
          <a:noFill/>
          <a:ln/>
        </p:spPr>
        <p:txBody>
          <a:bodyPr wrap="square" lIns="0" tIns="0" rIns="0" bIns="0" rtlCol="0" anchor="t"/>
          <a:lstStyle/>
          <a:p>
            <a:pPr indent="0" marL="0">
              <a:buNone/>
            </a:pPr>
            <a:r>
              <a:rPr lang="en-US" sz="1300" dirty="0">
                <a:solidFill>
                  <a:schemeClr val="accent3"/>
                </a:solidFill>
              </a:rPr>
              <a:t>have zero accessible surface area (pores too small for the N₂ probe)</a:t>
            </a:r>
            <a:endParaRPr lang="en-US" sz="13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01 · BASE PAPER</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ChatMOF made MOF search conversational, but unchecked</a:t>
            </a:r>
            <a:endParaRPr lang="en-US" sz="2800" dirty="0"/>
          </a:p>
        </p:txBody>
      </p:sp>
      <p:sp>
        <p:nvSpPr>
          <p:cNvPr id="4" name="card"/>
          <p:cNvSpPr/>
          <p:nvPr/>
        </p:nvSpPr>
        <p:spPr>
          <a:xfrm>
            <a:off x="548640" y="1600200"/>
            <a:ext cx="5394960" cy="4526280"/>
          </a:xfrm>
          <a:prstGeom prst="roundRect">
            <a:avLst>
              <a:gd name="adj" fmla="val 1616"/>
            </a:avLst>
          </a:prstGeom>
          <a:solidFill>
            <a:schemeClr val="bg2"/>
          </a:solidFill>
          <a:ln w="12700">
            <a:solidFill>
              <a:schemeClr val="bg2"/>
            </a:solidFill>
            <a:prstDash val="solid"/>
          </a:ln>
        </p:spPr>
      </p:sp>
      <p:sp>
        <p:nvSpPr>
          <p:cNvPr id="5" name="Text 3"/>
          <p:cNvSpPr txBox="1"/>
          <p:nvPr/>
        </p:nvSpPr>
        <p:spPr>
          <a:xfrm>
            <a:off x="822960" y="1783080"/>
            <a:ext cx="4937760" cy="548640"/>
          </a:xfrm>
          <a:prstGeom prst="rect">
            <a:avLst/>
          </a:prstGeom>
          <a:noFill/>
          <a:ln/>
        </p:spPr>
        <p:txBody>
          <a:bodyPr wrap="square" lIns="0" tIns="0" rIns="0" bIns="0" rtlCol="0" anchor="t"/>
          <a:lstStyle/>
          <a:p>
            <a:pPr indent="0" marL="0">
              <a:buNone/>
            </a:pPr>
            <a:r>
              <a:rPr lang="en-US" sz="1500" b="1" dirty="0">
                <a:solidFill>
                  <a:schemeClr val="tx1"/>
                </a:solidFill>
              </a:rPr>
              <a:t>ChatMOF  (Kang &amp; Kim, Nature Communications 15, 4705, 2024)</a:t>
            </a:r>
            <a:endParaRPr lang="en-US" sz="1500" dirty="0"/>
          </a:p>
        </p:txBody>
      </p:sp>
      <p:sp>
        <p:nvSpPr>
          <p:cNvPr id="6" name="Text 4"/>
          <p:cNvSpPr txBox="1"/>
          <p:nvPr/>
        </p:nvSpPr>
        <p:spPr>
          <a:xfrm>
            <a:off x="822960" y="2377440"/>
            <a:ext cx="4937760" cy="1005840"/>
          </a:xfrm>
          <a:prstGeom prst="rect">
            <a:avLst/>
          </a:prstGeom>
          <a:noFill/>
          <a:ln/>
        </p:spPr>
        <p:txBody>
          <a:bodyPr wrap="square" lIns="0" tIns="0" rIns="0" bIns="0" rtlCol="0" anchor="t"/>
          <a:lstStyle/>
          <a:p>
            <a:pPr indent="0" marL="0">
              <a:buNone/>
            </a:pPr>
            <a:r>
              <a:rPr lang="en-US" sz="1500" dirty="0">
                <a:solidFill>
                  <a:schemeClr val="accent3"/>
                </a:solidFill>
              </a:rPr>
              <a:t>A GPT-4 agent that plans tool calls: table search with LLM-written pandas code, MOFTransformer prediction, genetic-algorithm generation.</a:t>
            </a:r>
            <a:endParaRPr lang="en-US" sz="1500" dirty="0"/>
          </a:p>
        </p:txBody>
      </p:sp>
      <p:sp>
        <p:nvSpPr>
          <p:cNvPr id="7" name="Text 5"/>
          <p:cNvSpPr txBox="1"/>
          <p:nvPr/>
        </p:nvSpPr>
        <p:spPr>
          <a:xfrm>
            <a:off x="822960" y="3429000"/>
            <a:ext cx="160020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96.9 %</a:t>
            </a:r>
            <a:endParaRPr lang="en-US" sz="3000" dirty="0"/>
          </a:p>
        </p:txBody>
      </p:sp>
      <p:sp>
        <p:nvSpPr>
          <p:cNvPr id="8" name="Text 6"/>
          <p:cNvSpPr txBox="1"/>
          <p:nvPr/>
        </p:nvSpPr>
        <p:spPr>
          <a:xfrm>
            <a:off x="822960" y="4160520"/>
            <a:ext cx="1600200" cy="548640"/>
          </a:xfrm>
          <a:prstGeom prst="rect">
            <a:avLst/>
          </a:prstGeom>
          <a:noFill/>
          <a:ln/>
        </p:spPr>
        <p:txBody>
          <a:bodyPr wrap="square" lIns="0" tIns="0" rIns="0" bIns="0" rtlCol="0" anchor="t"/>
          <a:lstStyle/>
          <a:p>
            <a:pPr indent="0" marL="0">
              <a:buNone/>
            </a:pPr>
            <a:r>
              <a:rPr lang="en-US" sz="1300" dirty="0">
                <a:solidFill>
                  <a:schemeClr val="accent3"/>
                </a:solidFill>
              </a:rPr>
              <a:t>search</a:t>
            </a:r>
            <a:endParaRPr lang="en-US" sz="1300" dirty="0"/>
          </a:p>
        </p:txBody>
      </p:sp>
      <p:sp>
        <p:nvSpPr>
          <p:cNvPr id="9" name="Text 7"/>
          <p:cNvSpPr txBox="1"/>
          <p:nvPr/>
        </p:nvSpPr>
        <p:spPr>
          <a:xfrm>
            <a:off x="2514600" y="3429000"/>
            <a:ext cx="160020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95.7 %</a:t>
            </a:r>
            <a:endParaRPr lang="en-US" sz="3000" dirty="0"/>
          </a:p>
        </p:txBody>
      </p:sp>
      <p:sp>
        <p:nvSpPr>
          <p:cNvPr id="10" name="Text 8"/>
          <p:cNvSpPr txBox="1"/>
          <p:nvPr/>
        </p:nvSpPr>
        <p:spPr>
          <a:xfrm>
            <a:off x="2514600" y="4160520"/>
            <a:ext cx="1600200" cy="548640"/>
          </a:xfrm>
          <a:prstGeom prst="rect">
            <a:avLst/>
          </a:prstGeom>
          <a:noFill/>
          <a:ln/>
        </p:spPr>
        <p:txBody>
          <a:bodyPr wrap="square" lIns="0" tIns="0" rIns="0" bIns="0" rtlCol="0" anchor="t"/>
          <a:lstStyle/>
          <a:p>
            <a:pPr indent="0" marL="0">
              <a:buNone/>
            </a:pPr>
            <a:r>
              <a:rPr lang="en-US" sz="1300" dirty="0">
                <a:solidFill>
                  <a:schemeClr val="accent3"/>
                </a:solidFill>
              </a:rPr>
              <a:t>prediction</a:t>
            </a:r>
            <a:endParaRPr lang="en-US" sz="1300" dirty="0"/>
          </a:p>
        </p:txBody>
      </p:sp>
      <p:sp>
        <p:nvSpPr>
          <p:cNvPr id="11" name="Text 9"/>
          <p:cNvSpPr txBox="1"/>
          <p:nvPr/>
        </p:nvSpPr>
        <p:spPr>
          <a:xfrm>
            <a:off x="4206240" y="3429000"/>
            <a:ext cx="160020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87.5 %</a:t>
            </a:r>
            <a:endParaRPr lang="en-US" sz="3000" dirty="0"/>
          </a:p>
        </p:txBody>
      </p:sp>
      <p:sp>
        <p:nvSpPr>
          <p:cNvPr id="12" name="Text 10"/>
          <p:cNvSpPr txBox="1"/>
          <p:nvPr/>
        </p:nvSpPr>
        <p:spPr>
          <a:xfrm>
            <a:off x="4206240" y="4160520"/>
            <a:ext cx="1600200" cy="548640"/>
          </a:xfrm>
          <a:prstGeom prst="rect">
            <a:avLst/>
          </a:prstGeom>
          <a:noFill/>
          <a:ln/>
        </p:spPr>
        <p:txBody>
          <a:bodyPr wrap="square" lIns="0" tIns="0" rIns="0" bIns="0" rtlCol="0" anchor="t"/>
          <a:lstStyle/>
          <a:p>
            <a:pPr indent="0" marL="0">
              <a:buNone/>
            </a:pPr>
            <a:r>
              <a:rPr lang="en-US" sz="1300" dirty="0">
                <a:solidFill>
                  <a:schemeClr val="accent3"/>
                </a:solidFill>
              </a:rPr>
              <a:t>generation</a:t>
            </a:r>
            <a:endParaRPr lang="en-US" sz="1300" dirty="0"/>
          </a:p>
        </p:txBody>
      </p:sp>
      <p:sp>
        <p:nvSpPr>
          <p:cNvPr id="13" name="Text 11"/>
          <p:cNvSpPr txBox="1"/>
          <p:nvPr/>
        </p:nvSpPr>
        <p:spPr>
          <a:xfrm>
            <a:off x="822960" y="5074920"/>
            <a:ext cx="4937760" cy="731520"/>
          </a:xfrm>
          <a:prstGeom prst="rect">
            <a:avLst/>
          </a:prstGeom>
          <a:noFill/>
          <a:ln/>
        </p:spPr>
        <p:txBody>
          <a:bodyPr wrap="square" lIns="0" tIns="0" rIns="0" bIns="0" rtlCol="0" anchor="t"/>
          <a:lstStyle/>
          <a:p>
            <a:pPr indent="0" marL="0">
              <a:buNone/>
            </a:pPr>
            <a:r>
              <a:rPr lang="en-US" sz="1600" b="1" dirty="0">
                <a:solidFill>
                  <a:schemeClr val="accent2"/>
                </a:solidFill>
                <a:latin typeface="Cambria" pitchFamily="34" charset="0"/>
                <a:ea typeface="Cambria" pitchFamily="34" charset="-122"/>
                <a:cs typeface="Cambria" pitchFamily="34" charset="-120"/>
              </a:rPr>
              <a:t>Our question: keep this convenience, but check every answer against the data.</a:t>
            </a:r>
            <a:endParaRPr lang="en-US" sz="1600" dirty="0"/>
          </a:p>
        </p:txBody>
      </p:sp>
      <p:sp>
        <p:nvSpPr>
          <p:cNvPr id="14" name="Text 12"/>
          <p:cNvSpPr txBox="1"/>
          <p:nvPr/>
        </p:nvSpPr>
        <p:spPr>
          <a:xfrm>
            <a:off x="822960" y="4617720"/>
            <a:ext cx="4937760" cy="365760"/>
          </a:xfrm>
          <a:prstGeom prst="rect">
            <a:avLst/>
          </a:prstGeom>
          <a:noFill/>
          <a:ln/>
        </p:spPr>
        <p:txBody>
          <a:bodyPr wrap="square" lIns="0" tIns="0" rIns="0" bIns="0" rtlCol="0" anchor="t"/>
          <a:lstStyle/>
          <a:p>
            <a:pPr indent="0" marL="0">
              <a:buNone/>
            </a:pPr>
            <a:r>
              <a:rPr lang="en-US" sz="1200" i="1" dirty="0">
                <a:solidFill>
                  <a:schemeClr val="accent3"/>
                </a:solidFill>
              </a:rPr>
              <a:t>Reported accuracy on its own question sets</a:t>
            </a:r>
            <a:endParaRPr lang="en-US" sz="1200" dirty="0"/>
          </a:p>
        </p:txBody>
      </p:sp>
      <p:sp>
        <p:nvSpPr>
          <p:cNvPr id="15" name="Text 13"/>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Limitations reported in the paper</a:t>
            </a:r>
            <a:endParaRPr lang="en-US" sz="1800" dirty="0"/>
          </a:p>
        </p:txBody>
      </p:sp>
      <p:sp>
        <p:nvSpPr>
          <p:cNvPr id="16" name="Shape 14"/>
          <p:cNvSpPr/>
          <p:nvPr/>
        </p:nvSpPr>
        <p:spPr>
          <a:xfrm>
            <a:off x="6400800" y="2148840"/>
            <a:ext cx="502920" cy="442570"/>
          </a:xfrm>
          <a:prstGeom prst="hexagon">
            <a:avLst/>
          </a:prstGeom>
          <a:solidFill>
            <a:schemeClr val="accent2"/>
          </a:solidFill>
          <a:ln w="12700">
            <a:solidFill>
              <a:schemeClr val="accent2"/>
            </a:solidFill>
            <a:prstDash val="solid"/>
          </a:ln>
        </p:spPr>
      </p:sp>
      <p:sp>
        <p:nvSpPr>
          <p:cNvPr id="17" name="Text 15"/>
          <p:cNvSpPr txBox="1"/>
          <p:nvPr/>
        </p:nvSpPr>
        <p:spPr>
          <a:xfrm>
            <a:off x="6400800" y="214884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18" name="Text 16"/>
          <p:cNvSpPr txBox="1"/>
          <p:nvPr/>
        </p:nvSpPr>
        <p:spPr>
          <a:xfrm>
            <a:off x="7086600" y="2194560"/>
            <a:ext cx="4526280" cy="548640"/>
          </a:xfrm>
          <a:prstGeom prst="rect">
            <a:avLst/>
          </a:prstGeom>
          <a:noFill/>
          <a:ln/>
        </p:spPr>
        <p:txBody>
          <a:bodyPr wrap="square" lIns="0" tIns="0" rIns="0" bIns="0" rtlCol="0" anchor="t"/>
          <a:lstStyle/>
          <a:p>
            <a:pPr indent="0" marL="0">
              <a:buNone/>
            </a:pPr>
            <a:r>
              <a:rPr lang="en-US" sz="1500" b="1" dirty="0">
                <a:solidFill>
                  <a:schemeClr val="tx1"/>
                </a:solidFill>
              </a:rPr>
              <a:t>Token limits</a:t>
            </a:r>
            <a:pPr indent="0" marL="0">
              <a:buNone/>
            </a:pPr>
            <a:r>
              <a:rPr lang="en-US" sz="1500" dirty="0">
                <a:solidFill>
                  <a:schemeClr val="accent3"/>
                </a:solidFill>
              </a:rPr>
              <a:t>  4 % of search tasks failed on large tables</a:t>
            </a:r>
            <a:endParaRPr lang="en-US" sz="1500" dirty="0"/>
          </a:p>
        </p:txBody>
      </p:sp>
      <p:sp>
        <p:nvSpPr>
          <p:cNvPr id="19" name="Shape 17"/>
          <p:cNvSpPr/>
          <p:nvPr/>
        </p:nvSpPr>
        <p:spPr>
          <a:xfrm>
            <a:off x="6400800" y="2926080"/>
            <a:ext cx="502920" cy="442570"/>
          </a:xfrm>
          <a:prstGeom prst="hexagon">
            <a:avLst/>
          </a:prstGeom>
          <a:solidFill>
            <a:schemeClr val="accent2"/>
          </a:solidFill>
          <a:ln w="12700">
            <a:solidFill>
              <a:schemeClr val="accent2"/>
            </a:solidFill>
            <a:prstDash val="solid"/>
          </a:ln>
        </p:spPr>
      </p:sp>
      <p:sp>
        <p:nvSpPr>
          <p:cNvPr id="20" name="Text 18"/>
          <p:cNvSpPr txBox="1"/>
          <p:nvPr/>
        </p:nvSpPr>
        <p:spPr>
          <a:xfrm>
            <a:off x="6400800" y="29260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21" name="Text 19"/>
          <p:cNvSpPr txBox="1"/>
          <p:nvPr/>
        </p:nvSpPr>
        <p:spPr>
          <a:xfrm>
            <a:off x="7086600" y="2971800"/>
            <a:ext cx="4526280" cy="548640"/>
          </a:xfrm>
          <a:prstGeom prst="rect">
            <a:avLst/>
          </a:prstGeom>
          <a:noFill/>
          <a:ln/>
        </p:spPr>
        <p:txBody>
          <a:bodyPr wrap="square" lIns="0" tIns="0" rIns="0" bIns="0" rtlCol="0" anchor="t"/>
          <a:lstStyle/>
          <a:p>
            <a:pPr indent="0" marL="0">
              <a:buNone/>
            </a:pPr>
            <a:r>
              <a:rPr lang="en-US" sz="1500" b="1" dirty="0">
                <a:solidFill>
                  <a:schemeClr val="tx1"/>
                </a:solidFill>
              </a:rPr>
              <a:t>Logic errors</a:t>
            </a:r>
            <a:pPr indent="0" marL="0">
              <a:buNone/>
            </a:pPr>
            <a:r>
              <a:rPr lang="en-US" sz="1500" dirty="0">
                <a:solidFill>
                  <a:schemeClr val="accent3"/>
                </a:solidFill>
              </a:rPr>
              <a:t>  in the code the LLM writes</a:t>
            </a:r>
            <a:endParaRPr lang="en-US" sz="1500" dirty="0"/>
          </a:p>
        </p:txBody>
      </p:sp>
      <p:sp>
        <p:nvSpPr>
          <p:cNvPr id="22" name="Shape 20"/>
          <p:cNvSpPr/>
          <p:nvPr/>
        </p:nvSpPr>
        <p:spPr>
          <a:xfrm>
            <a:off x="6400800" y="3703320"/>
            <a:ext cx="502920" cy="442570"/>
          </a:xfrm>
          <a:prstGeom prst="hexagon">
            <a:avLst/>
          </a:prstGeom>
          <a:solidFill>
            <a:schemeClr val="accent2"/>
          </a:solidFill>
          <a:ln w="12700">
            <a:solidFill>
              <a:schemeClr val="accent2"/>
            </a:solidFill>
            <a:prstDash val="solid"/>
          </a:ln>
        </p:spPr>
      </p:sp>
      <p:sp>
        <p:nvSpPr>
          <p:cNvPr id="23" name="Text 21"/>
          <p:cNvSpPr txBox="1"/>
          <p:nvPr/>
        </p:nvSpPr>
        <p:spPr>
          <a:xfrm>
            <a:off x="6400800" y="370332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24" name="Text 22"/>
          <p:cNvSpPr txBox="1"/>
          <p:nvPr/>
        </p:nvSpPr>
        <p:spPr>
          <a:xfrm>
            <a:off x="7086600" y="3749040"/>
            <a:ext cx="4526280" cy="548640"/>
          </a:xfrm>
          <a:prstGeom prst="rect">
            <a:avLst/>
          </a:prstGeom>
          <a:noFill/>
          <a:ln/>
        </p:spPr>
        <p:txBody>
          <a:bodyPr wrap="square" lIns="0" tIns="0" rIns="0" bIns="0" rtlCol="0" anchor="t"/>
          <a:lstStyle/>
          <a:p>
            <a:pPr indent="0" marL="0">
              <a:buNone/>
            </a:pPr>
            <a:r>
              <a:rPr lang="en-US" sz="1500" b="1" dirty="0">
                <a:solidFill>
                  <a:schemeClr val="tx1"/>
                </a:solidFill>
              </a:rPr>
              <a:t>Proprietary LLM</a:t>
            </a:r>
            <a:pPr indent="0" marL="0">
              <a:buNone/>
            </a:pPr>
            <a:r>
              <a:rPr lang="en-US" sz="1500" dirty="0">
                <a:solidFill>
                  <a:schemeClr val="accent3"/>
                </a:solidFill>
              </a:rPr>
              <a:t>  needs online GPT-4</a:t>
            </a:r>
            <a:endParaRPr lang="en-US" sz="1500" dirty="0"/>
          </a:p>
        </p:txBody>
      </p:sp>
      <p:sp>
        <p:nvSpPr>
          <p:cNvPr id="25" name="Shape 23"/>
          <p:cNvSpPr/>
          <p:nvPr/>
        </p:nvSpPr>
        <p:spPr>
          <a:xfrm>
            <a:off x="6400800" y="4480560"/>
            <a:ext cx="502920" cy="442570"/>
          </a:xfrm>
          <a:prstGeom prst="hexagon">
            <a:avLst/>
          </a:prstGeom>
          <a:solidFill>
            <a:schemeClr val="accent2"/>
          </a:solidFill>
          <a:ln w="12700">
            <a:solidFill>
              <a:schemeClr val="accent2"/>
            </a:solidFill>
            <a:prstDash val="solid"/>
          </a:ln>
        </p:spPr>
      </p:sp>
      <p:sp>
        <p:nvSpPr>
          <p:cNvPr id="26" name="Text 24"/>
          <p:cNvSpPr txBox="1"/>
          <p:nvPr/>
        </p:nvSpPr>
        <p:spPr>
          <a:xfrm>
            <a:off x="6400800" y="448056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27" name="Text 25"/>
          <p:cNvSpPr txBox="1"/>
          <p:nvPr/>
        </p:nvSpPr>
        <p:spPr>
          <a:xfrm>
            <a:off x="7086600" y="4526280"/>
            <a:ext cx="4526280" cy="548640"/>
          </a:xfrm>
          <a:prstGeom prst="rect">
            <a:avLst/>
          </a:prstGeom>
          <a:noFill/>
          <a:ln/>
        </p:spPr>
        <p:txBody>
          <a:bodyPr wrap="square" lIns="0" tIns="0" rIns="0" bIns="0" rtlCol="0" anchor="t"/>
          <a:lstStyle/>
          <a:p>
            <a:pPr indent="0" marL="0">
              <a:buNone/>
            </a:pPr>
            <a:r>
              <a:rPr lang="en-US" sz="1500" b="1" dirty="0">
                <a:solidFill>
                  <a:schemeClr val="tx1"/>
                </a:solidFill>
              </a:rPr>
              <a:t>One model per property</a:t>
            </a:r>
            <a:pPr indent="0" marL="0">
              <a:buNone/>
            </a:pPr>
            <a:r>
              <a:rPr lang="en-US" sz="1500" dirty="0">
                <a:solidFill>
                  <a:schemeClr val="accent3"/>
                </a:solidFill>
              </a:rPr>
              <a:t>  a pretrained network for each target</a:t>
            </a:r>
            <a:endParaRPr lang="en-US" sz="1500" dirty="0"/>
          </a:p>
        </p:txBody>
      </p:sp>
      <p:sp>
        <p:nvSpPr>
          <p:cNvPr id="28" name="Shape 26"/>
          <p:cNvSpPr/>
          <p:nvPr/>
        </p:nvSpPr>
        <p:spPr>
          <a:xfrm>
            <a:off x="6400800" y="5257800"/>
            <a:ext cx="502920" cy="442570"/>
          </a:xfrm>
          <a:prstGeom prst="hexagon">
            <a:avLst/>
          </a:prstGeom>
          <a:solidFill>
            <a:schemeClr val="accent2"/>
          </a:solidFill>
          <a:ln w="12700">
            <a:solidFill>
              <a:schemeClr val="accent2"/>
            </a:solidFill>
            <a:prstDash val="solid"/>
          </a:ln>
        </p:spPr>
      </p:sp>
      <p:sp>
        <p:nvSpPr>
          <p:cNvPr id="29" name="Text 27"/>
          <p:cNvSpPr txBox="1"/>
          <p:nvPr/>
        </p:nvSpPr>
        <p:spPr>
          <a:xfrm>
            <a:off x="6400800" y="525780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30" name="Text 28"/>
          <p:cNvSpPr txBox="1"/>
          <p:nvPr/>
        </p:nvSpPr>
        <p:spPr>
          <a:xfrm>
            <a:off x="7086600" y="5303520"/>
            <a:ext cx="4526280" cy="548640"/>
          </a:xfrm>
          <a:prstGeom prst="rect">
            <a:avLst/>
          </a:prstGeom>
          <a:noFill/>
          <a:ln/>
        </p:spPr>
        <p:txBody>
          <a:bodyPr wrap="square" lIns="0" tIns="0" rIns="0" bIns="0" rtlCol="0" anchor="t"/>
          <a:lstStyle/>
          <a:p>
            <a:pPr indent="0" marL="0">
              <a:buNone/>
            </a:pPr>
            <a:r>
              <a:rPr lang="en-US" sz="1500" b="1" dirty="0">
                <a:solidFill>
                  <a:schemeClr val="tx1"/>
                </a:solidFill>
              </a:rPr>
              <a:t>No validation</a:t>
            </a:r>
            <a:pPr indent="0" marL="0">
              <a:buNone/>
            </a:pPr>
            <a:r>
              <a:rPr lang="en-US" sz="1500" dirty="0">
                <a:solidFill>
                  <a:schemeClr val="accent3"/>
                </a:solidFill>
              </a:rPr>
              <a:t>  final answers are not checked against data</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02 · LITERATURE REVIEW</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gives the parts; none checks LLM answers against data</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377440"/>
                <a:gridCol w="3108960"/>
                <a:gridCol w="2560320"/>
                <a:gridCol w="301752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Work</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Reference</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Idea</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MOFChat uses it</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ChatMOF</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Kang &amp; Kim, Nat. Commun. 2024</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LLM agent for MOF search</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Base paper; same 12,020-MOF table</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MOFTransformer</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Kang et al., Nat. Mach. Intell. 2023</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Pretrained MOF property model</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We predict from descriptors, no 3D files</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CoRE MOF 2019</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Chung et al., J. Chem. Eng. Data 2019</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Curated MOF structures + Zeo++</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Our dataset; ETL verifies it</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FT-Transformer</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Gorishniy et al., NeurIPS 2021</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Transformer for tabular data</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Our embedding + regressor backbone</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Trees vs deep learning</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Grinsztajn et al., NeurIPS 2022</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GBDT still strong on tables</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Why we compare XGBoost vs FT</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RAG / TableRAG / Chain-of-Table</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Lewis 2020; Chen 2024; Wang 2024</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LLMs over text and tables</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SQL for numbers, RAG for knowledge</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NSGA-II</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Deb et al., IEEE TEVC 2002</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Non-dominated sorting</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Multi-objective MOF ranking</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57200">
                <a:tc>
                  <a:txBody>
                    <a:bodyPr/>
                    <a:lstStyle/>
                    <a:p>
                      <a:pPr indent="0" marL="0">
                        <a:buNone/>
                      </a:pPr>
                      <a:r>
                        <a:rPr lang="en-US" sz="1300" b="1" dirty="0">
                          <a:solidFill>
                            <a:srgbClr val="0F2433"/>
                          </a:solidFill>
                          <a:latin typeface="Calibri" pitchFamily="34" charset="0"/>
                          <a:ea typeface="Calibri" pitchFamily="34" charset="-122"/>
                          <a:cs typeface="Calibri" pitchFamily="34" charset="-120"/>
                        </a:rPr>
                        <a:t>SHAP</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Lundberg &amp; Lee, NeurIPS 2017</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Shapley explanations</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300" dirty="0">
                          <a:solidFill>
                            <a:srgbClr val="0F2433"/>
                          </a:solidFill>
                          <a:latin typeface="Calibri" pitchFamily="34" charset="0"/>
                          <a:ea typeface="Calibri" pitchFamily="34" charset="-122"/>
                          <a:cs typeface="Calibri" pitchFamily="34" charset="-120"/>
                        </a:rPr>
                        <a:t>Explains every prediction</a:t>
                      </a:r>
                      <a:endParaRPr lang="en-US" sz="13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1200" i="1" dirty="0">
                <a:solidFill>
                  <a:schemeClr val="accent3"/>
                </a:solidFill>
              </a:rPr>
              <a:t>All 15 references verified against publisher or arXiv records; full table in docs/LITERATURE_REVIEW.md</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02 · RESEARCH GAP</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Objectives: exact, verifiable answers using free or local models</a:t>
            </a:r>
            <a:endParaRPr lang="en-US" sz="2800" dirty="0"/>
          </a:p>
        </p:txBody>
      </p:sp>
      <p:sp>
        <p:nvSpPr>
          <p:cNvPr id="4" name="card"/>
          <p:cNvSpPr/>
          <p:nvPr/>
        </p:nvSpPr>
        <p:spPr>
          <a:xfrm>
            <a:off x="548640" y="1600200"/>
            <a:ext cx="4206240" cy="4526280"/>
          </a:xfrm>
          <a:prstGeom prst="roundRect">
            <a:avLst>
              <a:gd name="adj" fmla="val 1739"/>
            </a:avLst>
          </a:prstGeom>
          <a:solidFill>
            <a:srgbClr val="0F2433"/>
          </a:solidFill>
          <a:ln w="12700">
            <a:solidFill>
              <a:srgbClr val="0F2433"/>
            </a:solidFill>
            <a:prstDash val="solid"/>
          </a:ln>
        </p:spPr>
      </p:sp>
      <p:sp>
        <p:nvSpPr>
          <p:cNvPr id="5" name="Text 3"/>
          <p:cNvSpPr txBox="1"/>
          <p:nvPr/>
        </p:nvSpPr>
        <p:spPr>
          <a:xfrm>
            <a:off x="868680" y="1828800"/>
            <a:ext cx="3657600" cy="320040"/>
          </a:xfrm>
          <a:prstGeom prst="rect">
            <a:avLst/>
          </a:prstGeom>
          <a:noFill/>
          <a:ln/>
        </p:spPr>
        <p:txBody>
          <a:bodyPr wrap="square" lIns="0" tIns="0" rIns="0" bIns="0" rtlCol="0" anchor="t"/>
          <a:lstStyle/>
          <a:p>
            <a:pPr indent="0" marL="0">
              <a:buNone/>
            </a:pPr>
            <a:r>
              <a:rPr lang="en-US" sz="1300" b="1" spc="200" kern="0" dirty="0">
                <a:solidFill>
                  <a:schemeClr val="accent6"/>
                </a:solidFill>
              </a:rPr>
              <a:t>THE GAP</a:t>
            </a:r>
            <a:endParaRPr lang="en-US" sz="1300" dirty="0"/>
          </a:p>
        </p:txBody>
      </p:sp>
      <p:sp>
        <p:nvSpPr>
          <p:cNvPr id="6" name="Text 4"/>
          <p:cNvSpPr txBox="1"/>
          <p:nvPr/>
        </p:nvSpPr>
        <p:spPr>
          <a:xfrm>
            <a:off x="868680" y="2286000"/>
            <a:ext cx="3611880" cy="2011680"/>
          </a:xfrm>
          <a:prstGeom prst="rect">
            <a:avLst/>
          </a:prstGeom>
          <a:noFill/>
          <a:ln/>
        </p:spPr>
        <p:txBody>
          <a:bodyPr wrap="square" lIns="0" tIns="0" rIns="0" bIns="0" rtlCol="0" anchor="t"/>
          <a:lstStyle/>
          <a:p>
            <a:pPr indent="0" marL="0">
              <a:buNone/>
            </a:pPr>
            <a:r>
              <a:rPr lang="en-US" sz="1900" dirty="0">
                <a:solidFill>
                  <a:schemeClr val="bg1"/>
                </a:solidFill>
                <a:latin typeface="Cambria" pitchFamily="34" charset="0"/>
                <a:ea typeface="Cambria" pitchFamily="34" charset="-122"/>
                <a:cs typeface="Cambria" pitchFamily="34" charset="-120"/>
              </a:rPr>
              <a:t>LLM agents make MOF search conversational, but they write code that can fail, depend on paid models and return numbers nobody checks.</a:t>
            </a:r>
            <a:endParaRPr lang="en-US" sz="1900" dirty="0"/>
          </a:p>
        </p:txBody>
      </p:sp>
      <p:sp>
        <p:nvSpPr>
          <p:cNvPr id="7" name="Text 5"/>
          <p:cNvSpPr txBox="1"/>
          <p:nvPr/>
        </p:nvSpPr>
        <p:spPr>
          <a:xfrm>
            <a:off x="868680" y="4572000"/>
            <a:ext cx="3611880" cy="1097280"/>
          </a:xfrm>
          <a:prstGeom prst="rect">
            <a:avLst/>
          </a:prstGeom>
          <a:noFill/>
          <a:ln/>
        </p:spPr>
        <p:txBody>
          <a:bodyPr wrap="square" lIns="0" tIns="0" rIns="0" bIns="0" rtlCol="0" anchor="t"/>
          <a:lstStyle/>
          <a:p>
            <a:pPr indent="0" marL="0">
              <a:buNone/>
            </a:pPr>
            <a:r>
              <a:rPr lang="en-US" sz="1500" i="1" dirty="0">
                <a:solidFill>
                  <a:srgbClr val="C9D9E0"/>
                </a:solidFill>
              </a:rPr>
              <a:t>We want the convenience of ChatMOF with the reliability of a database query.</a:t>
            </a:r>
            <a:endParaRPr lang="en-US" sz="1500" dirty="0"/>
          </a:p>
        </p:txBody>
      </p:sp>
      <p:sp>
        <p:nvSpPr>
          <p:cNvPr id="8" name="Shape 6"/>
          <p:cNvSpPr/>
          <p:nvPr/>
        </p:nvSpPr>
        <p:spPr>
          <a:xfrm>
            <a:off x="5212080" y="1627632"/>
            <a:ext cx="548640" cy="482803"/>
          </a:xfrm>
          <a:prstGeom prst="hexagon">
            <a:avLst/>
          </a:prstGeom>
          <a:solidFill>
            <a:schemeClr val="accent1"/>
          </a:solidFill>
          <a:ln w="12700">
            <a:solidFill>
              <a:schemeClr val="accent1"/>
            </a:solidFill>
            <a:prstDash val="solid"/>
          </a:ln>
        </p:spPr>
      </p:sp>
      <p:sp>
        <p:nvSpPr>
          <p:cNvPr id="9" name="Text 7"/>
          <p:cNvSpPr txBox="1"/>
          <p:nvPr/>
        </p:nvSpPr>
        <p:spPr>
          <a:xfrm>
            <a:off x="5212080" y="1627632"/>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5943600" y="1627632"/>
            <a:ext cx="5669280" cy="320040"/>
          </a:xfrm>
          <a:prstGeom prst="rect">
            <a:avLst/>
          </a:prstGeom>
          <a:noFill/>
          <a:ln/>
        </p:spPr>
        <p:txBody>
          <a:bodyPr wrap="square" lIns="0" tIns="0" rIns="0" bIns="0" rtlCol="0" anchor="t"/>
          <a:lstStyle/>
          <a:p>
            <a:pPr indent="0" marL="0">
              <a:buNone/>
            </a:pPr>
            <a:r>
              <a:rPr lang="en-US" sz="1700" b="1" dirty="0">
                <a:solidFill>
                  <a:schemeClr val="tx1"/>
                </a:solidFill>
              </a:rPr>
              <a:t>Exact answers</a:t>
            </a:r>
            <a:endParaRPr lang="en-US" sz="1700" dirty="0"/>
          </a:p>
        </p:txBody>
      </p:sp>
      <p:sp>
        <p:nvSpPr>
          <p:cNvPr id="11" name="Text 9"/>
          <p:cNvSpPr txBox="1"/>
          <p:nvPr/>
        </p:nvSpPr>
        <p:spPr>
          <a:xfrm>
            <a:off x="5943600" y="1956816"/>
            <a:ext cx="5669280" cy="320040"/>
          </a:xfrm>
          <a:prstGeom prst="rect">
            <a:avLst/>
          </a:prstGeom>
          <a:noFill/>
          <a:ln/>
        </p:spPr>
        <p:txBody>
          <a:bodyPr wrap="square" lIns="0" tIns="0" rIns="0" bIns="0" rtlCol="0" anchor="t"/>
          <a:lstStyle/>
          <a:p>
            <a:pPr indent="0" marL="0">
              <a:buNone/>
            </a:pPr>
            <a:r>
              <a:rPr lang="en-US" sz="1400" dirty="0">
                <a:solidFill>
                  <a:schemeClr val="accent3"/>
                </a:solidFill>
              </a:rPr>
              <a:t>over all 12,020 MOFs, with free or local LLMs</a:t>
            </a:r>
            <a:endParaRPr lang="en-US" sz="1400" dirty="0"/>
          </a:p>
        </p:txBody>
      </p:sp>
      <p:sp>
        <p:nvSpPr>
          <p:cNvPr id="12" name="Shape 10"/>
          <p:cNvSpPr/>
          <p:nvPr/>
        </p:nvSpPr>
        <p:spPr>
          <a:xfrm>
            <a:off x="5212080" y="2377440"/>
            <a:ext cx="548640" cy="482803"/>
          </a:xfrm>
          <a:prstGeom prst="hexagon">
            <a:avLst/>
          </a:prstGeom>
          <a:solidFill>
            <a:schemeClr val="accent1"/>
          </a:solidFill>
          <a:ln w="12700">
            <a:solidFill>
              <a:schemeClr val="accent1"/>
            </a:solidFill>
            <a:prstDash val="solid"/>
          </a:ln>
        </p:spPr>
      </p:sp>
      <p:sp>
        <p:nvSpPr>
          <p:cNvPr id="13" name="Text 11"/>
          <p:cNvSpPr txBox="1"/>
          <p:nvPr/>
        </p:nvSpPr>
        <p:spPr>
          <a:xfrm>
            <a:off x="5212080" y="2377440"/>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5943600" y="2377440"/>
            <a:ext cx="5669280" cy="320040"/>
          </a:xfrm>
          <a:prstGeom prst="rect">
            <a:avLst/>
          </a:prstGeom>
          <a:noFill/>
          <a:ln/>
        </p:spPr>
        <p:txBody>
          <a:bodyPr wrap="square" lIns="0" tIns="0" rIns="0" bIns="0" rtlCol="0" anchor="t"/>
          <a:lstStyle/>
          <a:p>
            <a:pPr indent="0" marL="0">
              <a:buNone/>
            </a:pPr>
            <a:r>
              <a:rPr lang="en-US" sz="1700" b="1" dirty="0">
                <a:solidFill>
                  <a:schemeClr val="tx1"/>
                </a:solidFill>
              </a:rPr>
              <a:t>Safe LLM planning</a:t>
            </a:r>
            <a:endParaRPr lang="en-US" sz="1700" dirty="0"/>
          </a:p>
        </p:txBody>
      </p:sp>
      <p:sp>
        <p:nvSpPr>
          <p:cNvPr id="15" name="Text 13"/>
          <p:cNvSpPr txBox="1"/>
          <p:nvPr/>
        </p:nvSpPr>
        <p:spPr>
          <a:xfrm>
            <a:off x="5943600" y="2706624"/>
            <a:ext cx="5669280" cy="320040"/>
          </a:xfrm>
          <a:prstGeom prst="rect">
            <a:avLst/>
          </a:prstGeom>
          <a:noFill/>
          <a:ln/>
        </p:spPr>
        <p:txBody>
          <a:bodyPr wrap="square" lIns="0" tIns="0" rIns="0" bIns="0" rtlCol="0" anchor="t"/>
          <a:lstStyle/>
          <a:p>
            <a:pPr indent="0" marL="0">
              <a:buNone/>
            </a:pPr>
            <a:r>
              <a:rPr lang="en-US" sz="1400" dirty="0">
                <a:solidFill>
                  <a:schemeClr val="accent3"/>
                </a:solidFill>
              </a:rPr>
              <a:t>validation, self-correction and fallback</a:t>
            </a:r>
            <a:endParaRPr lang="en-US" sz="1400" dirty="0"/>
          </a:p>
        </p:txBody>
      </p:sp>
      <p:sp>
        <p:nvSpPr>
          <p:cNvPr id="16" name="Shape 14"/>
          <p:cNvSpPr/>
          <p:nvPr/>
        </p:nvSpPr>
        <p:spPr>
          <a:xfrm>
            <a:off x="5212080" y="3127248"/>
            <a:ext cx="548640" cy="482803"/>
          </a:xfrm>
          <a:prstGeom prst="hexagon">
            <a:avLst/>
          </a:prstGeom>
          <a:solidFill>
            <a:schemeClr val="accent1"/>
          </a:solidFill>
          <a:ln w="12700">
            <a:solidFill>
              <a:schemeClr val="accent1"/>
            </a:solidFill>
            <a:prstDash val="solid"/>
          </a:ln>
        </p:spPr>
      </p:sp>
      <p:sp>
        <p:nvSpPr>
          <p:cNvPr id="17" name="Text 15"/>
          <p:cNvSpPr txBox="1"/>
          <p:nvPr/>
        </p:nvSpPr>
        <p:spPr>
          <a:xfrm>
            <a:off x="5212080" y="3127248"/>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5943600" y="3127248"/>
            <a:ext cx="5669280" cy="320040"/>
          </a:xfrm>
          <a:prstGeom prst="rect">
            <a:avLst/>
          </a:prstGeom>
          <a:noFill/>
          <a:ln/>
        </p:spPr>
        <p:txBody>
          <a:bodyPr wrap="square" lIns="0" tIns="0" rIns="0" bIns="0" rtlCol="0" anchor="t"/>
          <a:lstStyle/>
          <a:p>
            <a:pPr indent="0" marL="0">
              <a:buNone/>
            </a:pPr>
            <a:r>
              <a:rPr lang="en-US" sz="1700" b="1" dirty="0">
                <a:solidFill>
                  <a:schemeClr val="tx1"/>
                </a:solidFill>
              </a:rPr>
              <a:t>Multi-objective ranking</a:t>
            </a:r>
            <a:endParaRPr lang="en-US" sz="1700" dirty="0"/>
          </a:p>
        </p:txBody>
      </p:sp>
      <p:sp>
        <p:nvSpPr>
          <p:cNvPr id="19" name="Text 17"/>
          <p:cNvSpPr txBox="1"/>
          <p:nvPr/>
        </p:nvSpPr>
        <p:spPr>
          <a:xfrm>
            <a:off x="5943600" y="3456432"/>
            <a:ext cx="5669280" cy="320040"/>
          </a:xfrm>
          <a:prstGeom prst="rect">
            <a:avLst/>
          </a:prstGeom>
          <a:noFill/>
          <a:ln/>
        </p:spPr>
        <p:txBody>
          <a:bodyPr wrap="square" lIns="0" tIns="0" rIns="0" bIns="0" rtlCol="0" anchor="t"/>
          <a:lstStyle/>
          <a:p>
            <a:pPr indent="0" marL="0">
              <a:buNone/>
            </a:pPr>
            <a:r>
              <a:rPr lang="en-US" sz="1400" dirty="0">
                <a:solidFill>
                  <a:schemeClr val="accent3"/>
                </a:solidFill>
              </a:rPr>
              <a:t>NSGA-II over several properties</a:t>
            </a:r>
            <a:endParaRPr lang="en-US" sz="1400" dirty="0"/>
          </a:p>
        </p:txBody>
      </p:sp>
      <p:sp>
        <p:nvSpPr>
          <p:cNvPr id="20" name="Shape 18"/>
          <p:cNvSpPr/>
          <p:nvPr/>
        </p:nvSpPr>
        <p:spPr>
          <a:xfrm>
            <a:off x="5212080" y="3877056"/>
            <a:ext cx="548640" cy="482803"/>
          </a:xfrm>
          <a:prstGeom prst="hexagon">
            <a:avLst/>
          </a:prstGeom>
          <a:solidFill>
            <a:schemeClr val="accent1"/>
          </a:solidFill>
          <a:ln w="12700">
            <a:solidFill>
              <a:schemeClr val="accent1"/>
            </a:solidFill>
            <a:prstDash val="solid"/>
          </a:ln>
        </p:spPr>
      </p:sp>
      <p:sp>
        <p:nvSpPr>
          <p:cNvPr id="21" name="Text 19"/>
          <p:cNvSpPr txBox="1"/>
          <p:nvPr/>
        </p:nvSpPr>
        <p:spPr>
          <a:xfrm>
            <a:off x="5212080" y="3877056"/>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943600" y="3877056"/>
            <a:ext cx="5669280" cy="320040"/>
          </a:xfrm>
          <a:prstGeom prst="rect">
            <a:avLst/>
          </a:prstGeom>
          <a:noFill/>
          <a:ln/>
        </p:spPr>
        <p:txBody>
          <a:bodyPr wrap="square" lIns="0" tIns="0" rIns="0" bIns="0" rtlCol="0" anchor="t"/>
          <a:lstStyle/>
          <a:p>
            <a:pPr indent="0" marL="0">
              <a:buNone/>
            </a:pPr>
            <a:r>
              <a:rPr lang="en-US" sz="1700" b="1" dirty="0">
                <a:solidFill>
                  <a:schemeClr val="tx1"/>
                </a:solidFill>
              </a:rPr>
              <a:t>Predictions you can trust</a:t>
            </a:r>
            <a:endParaRPr lang="en-US" sz="1700" dirty="0"/>
          </a:p>
        </p:txBody>
      </p:sp>
      <p:sp>
        <p:nvSpPr>
          <p:cNvPr id="23" name="Text 21"/>
          <p:cNvSpPr txBox="1"/>
          <p:nvPr/>
        </p:nvSpPr>
        <p:spPr>
          <a:xfrm>
            <a:off x="5943600" y="4206240"/>
            <a:ext cx="5669280" cy="320040"/>
          </a:xfrm>
          <a:prstGeom prst="rect">
            <a:avLst/>
          </a:prstGeom>
          <a:noFill/>
          <a:ln/>
        </p:spPr>
        <p:txBody>
          <a:bodyPr wrap="square" lIns="0" tIns="0" rIns="0" bIns="0" rtlCol="0" anchor="t"/>
          <a:lstStyle/>
          <a:p>
            <a:pPr indent="0" marL="0">
              <a:buNone/>
            </a:pPr>
            <a:r>
              <a:rPr lang="en-US" sz="1400" dirty="0">
                <a:solidFill>
                  <a:schemeClr val="accent3"/>
                </a:solidFill>
              </a:rPr>
              <a:t>uncertainty intervals and SHAP explanations</a:t>
            </a:r>
            <a:endParaRPr lang="en-US" sz="1400" dirty="0"/>
          </a:p>
        </p:txBody>
      </p:sp>
      <p:sp>
        <p:nvSpPr>
          <p:cNvPr id="24" name="Shape 22"/>
          <p:cNvSpPr/>
          <p:nvPr/>
        </p:nvSpPr>
        <p:spPr>
          <a:xfrm>
            <a:off x="5212080" y="4626864"/>
            <a:ext cx="548640" cy="482803"/>
          </a:xfrm>
          <a:prstGeom prst="hexagon">
            <a:avLst/>
          </a:prstGeom>
          <a:solidFill>
            <a:schemeClr val="accent1"/>
          </a:solidFill>
          <a:ln w="12700">
            <a:solidFill>
              <a:schemeClr val="accent1"/>
            </a:solidFill>
            <a:prstDash val="solid"/>
          </a:ln>
        </p:spPr>
      </p:sp>
      <p:sp>
        <p:nvSpPr>
          <p:cNvPr id="25" name="Text 23"/>
          <p:cNvSpPr txBox="1"/>
          <p:nvPr/>
        </p:nvSpPr>
        <p:spPr>
          <a:xfrm>
            <a:off x="5212080" y="4626864"/>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5</a:t>
            </a:r>
            <a:endParaRPr lang="en-US" sz="1400" dirty="0"/>
          </a:p>
        </p:txBody>
      </p:sp>
      <p:sp>
        <p:nvSpPr>
          <p:cNvPr id="26" name="Text 24"/>
          <p:cNvSpPr txBox="1"/>
          <p:nvPr/>
        </p:nvSpPr>
        <p:spPr>
          <a:xfrm>
            <a:off x="5943600" y="4626864"/>
            <a:ext cx="5669280" cy="320040"/>
          </a:xfrm>
          <a:prstGeom prst="rect">
            <a:avLst/>
          </a:prstGeom>
          <a:noFill/>
          <a:ln/>
        </p:spPr>
        <p:txBody>
          <a:bodyPr wrap="square" lIns="0" tIns="0" rIns="0" bIns="0" rtlCol="0" anchor="t"/>
          <a:lstStyle/>
          <a:p>
            <a:pPr indent="0" marL="0">
              <a:buNone/>
            </a:pPr>
            <a:r>
              <a:rPr lang="en-US" sz="1700" b="1" dirty="0">
                <a:solidFill>
                  <a:schemeClr val="tx1"/>
                </a:solidFill>
              </a:rPr>
              <a:t>Domain knowledge</a:t>
            </a:r>
            <a:endParaRPr lang="en-US" sz="1700" dirty="0"/>
          </a:p>
        </p:txBody>
      </p:sp>
      <p:sp>
        <p:nvSpPr>
          <p:cNvPr id="27" name="Text 25"/>
          <p:cNvSpPr txBox="1"/>
          <p:nvPr/>
        </p:nvSpPr>
        <p:spPr>
          <a:xfrm>
            <a:off x="5943600" y="4956048"/>
            <a:ext cx="5669280" cy="320040"/>
          </a:xfrm>
          <a:prstGeom prst="rect">
            <a:avLst/>
          </a:prstGeom>
          <a:noFill/>
          <a:ln/>
        </p:spPr>
        <p:txBody>
          <a:bodyPr wrap="square" lIns="0" tIns="0" rIns="0" bIns="0" rtlCol="0" anchor="t"/>
          <a:lstStyle/>
          <a:p>
            <a:pPr indent="0" marL="0">
              <a:buNone/>
            </a:pPr>
            <a:r>
              <a:rPr lang="en-US" sz="1400" dirty="0">
                <a:solidFill>
                  <a:schemeClr val="accent3"/>
                </a:solidFill>
              </a:rPr>
              <a:t>retrieval over notes and the ChatMOF paper</a:t>
            </a:r>
            <a:endParaRPr lang="en-US" sz="1400" dirty="0"/>
          </a:p>
        </p:txBody>
      </p:sp>
      <p:sp>
        <p:nvSpPr>
          <p:cNvPr id="28" name="Shape 26"/>
          <p:cNvSpPr/>
          <p:nvPr/>
        </p:nvSpPr>
        <p:spPr>
          <a:xfrm>
            <a:off x="5212080" y="5376672"/>
            <a:ext cx="548640" cy="482803"/>
          </a:xfrm>
          <a:prstGeom prst="hexagon">
            <a:avLst/>
          </a:prstGeom>
          <a:solidFill>
            <a:schemeClr val="accent1"/>
          </a:solidFill>
          <a:ln w="12700">
            <a:solidFill>
              <a:schemeClr val="accent1"/>
            </a:solidFill>
            <a:prstDash val="solid"/>
          </a:ln>
        </p:spPr>
      </p:sp>
      <p:sp>
        <p:nvSpPr>
          <p:cNvPr id="29" name="Text 27"/>
          <p:cNvSpPr txBox="1"/>
          <p:nvPr/>
        </p:nvSpPr>
        <p:spPr>
          <a:xfrm>
            <a:off x="5212080" y="5376672"/>
            <a:ext cx="548640" cy="482803"/>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6</a:t>
            </a:r>
            <a:endParaRPr lang="en-US" sz="1400" dirty="0"/>
          </a:p>
        </p:txBody>
      </p:sp>
      <p:sp>
        <p:nvSpPr>
          <p:cNvPr id="30" name="Text 28"/>
          <p:cNvSpPr txBox="1"/>
          <p:nvPr/>
        </p:nvSpPr>
        <p:spPr>
          <a:xfrm>
            <a:off x="5943600" y="5376672"/>
            <a:ext cx="5669280" cy="320040"/>
          </a:xfrm>
          <a:prstGeom prst="rect">
            <a:avLst/>
          </a:prstGeom>
          <a:noFill/>
          <a:ln/>
        </p:spPr>
        <p:txBody>
          <a:bodyPr wrap="square" lIns="0" tIns="0" rIns="0" bIns="0" rtlCol="0" anchor="t"/>
          <a:lstStyle/>
          <a:p>
            <a:pPr indent="0" marL="0">
              <a:buNone/>
            </a:pPr>
            <a:r>
              <a:rPr lang="en-US" sz="1700" b="1" dirty="0">
                <a:solidFill>
                  <a:schemeClr val="tx1"/>
                </a:solidFill>
              </a:rPr>
              <a:t>Measured, not claimed</a:t>
            </a:r>
            <a:endParaRPr lang="en-US" sz="1700" dirty="0"/>
          </a:p>
        </p:txBody>
      </p:sp>
      <p:sp>
        <p:nvSpPr>
          <p:cNvPr id="31" name="Text 29"/>
          <p:cNvSpPr txBox="1"/>
          <p:nvPr/>
        </p:nvSpPr>
        <p:spPr>
          <a:xfrm>
            <a:off x="5943600" y="5705856"/>
            <a:ext cx="5669280" cy="320040"/>
          </a:xfrm>
          <a:prstGeom prst="rect">
            <a:avLst/>
          </a:prstGeom>
          <a:noFill/>
          <a:ln/>
        </p:spPr>
        <p:txBody>
          <a:bodyPr wrap="square" lIns="0" tIns="0" rIns="0" bIns="0" rtlCol="0" anchor="t"/>
          <a:lstStyle/>
          <a:p>
            <a:pPr indent="0" marL="0">
              <a:buNone/>
            </a:pPr>
            <a:r>
              <a:rPr lang="en-US" sz="1400" dirty="0">
                <a:solidFill>
                  <a:schemeClr val="accent3"/>
                </a:solidFill>
              </a:rPr>
              <a:t>labelled benchmark plus a held-out set</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03 · FROM REVIEW 1</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Review 1 failed: similarity search cannot satisfy number filters</a:t>
            </a:r>
            <a:endParaRPr lang="en-US" sz="2800" dirty="0"/>
          </a:p>
        </p:txBody>
      </p:sp>
      <p:sp>
        <p:nvSpPr>
          <p:cNvPr id="4" name="card"/>
          <p:cNvSpPr/>
          <p:nvPr/>
        </p:nvSpPr>
        <p:spPr>
          <a:xfrm>
            <a:off x="548640" y="1600200"/>
            <a:ext cx="5349240" cy="3611880"/>
          </a:xfrm>
          <a:prstGeom prst="roundRect">
            <a:avLst>
              <a:gd name="adj" fmla="val 2025"/>
            </a:avLst>
          </a:prstGeom>
          <a:solidFill>
            <a:srgbClr val="FBEAE1"/>
          </a:solidFill>
          <a:ln w="12700">
            <a:solidFill>
              <a:srgbClr val="FBEAE1"/>
            </a:solidFill>
            <a:prstDash val="solid"/>
          </a:ln>
        </p:spPr>
      </p:sp>
      <p:sp>
        <p:nvSpPr>
          <p:cNvPr id="5" name="Text 3"/>
          <p:cNvSpPr txBox="1"/>
          <p:nvPr/>
        </p:nvSpPr>
        <p:spPr>
          <a:xfrm>
            <a:off x="822960" y="1783080"/>
            <a:ext cx="484632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REVIEW 1: TWO-TOWER RETRIEVAL</a:t>
            </a:r>
            <a:endParaRPr lang="en-US" sz="1300" dirty="0"/>
          </a:p>
        </p:txBody>
      </p:sp>
      <p:sp>
        <p:nvSpPr>
          <p:cNvPr id="6" name="Text 4"/>
          <p:cNvSpPr txBox="1"/>
          <p:nvPr/>
        </p:nvSpPr>
        <p:spPr>
          <a:xfrm>
            <a:off x="822960" y="224028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FT-Transformer autoencoder indexed the MOFs</a:t>
            </a:r>
            <a:endParaRPr lang="en-US" sz="1500" dirty="0"/>
          </a:p>
          <a:p>
            <a:pPr marL="203200" indent="-203200">
              <a:spcAft>
                <a:spcPts val="800"/>
              </a:spcAft>
              <a:buSzPct val="100000"/>
              <a:buChar char="•"/>
            </a:pPr>
            <a:r>
              <a:rPr lang="en-US" sz="1500" dirty="0">
                <a:solidFill>
                  <a:schemeClr val="tx1"/>
                </a:solidFill>
              </a:rPr>
              <a:t>Sentence-BERT embedded the question</a:t>
            </a:r>
            <a:endParaRPr lang="en-US" sz="1500" dirty="0"/>
          </a:p>
          <a:p>
            <a:pPr marL="203200" indent="-203200">
              <a:spcAft>
                <a:spcPts val="800"/>
              </a:spcAft>
              <a:buSzPct val="100000"/>
              <a:buChar char="•"/>
            </a:pPr>
            <a:r>
              <a:rPr lang="en-US" sz="1500" dirty="0">
                <a:solidFill>
                  <a:schemeClr val="tx1"/>
                </a:solidFill>
              </a:rPr>
              <a:t>Same vector size, but never trained together, so retrieval ignored the question</a:t>
            </a:r>
            <a:endParaRPr lang="en-US" sz="1500" dirty="0"/>
          </a:p>
          <a:p>
            <a:pPr marL="203200" indent="-203200">
              <a:spcAft>
                <a:spcPts val="800"/>
              </a:spcAft>
              <a:buSzPct val="100000"/>
              <a:buChar char="•"/>
            </a:pPr>
            <a:r>
              <a:rPr lang="en-US" sz="1500" dirty="0">
                <a:solidFill>
                  <a:schemeClr val="tx1"/>
                </a:solidFill>
              </a:rPr>
              <a:t>"Surface area &gt; 4000" is a filter, not a similarity</a:t>
            </a:r>
            <a:endParaRPr lang="en-US" sz="1500" dirty="0"/>
          </a:p>
        </p:txBody>
      </p:sp>
      <p:sp>
        <p:nvSpPr>
          <p:cNvPr id="7" name="Text 5"/>
          <p:cNvSpPr txBox="1"/>
          <p:nvPr/>
        </p:nvSpPr>
        <p:spPr>
          <a:xfrm>
            <a:off x="822960" y="3840480"/>
            <a:ext cx="2377440" cy="68580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9.4 %</a:t>
            </a:r>
            <a:endParaRPr lang="en-US" sz="3400" dirty="0"/>
          </a:p>
        </p:txBody>
      </p:sp>
      <p:sp>
        <p:nvSpPr>
          <p:cNvPr id="8" name="Text 6"/>
          <p:cNvSpPr txBox="1"/>
          <p:nvPr/>
        </p:nvSpPr>
        <p:spPr>
          <a:xfrm>
            <a:off x="822960" y="457200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dev set exact</a:t>
            </a:r>
            <a:endParaRPr lang="en-US" sz="1300" dirty="0"/>
          </a:p>
        </p:txBody>
      </p:sp>
      <p:sp>
        <p:nvSpPr>
          <p:cNvPr id="9" name="Text 7"/>
          <p:cNvSpPr txBox="1"/>
          <p:nvPr/>
        </p:nvSpPr>
        <p:spPr>
          <a:xfrm>
            <a:off x="3108960" y="3840480"/>
            <a:ext cx="2377440" cy="68580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5 %</a:t>
            </a:r>
            <a:endParaRPr lang="en-US" sz="3400" dirty="0"/>
          </a:p>
        </p:txBody>
      </p:sp>
      <p:sp>
        <p:nvSpPr>
          <p:cNvPr id="10" name="Text 8"/>
          <p:cNvSpPr txBox="1"/>
          <p:nvPr/>
        </p:nvSpPr>
        <p:spPr>
          <a:xfrm>
            <a:off x="3108960" y="457200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held-out exact</a:t>
            </a:r>
            <a:endParaRPr lang="en-US" sz="1300" dirty="0"/>
          </a:p>
        </p:txBody>
      </p:sp>
      <p:sp>
        <p:nvSpPr>
          <p:cNvPr id="11" name="card"/>
          <p:cNvSpPr/>
          <p:nvPr/>
        </p:nvSpPr>
        <p:spPr>
          <a:xfrm>
            <a:off x="6309360" y="1600200"/>
            <a:ext cx="5349240" cy="3611880"/>
          </a:xfrm>
          <a:prstGeom prst="roundRect">
            <a:avLst>
              <a:gd name="adj" fmla="val 2025"/>
            </a:avLst>
          </a:prstGeom>
          <a:solidFill>
            <a:srgbClr val="E3F3F7"/>
          </a:solidFill>
          <a:ln w="12700">
            <a:solidFill>
              <a:srgbClr val="E3F3F7"/>
            </a:solidFill>
            <a:prstDash val="solid"/>
          </a:ln>
        </p:spPr>
      </p:sp>
      <p:sp>
        <p:nvSpPr>
          <p:cNvPr id="12" name="Text 10"/>
          <p:cNvSpPr txBox="1"/>
          <p:nvPr/>
        </p:nvSpPr>
        <p:spPr>
          <a:xfrm>
            <a:off x="6583680" y="1783080"/>
            <a:ext cx="4846320" cy="320040"/>
          </a:xfrm>
          <a:prstGeom prst="rect">
            <a:avLst/>
          </a:prstGeom>
          <a:noFill/>
          <a:ln/>
        </p:spPr>
        <p:txBody>
          <a:bodyPr wrap="square" lIns="0" tIns="0" rIns="0" bIns="0" rtlCol="0" anchor="t"/>
          <a:lstStyle/>
          <a:p>
            <a:pPr indent="0" marL="0">
              <a:buNone/>
            </a:pPr>
            <a:r>
              <a:rPr lang="en-US" sz="1300" b="1" spc="100" kern="0" dirty="0">
                <a:solidFill>
                  <a:schemeClr val="accent1"/>
                </a:solidFill>
              </a:rPr>
              <a:t>FINAL: PLAN → VALIDATE → QUERY</a:t>
            </a:r>
            <a:endParaRPr lang="en-US" sz="1300" dirty="0"/>
          </a:p>
        </p:txBody>
      </p:sp>
      <p:sp>
        <p:nvSpPr>
          <p:cNvPr id="13" name="Text 11"/>
          <p:cNvSpPr txBox="1"/>
          <p:nvPr/>
        </p:nvSpPr>
        <p:spPr>
          <a:xfrm>
            <a:off x="6583680" y="224028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The LLM writes a structured JSON plan, never code</a:t>
            </a:r>
            <a:endParaRPr lang="en-US" sz="1500" dirty="0"/>
          </a:p>
          <a:p>
            <a:pPr marL="203200" indent="-203200">
              <a:spcAft>
                <a:spcPts val="800"/>
              </a:spcAft>
              <a:buSzPct val="100000"/>
              <a:buChar char="•"/>
            </a:pPr>
            <a:r>
              <a:rPr lang="en-US" sz="1500" dirty="0">
                <a:solidFill>
                  <a:schemeClr val="tx1"/>
                </a:solidFill>
              </a:rPr>
              <a:t>A validator checks and repairs the plan</a:t>
            </a:r>
            <a:endParaRPr lang="en-US" sz="1500" dirty="0"/>
          </a:p>
          <a:p>
            <a:pPr marL="203200" indent="-203200">
              <a:spcAft>
                <a:spcPts val="800"/>
              </a:spcAft>
              <a:buSzPct val="100000"/>
              <a:buChar char="•"/>
            </a:pPr>
            <a:r>
              <a:rPr lang="en-US" sz="1500" dirty="0">
                <a:solidFill>
                  <a:schemeClr val="tx1"/>
                </a:solidFill>
              </a:rPr>
              <a:t>Exact SQL filters; NSGA-II ranks</a:t>
            </a:r>
            <a:endParaRPr lang="en-US" sz="1500" dirty="0"/>
          </a:p>
          <a:p>
            <a:pPr marL="203200" indent="-203200">
              <a:spcAft>
                <a:spcPts val="800"/>
              </a:spcAft>
              <a:buSzPct val="100000"/>
              <a:buChar char="•"/>
            </a:pPr>
            <a:r>
              <a:rPr lang="en-US" sz="1500" dirty="0">
                <a:solidFill>
                  <a:schemeClr val="tx1"/>
                </a:solidFill>
              </a:rPr>
              <a:t>FT-Transformer kept for similarity, where it fits</a:t>
            </a:r>
            <a:endParaRPr lang="en-US" sz="1500" dirty="0"/>
          </a:p>
        </p:txBody>
      </p:sp>
      <p:sp>
        <p:nvSpPr>
          <p:cNvPr id="14" name="Text 12"/>
          <p:cNvSpPr txBox="1"/>
          <p:nvPr/>
        </p:nvSpPr>
        <p:spPr>
          <a:xfrm>
            <a:off x="6583680" y="3840480"/>
            <a:ext cx="2377440" cy="6858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100 %</a:t>
            </a:r>
            <a:endParaRPr lang="en-US" sz="3400" dirty="0"/>
          </a:p>
        </p:txBody>
      </p:sp>
      <p:sp>
        <p:nvSpPr>
          <p:cNvPr id="15" name="Text 13"/>
          <p:cNvSpPr txBox="1"/>
          <p:nvPr/>
        </p:nvSpPr>
        <p:spPr>
          <a:xfrm>
            <a:off x="6583680" y="457200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dev set exact</a:t>
            </a:r>
            <a:endParaRPr lang="en-US" sz="1300" dirty="0"/>
          </a:p>
        </p:txBody>
      </p:sp>
      <p:sp>
        <p:nvSpPr>
          <p:cNvPr id="16" name="Text 14"/>
          <p:cNvSpPr txBox="1"/>
          <p:nvPr/>
        </p:nvSpPr>
        <p:spPr>
          <a:xfrm>
            <a:off x="8869680" y="3840480"/>
            <a:ext cx="2377440" cy="6858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100 %</a:t>
            </a:r>
            <a:endParaRPr lang="en-US" sz="3400" dirty="0"/>
          </a:p>
        </p:txBody>
      </p:sp>
      <p:sp>
        <p:nvSpPr>
          <p:cNvPr id="17" name="Text 15"/>
          <p:cNvSpPr txBox="1"/>
          <p:nvPr/>
        </p:nvSpPr>
        <p:spPr>
          <a:xfrm>
            <a:off x="8869680" y="4572000"/>
            <a:ext cx="2377440" cy="548640"/>
          </a:xfrm>
          <a:prstGeom prst="rect">
            <a:avLst/>
          </a:prstGeom>
          <a:noFill/>
          <a:ln/>
        </p:spPr>
        <p:txBody>
          <a:bodyPr wrap="square" lIns="0" tIns="0" rIns="0" bIns="0" rtlCol="0" anchor="t"/>
          <a:lstStyle/>
          <a:p>
            <a:pPr indent="0" marL="0">
              <a:buNone/>
            </a:pPr>
            <a:r>
              <a:rPr lang="en-US" sz="1300" dirty="0">
                <a:solidFill>
                  <a:schemeClr val="accent3"/>
                </a:solidFill>
              </a:rPr>
              <a:t>held-out exact</a:t>
            </a:r>
            <a:endParaRPr lang="en-US" sz="1300" dirty="0"/>
          </a:p>
        </p:txBody>
      </p:sp>
      <p:sp>
        <p:nvSpPr>
          <p:cNvPr id="18" name="Shape 16"/>
          <p:cNvSpPr/>
          <p:nvPr/>
        </p:nvSpPr>
        <p:spPr>
          <a:xfrm>
            <a:off x="5916168" y="3401568"/>
            <a:ext cx="374904" cy="0"/>
          </a:xfrm>
          <a:prstGeom prst="line">
            <a:avLst/>
          </a:prstGeom>
          <a:noFill/>
          <a:ln w="19050">
            <a:solidFill>
              <a:srgbClr val="5B6B73"/>
            </a:solidFill>
            <a:prstDash val="solid"/>
            <a:tailEnd type="triangle"/>
          </a:ln>
        </p:spPr>
      </p:sp>
      <p:sp>
        <p:nvSpPr>
          <p:cNvPr id="19" name="Text 17"/>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500" i="1" dirty="0">
                <a:solidFill>
                  <a:schemeClr val="tx2"/>
                </a:solidFill>
              </a:rPr>
              <a:t>Lesson: constraint satisfaction over numbers is a database problem, not a similarity problem.</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04 · DATASET</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CoRE MOF 2019: 12,020 MOFs, checked before any modelling</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949440" cy="914400"/>
        </p:xfrm>
        <a:graphic>
          <a:graphicData uri="http://schemas.openxmlformats.org/drawingml/2006/table">
            <a:tbl>
              <a:tblPr/>
              <a:tblGrid>
                <a:gridCol w="3200400"/>
                <a:gridCol w="2194560"/>
                <a:gridCol w="1554480"/>
              </a:tblGrid>
              <a:tr h="58521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Finding</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Missing values, duplicate rows or names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Two column pairs identical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duplicates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dropped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Pore volume = void fraction / density</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derived (error 6×10⁻⁶)</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documented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Zero surface area (3,252 MOFs)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all have PLD &lt; 3.31 Å</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physics rule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Density header says cm³/g</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values are g/cm³</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label fixed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585216">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2,087 multi-metal MOFs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comma-separated metals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mof_metals table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bl>
          </a:graphicData>
        </a:graphic>
      </p:graphicFrame>
      <p:sp>
        <p:nvSpPr>
          <p:cNvPr id="5" name="card"/>
          <p:cNvSpPr/>
          <p:nvPr/>
        </p:nvSpPr>
        <p:spPr>
          <a:xfrm>
            <a:off x="7955280" y="1600200"/>
            <a:ext cx="3657600" cy="4096512"/>
          </a:xfrm>
          <a:prstGeom prst="roundRect">
            <a:avLst>
              <a:gd name="adj" fmla="val 2000"/>
            </a:avLst>
          </a:prstGeom>
          <a:solidFill>
            <a:schemeClr val="bg2"/>
          </a:solidFill>
          <a:ln w="12700">
            <a:solidFill>
              <a:schemeClr val="bg2"/>
            </a:solidFill>
            <a:prstDash val="solid"/>
          </a:ln>
        </p:spPr>
      </p:sp>
      <p:sp>
        <p:nvSpPr>
          <p:cNvPr id="6" name="hex FaDatabase"/>
          <p:cNvSpPr/>
          <p:nvPr/>
        </p:nvSpPr>
        <p:spPr>
          <a:xfrm>
            <a:off x="8229600" y="1828800"/>
            <a:ext cx="685800" cy="603504"/>
          </a:xfrm>
          <a:prstGeom prst="hexagon">
            <a:avLst/>
          </a:prstGeom>
          <a:solidFill>
            <a:schemeClr val="accent1"/>
          </a:solidFill>
          <a:ln w="12700">
            <a:solidFill>
              <a:schemeClr val="accent1"/>
            </a:solidFill>
            <a:prstDash val="solid"/>
          </a:ln>
        </p:spPr>
      </p:sp>
      <p:pic>
        <p:nvPicPr>
          <p:cNvPr id="7" name="Image 0" descr="preencoded.png">    </p:cNvPr>
          <p:cNvPicPr>
            <a:picLocks noChangeAspect="1"/>
          </p:cNvPicPr>
          <p:nvPr/>
        </p:nvPicPr>
        <p:blipFill>
          <a:blip r:embed="rId1"/>
          <a:stretch>
            <a:fillRect/>
          </a:stretch>
        </p:blipFill>
        <p:spPr>
          <a:xfrm>
            <a:off x="8428482" y="1986534"/>
            <a:ext cx="288036" cy="288036"/>
          </a:xfrm>
          <a:prstGeom prst="rect">
            <a:avLst/>
          </a:prstGeom>
        </p:spPr>
      </p:pic>
      <p:sp>
        <p:nvSpPr>
          <p:cNvPr id="8" name="Text 4"/>
          <p:cNvSpPr txBox="1"/>
          <p:nvPr/>
        </p:nvSpPr>
        <p:spPr>
          <a:xfrm>
            <a:off x="9098280" y="196596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ourier New" pitchFamily="34" charset="0"/>
                <a:ea typeface="Courier New" pitchFamily="34" charset="-122"/>
                <a:cs typeface="Courier New" pitchFamily="34" charset="-120"/>
              </a:rPr>
              <a:t>data/coremof.db</a:t>
            </a:r>
            <a:endParaRPr lang="en-US" sz="1600" dirty="0"/>
          </a:p>
        </p:txBody>
      </p:sp>
      <p:sp>
        <p:nvSpPr>
          <p:cNvPr id="9" name="Text 5"/>
          <p:cNvSpPr txBox="1"/>
          <p:nvPr/>
        </p:nvSpPr>
        <p:spPr>
          <a:xfrm>
            <a:off x="8229600" y="2743200"/>
            <a:ext cx="3200400" cy="14630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rPr>
              <a:t>materials</a:t>
            </a:r>
            <a:pPr indent="0" marL="0">
              <a:buNone/>
            </a:pPr>
            <a:r>
              <a:rPr lang="en-US" sz="1500" dirty="0">
                <a:solidFill>
                  <a:schemeClr val="tx1"/>
                </a:solidFill>
              </a:rPr>
              <a:t> – 15 columns, indexed</a:t>
            </a:r>
            <a:endParaRPr lang="en-US" sz="1500" dirty="0"/>
          </a:p>
          <a:p>
            <a:pPr marL="203200" indent="-203200">
              <a:spcAft>
                <a:spcPts val="800"/>
              </a:spcAft>
              <a:buSzPct val="100000"/>
              <a:buChar char="•"/>
            </a:pPr>
            <a:r>
              <a:rPr lang="en-US" sz="1500" b="1" dirty="0">
                <a:solidFill>
                  <a:schemeClr val="tx1"/>
                </a:solidFill>
              </a:rPr>
              <a:t>mof_metals</a:t>
            </a:r>
            <a:pPr indent="0" marL="0">
              <a:buNone/>
            </a:pPr>
            <a:r>
              <a:rPr lang="en-US" sz="1500" dirty="0">
                <a:solidFill>
                  <a:schemeClr val="tx1"/>
                </a:solidFill>
              </a:rPr>
              <a:t> – one row per metal</a:t>
            </a:r>
            <a:endParaRPr lang="en-US" sz="1500" dirty="0"/>
          </a:p>
          <a:p>
            <a:pPr marL="203200" indent="-203200">
              <a:spcAft>
                <a:spcPts val="800"/>
              </a:spcAft>
              <a:buSzPct val="100000"/>
              <a:buChar char="•"/>
            </a:pPr>
            <a:r>
              <a:rPr lang="en-US" sz="1500" b="1" dirty="0">
                <a:solidFill>
                  <a:schemeClr val="tx1"/>
                </a:solidFill>
              </a:rPr>
              <a:t>columns_doc</a:t>
            </a:r>
            <a:pPr indent="0" marL="0">
              <a:buNone/>
            </a:pPr>
            <a:r>
              <a:rPr lang="en-US" sz="1500" dirty="0">
                <a:solidFill>
                  <a:schemeClr val="tx1"/>
                </a:solidFill>
              </a:rPr>
              <a:t> – units and meaning</a:t>
            </a:r>
            <a:endParaRPr lang="en-US" sz="1500" dirty="0"/>
          </a:p>
        </p:txBody>
      </p:sp>
      <p:sp>
        <p:nvSpPr>
          <p:cNvPr id="10" name="Text 6"/>
          <p:cNvSpPr txBox="1"/>
          <p:nvPr/>
        </p:nvSpPr>
        <p:spPr>
          <a:xfrm>
            <a:off x="8229600" y="4343400"/>
            <a:ext cx="3200400" cy="1097280"/>
          </a:xfrm>
          <a:prstGeom prst="rect">
            <a:avLst/>
          </a:prstGeom>
          <a:noFill/>
          <a:ln/>
        </p:spPr>
        <p:txBody>
          <a:bodyPr wrap="square" lIns="0" tIns="0" rIns="0" bIns="0" rtlCol="0" anchor="t"/>
          <a:lstStyle/>
          <a:p>
            <a:pPr indent="0" marL="0">
              <a:buNone/>
            </a:pPr>
            <a:r>
              <a:rPr lang="en-US" sz="1400" i="1" dirty="0">
                <a:solidFill>
                  <a:schemeClr val="accent3"/>
                </a:solidFill>
              </a:rPr>
              <a:t>Zeo++ geometry, 3.31 Å N₂ probe. No gas-uptake labels in this table.</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SYSTEM DESIGN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LLM only plans and writes; everything else is checked code</a:t>
            </a:r>
            <a:endParaRPr lang="en-US" sz="2800" dirty="0"/>
          </a:p>
        </p:txBody>
      </p:sp>
      <p:sp>
        <p:nvSpPr>
          <p:cNvPr id="4" name="box Question"/>
          <p:cNvSpPr/>
          <p:nvPr/>
        </p:nvSpPr>
        <p:spPr>
          <a:xfrm>
            <a:off x="548640" y="1600200"/>
            <a:ext cx="2011680" cy="868680"/>
          </a:xfrm>
          <a:prstGeom prst="roundRect">
            <a:avLst>
              <a:gd name="adj" fmla="val 8421"/>
            </a:avLst>
          </a:prstGeom>
          <a:solidFill>
            <a:srgbClr val="E3F3F7"/>
          </a:solidFill>
          <a:ln w="15875">
            <a:solidFill>
              <a:srgbClr val="0891B2"/>
            </a:solidFill>
            <a:prstDash val="solid"/>
          </a:ln>
        </p:spPr>
      </p:sp>
      <p:sp>
        <p:nvSpPr>
          <p:cNvPr id="5" name="Text 3"/>
          <p:cNvSpPr txBox="1"/>
          <p:nvPr/>
        </p:nvSpPr>
        <p:spPr>
          <a:xfrm>
            <a:off x="658368" y="1600200"/>
            <a:ext cx="1792224" cy="868680"/>
          </a:xfrm>
          <a:prstGeom prst="rect">
            <a:avLst/>
          </a:prstGeom>
          <a:noFill/>
          <a:ln/>
        </p:spPr>
        <p:txBody>
          <a:bodyPr wrap="square" lIns="0" tIns="0" rIns="0" bIns="0" rtlCol="0" anchor="ctr"/>
          <a:lstStyle/>
          <a:p>
            <a:pPr algn="ctr" indent="0" marL="0">
              <a:buNone/>
            </a:pPr>
            <a:r>
              <a:rPr lang="en-US" sz="1500" b="1" dirty="0">
                <a:solidFill>
                  <a:schemeClr val="tx1"/>
                </a:solidFill>
              </a:rPr>
              <a:t>Question</a:t>
            </a:r>
            <a:endParaRPr lang="en-US" sz="1500" dirty="0"/>
          </a:p>
          <a:p>
            <a:pPr algn="ctr" indent="0" marL="0">
              <a:buNone/>
            </a:pPr>
            <a:r>
              <a:rPr lang="en-US" sz="1200" dirty="0">
                <a:solidFill>
                  <a:schemeClr val="accent3"/>
                </a:solidFill>
              </a:rPr>
              <a:t>plain English</a:t>
            </a:r>
            <a:endParaRPr lang="en-US" sz="1500" dirty="0"/>
          </a:p>
        </p:txBody>
      </p:sp>
      <p:sp>
        <p:nvSpPr>
          <p:cNvPr id="6" name="box Planner"/>
          <p:cNvSpPr/>
          <p:nvPr/>
        </p:nvSpPr>
        <p:spPr>
          <a:xfrm>
            <a:off x="2971800" y="1600200"/>
            <a:ext cx="2651760" cy="868680"/>
          </a:xfrm>
          <a:prstGeom prst="roundRect">
            <a:avLst>
              <a:gd name="adj" fmla="val 8421"/>
            </a:avLst>
          </a:prstGeom>
          <a:solidFill>
            <a:srgbClr val="FBEAE1"/>
          </a:solidFill>
          <a:ln w="15875">
            <a:solidFill>
              <a:srgbClr val="D9622B"/>
            </a:solidFill>
            <a:prstDash val="solid"/>
          </a:ln>
        </p:spPr>
      </p:sp>
      <p:sp>
        <p:nvSpPr>
          <p:cNvPr id="7" name="Text 5"/>
          <p:cNvSpPr txBox="1"/>
          <p:nvPr/>
        </p:nvSpPr>
        <p:spPr>
          <a:xfrm>
            <a:off x="3081528" y="1600200"/>
            <a:ext cx="2432304" cy="868680"/>
          </a:xfrm>
          <a:prstGeom prst="rect">
            <a:avLst/>
          </a:prstGeom>
          <a:noFill/>
          <a:ln/>
        </p:spPr>
        <p:txBody>
          <a:bodyPr wrap="square" lIns="0" tIns="0" rIns="0" bIns="0" rtlCol="0" anchor="ctr"/>
          <a:lstStyle/>
          <a:p>
            <a:pPr algn="ctr" indent="0" marL="0">
              <a:buNone/>
            </a:pPr>
            <a:r>
              <a:rPr lang="en-US" sz="1500" b="1" dirty="0">
                <a:solidFill>
                  <a:schemeClr val="tx1"/>
                </a:solidFill>
              </a:rPr>
              <a:t>Planner</a:t>
            </a:r>
            <a:endParaRPr lang="en-US" sz="1500" dirty="0"/>
          </a:p>
          <a:p>
            <a:pPr algn="ctr" indent="0" marL="0">
              <a:buNone/>
            </a:pPr>
            <a:r>
              <a:rPr lang="en-US" sz="1200" dirty="0">
                <a:solidFill>
                  <a:schemeClr val="accent3"/>
                </a:solidFill>
              </a:rPr>
              <a:t>LLM JSON plan + rule parser</a:t>
            </a:r>
            <a:endParaRPr lang="en-US" sz="1500" dirty="0"/>
          </a:p>
        </p:txBody>
      </p:sp>
      <p:sp>
        <p:nvSpPr>
          <p:cNvPr id="8" name="box Plan validator"/>
          <p:cNvSpPr/>
          <p:nvPr/>
        </p:nvSpPr>
        <p:spPr>
          <a:xfrm>
            <a:off x="6035040" y="1600200"/>
            <a:ext cx="2651760" cy="868680"/>
          </a:xfrm>
          <a:prstGeom prst="roundRect">
            <a:avLst>
              <a:gd name="adj" fmla="val 8421"/>
            </a:avLst>
          </a:prstGeom>
          <a:solidFill>
            <a:srgbClr val="E3F3F7"/>
          </a:solidFill>
          <a:ln w="15875">
            <a:solidFill>
              <a:srgbClr val="0891B2"/>
            </a:solidFill>
            <a:prstDash val="solid"/>
          </a:ln>
        </p:spPr>
      </p:sp>
      <p:sp>
        <p:nvSpPr>
          <p:cNvPr id="9" name="Text 7"/>
          <p:cNvSpPr txBox="1"/>
          <p:nvPr/>
        </p:nvSpPr>
        <p:spPr>
          <a:xfrm>
            <a:off x="6144768" y="1600200"/>
            <a:ext cx="2432304" cy="868680"/>
          </a:xfrm>
          <a:prstGeom prst="rect">
            <a:avLst/>
          </a:prstGeom>
          <a:noFill/>
          <a:ln/>
        </p:spPr>
        <p:txBody>
          <a:bodyPr wrap="square" lIns="0" tIns="0" rIns="0" bIns="0" rtlCol="0" anchor="ctr"/>
          <a:lstStyle/>
          <a:p>
            <a:pPr algn="ctr" indent="0" marL="0">
              <a:buNone/>
            </a:pPr>
            <a:r>
              <a:rPr lang="en-US" sz="1500" b="1" dirty="0">
                <a:solidFill>
                  <a:schemeClr val="tx1"/>
                </a:solidFill>
              </a:rPr>
              <a:t>Plan validator</a:t>
            </a:r>
            <a:endParaRPr lang="en-US" sz="1500" dirty="0"/>
          </a:p>
          <a:p>
            <a:pPr algn="ctr" indent="0" marL="0">
              <a:buNone/>
            </a:pPr>
            <a:r>
              <a:rPr lang="en-US" sz="1200" dirty="0">
                <a:solidFill>
                  <a:schemeClr val="accent3"/>
                </a:solidFill>
              </a:rPr>
              <a:t>columns, units, ranges, grounding</a:t>
            </a:r>
            <a:endParaRPr lang="en-US" sz="1500" dirty="0"/>
          </a:p>
        </p:txBody>
      </p:sp>
      <p:sp>
        <p:nvSpPr>
          <p:cNvPr id="10" name="box Intent router"/>
          <p:cNvSpPr/>
          <p:nvPr/>
        </p:nvSpPr>
        <p:spPr>
          <a:xfrm>
            <a:off x="9098280" y="1600200"/>
            <a:ext cx="2514600" cy="868680"/>
          </a:xfrm>
          <a:prstGeom prst="roundRect">
            <a:avLst>
              <a:gd name="adj" fmla="val 8421"/>
            </a:avLst>
          </a:prstGeom>
          <a:solidFill>
            <a:srgbClr val="E3F3F7"/>
          </a:solidFill>
          <a:ln w="15875">
            <a:solidFill>
              <a:srgbClr val="0891B2"/>
            </a:solidFill>
            <a:prstDash val="solid"/>
          </a:ln>
        </p:spPr>
      </p:sp>
      <p:sp>
        <p:nvSpPr>
          <p:cNvPr id="11" name="Text 9"/>
          <p:cNvSpPr txBox="1"/>
          <p:nvPr/>
        </p:nvSpPr>
        <p:spPr>
          <a:xfrm>
            <a:off x="9208008" y="1600200"/>
            <a:ext cx="2295144" cy="868680"/>
          </a:xfrm>
          <a:prstGeom prst="rect">
            <a:avLst/>
          </a:prstGeom>
          <a:noFill/>
          <a:ln/>
        </p:spPr>
        <p:txBody>
          <a:bodyPr wrap="square" lIns="0" tIns="0" rIns="0" bIns="0" rtlCol="0" anchor="ctr"/>
          <a:lstStyle/>
          <a:p>
            <a:pPr algn="ctr" indent="0" marL="0">
              <a:buNone/>
            </a:pPr>
            <a:r>
              <a:rPr lang="en-US" sz="1500" b="1" dirty="0">
                <a:solidFill>
                  <a:schemeClr val="tx1"/>
                </a:solidFill>
              </a:rPr>
              <a:t>Intent router</a:t>
            </a:r>
            <a:endParaRPr lang="en-US" sz="1500" dirty="0"/>
          </a:p>
          <a:p>
            <a:pPr algn="ctr" indent="0" marL="0">
              <a:buNone/>
            </a:pPr>
            <a:r>
              <a:rPr lang="en-US" sz="1200" dirty="0">
                <a:solidFill>
                  <a:schemeClr val="accent3"/>
                </a:solidFill>
              </a:rPr>
              <a:t>search · similar · predict · knowledge</a:t>
            </a:r>
            <a:endParaRPr lang="en-US" sz="1500" dirty="0"/>
          </a:p>
        </p:txBody>
      </p:sp>
      <p:sp>
        <p:nvSpPr>
          <p:cNvPr id="12" name="Shape 10"/>
          <p:cNvSpPr/>
          <p:nvPr/>
        </p:nvSpPr>
        <p:spPr>
          <a:xfrm>
            <a:off x="2560320" y="2029968"/>
            <a:ext cx="411480" cy="0"/>
          </a:xfrm>
          <a:prstGeom prst="line">
            <a:avLst/>
          </a:prstGeom>
          <a:noFill/>
          <a:ln w="19050">
            <a:solidFill>
              <a:srgbClr val="5B6B73"/>
            </a:solidFill>
            <a:prstDash val="solid"/>
            <a:tailEnd type="triangle"/>
          </a:ln>
        </p:spPr>
      </p:sp>
      <p:sp>
        <p:nvSpPr>
          <p:cNvPr id="13" name="Shape 11"/>
          <p:cNvSpPr/>
          <p:nvPr/>
        </p:nvSpPr>
        <p:spPr>
          <a:xfrm>
            <a:off x="5623560" y="2029968"/>
            <a:ext cx="411480" cy="0"/>
          </a:xfrm>
          <a:prstGeom prst="line">
            <a:avLst/>
          </a:prstGeom>
          <a:noFill/>
          <a:ln w="19050">
            <a:solidFill>
              <a:srgbClr val="5B6B73"/>
            </a:solidFill>
            <a:prstDash val="solid"/>
            <a:tailEnd type="triangle"/>
          </a:ln>
        </p:spPr>
      </p:sp>
      <p:sp>
        <p:nvSpPr>
          <p:cNvPr id="14" name="Shape 12"/>
          <p:cNvSpPr/>
          <p:nvPr/>
        </p:nvSpPr>
        <p:spPr>
          <a:xfrm>
            <a:off x="8686800" y="2029968"/>
            <a:ext cx="411480" cy="0"/>
          </a:xfrm>
          <a:prstGeom prst="line">
            <a:avLst/>
          </a:prstGeom>
          <a:noFill/>
          <a:ln w="19050">
            <a:solidFill>
              <a:srgbClr val="5B6B73"/>
            </a:solidFill>
            <a:prstDash val="solid"/>
            <a:tailEnd type="triangle"/>
          </a:ln>
        </p:spPr>
      </p:sp>
      <p:sp>
        <p:nvSpPr>
          <p:cNvPr id="15" name="Shape 13"/>
          <p:cNvSpPr/>
          <p:nvPr/>
        </p:nvSpPr>
        <p:spPr>
          <a:xfrm>
            <a:off x="7360920" y="2468880"/>
            <a:ext cx="0" cy="292608"/>
          </a:xfrm>
          <a:prstGeom prst="line">
            <a:avLst/>
          </a:prstGeom>
          <a:noFill/>
          <a:ln w="19050">
            <a:solidFill>
              <a:srgbClr val="D9622B"/>
            </a:solidFill>
            <a:prstDash val="dash"/>
          </a:ln>
        </p:spPr>
      </p:sp>
      <p:sp>
        <p:nvSpPr>
          <p:cNvPr id="16" name="Shape 14"/>
          <p:cNvSpPr/>
          <p:nvPr/>
        </p:nvSpPr>
        <p:spPr>
          <a:xfrm>
            <a:off x="4297680" y="2761488"/>
            <a:ext cx="3063240" cy="0"/>
          </a:xfrm>
          <a:prstGeom prst="line">
            <a:avLst/>
          </a:prstGeom>
          <a:noFill/>
          <a:ln w="19050">
            <a:solidFill>
              <a:srgbClr val="D9622B"/>
            </a:solidFill>
            <a:prstDash val="dash"/>
          </a:ln>
        </p:spPr>
      </p:sp>
      <p:sp>
        <p:nvSpPr>
          <p:cNvPr id="17" name="Shape 15"/>
          <p:cNvSpPr/>
          <p:nvPr/>
        </p:nvSpPr>
        <p:spPr>
          <a:xfrm flipV="1">
            <a:off x="4297680" y="2468880"/>
            <a:ext cx="0" cy="292608"/>
          </a:xfrm>
          <a:prstGeom prst="line">
            <a:avLst/>
          </a:prstGeom>
          <a:noFill/>
          <a:ln w="19050">
            <a:solidFill>
              <a:srgbClr val="D9622B"/>
            </a:solidFill>
            <a:prstDash val="solid"/>
            <a:tailEnd type="triangle"/>
          </a:ln>
        </p:spPr>
      </p:sp>
      <p:sp>
        <p:nvSpPr>
          <p:cNvPr id="18" name="Text 16"/>
          <p:cNvSpPr txBox="1"/>
          <p:nvPr/>
        </p:nvSpPr>
        <p:spPr>
          <a:xfrm>
            <a:off x="4434840" y="2798064"/>
            <a:ext cx="2834640" cy="274320"/>
          </a:xfrm>
          <a:prstGeom prst="rect">
            <a:avLst/>
          </a:prstGeom>
          <a:noFill/>
          <a:ln/>
        </p:spPr>
        <p:txBody>
          <a:bodyPr wrap="square" lIns="0" tIns="0" rIns="0" bIns="0" rtlCol="0" anchor="t"/>
          <a:lstStyle/>
          <a:p>
            <a:pPr algn="ctr" indent="0" marL="0">
              <a:buNone/>
            </a:pPr>
            <a:r>
              <a:rPr lang="en-US" sz="1200" i="1" dirty="0">
                <a:solidFill>
                  <a:schemeClr val="accent2"/>
                </a:solidFill>
              </a:rPr>
              <a:t>errors → self-correct up to 2×</a:t>
            </a:r>
            <a:endParaRPr lang="en-US" sz="1200" dirty="0"/>
          </a:p>
        </p:txBody>
      </p:sp>
      <p:sp>
        <p:nvSpPr>
          <p:cNvPr id="19" name="Shape 17"/>
          <p:cNvSpPr/>
          <p:nvPr/>
        </p:nvSpPr>
        <p:spPr>
          <a:xfrm>
            <a:off x="10351008" y="2468880"/>
            <a:ext cx="0" cy="658368"/>
          </a:xfrm>
          <a:prstGeom prst="line">
            <a:avLst/>
          </a:prstGeom>
          <a:noFill/>
          <a:ln w="19050">
            <a:solidFill>
              <a:srgbClr val="5B6B73"/>
            </a:solidFill>
            <a:prstDash val="solid"/>
          </a:ln>
        </p:spPr>
      </p:sp>
      <p:sp>
        <p:nvSpPr>
          <p:cNvPr id="20" name="Shape 18"/>
          <p:cNvSpPr/>
          <p:nvPr/>
        </p:nvSpPr>
        <p:spPr>
          <a:xfrm>
            <a:off x="1856232" y="3127248"/>
            <a:ext cx="8494776" cy="0"/>
          </a:xfrm>
          <a:prstGeom prst="line">
            <a:avLst/>
          </a:prstGeom>
          <a:noFill/>
          <a:ln w="19050">
            <a:solidFill>
              <a:srgbClr val="5B6B73"/>
            </a:solidFill>
            <a:prstDash val="solid"/>
          </a:ln>
        </p:spPr>
      </p:sp>
      <p:sp>
        <p:nvSpPr>
          <p:cNvPr id="21" name="Shape 19"/>
          <p:cNvSpPr/>
          <p:nvPr/>
        </p:nvSpPr>
        <p:spPr>
          <a:xfrm>
            <a:off x="1856232" y="3127248"/>
            <a:ext cx="0" cy="210312"/>
          </a:xfrm>
          <a:prstGeom prst="line">
            <a:avLst/>
          </a:prstGeom>
          <a:noFill/>
          <a:ln w="19050">
            <a:solidFill>
              <a:srgbClr val="5B6B73"/>
            </a:solidFill>
            <a:prstDash val="solid"/>
            <a:tailEnd type="triangle"/>
          </a:ln>
        </p:spPr>
      </p:sp>
      <p:sp>
        <p:nvSpPr>
          <p:cNvPr id="22" name="box SQL + NSGA-II"/>
          <p:cNvSpPr/>
          <p:nvPr/>
        </p:nvSpPr>
        <p:spPr>
          <a:xfrm>
            <a:off x="548640" y="3337560"/>
            <a:ext cx="2615184" cy="1005840"/>
          </a:xfrm>
          <a:prstGeom prst="roundRect">
            <a:avLst>
              <a:gd name="adj" fmla="val 7273"/>
            </a:avLst>
          </a:prstGeom>
          <a:solidFill>
            <a:srgbClr val="E3F3F7"/>
          </a:solidFill>
          <a:ln w="15875">
            <a:solidFill>
              <a:srgbClr val="0891B2"/>
            </a:solidFill>
            <a:prstDash val="solid"/>
          </a:ln>
        </p:spPr>
      </p:sp>
      <p:sp>
        <p:nvSpPr>
          <p:cNvPr id="23" name="Text 21"/>
          <p:cNvSpPr txBox="1"/>
          <p:nvPr/>
        </p:nvSpPr>
        <p:spPr>
          <a:xfrm>
            <a:off x="658368" y="3337560"/>
            <a:ext cx="2395728" cy="1005840"/>
          </a:xfrm>
          <a:prstGeom prst="rect">
            <a:avLst/>
          </a:prstGeom>
          <a:noFill/>
          <a:ln/>
        </p:spPr>
        <p:txBody>
          <a:bodyPr wrap="square" lIns="0" tIns="0" rIns="0" bIns="0" rtlCol="0" anchor="ctr"/>
          <a:lstStyle/>
          <a:p>
            <a:pPr algn="ctr" indent="0" marL="0">
              <a:buNone/>
            </a:pPr>
            <a:r>
              <a:rPr lang="en-US" sz="1500" b="1" dirty="0">
                <a:solidFill>
                  <a:schemeClr val="tx1"/>
                </a:solidFill>
              </a:rPr>
              <a:t>SQL + NSGA-II</a:t>
            </a:r>
            <a:endParaRPr lang="en-US" sz="1500" dirty="0"/>
          </a:p>
          <a:p>
            <a:pPr algn="ctr" indent="0" marL="0">
              <a:buNone/>
            </a:pPr>
            <a:r>
              <a:rPr lang="en-US" sz="1200" dirty="0">
                <a:solidFill>
                  <a:schemeClr val="accent3"/>
                </a:solidFill>
              </a:rPr>
              <a:t>read-only, parameterised; closest match if none</a:t>
            </a:r>
            <a:endParaRPr lang="en-US" sz="1500" dirty="0"/>
          </a:p>
        </p:txBody>
      </p:sp>
      <p:sp>
        <p:nvSpPr>
          <p:cNvPr id="24" name="Shape 22"/>
          <p:cNvSpPr/>
          <p:nvPr/>
        </p:nvSpPr>
        <p:spPr>
          <a:xfrm>
            <a:off x="1856232" y="4343400"/>
            <a:ext cx="0" cy="274320"/>
          </a:xfrm>
          <a:prstGeom prst="line">
            <a:avLst/>
          </a:prstGeom>
          <a:noFill/>
          <a:ln w="19050">
            <a:solidFill>
              <a:srgbClr val="5B6B73"/>
            </a:solidFill>
            <a:prstDash val="solid"/>
          </a:ln>
        </p:spPr>
      </p:sp>
      <p:sp>
        <p:nvSpPr>
          <p:cNvPr id="25" name="Shape 23"/>
          <p:cNvSpPr/>
          <p:nvPr/>
        </p:nvSpPr>
        <p:spPr>
          <a:xfrm>
            <a:off x="4672584" y="3127248"/>
            <a:ext cx="0" cy="210312"/>
          </a:xfrm>
          <a:prstGeom prst="line">
            <a:avLst/>
          </a:prstGeom>
          <a:noFill/>
          <a:ln w="19050">
            <a:solidFill>
              <a:srgbClr val="5B6B73"/>
            </a:solidFill>
            <a:prstDash val="solid"/>
            <a:tailEnd type="triangle"/>
          </a:ln>
        </p:spPr>
      </p:sp>
      <p:sp>
        <p:nvSpPr>
          <p:cNvPr id="26" name="box Similarity"/>
          <p:cNvSpPr/>
          <p:nvPr/>
        </p:nvSpPr>
        <p:spPr>
          <a:xfrm>
            <a:off x="3364992" y="3337560"/>
            <a:ext cx="2615184" cy="1005840"/>
          </a:xfrm>
          <a:prstGeom prst="roundRect">
            <a:avLst>
              <a:gd name="adj" fmla="val 7273"/>
            </a:avLst>
          </a:prstGeom>
          <a:solidFill>
            <a:srgbClr val="E3F3F7"/>
          </a:solidFill>
          <a:ln w="15875">
            <a:solidFill>
              <a:srgbClr val="0891B2"/>
            </a:solidFill>
            <a:prstDash val="solid"/>
          </a:ln>
        </p:spPr>
      </p:sp>
      <p:sp>
        <p:nvSpPr>
          <p:cNvPr id="27" name="Text 25"/>
          <p:cNvSpPr txBox="1"/>
          <p:nvPr/>
        </p:nvSpPr>
        <p:spPr>
          <a:xfrm>
            <a:off x="3474720" y="3337560"/>
            <a:ext cx="2395728" cy="1005840"/>
          </a:xfrm>
          <a:prstGeom prst="rect">
            <a:avLst/>
          </a:prstGeom>
          <a:noFill/>
          <a:ln/>
        </p:spPr>
        <p:txBody>
          <a:bodyPr wrap="square" lIns="0" tIns="0" rIns="0" bIns="0" rtlCol="0" anchor="ctr"/>
          <a:lstStyle/>
          <a:p>
            <a:pPr algn="ctr" indent="0" marL="0">
              <a:buNone/>
            </a:pPr>
            <a:r>
              <a:rPr lang="en-US" sz="1500" b="1" dirty="0">
                <a:solidFill>
                  <a:schemeClr val="tx1"/>
                </a:solidFill>
              </a:rPr>
              <a:t>Similarity</a:t>
            </a:r>
            <a:endParaRPr lang="en-US" sz="1500" dirty="0"/>
          </a:p>
          <a:p>
            <a:pPr algn="ctr" indent="0" marL="0">
              <a:buNone/>
            </a:pPr>
            <a:r>
              <a:rPr lang="en-US" sz="1200" dirty="0">
                <a:solidFill>
                  <a:schemeClr val="accent3"/>
                </a:solidFill>
              </a:rPr>
              <a:t>FT-Transformer embeddings + FAISS</a:t>
            </a:r>
            <a:endParaRPr lang="en-US" sz="1500" dirty="0"/>
          </a:p>
        </p:txBody>
      </p:sp>
      <p:sp>
        <p:nvSpPr>
          <p:cNvPr id="28" name="Shape 26"/>
          <p:cNvSpPr/>
          <p:nvPr/>
        </p:nvSpPr>
        <p:spPr>
          <a:xfrm>
            <a:off x="4672584" y="4343400"/>
            <a:ext cx="0" cy="274320"/>
          </a:xfrm>
          <a:prstGeom prst="line">
            <a:avLst/>
          </a:prstGeom>
          <a:noFill/>
          <a:ln w="19050">
            <a:solidFill>
              <a:srgbClr val="5B6B73"/>
            </a:solidFill>
            <a:prstDash val="solid"/>
          </a:ln>
        </p:spPr>
      </p:sp>
      <p:sp>
        <p:nvSpPr>
          <p:cNvPr id="29" name="Shape 27"/>
          <p:cNvSpPr/>
          <p:nvPr/>
        </p:nvSpPr>
        <p:spPr>
          <a:xfrm>
            <a:off x="7488936" y="3127248"/>
            <a:ext cx="0" cy="210312"/>
          </a:xfrm>
          <a:prstGeom prst="line">
            <a:avLst/>
          </a:prstGeom>
          <a:noFill/>
          <a:ln w="19050">
            <a:solidFill>
              <a:srgbClr val="5B6B73"/>
            </a:solidFill>
            <a:prstDash val="solid"/>
            <a:tailEnd type="triangle"/>
          </a:ln>
        </p:spPr>
      </p:sp>
      <p:sp>
        <p:nvSpPr>
          <p:cNvPr id="30" name="box Prediction"/>
          <p:cNvSpPr/>
          <p:nvPr/>
        </p:nvSpPr>
        <p:spPr>
          <a:xfrm>
            <a:off x="6181344" y="3337560"/>
            <a:ext cx="2615184" cy="1005840"/>
          </a:xfrm>
          <a:prstGeom prst="roundRect">
            <a:avLst>
              <a:gd name="adj" fmla="val 7273"/>
            </a:avLst>
          </a:prstGeom>
          <a:solidFill>
            <a:srgbClr val="E3F3F7"/>
          </a:solidFill>
          <a:ln w="15875">
            <a:solidFill>
              <a:srgbClr val="0891B2"/>
            </a:solidFill>
            <a:prstDash val="solid"/>
          </a:ln>
        </p:spPr>
      </p:sp>
      <p:sp>
        <p:nvSpPr>
          <p:cNvPr id="31" name="Text 29"/>
          <p:cNvSpPr txBox="1"/>
          <p:nvPr/>
        </p:nvSpPr>
        <p:spPr>
          <a:xfrm>
            <a:off x="6291072" y="3337560"/>
            <a:ext cx="2395728" cy="1005840"/>
          </a:xfrm>
          <a:prstGeom prst="rect">
            <a:avLst/>
          </a:prstGeom>
          <a:noFill/>
          <a:ln/>
        </p:spPr>
        <p:txBody>
          <a:bodyPr wrap="square" lIns="0" tIns="0" rIns="0" bIns="0" rtlCol="0" anchor="ctr"/>
          <a:lstStyle/>
          <a:p>
            <a:pPr algn="ctr" indent="0" marL="0">
              <a:buNone/>
            </a:pPr>
            <a:r>
              <a:rPr lang="en-US" sz="1500" b="1" dirty="0">
                <a:solidFill>
                  <a:schemeClr val="tx1"/>
                </a:solidFill>
              </a:rPr>
              <a:t>Prediction</a:t>
            </a:r>
            <a:endParaRPr lang="en-US" sz="1500" dirty="0"/>
          </a:p>
          <a:p>
            <a:pPr algn="ctr" indent="0" marL="0">
              <a:buNone/>
            </a:pPr>
            <a:r>
              <a:rPr lang="en-US" sz="1200" dirty="0">
                <a:solidFill>
                  <a:schemeClr val="accent3"/>
                </a:solidFill>
              </a:rPr>
              <a:t>XGBoost + conformal interval + SHAP</a:t>
            </a:r>
            <a:endParaRPr lang="en-US" sz="1500" dirty="0"/>
          </a:p>
        </p:txBody>
      </p:sp>
      <p:sp>
        <p:nvSpPr>
          <p:cNvPr id="32" name="Shape 30"/>
          <p:cNvSpPr/>
          <p:nvPr/>
        </p:nvSpPr>
        <p:spPr>
          <a:xfrm>
            <a:off x="7488936" y="4343400"/>
            <a:ext cx="0" cy="274320"/>
          </a:xfrm>
          <a:prstGeom prst="line">
            <a:avLst/>
          </a:prstGeom>
          <a:noFill/>
          <a:ln w="19050">
            <a:solidFill>
              <a:srgbClr val="5B6B73"/>
            </a:solidFill>
            <a:prstDash val="solid"/>
          </a:ln>
        </p:spPr>
      </p:sp>
      <p:sp>
        <p:nvSpPr>
          <p:cNvPr id="33" name="Shape 31"/>
          <p:cNvSpPr/>
          <p:nvPr/>
        </p:nvSpPr>
        <p:spPr>
          <a:xfrm>
            <a:off x="10305288" y="3127248"/>
            <a:ext cx="0" cy="210312"/>
          </a:xfrm>
          <a:prstGeom prst="line">
            <a:avLst/>
          </a:prstGeom>
          <a:noFill/>
          <a:ln w="19050">
            <a:solidFill>
              <a:srgbClr val="5B6B73"/>
            </a:solidFill>
            <a:prstDash val="solid"/>
            <a:tailEnd type="triangle"/>
          </a:ln>
        </p:spPr>
      </p:sp>
      <p:sp>
        <p:nvSpPr>
          <p:cNvPr id="34" name="box Knowledge"/>
          <p:cNvSpPr/>
          <p:nvPr/>
        </p:nvSpPr>
        <p:spPr>
          <a:xfrm>
            <a:off x="8997696" y="3337560"/>
            <a:ext cx="2615184" cy="1005840"/>
          </a:xfrm>
          <a:prstGeom prst="roundRect">
            <a:avLst>
              <a:gd name="adj" fmla="val 7273"/>
            </a:avLst>
          </a:prstGeom>
          <a:solidFill>
            <a:srgbClr val="E3F3F7"/>
          </a:solidFill>
          <a:ln w="15875">
            <a:solidFill>
              <a:srgbClr val="0891B2"/>
            </a:solidFill>
            <a:prstDash val="solid"/>
          </a:ln>
        </p:spPr>
      </p:sp>
      <p:sp>
        <p:nvSpPr>
          <p:cNvPr id="35" name="Text 33"/>
          <p:cNvSpPr txBox="1"/>
          <p:nvPr/>
        </p:nvSpPr>
        <p:spPr>
          <a:xfrm>
            <a:off x="9107424" y="3337560"/>
            <a:ext cx="2395728" cy="1005840"/>
          </a:xfrm>
          <a:prstGeom prst="rect">
            <a:avLst/>
          </a:prstGeom>
          <a:noFill/>
          <a:ln/>
        </p:spPr>
        <p:txBody>
          <a:bodyPr wrap="square" lIns="0" tIns="0" rIns="0" bIns="0" rtlCol="0" anchor="ctr"/>
          <a:lstStyle/>
          <a:p>
            <a:pPr algn="ctr" indent="0" marL="0">
              <a:buNone/>
            </a:pPr>
            <a:r>
              <a:rPr lang="en-US" sz="1500" b="1" dirty="0">
                <a:solidFill>
                  <a:schemeClr val="tx1"/>
                </a:solidFill>
              </a:rPr>
              <a:t>Knowledge</a:t>
            </a:r>
            <a:endParaRPr lang="en-US" sz="1500" dirty="0"/>
          </a:p>
          <a:p>
            <a:pPr algn="ctr" indent="0" marL="0">
              <a:buNone/>
            </a:pPr>
            <a:r>
              <a:rPr lang="en-US" sz="1200" dirty="0">
                <a:solidFill>
                  <a:schemeClr val="accent3"/>
                </a:solidFill>
              </a:rPr>
              <a:t>RAG over notes + ChatMOF paper</a:t>
            </a:r>
            <a:endParaRPr lang="en-US" sz="1500" dirty="0"/>
          </a:p>
        </p:txBody>
      </p:sp>
      <p:sp>
        <p:nvSpPr>
          <p:cNvPr id="36" name="Shape 34"/>
          <p:cNvSpPr/>
          <p:nvPr/>
        </p:nvSpPr>
        <p:spPr>
          <a:xfrm>
            <a:off x="10305288" y="4343400"/>
            <a:ext cx="0" cy="274320"/>
          </a:xfrm>
          <a:prstGeom prst="line">
            <a:avLst/>
          </a:prstGeom>
          <a:noFill/>
          <a:ln w="19050">
            <a:solidFill>
              <a:srgbClr val="5B6B73"/>
            </a:solidFill>
            <a:prstDash val="solid"/>
          </a:ln>
        </p:spPr>
      </p:sp>
      <p:sp>
        <p:nvSpPr>
          <p:cNvPr id="37" name="Shape 35"/>
          <p:cNvSpPr/>
          <p:nvPr/>
        </p:nvSpPr>
        <p:spPr>
          <a:xfrm>
            <a:off x="1856232" y="4617720"/>
            <a:ext cx="8449056" cy="0"/>
          </a:xfrm>
          <a:prstGeom prst="line">
            <a:avLst/>
          </a:prstGeom>
          <a:noFill/>
          <a:ln w="19050">
            <a:solidFill>
              <a:srgbClr val="5B6B73"/>
            </a:solidFill>
            <a:prstDash val="solid"/>
          </a:ln>
        </p:spPr>
      </p:sp>
      <p:sp>
        <p:nvSpPr>
          <p:cNvPr id="38" name="Shape 36"/>
          <p:cNvSpPr/>
          <p:nvPr/>
        </p:nvSpPr>
        <p:spPr>
          <a:xfrm>
            <a:off x="2194560" y="4617720"/>
            <a:ext cx="0" cy="274320"/>
          </a:xfrm>
          <a:prstGeom prst="line">
            <a:avLst/>
          </a:prstGeom>
          <a:noFill/>
          <a:ln w="19050">
            <a:solidFill>
              <a:srgbClr val="5B6B73"/>
            </a:solidFill>
            <a:prstDash val="solid"/>
            <a:tailEnd type="triangle"/>
          </a:ln>
        </p:spPr>
      </p:sp>
      <p:sp>
        <p:nvSpPr>
          <p:cNvPr id="39" name="box Answer writer"/>
          <p:cNvSpPr/>
          <p:nvPr/>
        </p:nvSpPr>
        <p:spPr>
          <a:xfrm>
            <a:off x="548640" y="4892040"/>
            <a:ext cx="3291840" cy="868680"/>
          </a:xfrm>
          <a:prstGeom prst="roundRect">
            <a:avLst>
              <a:gd name="adj" fmla="val 8421"/>
            </a:avLst>
          </a:prstGeom>
          <a:solidFill>
            <a:srgbClr val="FBEAE1"/>
          </a:solidFill>
          <a:ln w="15875">
            <a:solidFill>
              <a:srgbClr val="D9622B"/>
            </a:solidFill>
            <a:prstDash val="solid"/>
          </a:ln>
        </p:spPr>
      </p:sp>
      <p:sp>
        <p:nvSpPr>
          <p:cNvPr id="40" name="Text 38"/>
          <p:cNvSpPr txBox="1"/>
          <p:nvPr/>
        </p:nvSpPr>
        <p:spPr>
          <a:xfrm>
            <a:off x="658368" y="4892040"/>
            <a:ext cx="3072384" cy="868680"/>
          </a:xfrm>
          <a:prstGeom prst="rect">
            <a:avLst/>
          </a:prstGeom>
          <a:noFill/>
          <a:ln/>
        </p:spPr>
        <p:txBody>
          <a:bodyPr wrap="square" lIns="0" tIns="0" rIns="0" bIns="0" rtlCol="0" anchor="ctr"/>
          <a:lstStyle/>
          <a:p>
            <a:pPr algn="ctr" indent="0" marL="0">
              <a:buNone/>
            </a:pPr>
            <a:r>
              <a:rPr lang="en-US" sz="1500" b="1" dirty="0">
                <a:solidFill>
                  <a:schemeClr val="tx1"/>
                </a:solidFill>
              </a:rPr>
              <a:t>Answer writer</a:t>
            </a:r>
            <a:endParaRPr lang="en-US" sz="1500" dirty="0"/>
          </a:p>
          <a:p>
            <a:pPr algn="ctr" indent="0" marL="0">
              <a:buNone/>
            </a:pPr>
            <a:r>
              <a:rPr lang="en-US" sz="1200" dirty="0">
                <a:solidFill>
                  <a:schemeClr val="accent3"/>
                </a:solidFill>
              </a:rPr>
              <a:t>LLM, from at most 10 verified rows</a:t>
            </a:r>
            <a:endParaRPr lang="en-US" sz="1500" dirty="0"/>
          </a:p>
        </p:txBody>
      </p:sp>
      <p:sp>
        <p:nvSpPr>
          <p:cNvPr id="41" name="box Answer validator"/>
          <p:cNvSpPr/>
          <p:nvPr/>
        </p:nvSpPr>
        <p:spPr>
          <a:xfrm>
            <a:off x="4251960" y="4892040"/>
            <a:ext cx="3566160" cy="868680"/>
          </a:xfrm>
          <a:prstGeom prst="roundRect">
            <a:avLst>
              <a:gd name="adj" fmla="val 8421"/>
            </a:avLst>
          </a:prstGeom>
          <a:solidFill>
            <a:srgbClr val="E3F3F7"/>
          </a:solidFill>
          <a:ln w="15875">
            <a:solidFill>
              <a:srgbClr val="0891B2"/>
            </a:solidFill>
            <a:prstDash val="solid"/>
          </a:ln>
        </p:spPr>
      </p:sp>
      <p:sp>
        <p:nvSpPr>
          <p:cNvPr id="42" name="Text 40"/>
          <p:cNvSpPr txBox="1"/>
          <p:nvPr/>
        </p:nvSpPr>
        <p:spPr>
          <a:xfrm>
            <a:off x="4361688" y="4892040"/>
            <a:ext cx="3346704" cy="868680"/>
          </a:xfrm>
          <a:prstGeom prst="rect">
            <a:avLst/>
          </a:prstGeom>
          <a:noFill/>
          <a:ln/>
        </p:spPr>
        <p:txBody>
          <a:bodyPr wrap="square" lIns="0" tIns="0" rIns="0" bIns="0" rtlCol="0" anchor="ctr"/>
          <a:lstStyle/>
          <a:p>
            <a:pPr algn="ctr" indent="0" marL="0">
              <a:buNone/>
            </a:pPr>
            <a:r>
              <a:rPr lang="en-US" sz="1500" b="1" dirty="0">
                <a:solidFill>
                  <a:schemeClr val="tx1"/>
                </a:solidFill>
              </a:rPr>
              <a:t>Answer validator</a:t>
            </a:r>
            <a:endParaRPr lang="en-US" sz="1500" dirty="0"/>
          </a:p>
          <a:p>
            <a:pPr algn="ctr" indent="0" marL="0">
              <a:buNone/>
            </a:pPr>
            <a:r>
              <a:rPr lang="en-US" sz="1200" dirty="0">
                <a:solidFill>
                  <a:schemeClr val="accent3"/>
                </a:solidFill>
              </a:rPr>
              <a:t>IDs, numbers and claims must match data</a:t>
            </a:r>
            <a:endParaRPr lang="en-US" sz="1500" dirty="0"/>
          </a:p>
        </p:txBody>
      </p:sp>
      <p:sp>
        <p:nvSpPr>
          <p:cNvPr id="43" name="box Answer + verified table"/>
          <p:cNvSpPr/>
          <p:nvPr/>
        </p:nvSpPr>
        <p:spPr>
          <a:xfrm>
            <a:off x="8229600" y="4892040"/>
            <a:ext cx="3383280" cy="868680"/>
          </a:xfrm>
          <a:prstGeom prst="roundRect">
            <a:avLst>
              <a:gd name="adj" fmla="val 8421"/>
            </a:avLst>
          </a:prstGeom>
          <a:solidFill>
            <a:srgbClr val="E3F3F7"/>
          </a:solidFill>
          <a:ln w="15875">
            <a:solidFill>
              <a:srgbClr val="0891B2"/>
            </a:solidFill>
            <a:prstDash val="solid"/>
          </a:ln>
        </p:spPr>
      </p:sp>
      <p:sp>
        <p:nvSpPr>
          <p:cNvPr id="44" name="Text 42"/>
          <p:cNvSpPr txBox="1"/>
          <p:nvPr/>
        </p:nvSpPr>
        <p:spPr>
          <a:xfrm>
            <a:off x="8339328" y="4892040"/>
            <a:ext cx="3163824" cy="868680"/>
          </a:xfrm>
          <a:prstGeom prst="rect">
            <a:avLst/>
          </a:prstGeom>
          <a:noFill/>
          <a:ln/>
        </p:spPr>
        <p:txBody>
          <a:bodyPr wrap="square" lIns="0" tIns="0" rIns="0" bIns="0" rtlCol="0" anchor="ctr"/>
          <a:lstStyle/>
          <a:p>
            <a:pPr algn="ctr" indent="0" marL="0">
              <a:buNone/>
            </a:pPr>
            <a:r>
              <a:rPr lang="en-US" sz="1500" b="1" dirty="0">
                <a:solidFill>
                  <a:schemeClr val="tx1"/>
                </a:solidFill>
              </a:rPr>
              <a:t>Answer + verified table</a:t>
            </a:r>
            <a:endParaRPr lang="en-US" sz="1500" dirty="0"/>
          </a:p>
          <a:p>
            <a:pPr algn="ctr" indent="0" marL="0">
              <a:buNone/>
            </a:pPr>
            <a:r>
              <a:rPr lang="en-US" sz="1200" dirty="0">
                <a:solidFill>
                  <a:schemeClr val="accent3"/>
                </a:solidFill>
              </a:rPr>
              <a:t>plus plan, SQL and validator trace</a:t>
            </a:r>
            <a:endParaRPr lang="en-US" sz="1500" dirty="0"/>
          </a:p>
        </p:txBody>
      </p:sp>
      <p:sp>
        <p:nvSpPr>
          <p:cNvPr id="45" name="Shape 43"/>
          <p:cNvSpPr/>
          <p:nvPr/>
        </p:nvSpPr>
        <p:spPr>
          <a:xfrm>
            <a:off x="3840480" y="5321808"/>
            <a:ext cx="411480" cy="0"/>
          </a:xfrm>
          <a:prstGeom prst="line">
            <a:avLst/>
          </a:prstGeom>
          <a:noFill/>
          <a:ln w="19050">
            <a:solidFill>
              <a:srgbClr val="5B6B73"/>
            </a:solidFill>
            <a:prstDash val="solid"/>
            <a:tailEnd type="triangle"/>
          </a:ln>
        </p:spPr>
      </p:sp>
      <p:sp>
        <p:nvSpPr>
          <p:cNvPr id="46" name="Shape 44"/>
          <p:cNvSpPr/>
          <p:nvPr/>
        </p:nvSpPr>
        <p:spPr>
          <a:xfrm>
            <a:off x="7818120" y="5321808"/>
            <a:ext cx="411480" cy="0"/>
          </a:xfrm>
          <a:prstGeom prst="line">
            <a:avLst/>
          </a:prstGeom>
          <a:noFill/>
          <a:ln w="19050">
            <a:solidFill>
              <a:srgbClr val="5B6B73"/>
            </a:solidFill>
            <a:prstDash val="solid"/>
            <a:tailEnd type="triangle"/>
          </a:ln>
        </p:spPr>
      </p:sp>
      <p:sp>
        <p:nvSpPr>
          <p:cNvPr id="47" name="Shape 45"/>
          <p:cNvSpPr/>
          <p:nvPr/>
        </p:nvSpPr>
        <p:spPr>
          <a:xfrm>
            <a:off x="548640" y="5943600"/>
            <a:ext cx="228600" cy="182880"/>
          </a:xfrm>
          <a:prstGeom prst="rect">
            <a:avLst/>
          </a:prstGeom>
          <a:solidFill>
            <a:srgbClr val="FBEAE1"/>
          </a:solidFill>
          <a:ln w="12700">
            <a:solidFill>
              <a:srgbClr val="D9622B"/>
            </a:solidFill>
            <a:prstDash val="solid"/>
          </a:ln>
        </p:spPr>
      </p:sp>
      <p:sp>
        <p:nvSpPr>
          <p:cNvPr id="48" name="Text 46"/>
          <p:cNvSpPr txBox="1"/>
          <p:nvPr/>
        </p:nvSpPr>
        <p:spPr>
          <a:xfrm>
            <a:off x="868680" y="5916168"/>
            <a:ext cx="2377440" cy="274320"/>
          </a:xfrm>
          <a:prstGeom prst="rect">
            <a:avLst/>
          </a:prstGeom>
          <a:noFill/>
          <a:ln/>
        </p:spPr>
        <p:txBody>
          <a:bodyPr wrap="square" lIns="0" tIns="0" rIns="0" bIns="0" rtlCol="0" anchor="t"/>
          <a:lstStyle/>
          <a:p>
            <a:pPr indent="0" marL="0">
              <a:buNone/>
            </a:pPr>
            <a:r>
              <a:rPr lang="en-US" sz="1200" dirty="0">
                <a:solidFill>
                  <a:schemeClr val="accent3"/>
                </a:solidFill>
              </a:rPr>
              <a:t>uses a language model</a:t>
            </a:r>
            <a:endParaRPr lang="en-US" sz="1200" dirty="0"/>
          </a:p>
        </p:txBody>
      </p:sp>
      <p:sp>
        <p:nvSpPr>
          <p:cNvPr id="49" name="Shape 47"/>
          <p:cNvSpPr/>
          <p:nvPr/>
        </p:nvSpPr>
        <p:spPr>
          <a:xfrm>
            <a:off x="3291840" y="5943600"/>
            <a:ext cx="228600" cy="182880"/>
          </a:xfrm>
          <a:prstGeom prst="rect">
            <a:avLst/>
          </a:prstGeom>
          <a:solidFill>
            <a:srgbClr val="E3F3F7"/>
          </a:solidFill>
          <a:ln w="12700">
            <a:solidFill>
              <a:srgbClr val="0891B2"/>
            </a:solidFill>
            <a:prstDash val="solid"/>
          </a:ln>
        </p:spPr>
      </p:sp>
      <p:sp>
        <p:nvSpPr>
          <p:cNvPr id="50" name="Text 48"/>
          <p:cNvSpPr txBox="1"/>
          <p:nvPr/>
        </p:nvSpPr>
        <p:spPr>
          <a:xfrm>
            <a:off x="3611880" y="5916168"/>
            <a:ext cx="2743200" cy="274320"/>
          </a:xfrm>
          <a:prstGeom prst="rect">
            <a:avLst/>
          </a:prstGeom>
          <a:noFill/>
          <a:ln/>
        </p:spPr>
        <p:txBody>
          <a:bodyPr wrap="square" lIns="0" tIns="0" rIns="0" bIns="0" rtlCol="0" anchor="t"/>
          <a:lstStyle/>
          <a:p>
            <a:pPr indent="0" marL="0">
              <a:buNone/>
            </a:pPr>
            <a:r>
              <a:rPr lang="en-US" sz="1200" dirty="0">
                <a:solidFill>
                  <a:schemeClr val="accent3"/>
                </a:solidFill>
              </a:rPr>
              <a:t>deterministic, tested code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PLANNING</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LLM writes a plan, not code, and the validator repairs it</a:t>
            </a:r>
            <a:endParaRPr lang="en-US" sz="2800" dirty="0"/>
          </a:p>
        </p:txBody>
      </p:sp>
      <p:sp>
        <p:nvSpPr>
          <p:cNvPr id="4" name="card"/>
          <p:cNvSpPr/>
          <p:nvPr/>
        </p:nvSpPr>
        <p:spPr>
          <a:xfrm>
            <a:off x="548640" y="1600200"/>
            <a:ext cx="6035040" cy="685800"/>
          </a:xfrm>
          <a:prstGeom prst="roundRect">
            <a:avLst>
              <a:gd name="adj" fmla="val 10667"/>
            </a:avLst>
          </a:prstGeom>
          <a:solidFill>
            <a:srgbClr val="F2F6F7"/>
          </a:solidFill>
          <a:ln w="12700">
            <a:solidFill>
              <a:srgbClr val="F2F6F7"/>
            </a:solidFill>
            <a:prstDash val="solid"/>
          </a:ln>
        </p:spPr>
      </p:sp>
      <p:sp>
        <p:nvSpPr>
          <p:cNvPr id="5" name="hex FaCommentDots"/>
          <p:cNvSpPr/>
          <p:nvPr/>
        </p:nvSpPr>
        <p:spPr>
          <a:xfrm>
            <a:off x="731520" y="1673352"/>
            <a:ext cx="548640" cy="482803"/>
          </a:xfrm>
          <a:prstGeom prst="hexagon">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890626" y="1799539"/>
            <a:ext cx="230429" cy="230429"/>
          </a:xfrm>
          <a:prstGeom prst="rect">
            <a:avLst/>
          </a:prstGeom>
        </p:spPr>
      </p:pic>
      <p:sp>
        <p:nvSpPr>
          <p:cNvPr id="7" name="Text 4"/>
          <p:cNvSpPr txBox="1"/>
          <p:nvPr/>
        </p:nvSpPr>
        <p:spPr>
          <a:xfrm>
            <a:off x="1463040" y="1600200"/>
            <a:ext cx="5029200" cy="685800"/>
          </a:xfrm>
          <a:prstGeom prst="rect">
            <a:avLst/>
          </a:prstGeom>
          <a:noFill/>
          <a:ln/>
        </p:spPr>
        <p:txBody>
          <a:bodyPr wrap="square" lIns="0" tIns="0" rIns="0" bIns="0" rtlCol="0" anchor="ctr"/>
          <a:lstStyle/>
          <a:p>
            <a:pPr indent="0" marL="0">
              <a:buNone/>
            </a:pPr>
            <a:r>
              <a:rPr lang="en-US" sz="1600" i="1" dirty="0">
                <a:solidFill>
                  <a:schemeClr val="tx1"/>
                </a:solidFill>
              </a:rPr>
              <a:t>“Which zinc MOFs have high surface area and low density?”</a:t>
            </a:r>
            <a:endParaRPr lang="en-US" sz="1600" dirty="0"/>
          </a:p>
        </p:txBody>
      </p:sp>
      <p:sp>
        <p:nvSpPr>
          <p:cNvPr id="8" name="Shape 5"/>
          <p:cNvSpPr/>
          <p:nvPr/>
        </p:nvSpPr>
        <p:spPr>
          <a:xfrm>
            <a:off x="3566160" y="2286000"/>
            <a:ext cx="0" cy="274320"/>
          </a:xfrm>
          <a:prstGeom prst="line">
            <a:avLst/>
          </a:prstGeom>
          <a:noFill/>
          <a:ln w="19050">
            <a:solidFill>
              <a:srgbClr val="5B6B73"/>
            </a:solidFill>
            <a:prstDash val="solid"/>
            <a:tailEnd type="triangle"/>
          </a:ln>
        </p:spPr>
      </p:sp>
      <p:sp>
        <p:nvSpPr>
          <p:cNvPr id="9" name="card"/>
          <p:cNvSpPr/>
          <p:nvPr/>
        </p:nvSpPr>
        <p:spPr>
          <a:xfrm>
            <a:off x="548640" y="2560320"/>
            <a:ext cx="6035040" cy="1783080"/>
          </a:xfrm>
          <a:prstGeom prst="roundRect">
            <a:avLst>
              <a:gd name="adj" fmla="val 4103"/>
            </a:avLst>
          </a:prstGeom>
          <a:solidFill>
            <a:srgbClr val="0F2433"/>
          </a:solidFill>
          <a:ln w="12700">
            <a:solidFill>
              <a:srgbClr val="0F2433"/>
            </a:solidFill>
            <a:prstDash val="solid"/>
          </a:ln>
        </p:spPr>
      </p:sp>
      <p:sp>
        <p:nvSpPr>
          <p:cNvPr id="10" name="Text 7"/>
          <p:cNvSpPr txBox="1"/>
          <p:nvPr/>
        </p:nvSpPr>
        <p:spPr>
          <a:xfrm>
            <a:off x="822960" y="2697480"/>
            <a:ext cx="5577840" cy="1920240"/>
          </a:xfrm>
          <a:prstGeom prst="rect">
            <a:avLst/>
          </a:prstGeom>
          <a:noFill/>
          <a:ln/>
        </p:spPr>
        <p:txBody>
          <a:bodyPr wrap="square" lIns="0" tIns="0" rIns="0" bIns="0" rtlCol="0" anchor="t"/>
          <a:lstStyle/>
          <a:p>
            <a:pPr indent="0" marL="0">
              <a:buNone/>
            </a:pPr>
            <a:r>
              <a:rPr lang="en-US" sz="1300" dirty="0">
                <a:solidFill>
                  <a:srgbClr val="D6E4EA"/>
                </a:solidFill>
                <a:latin typeface="Courier New" pitchFamily="34" charset="0"/>
                <a:ea typeface="Courier New" pitchFamily="34" charset="-122"/>
                <a:cs typeface="Courier New" pitchFamily="34" charset="-120"/>
              </a:rPr>
              <a:t>{ "intent": "search",</a:t>
            </a:r>
            <a:endParaRPr lang="en-US" sz="1300" dirty="0"/>
          </a:p>
          <a:p>
            <a:pPr indent="0" marL="0">
              <a:buNone/>
            </a:pPr>
            <a:r>
              <a:rPr lang="en-US" sz="1300" dirty="0">
                <a:solidFill>
                  <a:srgbClr val="D6E4EA"/>
                </a:solidFill>
                <a:latin typeface="Courier New" pitchFamily="34" charset="0"/>
                <a:ea typeface="Courier New" pitchFamily="34" charset="-122"/>
                <a:cs typeface="Courier New" pitchFamily="34" charset="-120"/>
              </a:rPr>
              <a:t>  "metals": ["Zn"],</a:t>
            </a:r>
            <a:endParaRPr lang="en-US" sz="1300" dirty="0"/>
          </a:p>
          <a:p>
            <a:pPr indent="0" marL="0">
              <a:buNone/>
            </a:pPr>
            <a:r>
              <a:rPr lang="en-US" sz="1300" dirty="0">
                <a:solidFill>
                  <a:srgbClr val="D6E4EA"/>
                </a:solidFill>
                <a:latin typeface="Courier New" pitchFamily="34" charset="0"/>
                <a:ea typeface="Courier New" pitchFamily="34" charset="-122"/>
                <a:cs typeface="Courier New" pitchFamily="34" charset="-120"/>
              </a:rPr>
              <a:t>  "objectives": [</a:t>
            </a:r>
            <a:endParaRPr lang="en-US" sz="1300" dirty="0"/>
          </a:p>
          <a:p>
            <a:pPr indent="0" marL="0">
              <a:buNone/>
            </a:pPr>
            <a:r>
              <a:rPr lang="en-US" sz="1300" dirty="0">
                <a:solidFill>
                  <a:srgbClr val="D6E4EA"/>
                </a:solidFill>
                <a:latin typeface="Courier New" pitchFamily="34" charset="0"/>
                <a:ea typeface="Courier New" pitchFamily="34" charset="-122"/>
                <a:cs typeface="Courier New" pitchFamily="34" charset="-120"/>
              </a:rPr>
              <a:t>    {"column": "Surface_Area", "direction": "max"},</a:t>
            </a:r>
            <a:endParaRPr lang="en-US" sz="1300" dirty="0"/>
          </a:p>
          <a:p>
            <a:pPr indent="0" marL="0">
              <a:buNone/>
            </a:pPr>
            <a:r>
              <a:rPr lang="en-US" sz="1300" dirty="0">
                <a:solidFill>
                  <a:srgbClr val="D6E4EA"/>
                </a:solidFill>
                <a:latin typeface="Courier New" pitchFamily="34" charset="0"/>
                <a:ea typeface="Courier New" pitchFamily="34" charset="-122"/>
                <a:cs typeface="Courier New" pitchFamily="34" charset="-120"/>
              </a:rPr>
              <a:t>    {"column": "Density", "direction": "min"} ],</a:t>
            </a:r>
            <a:endParaRPr lang="en-US" sz="1300" dirty="0"/>
          </a:p>
          <a:p>
            <a:pPr indent="0" marL="0">
              <a:buNone/>
            </a:pPr>
            <a:r>
              <a:rPr lang="en-US" sz="1300" dirty="0">
                <a:solidFill>
                  <a:srgbClr val="D6E4EA"/>
                </a:solidFill>
                <a:latin typeface="Courier New" pitchFamily="34" charset="0"/>
                <a:ea typeface="Courier New" pitchFamily="34" charset="-122"/>
                <a:cs typeface="Courier New" pitchFamily="34" charset="-120"/>
              </a:rPr>
              <a:t>  "limit": 5 }</a:t>
            </a:r>
            <a:endParaRPr lang="en-US" sz="1300" dirty="0"/>
          </a:p>
        </p:txBody>
      </p:sp>
      <p:sp>
        <p:nvSpPr>
          <p:cNvPr id="11" name="Shape 8"/>
          <p:cNvSpPr/>
          <p:nvPr/>
        </p:nvSpPr>
        <p:spPr>
          <a:xfrm>
            <a:off x="3566160" y="4343400"/>
            <a:ext cx="0" cy="274320"/>
          </a:xfrm>
          <a:prstGeom prst="line">
            <a:avLst/>
          </a:prstGeom>
          <a:noFill/>
          <a:ln w="19050">
            <a:solidFill>
              <a:srgbClr val="5B6B73"/>
            </a:solidFill>
            <a:prstDash val="solid"/>
            <a:tailEnd type="triangle"/>
          </a:ln>
        </p:spPr>
      </p:sp>
      <p:sp>
        <p:nvSpPr>
          <p:cNvPr id="12" name="card"/>
          <p:cNvSpPr/>
          <p:nvPr/>
        </p:nvSpPr>
        <p:spPr>
          <a:xfrm>
            <a:off x="548640" y="4617720"/>
            <a:ext cx="6035040" cy="1508760"/>
          </a:xfrm>
          <a:prstGeom prst="roundRect">
            <a:avLst>
              <a:gd name="adj" fmla="val 4848"/>
            </a:avLst>
          </a:prstGeom>
          <a:solidFill>
            <a:srgbClr val="E3F3F7"/>
          </a:solidFill>
          <a:ln w="12700">
            <a:solidFill>
              <a:srgbClr val="E3F3F7"/>
            </a:solidFill>
            <a:prstDash val="solid"/>
          </a:ln>
        </p:spPr>
      </p:sp>
      <p:sp>
        <p:nvSpPr>
          <p:cNvPr id="13" name="Text 10"/>
          <p:cNvSpPr txBox="1"/>
          <p:nvPr/>
        </p:nvSpPr>
        <p:spPr>
          <a:xfrm>
            <a:off x="777240" y="4709160"/>
            <a:ext cx="5577840" cy="685800"/>
          </a:xfrm>
          <a:prstGeom prst="rect">
            <a:avLst/>
          </a:prstGeom>
          <a:noFill/>
          <a:ln/>
        </p:spPr>
        <p:txBody>
          <a:bodyPr wrap="square" lIns="0" tIns="0" rIns="0" bIns="0" rtlCol="0" anchor="t"/>
          <a:lstStyle/>
          <a:p>
            <a:pPr indent="0" marL="0">
              <a:buNone/>
            </a:pPr>
            <a:r>
              <a:rPr lang="en-US" sz="1400" b="1" dirty="0">
                <a:solidFill>
                  <a:schemeClr val="tx1"/>
                </a:solidFill>
              </a:rPr>
              <a:t>Executor: </a:t>
            </a:r>
            <a:pPr indent="0" marL="0">
              <a:buNone/>
            </a:pPr>
            <a:r>
              <a:rPr lang="en-US" sz="1400" dirty="0">
                <a:solidFill>
                  <a:schemeClr val="tx1"/>
                </a:solidFill>
              </a:rPr>
              <a:t>whitelisted columns, bound parameters, read-only connection. Two objectives, so NSGA-II ranks the zinc MOFs.</a:t>
            </a:r>
            <a:endParaRPr lang="en-US" sz="1400" dirty="0"/>
          </a:p>
        </p:txBody>
      </p:sp>
      <p:sp>
        <p:nvSpPr>
          <p:cNvPr id="14" name="Text 11"/>
          <p:cNvSpPr txBox="1"/>
          <p:nvPr/>
        </p:nvSpPr>
        <p:spPr>
          <a:xfrm>
            <a:off x="777240" y="5440680"/>
            <a:ext cx="5577840" cy="548640"/>
          </a:xfrm>
          <a:prstGeom prst="rect">
            <a:avLst/>
          </a:prstGeom>
          <a:noFill/>
          <a:ln/>
        </p:spPr>
        <p:txBody>
          <a:bodyPr wrap="square" lIns="0" tIns="0" rIns="0" bIns="0" rtlCol="0" anchor="t"/>
          <a:lstStyle/>
          <a:p>
            <a:pPr indent="0" marL="0">
              <a:buNone/>
            </a:pPr>
            <a:r>
              <a:rPr lang="en-US" sz="1200" dirty="0">
                <a:solidFill>
                  <a:schemeClr val="tx2"/>
                </a:solidFill>
                <a:latin typeface="Courier New" pitchFamily="34" charset="0"/>
                <a:ea typeface="Courier New" pitchFamily="34" charset="-122"/>
                <a:cs typeface="Courier New" pitchFamily="34" charset="-120"/>
              </a:rPr>
              <a:t>SELECT * FROM materials WHERE MOF_ID IN</a:t>
            </a:r>
            <a:endParaRPr lang="en-US" sz="1200" dirty="0"/>
          </a:p>
          <a:p>
            <a:pPr indent="0" marL="0">
              <a:buNone/>
            </a:pPr>
            <a:r>
              <a:rPr lang="en-US" sz="1200" dirty="0">
                <a:solidFill>
                  <a:schemeClr val="tx2"/>
                </a:solidFill>
                <a:latin typeface="Courier New" pitchFamily="34" charset="0"/>
                <a:ea typeface="Courier New" pitchFamily="34" charset="-122"/>
                <a:cs typeface="Courier New" pitchFamily="34" charset="-120"/>
              </a:rPr>
              <a:t>  (SELECT MOF_ID FROM mof_metals WHERE Metal IN (?))</a:t>
            </a:r>
            <a:endParaRPr lang="en-US" sz="1200" dirty="0"/>
          </a:p>
        </p:txBody>
      </p:sp>
      <p:sp>
        <p:nvSpPr>
          <p:cNvPr id="15" name="Text 12"/>
          <p:cNvSpPr txBox="1"/>
          <p:nvPr/>
        </p:nvSpPr>
        <p:spPr>
          <a:xfrm>
            <a:off x="7040880" y="1600200"/>
            <a:ext cx="45720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Validator checks</a:t>
            </a:r>
            <a:endParaRPr lang="en-US" sz="1800" dirty="0"/>
          </a:p>
        </p:txBody>
      </p:sp>
      <p:pic>
        <p:nvPicPr>
          <p:cNvPr id="16" name="Image 1" descr="preencoded.png">    </p:cNvPr>
          <p:cNvPicPr>
            <a:picLocks noChangeAspect="1"/>
          </p:cNvPicPr>
          <p:nvPr/>
        </p:nvPicPr>
        <p:blipFill>
          <a:blip r:embed="rId2"/>
          <a:stretch>
            <a:fillRect/>
          </a:stretch>
        </p:blipFill>
        <p:spPr>
          <a:xfrm>
            <a:off x="7086600" y="2148840"/>
            <a:ext cx="256032" cy="256032"/>
          </a:xfrm>
          <a:prstGeom prst="rect">
            <a:avLst/>
          </a:prstGeom>
        </p:spPr>
      </p:pic>
      <p:sp>
        <p:nvSpPr>
          <p:cNvPr id="17" name="Text 13"/>
          <p:cNvSpPr txBox="1"/>
          <p:nvPr/>
        </p:nvSpPr>
        <p:spPr>
          <a:xfrm>
            <a:off x="7498080" y="2103120"/>
            <a:ext cx="4114800" cy="411480"/>
          </a:xfrm>
          <a:prstGeom prst="rect">
            <a:avLst/>
          </a:prstGeom>
          <a:noFill/>
          <a:ln/>
        </p:spPr>
        <p:txBody>
          <a:bodyPr wrap="square" lIns="0" tIns="0" rIns="0" bIns="0" rtlCol="0" anchor="ctr"/>
          <a:lstStyle/>
          <a:p>
            <a:pPr indent="0" marL="0">
              <a:buNone/>
            </a:pPr>
            <a:r>
              <a:rPr lang="en-US" sz="1500" dirty="0">
                <a:solidFill>
                  <a:schemeClr val="tx1"/>
                </a:solidFill>
              </a:rPr>
              <a:t>Column aliases resolved from one registry</a:t>
            </a:r>
            <a:endParaRPr lang="en-US" sz="1500" dirty="0"/>
          </a:p>
        </p:txBody>
      </p:sp>
      <p:pic>
        <p:nvPicPr>
          <p:cNvPr id="18" name="Image 2" descr="preencoded.png">    </p:cNvPr>
          <p:cNvPicPr>
            <a:picLocks noChangeAspect="1"/>
          </p:cNvPicPr>
          <p:nvPr/>
        </p:nvPicPr>
        <p:blipFill>
          <a:blip r:embed="rId3"/>
          <a:stretch>
            <a:fillRect/>
          </a:stretch>
        </p:blipFill>
        <p:spPr>
          <a:xfrm>
            <a:off x="7086600" y="2660904"/>
            <a:ext cx="256032" cy="256032"/>
          </a:xfrm>
          <a:prstGeom prst="rect">
            <a:avLst/>
          </a:prstGeom>
        </p:spPr>
      </p:pic>
      <p:sp>
        <p:nvSpPr>
          <p:cNvPr id="19" name="Text 14"/>
          <p:cNvSpPr txBox="1"/>
          <p:nvPr/>
        </p:nvSpPr>
        <p:spPr>
          <a:xfrm>
            <a:off x="7498080" y="2615184"/>
            <a:ext cx="4114800" cy="411480"/>
          </a:xfrm>
          <a:prstGeom prst="rect">
            <a:avLst/>
          </a:prstGeom>
          <a:noFill/>
          <a:ln/>
        </p:spPr>
        <p:txBody>
          <a:bodyPr wrap="square" lIns="0" tIns="0" rIns="0" bIns="0" rtlCol="0" anchor="ctr"/>
          <a:lstStyle/>
          <a:p>
            <a:pPr indent="0" marL="0">
              <a:buNone/>
            </a:pPr>
            <a:r>
              <a:rPr lang="en-US" sz="1500" dirty="0">
                <a:solidFill>
                  <a:schemeClr val="tx1"/>
                </a:solidFill>
              </a:rPr>
              <a:t>Units, operators and percentages normalised</a:t>
            </a:r>
            <a:endParaRPr lang="en-US" sz="1500" dirty="0"/>
          </a:p>
        </p:txBody>
      </p:sp>
      <p:pic>
        <p:nvPicPr>
          <p:cNvPr id="20" name="Image 3" descr="preencoded.png">    </p:cNvPr>
          <p:cNvPicPr>
            <a:picLocks noChangeAspect="1"/>
          </p:cNvPicPr>
          <p:nvPr/>
        </p:nvPicPr>
        <p:blipFill>
          <a:blip r:embed="rId4"/>
          <a:stretch>
            <a:fillRect/>
          </a:stretch>
        </p:blipFill>
        <p:spPr>
          <a:xfrm>
            <a:off x="7086600" y="3172968"/>
            <a:ext cx="256032" cy="256032"/>
          </a:xfrm>
          <a:prstGeom prst="rect">
            <a:avLst/>
          </a:prstGeom>
        </p:spPr>
      </p:pic>
      <p:sp>
        <p:nvSpPr>
          <p:cNvPr id="21" name="Text 15"/>
          <p:cNvSpPr txBox="1"/>
          <p:nvPr/>
        </p:nvSpPr>
        <p:spPr>
          <a:xfrm>
            <a:off x="7498080" y="3127248"/>
            <a:ext cx="4114800" cy="411480"/>
          </a:xfrm>
          <a:prstGeom prst="rect">
            <a:avLst/>
          </a:prstGeom>
          <a:noFill/>
          <a:ln/>
        </p:spPr>
        <p:txBody>
          <a:bodyPr wrap="square" lIns="0" tIns="0" rIns="0" bIns="0" rtlCol="0" anchor="ctr"/>
          <a:lstStyle/>
          <a:p>
            <a:pPr indent="0" marL="0">
              <a:buNone/>
            </a:pPr>
            <a:r>
              <a:rPr lang="en-US" sz="1500" dirty="0">
                <a:solidFill>
                  <a:schemeClr val="tx1"/>
                </a:solidFill>
              </a:rPr>
              <a:t>Impossible or invented values rejected</a:t>
            </a:r>
            <a:endParaRPr lang="en-US" sz="1500" dirty="0"/>
          </a:p>
        </p:txBody>
      </p:sp>
      <p:pic>
        <p:nvPicPr>
          <p:cNvPr id="22" name="Image 4" descr="preencoded.png">    </p:cNvPr>
          <p:cNvPicPr>
            <a:picLocks noChangeAspect="1"/>
          </p:cNvPicPr>
          <p:nvPr/>
        </p:nvPicPr>
        <p:blipFill>
          <a:blip r:embed="rId5"/>
          <a:stretch>
            <a:fillRect/>
          </a:stretch>
        </p:blipFill>
        <p:spPr>
          <a:xfrm>
            <a:off x="7086600" y="3685032"/>
            <a:ext cx="256032" cy="256032"/>
          </a:xfrm>
          <a:prstGeom prst="rect">
            <a:avLst/>
          </a:prstGeom>
        </p:spPr>
      </p:pic>
      <p:sp>
        <p:nvSpPr>
          <p:cNvPr id="23" name="Text 16"/>
          <p:cNvSpPr txBox="1"/>
          <p:nvPr/>
        </p:nvSpPr>
        <p:spPr>
          <a:xfrm>
            <a:off x="7498080" y="3639312"/>
            <a:ext cx="4114800" cy="411480"/>
          </a:xfrm>
          <a:prstGeom prst="rect">
            <a:avLst/>
          </a:prstGeom>
          <a:noFill/>
          <a:ln/>
        </p:spPr>
        <p:txBody>
          <a:bodyPr wrap="square" lIns="0" tIns="0" rIns="0" bIns="0" rtlCol="0" anchor="ctr"/>
          <a:lstStyle/>
          <a:p>
            <a:pPr indent="0" marL="0">
              <a:buNone/>
            </a:pPr>
            <a:r>
              <a:rPr lang="en-US" sz="1500" dirty="0">
                <a:solidFill>
                  <a:schemeClr val="tx1"/>
                </a:solidFill>
              </a:rPr>
              <a:t>Thresholds not in the question become preferences</a:t>
            </a:r>
            <a:endParaRPr lang="en-US" sz="1500" dirty="0"/>
          </a:p>
        </p:txBody>
      </p:sp>
      <p:pic>
        <p:nvPicPr>
          <p:cNvPr id="24" name="Image 5" descr="preencoded.png">    </p:cNvPr>
          <p:cNvPicPr>
            <a:picLocks noChangeAspect="1"/>
          </p:cNvPicPr>
          <p:nvPr/>
        </p:nvPicPr>
        <p:blipFill>
          <a:blip r:embed="rId6"/>
          <a:stretch>
            <a:fillRect/>
          </a:stretch>
        </p:blipFill>
        <p:spPr>
          <a:xfrm>
            <a:off x="7086600" y="4197096"/>
            <a:ext cx="256032" cy="256032"/>
          </a:xfrm>
          <a:prstGeom prst="rect">
            <a:avLst/>
          </a:prstGeom>
        </p:spPr>
      </p:pic>
      <p:sp>
        <p:nvSpPr>
          <p:cNvPr id="25" name="Text 17"/>
          <p:cNvSpPr txBox="1"/>
          <p:nvPr/>
        </p:nvSpPr>
        <p:spPr>
          <a:xfrm>
            <a:off x="7498080" y="4151376"/>
            <a:ext cx="4114800" cy="411480"/>
          </a:xfrm>
          <a:prstGeom prst="rect">
            <a:avLst/>
          </a:prstGeom>
          <a:noFill/>
          <a:ln/>
        </p:spPr>
        <p:txBody>
          <a:bodyPr wrap="square" lIns="0" tIns="0" rIns="0" bIns="0" rtlCol="0" anchor="ctr"/>
          <a:lstStyle/>
          <a:p>
            <a:pPr indent="0" marL="0">
              <a:buNone/>
            </a:pPr>
            <a:r>
              <a:rPr lang="en-US" sz="1500" dirty="0">
                <a:solidFill>
                  <a:schemeClr val="tx1"/>
                </a:solidFill>
              </a:rPr>
              <a:t>MOF IDs not in the question dropped</a:t>
            </a:r>
            <a:endParaRPr lang="en-US" sz="1500" dirty="0"/>
          </a:p>
        </p:txBody>
      </p:sp>
      <p:pic>
        <p:nvPicPr>
          <p:cNvPr id="26" name="Image 6" descr="preencoded.png">    </p:cNvPr>
          <p:cNvPicPr>
            <a:picLocks noChangeAspect="1"/>
          </p:cNvPicPr>
          <p:nvPr/>
        </p:nvPicPr>
        <p:blipFill>
          <a:blip r:embed="rId7"/>
          <a:stretch>
            <a:fillRect/>
          </a:stretch>
        </p:blipFill>
        <p:spPr>
          <a:xfrm>
            <a:off x="7086600" y="4709160"/>
            <a:ext cx="256032" cy="256032"/>
          </a:xfrm>
          <a:prstGeom prst="rect">
            <a:avLst/>
          </a:prstGeom>
        </p:spPr>
      </p:pic>
      <p:sp>
        <p:nvSpPr>
          <p:cNvPr id="27" name="Text 18"/>
          <p:cNvSpPr txBox="1"/>
          <p:nvPr/>
        </p:nvSpPr>
        <p:spPr>
          <a:xfrm>
            <a:off x="7498080" y="4663440"/>
            <a:ext cx="4114800" cy="411480"/>
          </a:xfrm>
          <a:prstGeom prst="rect">
            <a:avLst/>
          </a:prstGeom>
          <a:noFill/>
          <a:ln/>
        </p:spPr>
        <p:txBody>
          <a:bodyPr wrap="square" lIns="0" tIns="0" rIns="0" bIns="0" rtlCol="0" anchor="ctr"/>
          <a:lstStyle/>
          <a:p>
            <a:pPr indent="0" marL="0">
              <a:buNone/>
            </a:pPr>
            <a:r>
              <a:rPr lang="en-US" sz="1500" dirty="0">
                <a:solidFill>
                  <a:schemeClr val="tx1"/>
                </a:solidFill>
              </a:rPr>
              <a:t>Superlatives written as constraints repaired</a:t>
            </a:r>
            <a:endParaRPr lang="en-US" sz="1500" dirty="0"/>
          </a:p>
        </p:txBody>
      </p:sp>
      <p:pic>
        <p:nvPicPr>
          <p:cNvPr id="28" name="Image 7" descr="preencoded.png">    </p:cNvPr>
          <p:cNvPicPr>
            <a:picLocks noChangeAspect="1"/>
          </p:cNvPicPr>
          <p:nvPr/>
        </p:nvPicPr>
        <p:blipFill>
          <a:blip r:embed="rId8"/>
          <a:stretch>
            <a:fillRect/>
          </a:stretch>
        </p:blipFill>
        <p:spPr>
          <a:xfrm>
            <a:off x="7086600" y="5221224"/>
            <a:ext cx="256032" cy="256032"/>
          </a:xfrm>
          <a:prstGeom prst="rect">
            <a:avLst/>
          </a:prstGeom>
        </p:spPr>
      </p:pic>
      <p:sp>
        <p:nvSpPr>
          <p:cNvPr id="29" name="Text 19"/>
          <p:cNvSpPr txBox="1"/>
          <p:nvPr/>
        </p:nvSpPr>
        <p:spPr>
          <a:xfrm>
            <a:off x="7498080" y="5175504"/>
            <a:ext cx="4114800" cy="411480"/>
          </a:xfrm>
          <a:prstGeom prst="rect">
            <a:avLst/>
          </a:prstGeom>
          <a:noFill/>
          <a:ln/>
        </p:spPr>
        <p:txBody>
          <a:bodyPr wrap="square" lIns="0" tIns="0" rIns="0" bIns="0" rtlCol="0" anchor="ctr"/>
          <a:lstStyle/>
          <a:p>
            <a:pPr indent="0" marL="0">
              <a:buNone/>
            </a:pPr>
            <a:r>
              <a:rPr lang="en-US" sz="1500" dirty="0">
                <a:solidFill>
                  <a:schemeClr val="tx1"/>
                </a:solidFill>
              </a:rPr>
              <a:t>Application presets expanded and explained</a:t>
            </a:r>
            <a:endParaRPr lang="en-US" sz="1500" dirty="0"/>
          </a:p>
        </p:txBody>
      </p:sp>
      <p:sp>
        <p:nvSpPr>
          <p:cNvPr id="30" name="Text 20"/>
          <p:cNvSpPr txBox="1"/>
          <p:nvPr/>
        </p:nvSpPr>
        <p:spPr>
          <a:xfrm>
            <a:off x="7040880" y="5715000"/>
            <a:ext cx="4572000" cy="548640"/>
          </a:xfrm>
          <a:prstGeom prst="rect">
            <a:avLst/>
          </a:prstGeom>
          <a:noFill/>
          <a:ln/>
        </p:spPr>
        <p:txBody>
          <a:bodyPr wrap="square" lIns="0" tIns="0" rIns="0" bIns="0" rtlCol="0" anchor="t"/>
          <a:lstStyle/>
          <a:p>
            <a:pPr indent="0" marL="0">
              <a:buNone/>
            </a:pPr>
            <a:r>
              <a:rPr lang="en-US" sz="1300" i="1" dirty="0">
                <a:solidFill>
                  <a:schemeClr val="accent3"/>
                </a:solidFill>
              </a:rPr>
              <a:t>Hybrid planner: facts the rule parser is certain of (numbers, metals, limits) are merged into the LLM plan.</a:t>
            </a:r>
            <a:endParaRPr lang="en-US" sz="13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LANGUAGE MODELS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14 free or local models behind one interface, with fallback</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766560" cy="914400"/>
        </p:xfrm>
        <a:graphic>
          <a:graphicData uri="http://schemas.openxmlformats.org/drawingml/2006/table">
            <a:tbl>
              <a:tblPr/>
              <a:tblGrid>
                <a:gridCol w="1737360"/>
                <a:gridCol w="3474720"/>
                <a:gridCol w="155448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Provider</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Free limit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566928">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Google Gemini</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3.1 Flash-Lite, 3.5 Flash, 3.8 Flash, Flash-Lite latest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~10–15 req/min</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566928">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Groq</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GPT-OSS 120B, GPT-OSS 20B, Qwen 3.8 27B</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8,000 tokens/min</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OpenRouter</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Nemotron 3 Super / Ultra, Gemma 4 31B</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~50 req/day</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566928">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Ollama (offline)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Llama 3 8B, Llama 3.1 8B, Qwen 2.5 7B, Nemotron Mini</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none, laptop CPU</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553712"/>
            <a:ext cx="6766560" cy="548640"/>
          </a:xfrm>
          <a:prstGeom prst="rect">
            <a:avLst/>
          </a:prstGeom>
          <a:noFill/>
          <a:ln/>
        </p:spPr>
        <p:txBody>
          <a:bodyPr wrap="square" lIns="0" tIns="0" rIns="0" bIns="0" rtlCol="0" anchor="t"/>
          <a:lstStyle/>
          <a:p>
            <a:pPr indent="0" marL="0">
              <a:buNone/>
            </a:pPr>
            <a:r>
              <a:rPr lang="en-US" sz="1400" dirty="0">
                <a:solidFill>
                  <a:schemeClr val="accent3"/>
                </a:solidFill>
              </a:rPr>
              <a:t>Each call is throttled to its free-tier budget. A rate limit or outage (429 / 503) moves the call to the next model.</a:t>
            </a:r>
            <a:endParaRPr lang="en-US" sz="1400" dirty="0"/>
          </a:p>
        </p:txBody>
      </p:sp>
      <p:sp>
        <p:nvSpPr>
          <p:cNvPr id="6" name="Text 3"/>
          <p:cNvSpPr txBox="1"/>
          <p:nvPr/>
        </p:nvSpPr>
        <p:spPr>
          <a:xfrm>
            <a:off x="548640" y="5166360"/>
            <a:ext cx="21031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14</a:t>
            </a:r>
            <a:endParaRPr lang="en-US" sz="3000" dirty="0"/>
          </a:p>
        </p:txBody>
      </p:sp>
      <p:sp>
        <p:nvSpPr>
          <p:cNvPr id="7" name="Text 4"/>
          <p:cNvSpPr txBox="1"/>
          <p:nvPr/>
        </p:nvSpPr>
        <p:spPr>
          <a:xfrm>
            <a:off x="548640" y="5897880"/>
            <a:ext cx="2103120" cy="548640"/>
          </a:xfrm>
          <a:prstGeom prst="rect">
            <a:avLst/>
          </a:prstGeom>
          <a:noFill/>
          <a:ln/>
        </p:spPr>
        <p:txBody>
          <a:bodyPr wrap="square" lIns="0" tIns="0" rIns="0" bIns="0" rtlCol="0" anchor="t"/>
          <a:lstStyle/>
          <a:p>
            <a:pPr indent="0" marL="0">
              <a:buNone/>
            </a:pPr>
            <a:r>
              <a:rPr lang="en-US" sz="1300" dirty="0">
                <a:solidFill>
                  <a:schemeClr val="accent3"/>
                </a:solidFill>
              </a:rPr>
              <a:t>models</a:t>
            </a:r>
            <a:endParaRPr lang="en-US" sz="1300" dirty="0"/>
          </a:p>
        </p:txBody>
      </p:sp>
      <p:sp>
        <p:nvSpPr>
          <p:cNvPr id="8" name="Text 5"/>
          <p:cNvSpPr txBox="1"/>
          <p:nvPr/>
        </p:nvSpPr>
        <p:spPr>
          <a:xfrm>
            <a:off x="2834640" y="5166360"/>
            <a:ext cx="21031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4</a:t>
            </a:r>
            <a:endParaRPr lang="en-US" sz="3000" dirty="0"/>
          </a:p>
        </p:txBody>
      </p:sp>
      <p:sp>
        <p:nvSpPr>
          <p:cNvPr id="9" name="Text 6"/>
          <p:cNvSpPr txBox="1"/>
          <p:nvPr/>
        </p:nvSpPr>
        <p:spPr>
          <a:xfrm>
            <a:off x="2834640" y="5897880"/>
            <a:ext cx="2103120" cy="548640"/>
          </a:xfrm>
          <a:prstGeom prst="rect">
            <a:avLst/>
          </a:prstGeom>
          <a:noFill/>
          <a:ln/>
        </p:spPr>
        <p:txBody>
          <a:bodyPr wrap="square" lIns="0" tIns="0" rIns="0" bIns="0" rtlCol="0" anchor="t"/>
          <a:lstStyle/>
          <a:p>
            <a:pPr indent="0" marL="0">
              <a:buNone/>
            </a:pPr>
            <a:r>
              <a:rPr lang="en-US" sz="1300" dirty="0">
                <a:solidFill>
                  <a:schemeClr val="accent3"/>
                </a:solidFill>
              </a:rPr>
              <a:t>providers</a:t>
            </a:r>
            <a:endParaRPr lang="en-US" sz="1300" dirty="0"/>
          </a:p>
        </p:txBody>
      </p:sp>
      <p:sp>
        <p:nvSpPr>
          <p:cNvPr id="10" name="Text 7"/>
          <p:cNvSpPr txBox="1"/>
          <p:nvPr/>
        </p:nvSpPr>
        <p:spPr>
          <a:xfrm>
            <a:off x="5120640" y="5166360"/>
            <a:ext cx="2103120" cy="685800"/>
          </a:xfrm>
          <a:prstGeom prst="rect">
            <a:avLst/>
          </a:prstGeom>
          <a:noFill/>
          <a:ln/>
        </p:spPr>
        <p:txBody>
          <a:bodyPr wrap="square" lIns="0" tIns="0" rIns="0" bIns="0" rtlCol="0" anchor="b"/>
          <a:lstStyle/>
          <a:p>
            <a:pPr indent="0" marL="0">
              <a:buNone/>
            </a:pPr>
            <a:r>
              <a:rPr lang="en-US" sz="3000" b="1" dirty="0">
                <a:solidFill>
                  <a:schemeClr val="accent2"/>
                </a:solidFill>
                <a:latin typeface="Cambria" pitchFamily="34" charset="0"/>
                <a:ea typeface="Cambria" pitchFamily="34" charset="-122"/>
                <a:cs typeface="Cambria" pitchFamily="34" charset="-120"/>
              </a:rPr>
              <a:t>0</a:t>
            </a:r>
            <a:endParaRPr lang="en-US" sz="3000" dirty="0"/>
          </a:p>
        </p:txBody>
      </p:sp>
      <p:sp>
        <p:nvSpPr>
          <p:cNvPr id="11" name="Text 8"/>
          <p:cNvSpPr txBox="1"/>
          <p:nvPr/>
        </p:nvSpPr>
        <p:spPr>
          <a:xfrm>
            <a:off x="5120640" y="5897880"/>
            <a:ext cx="2103120" cy="548640"/>
          </a:xfrm>
          <a:prstGeom prst="rect">
            <a:avLst/>
          </a:prstGeom>
          <a:noFill/>
          <a:ln/>
        </p:spPr>
        <p:txBody>
          <a:bodyPr wrap="square" lIns="0" tIns="0" rIns="0" bIns="0" rtlCol="0" anchor="t"/>
          <a:lstStyle/>
          <a:p>
            <a:pPr indent="0" marL="0">
              <a:buNone/>
            </a:pPr>
            <a:r>
              <a:rPr lang="en-US" sz="1300" dirty="0">
                <a:solidFill>
                  <a:schemeClr val="accent3"/>
                </a:solidFill>
              </a:rPr>
              <a:t>paid APIs</a:t>
            </a:r>
            <a:endParaRPr lang="en-US" sz="1300" dirty="0"/>
          </a:p>
        </p:txBody>
      </p:sp>
      <p:sp>
        <p:nvSpPr>
          <p:cNvPr id="12" name="Text 9"/>
          <p:cNvSpPr txBox="1"/>
          <p:nvPr/>
        </p:nvSpPr>
        <p:spPr>
          <a:xfrm>
            <a:off x="7863840" y="1600200"/>
            <a:ext cx="374904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Default fallback chain</a:t>
            </a:r>
            <a:endParaRPr lang="en-US" sz="1800" dirty="0"/>
          </a:p>
        </p:txBody>
      </p:sp>
      <p:sp>
        <p:nvSpPr>
          <p:cNvPr id="13" name="Shape 10"/>
          <p:cNvSpPr/>
          <p:nvPr/>
        </p:nvSpPr>
        <p:spPr>
          <a:xfrm>
            <a:off x="7863840" y="2148840"/>
            <a:ext cx="3749040" cy="566928"/>
          </a:xfrm>
          <a:prstGeom prst="roundRect">
            <a:avLst>
              <a:gd name="adj" fmla="val 12903"/>
            </a:avLst>
          </a:prstGeom>
          <a:solidFill>
            <a:schemeClr val="accent1"/>
          </a:solidFill>
          <a:ln w="12700">
            <a:solidFill>
              <a:schemeClr val="accent1"/>
            </a:solidFill>
            <a:prstDash val="solid"/>
          </a:ln>
        </p:spPr>
      </p:sp>
      <p:sp>
        <p:nvSpPr>
          <p:cNvPr id="14" name="Text 11"/>
          <p:cNvSpPr txBox="1"/>
          <p:nvPr/>
        </p:nvSpPr>
        <p:spPr>
          <a:xfrm>
            <a:off x="8046720" y="2148840"/>
            <a:ext cx="3474720" cy="566928"/>
          </a:xfrm>
          <a:prstGeom prst="rect">
            <a:avLst/>
          </a:prstGeom>
          <a:noFill/>
          <a:ln/>
        </p:spPr>
        <p:txBody>
          <a:bodyPr wrap="square" lIns="0" tIns="0" rIns="0" bIns="0" rtlCol="0" anchor="ctr"/>
          <a:lstStyle/>
          <a:p>
            <a:pPr indent="0" marL="0">
              <a:buNone/>
            </a:pPr>
            <a:r>
              <a:rPr lang="en-US" sz="1500" b="1" dirty="0">
                <a:solidFill>
                  <a:schemeClr val="bg1"/>
                </a:solidFill>
              </a:rPr>
              <a:t>Gemini 3.1 Flash-Lite</a:t>
            </a:r>
            <a:pPr indent="0" marL="0">
              <a:buNone/>
            </a:pPr>
            <a:r>
              <a:rPr lang="en-US" sz="1200" dirty="0">
                <a:solidFill>
                  <a:srgbClr val="E6F1F4"/>
                </a:solidFill>
              </a:rPr>
              <a:t>   best held-out score</a:t>
            </a:r>
            <a:endParaRPr lang="en-US" sz="1500" dirty="0"/>
          </a:p>
        </p:txBody>
      </p:sp>
      <p:sp>
        <p:nvSpPr>
          <p:cNvPr id="15" name="Shape 12"/>
          <p:cNvSpPr/>
          <p:nvPr/>
        </p:nvSpPr>
        <p:spPr>
          <a:xfrm>
            <a:off x="9738360" y="2715768"/>
            <a:ext cx="0" cy="219456"/>
          </a:xfrm>
          <a:prstGeom prst="line">
            <a:avLst/>
          </a:prstGeom>
          <a:noFill/>
          <a:ln w="19050">
            <a:solidFill>
              <a:srgbClr val="5B6B73"/>
            </a:solidFill>
            <a:prstDash val="solid"/>
            <a:tailEnd type="triangle"/>
          </a:ln>
        </p:spPr>
      </p:sp>
      <p:sp>
        <p:nvSpPr>
          <p:cNvPr id="16" name="Shape 13"/>
          <p:cNvSpPr/>
          <p:nvPr/>
        </p:nvSpPr>
        <p:spPr>
          <a:xfrm>
            <a:off x="7863840" y="2935224"/>
            <a:ext cx="3749040" cy="566928"/>
          </a:xfrm>
          <a:prstGeom prst="roundRect">
            <a:avLst>
              <a:gd name="adj" fmla="val 12903"/>
            </a:avLst>
          </a:prstGeom>
          <a:solidFill>
            <a:schemeClr val="accent1"/>
          </a:solidFill>
          <a:ln w="12700">
            <a:solidFill>
              <a:schemeClr val="accent1"/>
            </a:solidFill>
            <a:prstDash val="solid"/>
          </a:ln>
        </p:spPr>
      </p:sp>
      <p:sp>
        <p:nvSpPr>
          <p:cNvPr id="17" name="Text 14"/>
          <p:cNvSpPr txBox="1"/>
          <p:nvPr/>
        </p:nvSpPr>
        <p:spPr>
          <a:xfrm>
            <a:off x="8046720" y="2935224"/>
            <a:ext cx="3474720" cy="566928"/>
          </a:xfrm>
          <a:prstGeom prst="rect">
            <a:avLst/>
          </a:prstGeom>
          <a:noFill/>
          <a:ln/>
        </p:spPr>
        <p:txBody>
          <a:bodyPr wrap="square" lIns="0" tIns="0" rIns="0" bIns="0" rtlCol="0" anchor="ctr"/>
          <a:lstStyle/>
          <a:p>
            <a:pPr indent="0" marL="0">
              <a:buNone/>
            </a:pPr>
            <a:r>
              <a:rPr lang="en-US" sz="1500" b="1" dirty="0">
                <a:solidFill>
                  <a:schemeClr val="bg1"/>
                </a:solidFill>
              </a:rPr>
              <a:t>GPT-OSS 120B (Groq)</a:t>
            </a:r>
            <a:pPr indent="0" marL="0">
              <a:buNone/>
            </a:pPr>
            <a:r>
              <a:rPr lang="en-US" sz="1200" dirty="0">
                <a:solidFill>
                  <a:srgbClr val="E6F1F4"/>
                </a:solidFill>
              </a:rPr>
              <a:t>   0 provider errors</a:t>
            </a:r>
            <a:endParaRPr lang="en-US" sz="1500" dirty="0"/>
          </a:p>
        </p:txBody>
      </p:sp>
      <p:sp>
        <p:nvSpPr>
          <p:cNvPr id="18" name="Shape 15"/>
          <p:cNvSpPr/>
          <p:nvPr/>
        </p:nvSpPr>
        <p:spPr>
          <a:xfrm>
            <a:off x="9738360" y="3502152"/>
            <a:ext cx="0" cy="219456"/>
          </a:xfrm>
          <a:prstGeom prst="line">
            <a:avLst/>
          </a:prstGeom>
          <a:noFill/>
          <a:ln w="19050">
            <a:solidFill>
              <a:srgbClr val="5B6B73"/>
            </a:solidFill>
            <a:prstDash val="solid"/>
            <a:tailEnd type="triangle"/>
          </a:ln>
        </p:spPr>
      </p:sp>
      <p:sp>
        <p:nvSpPr>
          <p:cNvPr id="19" name="Shape 16"/>
          <p:cNvSpPr/>
          <p:nvPr/>
        </p:nvSpPr>
        <p:spPr>
          <a:xfrm>
            <a:off x="7863840" y="3721608"/>
            <a:ext cx="3749040" cy="566928"/>
          </a:xfrm>
          <a:prstGeom prst="roundRect">
            <a:avLst>
              <a:gd name="adj" fmla="val 12903"/>
            </a:avLst>
          </a:prstGeom>
          <a:solidFill>
            <a:schemeClr val="accent1"/>
          </a:solidFill>
          <a:ln w="12700">
            <a:solidFill>
              <a:schemeClr val="accent1"/>
            </a:solidFill>
            <a:prstDash val="solid"/>
          </a:ln>
        </p:spPr>
      </p:sp>
      <p:sp>
        <p:nvSpPr>
          <p:cNvPr id="20" name="Text 17"/>
          <p:cNvSpPr txBox="1"/>
          <p:nvPr/>
        </p:nvSpPr>
        <p:spPr>
          <a:xfrm>
            <a:off x="8046720" y="3721608"/>
            <a:ext cx="3474720" cy="566928"/>
          </a:xfrm>
          <a:prstGeom prst="rect">
            <a:avLst/>
          </a:prstGeom>
          <a:noFill/>
          <a:ln/>
        </p:spPr>
        <p:txBody>
          <a:bodyPr wrap="square" lIns="0" tIns="0" rIns="0" bIns="0" rtlCol="0" anchor="ctr"/>
          <a:lstStyle/>
          <a:p>
            <a:pPr indent="0" marL="0">
              <a:buNone/>
            </a:pPr>
            <a:r>
              <a:rPr lang="en-US" sz="1500" b="1" dirty="0">
                <a:solidFill>
                  <a:schemeClr val="bg1"/>
                </a:solidFill>
              </a:rPr>
              <a:t>Qwen 3.8 27B (Groq)</a:t>
            </a:r>
            <a:pPr indent="0" marL="0">
              <a:buNone/>
            </a:pPr>
            <a:endParaRPr lang="en-US" sz="1500" dirty="0"/>
          </a:p>
        </p:txBody>
      </p:sp>
      <p:sp>
        <p:nvSpPr>
          <p:cNvPr id="21" name="Shape 18"/>
          <p:cNvSpPr/>
          <p:nvPr/>
        </p:nvSpPr>
        <p:spPr>
          <a:xfrm>
            <a:off x="9738360" y="4288536"/>
            <a:ext cx="0" cy="219456"/>
          </a:xfrm>
          <a:prstGeom prst="line">
            <a:avLst/>
          </a:prstGeom>
          <a:noFill/>
          <a:ln w="19050">
            <a:solidFill>
              <a:srgbClr val="5B6B73"/>
            </a:solidFill>
            <a:prstDash val="solid"/>
            <a:tailEnd type="triangle"/>
          </a:ln>
        </p:spPr>
      </p:sp>
      <p:sp>
        <p:nvSpPr>
          <p:cNvPr id="22" name="Shape 19"/>
          <p:cNvSpPr/>
          <p:nvPr/>
        </p:nvSpPr>
        <p:spPr>
          <a:xfrm>
            <a:off x="7863840" y="4507992"/>
            <a:ext cx="3749040" cy="566928"/>
          </a:xfrm>
          <a:prstGeom prst="roundRect">
            <a:avLst>
              <a:gd name="adj" fmla="val 12903"/>
            </a:avLst>
          </a:prstGeom>
          <a:solidFill>
            <a:schemeClr val="accent2"/>
          </a:solidFill>
          <a:ln w="12700">
            <a:solidFill>
              <a:schemeClr val="accent2"/>
            </a:solidFill>
            <a:prstDash val="solid"/>
          </a:ln>
        </p:spPr>
      </p:sp>
      <p:sp>
        <p:nvSpPr>
          <p:cNvPr id="23" name="Text 20"/>
          <p:cNvSpPr txBox="1"/>
          <p:nvPr/>
        </p:nvSpPr>
        <p:spPr>
          <a:xfrm>
            <a:off x="8046720" y="4507992"/>
            <a:ext cx="3474720" cy="566928"/>
          </a:xfrm>
          <a:prstGeom prst="rect">
            <a:avLst/>
          </a:prstGeom>
          <a:noFill/>
          <a:ln/>
        </p:spPr>
        <p:txBody>
          <a:bodyPr wrap="square" lIns="0" tIns="0" rIns="0" bIns="0" rtlCol="0" anchor="ctr"/>
          <a:lstStyle/>
          <a:p>
            <a:pPr indent="0" marL="0">
              <a:buNone/>
            </a:pPr>
            <a:r>
              <a:rPr lang="en-US" sz="1500" b="1" dirty="0">
                <a:solidFill>
                  <a:schemeClr val="bg1"/>
                </a:solidFill>
              </a:rPr>
              <a:t>Llama 3 8B (local)</a:t>
            </a:r>
            <a:pPr indent="0" marL="0">
              <a:buNone/>
            </a:pPr>
            <a:r>
              <a:rPr lang="en-US" sz="1200" dirty="0">
                <a:solidFill>
                  <a:srgbClr val="E6F1F4"/>
                </a:solidFill>
              </a:rPr>
              <a:t>   works offline</a:t>
            </a:r>
            <a:endParaRPr lang="en-US" sz="1500" dirty="0"/>
          </a:p>
        </p:txBody>
      </p:sp>
      <p:sp>
        <p:nvSpPr>
          <p:cNvPr id="24" name="Shape 21"/>
          <p:cNvSpPr/>
          <p:nvPr/>
        </p:nvSpPr>
        <p:spPr>
          <a:xfrm>
            <a:off x="9738360" y="5074920"/>
            <a:ext cx="0" cy="219456"/>
          </a:xfrm>
          <a:prstGeom prst="line">
            <a:avLst/>
          </a:prstGeom>
          <a:noFill/>
          <a:ln w="19050">
            <a:solidFill>
              <a:srgbClr val="5B6B73"/>
            </a:solidFill>
            <a:prstDash val="solid"/>
            <a:tailEnd type="triangle"/>
          </a:ln>
        </p:spPr>
      </p:sp>
      <p:sp>
        <p:nvSpPr>
          <p:cNvPr id="25" name="Shape 22"/>
          <p:cNvSpPr/>
          <p:nvPr/>
        </p:nvSpPr>
        <p:spPr>
          <a:xfrm>
            <a:off x="7863840" y="5294376"/>
            <a:ext cx="3749040" cy="566928"/>
          </a:xfrm>
          <a:prstGeom prst="roundRect">
            <a:avLst>
              <a:gd name="adj" fmla="val 12903"/>
            </a:avLst>
          </a:prstGeom>
          <a:solidFill>
            <a:schemeClr val="accent3"/>
          </a:solidFill>
          <a:ln w="12700">
            <a:solidFill>
              <a:schemeClr val="accent3"/>
            </a:solidFill>
            <a:prstDash val="solid"/>
          </a:ln>
        </p:spPr>
      </p:sp>
      <p:sp>
        <p:nvSpPr>
          <p:cNvPr id="26" name="Text 23"/>
          <p:cNvSpPr txBox="1"/>
          <p:nvPr/>
        </p:nvSpPr>
        <p:spPr>
          <a:xfrm>
            <a:off x="8046720" y="5294376"/>
            <a:ext cx="3474720" cy="566928"/>
          </a:xfrm>
          <a:prstGeom prst="rect">
            <a:avLst/>
          </a:prstGeom>
          <a:noFill/>
          <a:ln/>
        </p:spPr>
        <p:txBody>
          <a:bodyPr wrap="square" lIns="0" tIns="0" rIns="0" bIns="0" rtlCol="0" anchor="ctr"/>
          <a:lstStyle/>
          <a:p>
            <a:pPr indent="0" marL="0">
              <a:buNone/>
            </a:pPr>
            <a:r>
              <a:rPr lang="en-US" sz="1500" b="1" dirty="0">
                <a:solidFill>
                  <a:schemeClr val="bg1"/>
                </a:solidFill>
              </a:rPr>
              <a:t>Rule parser + template</a:t>
            </a:r>
            <a:pPr indent="0" marL="0">
              <a:buNone/>
            </a:pPr>
            <a:r>
              <a:rPr lang="en-US" sz="1200" dirty="0">
                <a:solidFill>
                  <a:srgbClr val="E6F1F4"/>
                </a:solidFill>
              </a:rPr>
              <a:t>   always answers</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OPTIMISATION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NSGA-II ranks candidates on several objectives at once</a:t>
            </a:r>
            <a:endParaRPr lang="en-US" sz="2800" dirty="0"/>
          </a:p>
        </p:txBody>
      </p:sp>
      <p:sp>
        <p:nvSpPr>
          <p:cNvPr id="4" name="Text 2"/>
          <p:cNvSpPr txBox="1"/>
          <p:nvPr/>
        </p:nvSpPr>
        <p:spPr>
          <a:xfrm>
            <a:off x="548640" y="1645920"/>
            <a:ext cx="5120640" cy="32918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chemeClr val="tx1"/>
                </a:solidFill>
              </a:rPr>
              <a:t>One objective</a:t>
            </a:r>
            <a:pPr indent="0" marL="0">
              <a:buNone/>
            </a:pPr>
            <a:r>
              <a:rPr lang="en-US" sz="1500" dirty="0">
                <a:solidFill>
                  <a:schemeClr val="tx1"/>
                </a:solidFill>
              </a:rPr>
              <a:t> → plain sort</a:t>
            </a:r>
            <a:endParaRPr lang="en-US" sz="1500" dirty="0"/>
          </a:p>
          <a:p>
            <a:pPr marL="203200" indent="-203200">
              <a:spcAft>
                <a:spcPts val="800"/>
              </a:spcAft>
              <a:buSzPct val="100000"/>
              <a:buChar char="•"/>
            </a:pPr>
            <a:r>
              <a:rPr lang="en-US" sz="1500" b="1" dirty="0">
                <a:solidFill>
                  <a:schemeClr val="tx1"/>
                </a:solidFill>
              </a:rPr>
              <a:t>Two or more</a:t>
            </a:r>
            <a:pPr indent="0" marL="0">
              <a:buNone/>
            </a:pPr>
            <a:r>
              <a:rPr lang="en-US" sz="1500" dirty="0">
                <a:solidFill>
                  <a:schemeClr val="tx1"/>
                </a:solidFill>
              </a:rPr>
              <a:t> → fast non-dominated sorting (exact O(n log n) sweep for two objectives) + crowding distance</a:t>
            </a:r>
            <a:endParaRPr lang="en-US" sz="1500" dirty="0"/>
          </a:p>
          <a:p>
            <a:pPr marL="203200" indent="-203200">
              <a:spcAft>
                <a:spcPts val="800"/>
              </a:spcAft>
              <a:buSzPct val="100000"/>
              <a:buChar char="•"/>
            </a:pPr>
            <a:r>
              <a:rPr lang="en-US" sz="1500" b="1" dirty="0">
                <a:solidFill>
                  <a:schemeClr val="tx1"/>
                </a:solidFill>
              </a:rPr>
              <a:t>Screening</a:t>
            </a:r>
            <a:pPr indent="0" marL="0">
              <a:buNone/>
            </a:pPr>
            <a:r>
              <a:rPr lang="en-US" sz="1500" dirty="0">
                <a:solidFill>
                  <a:schemeClr val="tx1"/>
                </a:solidFill>
              </a:rPr>
              <a:t> → candidates in the worst 25 % of any objective removed first</a:t>
            </a:r>
            <a:endParaRPr lang="en-US" sz="1500" dirty="0"/>
          </a:p>
          <a:p>
            <a:pPr marL="203200" indent="-203200">
              <a:spcAft>
                <a:spcPts val="800"/>
              </a:spcAft>
              <a:buSzPct val="100000"/>
              <a:buChar char="•"/>
            </a:pPr>
            <a:r>
              <a:rPr lang="en-US" sz="1500" b="1" dirty="0">
                <a:solidFill>
                  <a:schemeClr val="tx1"/>
                </a:solidFill>
              </a:rPr>
              <a:t>No exact match</a:t>
            </a:r>
            <a:pPr indent="0" marL="0">
              <a:buNone/>
            </a:pPr>
            <a:r>
              <a:rPr lang="en-US" sz="1500" dirty="0">
                <a:solidFill>
                  <a:schemeClr val="tx1"/>
                </a:solidFill>
              </a:rPr>
              <a:t> → closest MOFs by total constraint violation, and the user is told</a:t>
            </a:r>
            <a:endParaRPr lang="en-US" sz="1500" dirty="0"/>
          </a:p>
          <a:p>
            <a:pPr marL="203200" indent="-203200">
              <a:spcAft>
                <a:spcPts val="800"/>
              </a:spcAft>
              <a:buSzPct val="100000"/>
              <a:buChar char="•"/>
            </a:pPr>
            <a:r>
              <a:rPr lang="en-US" sz="1500" b="1" dirty="0">
                <a:solidFill>
                  <a:schemeClr val="tx1"/>
                </a:solidFill>
              </a:rPr>
              <a:t>Speed</a:t>
            </a:r>
            <a:pPr indent="0" marL="0">
              <a:buNone/>
            </a:pPr>
            <a:r>
              <a:rPr lang="en-US" sz="1500" dirty="0">
                <a:solidFill>
                  <a:schemeClr val="tx1"/>
                </a:solidFill>
              </a:rPr>
              <a:t> → all 12,020 MOFs in 0.02 s (2 objectives), 2.6 s (3)</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709160"/>
          <a:ext cx="5120640" cy="914400"/>
        </p:xfrm>
        <a:graphic>
          <a:graphicData uri="http://schemas.openxmlformats.org/drawingml/2006/table">
            <a:tbl>
              <a:tblPr/>
              <a:tblGrid>
                <a:gridCol w="1325880"/>
                <a:gridCol w="379476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Preset</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Constraints and objectives</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347472">
                <a:tc>
                  <a:txBody>
                    <a:bodyPr/>
                    <a:lstStyle/>
                    <a:p>
                      <a:pPr indent="0" marL="0">
                        <a:buNone/>
                      </a:pPr>
                      <a:r>
                        <a:rPr lang="en-US" sz="1200" b="1" dirty="0">
                          <a:solidFill>
                            <a:srgbClr val="0F2433"/>
                          </a:solidFill>
                          <a:latin typeface="Calibri" pitchFamily="34" charset="0"/>
                          <a:ea typeface="Calibri" pitchFamily="34" charset="-122"/>
                          <a:cs typeface="Calibri" pitchFamily="34" charset="-120"/>
                        </a:rPr>
                        <a:t>H₂ storage</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200" dirty="0">
                          <a:solidFill>
                            <a:srgbClr val="0F2433"/>
                          </a:solidFill>
                          <a:latin typeface="Calibri" pitchFamily="34" charset="0"/>
                          <a:ea typeface="Calibri" pitchFamily="34" charset="-122"/>
                          <a:cs typeface="Calibri" pitchFamily="34" charset="-120"/>
                        </a:rPr>
                        <a:t>PLD ≥ 2.89 Å; max surface area, void fraction</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347472">
                <a:tc>
                  <a:txBody>
                    <a:bodyPr/>
                    <a:lstStyle/>
                    <a:p>
                      <a:pPr indent="0" marL="0">
                        <a:buNone/>
                      </a:pPr>
                      <a:r>
                        <a:rPr lang="en-US" sz="1200" b="1" dirty="0">
                          <a:solidFill>
                            <a:srgbClr val="0F2433"/>
                          </a:solidFill>
                          <a:latin typeface="Calibri" pitchFamily="34" charset="0"/>
                          <a:ea typeface="Calibri" pitchFamily="34" charset="-122"/>
                          <a:cs typeface="Calibri" pitchFamily="34" charset="-120"/>
                        </a:rPr>
                        <a:t>CH₄ storage</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200" dirty="0">
                          <a:solidFill>
                            <a:srgbClr val="0F2433"/>
                          </a:solidFill>
                          <a:latin typeface="Calibri" pitchFamily="34" charset="0"/>
                          <a:ea typeface="Calibri" pitchFamily="34" charset="-122"/>
                          <a:cs typeface="Calibri" pitchFamily="34" charset="-120"/>
                        </a:rPr>
                        <a:t>PLD ≥ 3.80 Å; max volumetric area, void fraction</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0F2433"/>
                          </a:solidFill>
                          <a:latin typeface="Calibri" pitchFamily="34" charset="0"/>
                          <a:ea typeface="Calibri" pitchFamily="34" charset="-122"/>
                          <a:cs typeface="Calibri" pitchFamily="34" charset="-120"/>
                        </a:rPr>
                        <a:t>CO₂ capture</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200" dirty="0">
                          <a:solidFill>
                            <a:srgbClr val="0F2433"/>
                          </a:solidFill>
                          <a:latin typeface="Calibri" pitchFamily="34" charset="0"/>
                          <a:ea typeface="Calibri" pitchFamily="34" charset="-122"/>
                          <a:cs typeface="Calibri" pitchFamily="34" charset="-120"/>
                        </a:rPr>
                        <a:t>open metal site; PLD ≥ 3.30 Å; min LCD</a:t>
                      </a:r>
                      <a:endParaRPr lang="en-US" sz="12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bl>
          </a:graphicData>
        </a:graphic>
      </p:graphicFrame>
      <p:graphicFrame>
        <p:nvGraphicFramePr>
          <p:cNvPr id="6" name="Chart 0" descr=""/>
          <p:cNvGraphicFramePr/>
          <p:nvPr/>
        </p:nvGraphicFramePr>
        <p:xfrm>
          <a:off x="6035040" y="1508760"/>
          <a:ext cx="5669280" cy="4709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MODELS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Surrogates predict properties; an FT-Transformer powers similarity</a:t>
            </a:r>
            <a:endParaRPr lang="en-US" sz="2800" dirty="0"/>
          </a:p>
        </p:txBody>
      </p:sp>
      <p:sp>
        <p:nvSpPr>
          <p:cNvPr id="4" name="Text 2"/>
          <p:cNvSpPr txBox="1"/>
          <p:nvPr/>
        </p:nvSpPr>
        <p:spPr>
          <a:xfrm>
            <a:off x="548640" y="1600200"/>
            <a:ext cx="54864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FT-Transformer (Gorishniy et al., 2021)</a:t>
            </a:r>
            <a:endParaRPr lang="en-US" sz="1800" dirty="0"/>
          </a:p>
        </p:txBody>
      </p:sp>
      <p:sp>
        <p:nvSpPr>
          <p:cNvPr id="5" name="Shape 3"/>
          <p:cNvSpPr/>
          <p:nvPr/>
        </p:nvSpPr>
        <p:spPr>
          <a:xfrm>
            <a:off x="548640" y="5120640"/>
            <a:ext cx="603504" cy="457200"/>
          </a:xfrm>
          <a:prstGeom prst="roundRect">
            <a:avLst>
              <a:gd name="adj" fmla="val 12000"/>
            </a:avLst>
          </a:prstGeom>
          <a:solidFill>
            <a:srgbClr val="D9622B"/>
          </a:solidFill>
          <a:ln w="12700">
            <a:solidFill>
              <a:srgbClr val="FFFFFF"/>
            </a:solidFill>
            <a:prstDash val="solid"/>
          </a:ln>
        </p:spPr>
      </p:sp>
      <p:sp>
        <p:nvSpPr>
          <p:cNvPr id="6" name="Text 4"/>
          <p:cNvSpPr txBox="1"/>
          <p:nvPr/>
        </p:nvSpPr>
        <p:spPr>
          <a:xfrm>
            <a:off x="548640"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[CLS]</a:t>
            </a:r>
            <a:endParaRPr lang="en-US" sz="1000" dirty="0"/>
          </a:p>
        </p:txBody>
      </p:sp>
      <p:sp>
        <p:nvSpPr>
          <p:cNvPr id="7" name="Shape 5"/>
          <p:cNvSpPr/>
          <p:nvPr/>
        </p:nvSpPr>
        <p:spPr>
          <a:xfrm>
            <a:off x="1225296" y="5120640"/>
            <a:ext cx="603504" cy="457200"/>
          </a:xfrm>
          <a:prstGeom prst="roundRect">
            <a:avLst>
              <a:gd name="adj" fmla="val 12000"/>
            </a:avLst>
          </a:prstGeom>
          <a:solidFill>
            <a:srgbClr val="0891B2"/>
          </a:solidFill>
          <a:ln w="12700">
            <a:solidFill>
              <a:srgbClr val="FFFFFF"/>
            </a:solidFill>
            <a:prstDash val="solid"/>
          </a:ln>
        </p:spPr>
      </p:sp>
      <p:sp>
        <p:nvSpPr>
          <p:cNvPr id="8" name="Text 6"/>
          <p:cNvSpPr txBox="1"/>
          <p:nvPr/>
        </p:nvSpPr>
        <p:spPr>
          <a:xfrm>
            <a:off x="1225296"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density</a:t>
            </a:r>
            <a:endParaRPr lang="en-US" sz="1000" dirty="0"/>
          </a:p>
        </p:txBody>
      </p:sp>
      <p:sp>
        <p:nvSpPr>
          <p:cNvPr id="9" name="Shape 7"/>
          <p:cNvSpPr/>
          <p:nvPr/>
        </p:nvSpPr>
        <p:spPr>
          <a:xfrm>
            <a:off x="1901952" y="5120640"/>
            <a:ext cx="603504" cy="457200"/>
          </a:xfrm>
          <a:prstGeom prst="roundRect">
            <a:avLst>
              <a:gd name="adj" fmla="val 12000"/>
            </a:avLst>
          </a:prstGeom>
          <a:solidFill>
            <a:srgbClr val="0891B2"/>
          </a:solidFill>
          <a:ln w="12700">
            <a:solidFill>
              <a:srgbClr val="FFFFFF"/>
            </a:solidFill>
            <a:prstDash val="solid"/>
          </a:ln>
        </p:spPr>
      </p:sp>
      <p:sp>
        <p:nvSpPr>
          <p:cNvPr id="10" name="Text 8"/>
          <p:cNvSpPr txBox="1"/>
          <p:nvPr/>
        </p:nvSpPr>
        <p:spPr>
          <a:xfrm>
            <a:off x="1901952"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LCD</a:t>
            </a:r>
            <a:endParaRPr lang="en-US" sz="1000" dirty="0"/>
          </a:p>
        </p:txBody>
      </p:sp>
      <p:sp>
        <p:nvSpPr>
          <p:cNvPr id="11" name="Shape 9"/>
          <p:cNvSpPr/>
          <p:nvPr/>
        </p:nvSpPr>
        <p:spPr>
          <a:xfrm>
            <a:off x="2578608" y="5120640"/>
            <a:ext cx="603504" cy="457200"/>
          </a:xfrm>
          <a:prstGeom prst="roundRect">
            <a:avLst>
              <a:gd name="adj" fmla="val 12000"/>
            </a:avLst>
          </a:prstGeom>
          <a:solidFill>
            <a:srgbClr val="0891B2"/>
          </a:solidFill>
          <a:ln w="12700">
            <a:solidFill>
              <a:srgbClr val="FFFFFF"/>
            </a:solidFill>
            <a:prstDash val="solid"/>
          </a:ln>
        </p:spPr>
      </p:sp>
      <p:sp>
        <p:nvSpPr>
          <p:cNvPr id="12" name="Text 10"/>
          <p:cNvSpPr txBox="1"/>
          <p:nvPr/>
        </p:nvSpPr>
        <p:spPr>
          <a:xfrm>
            <a:off x="2578608"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PLD</a:t>
            </a:r>
            <a:endParaRPr lang="en-US" sz="1000" dirty="0"/>
          </a:p>
        </p:txBody>
      </p:sp>
      <p:sp>
        <p:nvSpPr>
          <p:cNvPr id="13" name="Shape 11"/>
          <p:cNvSpPr/>
          <p:nvPr/>
        </p:nvSpPr>
        <p:spPr>
          <a:xfrm>
            <a:off x="3255264" y="5120640"/>
            <a:ext cx="603504" cy="457200"/>
          </a:xfrm>
          <a:prstGeom prst="roundRect">
            <a:avLst>
              <a:gd name="adj" fmla="val 12000"/>
            </a:avLst>
          </a:prstGeom>
          <a:solidFill>
            <a:srgbClr val="0891B2"/>
          </a:solidFill>
          <a:ln w="12700">
            <a:solidFill>
              <a:srgbClr val="FFFFFF"/>
            </a:solidFill>
            <a:prstDash val="solid"/>
          </a:ln>
        </p:spPr>
      </p:sp>
      <p:sp>
        <p:nvSpPr>
          <p:cNvPr id="14" name="Text 12"/>
          <p:cNvSpPr txBox="1"/>
          <p:nvPr/>
        </p:nvSpPr>
        <p:spPr>
          <a:xfrm>
            <a:off x="3255264"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LFPD</a:t>
            </a:r>
            <a:endParaRPr lang="en-US" sz="1000" dirty="0"/>
          </a:p>
        </p:txBody>
      </p:sp>
      <p:sp>
        <p:nvSpPr>
          <p:cNvPr id="15" name="Shape 13"/>
          <p:cNvSpPr/>
          <p:nvPr/>
        </p:nvSpPr>
        <p:spPr>
          <a:xfrm>
            <a:off x="3931920" y="5120640"/>
            <a:ext cx="603504" cy="457200"/>
          </a:xfrm>
          <a:prstGeom prst="roundRect">
            <a:avLst>
              <a:gd name="adj" fmla="val 12000"/>
            </a:avLst>
          </a:prstGeom>
          <a:solidFill>
            <a:srgbClr val="0891B2"/>
          </a:solidFill>
          <a:ln w="12700">
            <a:solidFill>
              <a:srgbClr val="FFFFFF"/>
            </a:solidFill>
            <a:prstDash val="solid"/>
          </a:ln>
        </p:spPr>
      </p:sp>
      <p:sp>
        <p:nvSpPr>
          <p:cNvPr id="16" name="Text 14"/>
          <p:cNvSpPr txBox="1"/>
          <p:nvPr/>
        </p:nvSpPr>
        <p:spPr>
          <a:xfrm>
            <a:off x="3931920"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VF</a:t>
            </a:r>
            <a:endParaRPr lang="en-US" sz="1000" dirty="0"/>
          </a:p>
        </p:txBody>
      </p:sp>
      <p:sp>
        <p:nvSpPr>
          <p:cNvPr id="17" name="Shape 15"/>
          <p:cNvSpPr/>
          <p:nvPr/>
        </p:nvSpPr>
        <p:spPr>
          <a:xfrm>
            <a:off x="4608576" y="5120640"/>
            <a:ext cx="603504" cy="457200"/>
          </a:xfrm>
          <a:prstGeom prst="roundRect">
            <a:avLst>
              <a:gd name="adj" fmla="val 12000"/>
            </a:avLst>
          </a:prstGeom>
          <a:solidFill>
            <a:srgbClr val="0F2433"/>
          </a:solidFill>
          <a:ln w="12700">
            <a:solidFill>
              <a:srgbClr val="FFFFFF"/>
            </a:solidFill>
            <a:prstDash val="solid"/>
          </a:ln>
        </p:spPr>
      </p:sp>
      <p:sp>
        <p:nvSpPr>
          <p:cNvPr id="18" name="Text 16"/>
          <p:cNvSpPr txBox="1"/>
          <p:nvPr/>
        </p:nvSpPr>
        <p:spPr>
          <a:xfrm>
            <a:off x="4608576"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metal</a:t>
            </a:r>
            <a:endParaRPr lang="en-US" sz="1000" dirty="0"/>
          </a:p>
        </p:txBody>
      </p:sp>
      <p:sp>
        <p:nvSpPr>
          <p:cNvPr id="19" name="Shape 17"/>
          <p:cNvSpPr/>
          <p:nvPr/>
        </p:nvSpPr>
        <p:spPr>
          <a:xfrm>
            <a:off x="5285232" y="5120640"/>
            <a:ext cx="603504" cy="457200"/>
          </a:xfrm>
          <a:prstGeom prst="roundRect">
            <a:avLst>
              <a:gd name="adj" fmla="val 12000"/>
            </a:avLst>
          </a:prstGeom>
          <a:solidFill>
            <a:srgbClr val="0F2433"/>
          </a:solidFill>
          <a:ln w="12700">
            <a:solidFill>
              <a:srgbClr val="FFFFFF"/>
            </a:solidFill>
            <a:prstDash val="solid"/>
          </a:ln>
        </p:spPr>
      </p:sp>
      <p:sp>
        <p:nvSpPr>
          <p:cNvPr id="20" name="Text 18"/>
          <p:cNvSpPr txBox="1"/>
          <p:nvPr/>
        </p:nvSpPr>
        <p:spPr>
          <a:xfrm>
            <a:off x="5285232" y="5120640"/>
            <a:ext cx="603504" cy="457200"/>
          </a:xfrm>
          <a:prstGeom prst="rect">
            <a:avLst/>
          </a:prstGeom>
          <a:noFill/>
          <a:ln/>
        </p:spPr>
        <p:txBody>
          <a:bodyPr wrap="square" lIns="0" tIns="0" rIns="0" bIns="0" rtlCol="0" anchor="ctr"/>
          <a:lstStyle/>
          <a:p>
            <a:pPr algn="ctr" indent="0" marL="0">
              <a:buNone/>
            </a:pPr>
            <a:r>
              <a:rPr lang="en-US" sz="1000" b="1" dirty="0">
                <a:solidFill>
                  <a:schemeClr val="bg1"/>
                </a:solidFill>
              </a:rPr>
              <a:t>OMS</a:t>
            </a:r>
            <a:endParaRPr lang="en-US" sz="1000" dirty="0"/>
          </a:p>
        </p:txBody>
      </p:sp>
      <p:sp>
        <p:nvSpPr>
          <p:cNvPr id="21" name="Text 19"/>
          <p:cNvSpPr txBox="1"/>
          <p:nvPr/>
        </p:nvSpPr>
        <p:spPr>
          <a:xfrm>
            <a:off x="548640" y="5650992"/>
            <a:ext cx="5486400" cy="274320"/>
          </a:xfrm>
          <a:prstGeom prst="rect">
            <a:avLst/>
          </a:prstGeom>
          <a:noFill/>
          <a:ln/>
        </p:spPr>
        <p:txBody>
          <a:bodyPr wrap="square" lIns="0" tIns="0" rIns="0" bIns="0" rtlCol="0" anchor="t"/>
          <a:lstStyle/>
          <a:p>
            <a:pPr indent="0" marL="0">
              <a:buNone/>
            </a:pPr>
            <a:r>
              <a:rPr lang="en-US" sz="1200" dirty="0">
                <a:solidFill>
                  <a:schemeClr val="accent3"/>
                </a:solidFill>
              </a:rPr>
              <a:t>numeric tokens  x·Wⱼ + bⱼ   ·   categorical embeddings</a:t>
            </a:r>
            <a:endParaRPr lang="en-US" sz="1200" dirty="0"/>
          </a:p>
        </p:txBody>
      </p:sp>
      <p:sp>
        <p:nvSpPr>
          <p:cNvPr id="22" name="Shape 20"/>
          <p:cNvSpPr/>
          <p:nvPr/>
        </p:nvSpPr>
        <p:spPr>
          <a:xfrm flipV="1">
            <a:off x="3200400" y="4800600"/>
            <a:ext cx="0" cy="320040"/>
          </a:xfrm>
          <a:prstGeom prst="line">
            <a:avLst/>
          </a:prstGeom>
          <a:noFill/>
          <a:ln w="19050">
            <a:solidFill>
              <a:srgbClr val="5B6B73"/>
            </a:solidFill>
            <a:prstDash val="solid"/>
            <a:tailEnd type="triangle"/>
          </a:ln>
        </p:spPr>
      </p:sp>
      <p:sp>
        <p:nvSpPr>
          <p:cNvPr id="23" name="Shape 21"/>
          <p:cNvSpPr/>
          <p:nvPr/>
        </p:nvSpPr>
        <p:spPr>
          <a:xfrm>
            <a:off x="822960" y="3703320"/>
            <a:ext cx="4846320" cy="1097280"/>
          </a:xfrm>
          <a:prstGeom prst="roundRect">
            <a:avLst>
              <a:gd name="adj" fmla="val 6667"/>
            </a:avLst>
          </a:prstGeom>
          <a:solidFill>
            <a:srgbClr val="E3F3F7"/>
          </a:solidFill>
          <a:ln w="15875">
            <a:solidFill>
              <a:srgbClr val="0891B2"/>
            </a:solidFill>
            <a:prstDash val="solid"/>
          </a:ln>
        </p:spPr>
      </p:sp>
      <p:sp>
        <p:nvSpPr>
          <p:cNvPr id="24" name="Text 22"/>
          <p:cNvSpPr txBox="1"/>
          <p:nvPr/>
        </p:nvSpPr>
        <p:spPr>
          <a:xfrm>
            <a:off x="822960" y="3703320"/>
            <a:ext cx="4846320" cy="1097280"/>
          </a:xfrm>
          <a:prstGeom prst="rect">
            <a:avLst/>
          </a:prstGeom>
          <a:noFill/>
          <a:ln/>
        </p:spPr>
        <p:txBody>
          <a:bodyPr wrap="square" lIns="0" tIns="0" rIns="0" bIns="0" rtlCol="0" anchor="ctr"/>
          <a:lstStyle/>
          <a:p>
            <a:pPr algn="ctr" indent="0" marL="0">
              <a:buNone/>
            </a:pPr>
            <a:r>
              <a:rPr lang="en-US" sz="1500" b="1" dirty="0">
                <a:solidFill>
                  <a:schemeClr val="tx1"/>
                </a:solidFill>
              </a:rPr>
              <a:t>3 pre-norm Transformer blocks</a:t>
            </a:r>
            <a:endParaRPr lang="en-US" sz="1500" dirty="0"/>
          </a:p>
          <a:p>
            <a:pPr algn="ctr" indent="0" marL="0">
              <a:buNone/>
            </a:pPr>
            <a:r>
              <a:rPr lang="en-US" sz="1300" dirty="0">
                <a:solidFill>
                  <a:schemeClr val="accent3"/>
                </a:solidFill>
              </a:rPr>
              <a:t>d = 64, 4 heads, attention maps returned</a:t>
            </a:r>
            <a:endParaRPr lang="en-US" sz="1500" dirty="0"/>
          </a:p>
        </p:txBody>
      </p:sp>
      <p:sp>
        <p:nvSpPr>
          <p:cNvPr id="25" name="Shape 23"/>
          <p:cNvSpPr/>
          <p:nvPr/>
        </p:nvSpPr>
        <p:spPr>
          <a:xfrm flipV="1">
            <a:off x="1920240" y="3383280"/>
            <a:ext cx="0" cy="320040"/>
          </a:xfrm>
          <a:prstGeom prst="line">
            <a:avLst/>
          </a:prstGeom>
          <a:noFill/>
          <a:ln w="19050">
            <a:solidFill>
              <a:srgbClr val="5B6B73"/>
            </a:solidFill>
            <a:prstDash val="solid"/>
            <a:tailEnd type="triangle"/>
          </a:ln>
        </p:spPr>
      </p:sp>
      <p:sp>
        <p:nvSpPr>
          <p:cNvPr id="26" name="Shape 24"/>
          <p:cNvSpPr/>
          <p:nvPr/>
        </p:nvSpPr>
        <p:spPr>
          <a:xfrm flipV="1">
            <a:off x="4572000" y="3383280"/>
            <a:ext cx="0" cy="320040"/>
          </a:xfrm>
          <a:prstGeom prst="line">
            <a:avLst/>
          </a:prstGeom>
          <a:noFill/>
          <a:ln w="19050">
            <a:solidFill>
              <a:srgbClr val="5B6B73"/>
            </a:solidFill>
            <a:prstDash val="solid"/>
            <a:tailEnd type="triangle"/>
          </a:ln>
        </p:spPr>
      </p:sp>
      <p:sp>
        <p:nvSpPr>
          <p:cNvPr id="27" name="card"/>
          <p:cNvSpPr/>
          <p:nvPr/>
        </p:nvSpPr>
        <p:spPr>
          <a:xfrm>
            <a:off x="548640" y="2148840"/>
            <a:ext cx="2743200" cy="1234440"/>
          </a:xfrm>
          <a:prstGeom prst="roundRect">
            <a:avLst>
              <a:gd name="adj" fmla="val 5926"/>
            </a:avLst>
          </a:prstGeom>
          <a:solidFill>
            <a:srgbClr val="FBEAE1"/>
          </a:solidFill>
          <a:ln w="12700">
            <a:solidFill>
              <a:srgbClr val="FBEAE1"/>
            </a:solidFill>
            <a:prstDash val="solid"/>
          </a:ln>
        </p:spPr>
      </p:sp>
      <p:sp>
        <p:nvSpPr>
          <p:cNvPr id="28" name="Text 26"/>
          <p:cNvSpPr txBox="1"/>
          <p:nvPr/>
        </p:nvSpPr>
        <p:spPr>
          <a:xfrm>
            <a:off x="685800" y="2194560"/>
            <a:ext cx="2514600" cy="1143000"/>
          </a:xfrm>
          <a:prstGeom prst="rect">
            <a:avLst/>
          </a:prstGeom>
          <a:noFill/>
          <a:ln/>
        </p:spPr>
        <p:txBody>
          <a:bodyPr wrap="square" lIns="0" tIns="0" rIns="0" bIns="0" rtlCol="0" anchor="ctr"/>
          <a:lstStyle/>
          <a:p>
            <a:pPr indent="0" marL="0">
              <a:buNone/>
            </a:pPr>
            <a:r>
              <a:rPr lang="en-US" sz="1400" b="1" dirty="0">
                <a:solidFill>
                  <a:schemeClr val="tx1"/>
                </a:solidFill>
              </a:rPr>
              <a:t>Self-supervised embedding</a:t>
            </a:r>
            <a:endParaRPr lang="en-US" sz="1400" dirty="0"/>
          </a:p>
          <a:p>
            <a:pPr indent="0" marL="0">
              <a:buNone/>
            </a:pPr>
            <a:r>
              <a:rPr lang="en-US" sz="1200" dirty="0">
                <a:solidFill>
                  <a:schemeClr val="accent3"/>
                </a:solidFill>
              </a:rPr>
              <a:t>30 % tokens masked; [CLS] rebuilds all 10. 114k params → FAISS</a:t>
            </a:r>
            <a:endParaRPr lang="en-US" sz="1400" dirty="0"/>
          </a:p>
        </p:txBody>
      </p:sp>
      <p:sp>
        <p:nvSpPr>
          <p:cNvPr id="29" name="card"/>
          <p:cNvSpPr/>
          <p:nvPr/>
        </p:nvSpPr>
        <p:spPr>
          <a:xfrm>
            <a:off x="3474720" y="2148840"/>
            <a:ext cx="2468880" cy="1234440"/>
          </a:xfrm>
          <a:prstGeom prst="roundRect">
            <a:avLst>
              <a:gd name="adj" fmla="val 5926"/>
            </a:avLst>
          </a:prstGeom>
          <a:solidFill>
            <a:srgbClr val="FBEAE1"/>
          </a:solidFill>
          <a:ln w="12700">
            <a:solidFill>
              <a:srgbClr val="FBEAE1"/>
            </a:solidFill>
            <a:prstDash val="solid"/>
          </a:ln>
        </p:spPr>
      </p:sp>
      <p:sp>
        <p:nvSpPr>
          <p:cNvPr id="30" name="Text 28"/>
          <p:cNvSpPr txBox="1"/>
          <p:nvPr/>
        </p:nvSpPr>
        <p:spPr>
          <a:xfrm>
            <a:off x="3611880" y="2194560"/>
            <a:ext cx="2240280" cy="1143000"/>
          </a:xfrm>
          <a:prstGeom prst="rect">
            <a:avLst/>
          </a:prstGeom>
          <a:noFill/>
          <a:ln/>
        </p:spPr>
        <p:txBody>
          <a:bodyPr wrap="square" lIns="0" tIns="0" rIns="0" bIns="0" rtlCol="0" anchor="ctr"/>
          <a:lstStyle/>
          <a:p>
            <a:pPr indent="0" marL="0">
              <a:buNone/>
            </a:pPr>
            <a:r>
              <a:rPr lang="en-US" sz="1400" b="1" dirty="0">
                <a:solidFill>
                  <a:schemeClr val="tx1"/>
                </a:solidFill>
              </a:rPr>
              <a:t>Regression head</a:t>
            </a:r>
            <a:endParaRPr lang="en-US" sz="1400" dirty="0"/>
          </a:p>
          <a:p>
            <a:pPr indent="0" marL="0">
              <a:buNone/>
            </a:pPr>
            <a:r>
              <a:rPr lang="en-US" sz="1200" dirty="0">
                <a:solidFill>
                  <a:schemeClr val="accent3"/>
                </a:solidFill>
              </a:rPr>
              <a:t>same backbone, a second opinion on predictions</a:t>
            </a:r>
            <a:endParaRPr lang="en-US" sz="1400" dirty="0"/>
          </a:p>
        </p:txBody>
      </p:sp>
      <p:sp>
        <p:nvSpPr>
          <p:cNvPr id="31" name="Text 29"/>
          <p:cNvSpPr txBox="1"/>
          <p:nvPr/>
        </p:nvSpPr>
        <p:spPr>
          <a:xfrm>
            <a:off x="6583680" y="1600200"/>
            <a:ext cx="50292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Surrogate property models</a:t>
            </a:r>
            <a:endParaRPr lang="en-US" sz="1800" dirty="0"/>
          </a:p>
        </p:txBody>
      </p:sp>
      <p:sp>
        <p:nvSpPr>
          <p:cNvPr id="32" name="hex FaBullseye"/>
          <p:cNvSpPr/>
          <p:nvPr/>
        </p:nvSpPr>
        <p:spPr>
          <a:xfrm>
            <a:off x="6583680" y="2148840"/>
            <a:ext cx="548640" cy="482803"/>
          </a:xfrm>
          <a:prstGeom prst="hexagon">
            <a:avLst/>
          </a:prstGeom>
          <a:solidFill>
            <a:schemeClr val="accent1"/>
          </a:solidFill>
          <a:ln w="12700">
            <a:solidFill>
              <a:schemeClr val="accent1"/>
            </a:solidFill>
            <a:prstDash val="solid"/>
          </a:ln>
        </p:spPr>
      </p:sp>
      <p:pic>
        <p:nvPicPr>
          <p:cNvPr id="33" name="Image 0" descr="preencoded.png">    </p:cNvPr>
          <p:cNvPicPr>
            <a:picLocks noChangeAspect="1"/>
          </p:cNvPicPr>
          <p:nvPr/>
        </p:nvPicPr>
        <p:blipFill>
          <a:blip r:embed="rId1"/>
          <a:stretch>
            <a:fillRect/>
          </a:stretch>
        </p:blipFill>
        <p:spPr>
          <a:xfrm>
            <a:off x="6742786" y="2275027"/>
            <a:ext cx="230429" cy="230429"/>
          </a:xfrm>
          <a:prstGeom prst="rect">
            <a:avLst/>
          </a:prstGeom>
        </p:spPr>
      </p:pic>
      <p:sp>
        <p:nvSpPr>
          <p:cNvPr id="34" name="Text 31"/>
          <p:cNvSpPr txBox="1"/>
          <p:nvPr/>
        </p:nvSpPr>
        <p:spPr>
          <a:xfrm>
            <a:off x="7315200" y="2130552"/>
            <a:ext cx="4297680" cy="731520"/>
          </a:xfrm>
          <a:prstGeom prst="rect">
            <a:avLst/>
          </a:prstGeom>
          <a:noFill/>
          <a:ln/>
        </p:spPr>
        <p:txBody>
          <a:bodyPr wrap="square" lIns="0" tIns="0" rIns="0" bIns="0" rtlCol="0" anchor="t"/>
          <a:lstStyle/>
          <a:p>
            <a:pPr indent="0" marL="0">
              <a:buNone/>
            </a:pPr>
            <a:r>
              <a:rPr lang="en-US" sz="1400" b="1" dirty="0">
                <a:solidFill>
                  <a:schemeClr val="tx1"/>
                </a:solidFill>
              </a:rPr>
              <a:t>Targets  </a:t>
            </a:r>
            <a:pPr indent="0" marL="0">
              <a:buNone/>
            </a:pPr>
            <a:r>
              <a:rPr lang="en-US" sz="1400" dirty="0">
                <a:solidFill>
                  <a:schemeClr val="accent3"/>
                </a:solidFill>
              </a:rPr>
              <a:t>accessible surface area; void fraction (pore volume excluded to avoid leakage)</a:t>
            </a:r>
            <a:endParaRPr lang="en-US" sz="1400" dirty="0"/>
          </a:p>
        </p:txBody>
      </p:sp>
      <p:sp>
        <p:nvSpPr>
          <p:cNvPr id="35" name="hex FaRandom"/>
          <p:cNvSpPr/>
          <p:nvPr/>
        </p:nvSpPr>
        <p:spPr>
          <a:xfrm>
            <a:off x="6583680" y="2953512"/>
            <a:ext cx="548640" cy="482803"/>
          </a:xfrm>
          <a:prstGeom prst="hexagon">
            <a:avLst/>
          </a:prstGeom>
          <a:solidFill>
            <a:schemeClr val="accent1"/>
          </a:solidFill>
          <a:ln w="12700">
            <a:solidFill>
              <a:schemeClr val="accent1"/>
            </a:solidFill>
            <a:prstDash val="solid"/>
          </a:ln>
        </p:spPr>
      </p:sp>
      <p:pic>
        <p:nvPicPr>
          <p:cNvPr id="36" name="Image 1" descr="preencoded.png">    </p:cNvPr>
          <p:cNvPicPr>
            <a:picLocks noChangeAspect="1"/>
          </p:cNvPicPr>
          <p:nvPr/>
        </p:nvPicPr>
        <p:blipFill>
          <a:blip r:embed="rId2"/>
          <a:stretch>
            <a:fillRect/>
          </a:stretch>
        </p:blipFill>
        <p:spPr>
          <a:xfrm>
            <a:off x="6742786" y="3079699"/>
            <a:ext cx="230429" cy="230429"/>
          </a:xfrm>
          <a:prstGeom prst="rect">
            <a:avLst/>
          </a:prstGeom>
        </p:spPr>
      </p:pic>
      <p:sp>
        <p:nvSpPr>
          <p:cNvPr id="37" name="Text 33"/>
          <p:cNvSpPr txBox="1"/>
          <p:nvPr/>
        </p:nvSpPr>
        <p:spPr>
          <a:xfrm>
            <a:off x="7315200" y="2935224"/>
            <a:ext cx="4297680" cy="731520"/>
          </a:xfrm>
          <a:prstGeom prst="rect">
            <a:avLst/>
          </a:prstGeom>
          <a:noFill/>
          <a:ln/>
        </p:spPr>
        <p:txBody>
          <a:bodyPr wrap="square" lIns="0" tIns="0" rIns="0" bIns="0" rtlCol="0" anchor="t"/>
          <a:lstStyle/>
          <a:p>
            <a:pPr indent="0" marL="0">
              <a:buNone/>
            </a:pPr>
            <a:r>
              <a:rPr lang="en-US" sz="1400" b="1" dirty="0">
                <a:solidFill>
                  <a:schemeClr val="tx1"/>
                </a:solidFill>
              </a:rPr>
              <a:t>Split  </a:t>
            </a:r>
            <a:pPr indent="0" marL="0">
              <a:buNone/>
            </a:pPr>
            <a:r>
              <a:rPr lang="en-US" sz="1400" dirty="0">
                <a:solidFill>
                  <a:schemeClr val="accent3"/>
                </a:solidFill>
              </a:rPr>
              <a:t>70 / 10 / 10 / 10: train, early stopping, conformal calibration, test</a:t>
            </a:r>
            <a:endParaRPr lang="en-US" sz="1400" dirty="0"/>
          </a:p>
        </p:txBody>
      </p:sp>
      <p:sp>
        <p:nvSpPr>
          <p:cNvPr id="38" name="hex FaLayerGroup"/>
          <p:cNvSpPr/>
          <p:nvPr/>
        </p:nvSpPr>
        <p:spPr>
          <a:xfrm>
            <a:off x="6583680" y="3758184"/>
            <a:ext cx="548640" cy="482803"/>
          </a:xfrm>
          <a:prstGeom prst="hexagon">
            <a:avLst/>
          </a:prstGeom>
          <a:solidFill>
            <a:schemeClr val="accent1"/>
          </a:solidFill>
          <a:ln w="12700">
            <a:solidFill>
              <a:schemeClr val="accent1"/>
            </a:solidFill>
            <a:prstDash val="solid"/>
          </a:ln>
        </p:spPr>
      </p:sp>
      <p:pic>
        <p:nvPicPr>
          <p:cNvPr id="39" name="Image 2" descr="preencoded.png">    </p:cNvPr>
          <p:cNvPicPr>
            <a:picLocks noChangeAspect="1"/>
          </p:cNvPicPr>
          <p:nvPr/>
        </p:nvPicPr>
        <p:blipFill>
          <a:blip r:embed="rId3"/>
          <a:stretch>
            <a:fillRect/>
          </a:stretch>
        </p:blipFill>
        <p:spPr>
          <a:xfrm>
            <a:off x="6742786" y="3884371"/>
            <a:ext cx="230429" cy="230429"/>
          </a:xfrm>
          <a:prstGeom prst="rect">
            <a:avLst/>
          </a:prstGeom>
        </p:spPr>
      </p:pic>
      <p:sp>
        <p:nvSpPr>
          <p:cNvPr id="40" name="Text 35"/>
          <p:cNvSpPr txBox="1"/>
          <p:nvPr/>
        </p:nvSpPr>
        <p:spPr>
          <a:xfrm>
            <a:off x="7315200" y="3739896"/>
            <a:ext cx="4297680" cy="731520"/>
          </a:xfrm>
          <a:prstGeom prst="rect">
            <a:avLst/>
          </a:prstGeom>
          <a:noFill/>
          <a:ln/>
        </p:spPr>
        <p:txBody>
          <a:bodyPr wrap="square" lIns="0" tIns="0" rIns="0" bIns="0" rtlCol="0" anchor="t"/>
          <a:lstStyle/>
          <a:p>
            <a:pPr indent="0" marL="0">
              <a:buNone/>
            </a:pPr>
            <a:r>
              <a:rPr lang="en-US" sz="1400" b="1" dirty="0">
                <a:solidFill>
                  <a:schemeClr val="tx1"/>
                </a:solidFill>
              </a:rPr>
              <a:t>Models  </a:t>
            </a:r>
            <a:pPr indent="0" marL="0">
              <a:buNone/>
            </a:pPr>
            <a:r>
              <a:rPr lang="en-US" sz="1400" dirty="0">
                <a:solidFill>
                  <a:schemeClr val="accent3"/>
                </a:solidFill>
              </a:rPr>
              <a:t>mean baseline, Ridge, Gaussian process, XGBoost (main), FT-Transformer</a:t>
            </a:r>
            <a:endParaRPr lang="en-US" sz="1400" dirty="0"/>
          </a:p>
        </p:txBody>
      </p:sp>
      <p:sp>
        <p:nvSpPr>
          <p:cNvPr id="41" name="hex FaAtom"/>
          <p:cNvSpPr/>
          <p:nvPr/>
        </p:nvSpPr>
        <p:spPr>
          <a:xfrm>
            <a:off x="6583680" y="4562856"/>
            <a:ext cx="548640" cy="482803"/>
          </a:xfrm>
          <a:prstGeom prst="hexagon">
            <a:avLst/>
          </a:prstGeom>
          <a:solidFill>
            <a:schemeClr val="accent2"/>
          </a:solidFill>
          <a:ln w="12700">
            <a:solidFill>
              <a:schemeClr val="accent2"/>
            </a:solidFill>
            <a:prstDash val="solid"/>
          </a:ln>
        </p:spPr>
      </p:sp>
      <p:pic>
        <p:nvPicPr>
          <p:cNvPr id="42" name="Image 3" descr="preencoded.png">    </p:cNvPr>
          <p:cNvPicPr>
            <a:picLocks noChangeAspect="1"/>
          </p:cNvPicPr>
          <p:nvPr/>
        </p:nvPicPr>
        <p:blipFill>
          <a:blip r:embed="rId4"/>
          <a:stretch>
            <a:fillRect/>
          </a:stretch>
        </p:blipFill>
        <p:spPr>
          <a:xfrm>
            <a:off x="6742786" y="4689043"/>
            <a:ext cx="230429" cy="230429"/>
          </a:xfrm>
          <a:prstGeom prst="rect">
            <a:avLst/>
          </a:prstGeom>
        </p:spPr>
      </p:pic>
      <p:sp>
        <p:nvSpPr>
          <p:cNvPr id="43" name="Text 37"/>
          <p:cNvSpPr txBox="1"/>
          <p:nvPr/>
        </p:nvSpPr>
        <p:spPr>
          <a:xfrm>
            <a:off x="7315200" y="4544568"/>
            <a:ext cx="4297680" cy="731520"/>
          </a:xfrm>
          <a:prstGeom prst="rect">
            <a:avLst/>
          </a:prstGeom>
          <a:noFill/>
          <a:ln/>
        </p:spPr>
        <p:txBody>
          <a:bodyPr wrap="square" lIns="0" tIns="0" rIns="0" bIns="0" rtlCol="0" anchor="t"/>
          <a:lstStyle/>
          <a:p>
            <a:pPr indent="0" marL="0">
              <a:buNone/>
            </a:pPr>
            <a:r>
              <a:rPr lang="en-US" sz="1400" b="1" dirty="0">
                <a:solidFill>
                  <a:schemeClr val="tx1"/>
                </a:solidFill>
              </a:rPr>
              <a:t>Physics rule  </a:t>
            </a:r>
            <a:pPr indent="0" marL="0">
              <a:buNone/>
            </a:pPr>
            <a:r>
              <a:rPr lang="en-US" sz="1400" dirty="0">
                <a:solidFill>
                  <a:schemeClr val="accent3"/>
                </a:solidFill>
              </a:rPr>
              <a:t>PLD below the 3.31 Å probe → surface area exactly 0</a:t>
            </a:r>
            <a:endParaRPr lang="en-US" sz="1400" dirty="0"/>
          </a:p>
        </p:txBody>
      </p:sp>
      <p:sp>
        <p:nvSpPr>
          <p:cNvPr id="44" name="hex FaBalanceScale"/>
          <p:cNvSpPr/>
          <p:nvPr/>
        </p:nvSpPr>
        <p:spPr>
          <a:xfrm>
            <a:off x="6583680" y="5367528"/>
            <a:ext cx="548640" cy="482803"/>
          </a:xfrm>
          <a:prstGeom prst="hexagon">
            <a:avLst/>
          </a:prstGeom>
          <a:solidFill>
            <a:schemeClr val="accent1"/>
          </a:solidFill>
          <a:ln w="12700">
            <a:solidFill>
              <a:schemeClr val="accent1"/>
            </a:solidFill>
            <a:prstDash val="solid"/>
          </a:ln>
        </p:spPr>
      </p:sp>
      <p:pic>
        <p:nvPicPr>
          <p:cNvPr id="45" name="Image 4" descr="preencoded.png">    </p:cNvPr>
          <p:cNvPicPr>
            <a:picLocks noChangeAspect="1"/>
          </p:cNvPicPr>
          <p:nvPr/>
        </p:nvPicPr>
        <p:blipFill>
          <a:blip r:embed="rId5"/>
          <a:stretch>
            <a:fillRect/>
          </a:stretch>
        </p:blipFill>
        <p:spPr>
          <a:xfrm>
            <a:off x="6742786" y="5493715"/>
            <a:ext cx="230429" cy="230429"/>
          </a:xfrm>
          <a:prstGeom prst="rect">
            <a:avLst/>
          </a:prstGeom>
        </p:spPr>
      </p:pic>
      <p:sp>
        <p:nvSpPr>
          <p:cNvPr id="46" name="Text 39"/>
          <p:cNvSpPr txBox="1"/>
          <p:nvPr/>
        </p:nvSpPr>
        <p:spPr>
          <a:xfrm>
            <a:off x="7315200" y="5349240"/>
            <a:ext cx="4297680" cy="731520"/>
          </a:xfrm>
          <a:prstGeom prst="rect">
            <a:avLst/>
          </a:prstGeom>
          <a:noFill/>
          <a:ln/>
        </p:spPr>
        <p:txBody>
          <a:bodyPr wrap="square" lIns="0" tIns="0" rIns="0" bIns="0" rtlCol="0" anchor="t"/>
          <a:lstStyle/>
          <a:p>
            <a:pPr indent="0" marL="0">
              <a:buNone/>
            </a:pPr>
            <a:r>
              <a:rPr lang="en-US" sz="1400" b="1" dirty="0">
                <a:solidFill>
                  <a:schemeClr val="tx1"/>
                </a:solidFill>
              </a:rPr>
              <a:t>Trust  </a:t>
            </a:r>
            <a:pPr indent="0" marL="0">
              <a:buNone/>
            </a:pPr>
            <a:r>
              <a:rPr lang="en-US" sz="1400" dirty="0">
                <a:solidFill>
                  <a:schemeClr val="accent3"/>
                </a:solidFill>
              </a:rPr>
              <a:t>split-conformal 90 % intervals and TreeSHAP explanations</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05 · GROUNDING</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Retrieval adds knowledge; a validator keeps the LLM honest</a:t>
            </a:r>
            <a:endParaRPr lang="en-US" sz="2800" dirty="0"/>
          </a:p>
        </p:txBody>
      </p:sp>
      <p:sp>
        <p:nvSpPr>
          <p:cNvPr id="4" name="card"/>
          <p:cNvSpPr/>
          <p:nvPr/>
        </p:nvSpPr>
        <p:spPr>
          <a:xfrm>
            <a:off x="548640" y="1600200"/>
            <a:ext cx="4754880" cy="4526280"/>
          </a:xfrm>
          <a:prstGeom prst="roundRect">
            <a:avLst>
              <a:gd name="adj" fmla="val 1616"/>
            </a:avLst>
          </a:prstGeom>
          <a:solidFill>
            <a:srgbClr val="F2F6F7"/>
          </a:solidFill>
          <a:ln w="12700">
            <a:solidFill>
              <a:srgbClr val="F2F6F7"/>
            </a:solidFill>
            <a:prstDash val="solid"/>
          </a:ln>
        </p:spPr>
      </p:sp>
      <p:sp>
        <p:nvSpPr>
          <p:cNvPr id="5" name="hex FaBook"/>
          <p:cNvSpPr/>
          <p:nvPr/>
        </p:nvSpPr>
        <p:spPr>
          <a:xfrm>
            <a:off x="822960" y="1828800"/>
            <a:ext cx="640080" cy="563270"/>
          </a:xfrm>
          <a:prstGeom prst="hexagon">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08583" y="1976018"/>
            <a:ext cx="268834" cy="268834"/>
          </a:xfrm>
          <a:prstGeom prst="rect">
            <a:avLst/>
          </a:prstGeom>
        </p:spPr>
      </p:pic>
      <p:sp>
        <p:nvSpPr>
          <p:cNvPr id="7" name="Text 4"/>
          <p:cNvSpPr txBox="1"/>
          <p:nvPr/>
        </p:nvSpPr>
        <p:spPr>
          <a:xfrm>
            <a:off x="1645920" y="1920240"/>
            <a:ext cx="35661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Knowledge retrieval (RAG)</a:t>
            </a:r>
            <a:endParaRPr lang="en-US" sz="1800" dirty="0"/>
          </a:p>
        </p:txBody>
      </p:sp>
      <p:sp>
        <p:nvSpPr>
          <p:cNvPr id="8" name="Text 5"/>
          <p:cNvSpPr txBox="1"/>
          <p:nvPr/>
        </p:nvSpPr>
        <p:spPr>
          <a:xfrm>
            <a:off x="822960" y="2697480"/>
            <a:ext cx="429768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5 curated, referenced notes + the ChatMOF paper → 104 chunks</a:t>
            </a:r>
            <a:endParaRPr lang="en-US" sz="1500" dirty="0"/>
          </a:p>
          <a:p>
            <a:pPr marL="203200" indent="-203200">
              <a:spcAft>
                <a:spcPts val="800"/>
              </a:spcAft>
              <a:buSzPct val="100000"/>
              <a:buChar char="•"/>
            </a:pPr>
            <a:r>
              <a:rPr lang="en-US" sz="1500" dirty="0">
                <a:solidFill>
                  <a:schemeClr val="tx1"/>
                </a:solidFill>
              </a:rPr>
              <a:t>all-MiniLM-L6-v2 embeddings, FAISS inner product</a:t>
            </a:r>
            <a:endParaRPr lang="en-US" sz="1500" dirty="0"/>
          </a:p>
          <a:p>
            <a:pPr marL="203200" indent="-203200">
              <a:spcAft>
                <a:spcPts val="800"/>
              </a:spcAft>
              <a:buSzPct val="100000"/>
              <a:buChar char="•"/>
            </a:pPr>
            <a:r>
              <a:rPr lang="en-US" sz="1500" dirty="0">
                <a:solidFill>
                  <a:schemeClr val="tx1"/>
                </a:solidFill>
              </a:rPr>
              <a:t>Best match below 0.30 cosine → treated as off-topic</a:t>
            </a:r>
            <a:endParaRPr lang="en-US" sz="1500" dirty="0"/>
          </a:p>
          <a:p>
            <a:pPr marL="203200" indent="-203200">
              <a:spcAft>
                <a:spcPts val="800"/>
              </a:spcAft>
              <a:buSzPct val="100000"/>
              <a:buChar char="•"/>
            </a:pPr>
            <a:r>
              <a:rPr lang="en-US" sz="1500" dirty="0">
                <a:solidFill>
                  <a:schemeClr val="tx1"/>
                </a:solidFill>
              </a:rPr>
              <a:t>Sources are shown with every answer</a:t>
            </a:r>
            <a:endParaRPr lang="en-US" sz="1500" dirty="0"/>
          </a:p>
        </p:txBody>
      </p:sp>
      <p:sp>
        <p:nvSpPr>
          <p:cNvPr id="9" name="Text 6"/>
          <p:cNvSpPr txBox="1"/>
          <p:nvPr/>
        </p:nvSpPr>
        <p:spPr>
          <a:xfrm>
            <a:off x="822960" y="4754880"/>
            <a:ext cx="1417320" cy="68580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75 %</a:t>
            </a:r>
            <a:endParaRPr lang="en-US" sz="2600" dirty="0"/>
          </a:p>
        </p:txBody>
      </p:sp>
      <p:sp>
        <p:nvSpPr>
          <p:cNvPr id="10" name="Text 7"/>
          <p:cNvSpPr txBox="1"/>
          <p:nvPr/>
        </p:nvSpPr>
        <p:spPr>
          <a:xfrm>
            <a:off x="822960" y="5486400"/>
            <a:ext cx="1417320" cy="548640"/>
          </a:xfrm>
          <a:prstGeom prst="rect">
            <a:avLst/>
          </a:prstGeom>
          <a:noFill/>
          <a:ln/>
        </p:spPr>
        <p:txBody>
          <a:bodyPr wrap="square" lIns="0" tIns="0" rIns="0" bIns="0" rtlCol="0" anchor="t"/>
          <a:lstStyle/>
          <a:p>
            <a:pPr indent="0" marL="0">
              <a:buNone/>
            </a:pPr>
            <a:r>
              <a:rPr lang="en-US" sz="1300" dirty="0">
                <a:solidFill>
                  <a:schemeClr val="accent3"/>
                </a:solidFill>
              </a:rPr>
              <a:t>hit@1</a:t>
            </a:r>
            <a:endParaRPr lang="en-US" sz="1300" dirty="0"/>
          </a:p>
        </p:txBody>
      </p:sp>
      <p:sp>
        <p:nvSpPr>
          <p:cNvPr id="11" name="Text 8"/>
          <p:cNvSpPr txBox="1"/>
          <p:nvPr/>
        </p:nvSpPr>
        <p:spPr>
          <a:xfrm>
            <a:off x="2286000" y="4754880"/>
            <a:ext cx="1417320" cy="68580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83 %</a:t>
            </a:r>
            <a:endParaRPr lang="en-US" sz="2600" dirty="0"/>
          </a:p>
        </p:txBody>
      </p:sp>
      <p:sp>
        <p:nvSpPr>
          <p:cNvPr id="12" name="Text 9"/>
          <p:cNvSpPr txBox="1"/>
          <p:nvPr/>
        </p:nvSpPr>
        <p:spPr>
          <a:xfrm>
            <a:off x="2286000" y="5486400"/>
            <a:ext cx="1417320" cy="548640"/>
          </a:xfrm>
          <a:prstGeom prst="rect">
            <a:avLst/>
          </a:prstGeom>
          <a:noFill/>
          <a:ln/>
        </p:spPr>
        <p:txBody>
          <a:bodyPr wrap="square" lIns="0" tIns="0" rIns="0" bIns="0" rtlCol="0" anchor="t"/>
          <a:lstStyle/>
          <a:p>
            <a:pPr indent="0" marL="0">
              <a:buNone/>
            </a:pPr>
            <a:r>
              <a:rPr lang="en-US" sz="1300" dirty="0">
                <a:solidFill>
                  <a:schemeClr val="accent3"/>
                </a:solidFill>
              </a:rPr>
              <a:t>hit@3</a:t>
            </a:r>
            <a:endParaRPr lang="en-US" sz="1300" dirty="0"/>
          </a:p>
        </p:txBody>
      </p:sp>
      <p:sp>
        <p:nvSpPr>
          <p:cNvPr id="13" name="Text 10"/>
          <p:cNvSpPr txBox="1"/>
          <p:nvPr/>
        </p:nvSpPr>
        <p:spPr>
          <a:xfrm>
            <a:off x="3749040" y="4754880"/>
            <a:ext cx="1417320" cy="685800"/>
          </a:xfrm>
          <a:prstGeom prst="rect">
            <a:avLst/>
          </a:prstGeom>
          <a:noFill/>
          <a:ln/>
        </p:spPr>
        <p:txBody>
          <a:bodyPr wrap="square" lIns="0" tIns="0" rIns="0" bIns="0" rtlCol="0" anchor="b"/>
          <a:lstStyle/>
          <a:p>
            <a:pPr indent="0" marL="0">
              <a:buNone/>
            </a:pPr>
            <a:r>
              <a:rPr lang="en-US" sz="2600" b="1" dirty="0">
                <a:solidFill>
                  <a:schemeClr val="accent1"/>
                </a:solidFill>
                <a:latin typeface="Cambria" pitchFamily="34" charset="0"/>
                <a:ea typeface="Cambria" pitchFamily="34" charset="-122"/>
                <a:cs typeface="Cambria" pitchFamily="34" charset="-120"/>
              </a:rPr>
              <a:t>5 / 5</a:t>
            </a:r>
            <a:endParaRPr lang="en-US" sz="2600" dirty="0"/>
          </a:p>
        </p:txBody>
      </p:sp>
      <p:sp>
        <p:nvSpPr>
          <p:cNvPr id="14" name="Text 11"/>
          <p:cNvSpPr txBox="1"/>
          <p:nvPr/>
        </p:nvSpPr>
        <p:spPr>
          <a:xfrm>
            <a:off x="3749040" y="5486400"/>
            <a:ext cx="1417320" cy="548640"/>
          </a:xfrm>
          <a:prstGeom prst="rect">
            <a:avLst/>
          </a:prstGeom>
          <a:noFill/>
          <a:ln/>
        </p:spPr>
        <p:txBody>
          <a:bodyPr wrap="square" lIns="0" tIns="0" rIns="0" bIns="0" rtlCol="0" anchor="t"/>
          <a:lstStyle/>
          <a:p>
            <a:pPr indent="0" marL="0">
              <a:buNone/>
            </a:pPr>
            <a:r>
              <a:rPr lang="en-US" sz="1300" dirty="0">
                <a:solidFill>
                  <a:schemeClr val="accent3"/>
                </a:solidFill>
              </a:rPr>
              <a:t>off-topic rejected</a:t>
            </a:r>
            <a:endParaRPr lang="en-US" sz="1300" dirty="0"/>
          </a:p>
        </p:txBody>
      </p:sp>
      <p:sp>
        <p:nvSpPr>
          <p:cNvPr id="15" name="Text 12"/>
          <p:cNvSpPr txBox="1"/>
          <p:nvPr/>
        </p:nvSpPr>
        <p:spPr>
          <a:xfrm>
            <a:off x="5760720" y="1600200"/>
            <a:ext cx="585216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 validator</a:t>
            </a:r>
            <a:endParaRPr lang="en-US" sz="1800" dirty="0"/>
          </a:p>
        </p:txBody>
      </p:sp>
      <p:sp>
        <p:nvSpPr>
          <p:cNvPr id="16" name="Shape 13"/>
          <p:cNvSpPr/>
          <p:nvPr/>
        </p:nvSpPr>
        <p:spPr>
          <a:xfrm>
            <a:off x="5760720" y="2103120"/>
            <a:ext cx="502920" cy="442570"/>
          </a:xfrm>
          <a:prstGeom prst="hexagon">
            <a:avLst/>
          </a:prstGeom>
          <a:solidFill>
            <a:schemeClr val="accent1"/>
          </a:solidFill>
          <a:ln w="12700">
            <a:solidFill>
              <a:schemeClr val="accent1"/>
            </a:solidFill>
            <a:prstDash val="solid"/>
          </a:ln>
        </p:spPr>
      </p:sp>
      <p:sp>
        <p:nvSpPr>
          <p:cNvPr id="17" name="Text 14"/>
          <p:cNvSpPr txBox="1"/>
          <p:nvPr/>
        </p:nvSpPr>
        <p:spPr>
          <a:xfrm>
            <a:off x="5760720" y="210312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18" name="Text 15"/>
          <p:cNvSpPr txBox="1"/>
          <p:nvPr/>
        </p:nvSpPr>
        <p:spPr>
          <a:xfrm>
            <a:off x="6446520" y="2130552"/>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Extract  </a:t>
            </a:r>
            <a:pPr indent="0" marL="0">
              <a:buNone/>
            </a:pPr>
            <a:r>
              <a:rPr lang="en-US" sz="1500" dirty="0">
                <a:solidFill>
                  <a:schemeClr val="accent3"/>
                </a:solidFill>
              </a:rPr>
              <a:t>every MOF ID and number, incl. “8 318”-style thousands</a:t>
            </a:r>
            <a:endParaRPr lang="en-US" sz="1500" dirty="0"/>
          </a:p>
        </p:txBody>
      </p:sp>
      <p:sp>
        <p:nvSpPr>
          <p:cNvPr id="19" name="Shape 16"/>
          <p:cNvSpPr/>
          <p:nvPr/>
        </p:nvSpPr>
        <p:spPr>
          <a:xfrm>
            <a:off x="5760720" y="2770632"/>
            <a:ext cx="502920" cy="442570"/>
          </a:xfrm>
          <a:prstGeom prst="hexagon">
            <a:avLst/>
          </a:prstGeom>
          <a:solidFill>
            <a:schemeClr val="accent1"/>
          </a:solidFill>
          <a:ln w="12700">
            <a:solidFill>
              <a:schemeClr val="accent1"/>
            </a:solidFill>
            <a:prstDash val="solid"/>
          </a:ln>
        </p:spPr>
      </p:sp>
      <p:sp>
        <p:nvSpPr>
          <p:cNvPr id="20" name="Text 17"/>
          <p:cNvSpPr txBox="1"/>
          <p:nvPr/>
        </p:nvSpPr>
        <p:spPr>
          <a:xfrm>
            <a:off x="5760720" y="2770632"/>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21" name="Text 18"/>
          <p:cNvSpPr txBox="1"/>
          <p:nvPr/>
        </p:nvSpPr>
        <p:spPr>
          <a:xfrm>
            <a:off x="6446520" y="2798064"/>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Correct  </a:t>
            </a:r>
            <a:pPr indent="0" marL="0">
              <a:buNone/>
            </a:pPr>
            <a:r>
              <a:rPr lang="en-US" sz="1500" dirty="0">
                <a:solidFill>
                  <a:schemeClr val="accent3"/>
                </a:solidFill>
              </a:rPr>
              <a:t>IDs within edit distance 2 (ACOCLUS → ACOCUS)</a:t>
            </a:r>
            <a:endParaRPr lang="en-US" sz="1500" dirty="0"/>
          </a:p>
        </p:txBody>
      </p:sp>
      <p:sp>
        <p:nvSpPr>
          <p:cNvPr id="22" name="Shape 19"/>
          <p:cNvSpPr/>
          <p:nvPr/>
        </p:nvSpPr>
        <p:spPr>
          <a:xfrm>
            <a:off x="5760720" y="3438144"/>
            <a:ext cx="502920" cy="442570"/>
          </a:xfrm>
          <a:prstGeom prst="hexagon">
            <a:avLst/>
          </a:prstGeom>
          <a:solidFill>
            <a:schemeClr val="accent1"/>
          </a:solidFill>
          <a:ln w="12700">
            <a:solidFill>
              <a:schemeClr val="accent1"/>
            </a:solidFill>
            <a:prstDash val="solid"/>
          </a:ln>
        </p:spPr>
      </p:sp>
      <p:sp>
        <p:nvSpPr>
          <p:cNvPr id="23" name="Text 20"/>
          <p:cNvSpPr txBox="1"/>
          <p:nvPr/>
        </p:nvSpPr>
        <p:spPr>
          <a:xfrm>
            <a:off x="5760720" y="3438144"/>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24" name="Text 21"/>
          <p:cNvSpPr txBox="1"/>
          <p:nvPr/>
        </p:nvSpPr>
        <p:spPr>
          <a:xfrm>
            <a:off x="6446520" y="3465576"/>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Trace  </a:t>
            </a:r>
            <a:pPr indent="0" marL="0">
              <a:buNone/>
            </a:pPr>
            <a:r>
              <a:rPr lang="en-US" sz="1500" dirty="0">
                <a:solidFill>
                  <a:schemeClr val="accent3"/>
                </a:solidFill>
              </a:rPr>
              <a:t>each number must match the data within rounding</a:t>
            </a:r>
            <a:endParaRPr lang="en-US" sz="1500" dirty="0"/>
          </a:p>
        </p:txBody>
      </p:sp>
      <p:sp>
        <p:nvSpPr>
          <p:cNvPr id="25" name="Shape 22"/>
          <p:cNvSpPr/>
          <p:nvPr/>
        </p:nvSpPr>
        <p:spPr>
          <a:xfrm>
            <a:off x="5760720" y="4105656"/>
            <a:ext cx="502920" cy="442570"/>
          </a:xfrm>
          <a:prstGeom prst="hexagon">
            <a:avLst/>
          </a:prstGeom>
          <a:solidFill>
            <a:schemeClr val="accent2"/>
          </a:solidFill>
          <a:ln w="12700">
            <a:solidFill>
              <a:schemeClr val="accent2"/>
            </a:solidFill>
            <a:prstDash val="solid"/>
          </a:ln>
        </p:spPr>
      </p:sp>
      <p:sp>
        <p:nvSpPr>
          <p:cNvPr id="26" name="Text 23"/>
          <p:cNvSpPr txBox="1"/>
          <p:nvPr/>
        </p:nvSpPr>
        <p:spPr>
          <a:xfrm>
            <a:off x="5760720" y="4105656"/>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27" name="Text 24"/>
          <p:cNvSpPr txBox="1"/>
          <p:nvPr/>
        </p:nvSpPr>
        <p:spPr>
          <a:xfrm>
            <a:off x="6446520" y="4133088"/>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Check claims  </a:t>
            </a:r>
            <a:pPr indent="0" marL="0">
              <a:buNone/>
            </a:pPr>
            <a:r>
              <a:rPr lang="en-US" sz="1500" dirty="0">
                <a:solidFill>
                  <a:schemeClr val="accent3"/>
                </a:solidFill>
              </a:rPr>
              <a:t>“A, B, C have ≥ 6000 m²/g”, “on the first Pareto front”</a:t>
            </a:r>
            <a:endParaRPr lang="en-US" sz="1500" dirty="0"/>
          </a:p>
        </p:txBody>
      </p:sp>
      <p:sp>
        <p:nvSpPr>
          <p:cNvPr id="28" name="Shape 25"/>
          <p:cNvSpPr/>
          <p:nvPr/>
        </p:nvSpPr>
        <p:spPr>
          <a:xfrm>
            <a:off x="5760720" y="4773168"/>
            <a:ext cx="502920" cy="442570"/>
          </a:xfrm>
          <a:prstGeom prst="hexagon">
            <a:avLst/>
          </a:prstGeom>
          <a:solidFill>
            <a:schemeClr val="accent1"/>
          </a:solidFill>
          <a:ln w="12700">
            <a:solidFill>
              <a:schemeClr val="accent1"/>
            </a:solidFill>
            <a:prstDash val="solid"/>
          </a:ln>
        </p:spPr>
      </p:sp>
      <p:sp>
        <p:nvSpPr>
          <p:cNvPr id="29" name="Text 26"/>
          <p:cNvSpPr txBox="1"/>
          <p:nvPr/>
        </p:nvSpPr>
        <p:spPr>
          <a:xfrm>
            <a:off x="5760720" y="4773168"/>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30" name="Text 27"/>
          <p:cNvSpPr txBox="1"/>
          <p:nvPr/>
        </p:nvSpPr>
        <p:spPr>
          <a:xfrm>
            <a:off x="6446520" y="4800600"/>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Regenerate  </a:t>
            </a:r>
            <a:pPr indent="0" marL="0">
              <a:buNone/>
            </a:pPr>
            <a:r>
              <a:rPr lang="en-US" sz="1500" dirty="0">
                <a:solidFill>
                  <a:schemeClr val="accent3"/>
                </a:solidFill>
              </a:rPr>
              <a:t>once, listing the exact problems</a:t>
            </a:r>
            <a:endParaRPr lang="en-US" sz="1500" dirty="0"/>
          </a:p>
        </p:txBody>
      </p:sp>
      <p:sp>
        <p:nvSpPr>
          <p:cNvPr id="31" name="Shape 28"/>
          <p:cNvSpPr/>
          <p:nvPr/>
        </p:nvSpPr>
        <p:spPr>
          <a:xfrm>
            <a:off x="5760720" y="5440680"/>
            <a:ext cx="502920" cy="442570"/>
          </a:xfrm>
          <a:prstGeom prst="hexagon">
            <a:avLst/>
          </a:prstGeom>
          <a:solidFill>
            <a:schemeClr val="accent1"/>
          </a:solidFill>
          <a:ln w="12700">
            <a:solidFill>
              <a:schemeClr val="accent1"/>
            </a:solidFill>
            <a:prstDash val="solid"/>
          </a:ln>
        </p:spPr>
      </p:sp>
      <p:sp>
        <p:nvSpPr>
          <p:cNvPr id="32" name="Text 29"/>
          <p:cNvSpPr txBox="1"/>
          <p:nvPr/>
        </p:nvSpPr>
        <p:spPr>
          <a:xfrm>
            <a:off x="5760720" y="54406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33" name="Text 30"/>
          <p:cNvSpPr txBox="1"/>
          <p:nvPr/>
        </p:nvSpPr>
        <p:spPr>
          <a:xfrm>
            <a:off x="6446520" y="5468112"/>
            <a:ext cx="5166360" cy="502920"/>
          </a:xfrm>
          <a:prstGeom prst="rect">
            <a:avLst/>
          </a:prstGeom>
          <a:noFill/>
          <a:ln/>
        </p:spPr>
        <p:txBody>
          <a:bodyPr wrap="square" lIns="0" tIns="0" rIns="0" bIns="0" rtlCol="0" anchor="ctr"/>
          <a:lstStyle/>
          <a:p>
            <a:pPr indent="0" marL="0">
              <a:buNone/>
            </a:pPr>
            <a:r>
              <a:rPr lang="en-US" sz="1500" b="1" dirty="0">
                <a:solidFill>
                  <a:schemeClr val="tx1"/>
                </a:solidFill>
              </a:rPr>
              <a:t>Flag  </a:t>
            </a:r>
            <a:pPr indent="0" marL="0">
              <a:buNone/>
            </a:pPr>
            <a:r>
              <a:rPr lang="en-US" sz="1500" dirty="0">
                <a:solidFill>
                  <a:schemeClr val="accent3"/>
                </a:solidFill>
              </a:rPr>
              <a:t>anything still unverified, above the verified table</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RESULTS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Exact answers jump from 5 % to 100 % on held-out questions</a:t>
            </a:r>
            <a:endParaRPr lang="en-US" sz="2800" dirty="0"/>
          </a:p>
        </p:txBody>
      </p:sp>
      <p:graphicFrame>
        <p:nvGraphicFramePr>
          <p:cNvPr id="4" name="Chart 0" descr=""/>
          <p:cNvGraphicFramePr/>
          <p:nvPr/>
        </p:nvGraphicFramePr>
        <p:xfrm>
          <a:off x="457200" y="1508760"/>
          <a:ext cx="7498080" cy="470916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321040" y="1600200"/>
            <a:ext cx="3291840" cy="4526280"/>
          </a:xfrm>
          <a:prstGeom prst="roundRect">
            <a:avLst>
              <a:gd name="adj" fmla="val 2222"/>
            </a:avLst>
          </a:prstGeom>
          <a:solidFill>
            <a:schemeClr val="bg2"/>
          </a:solidFill>
          <a:ln w="12700">
            <a:solidFill>
              <a:schemeClr val="bg2"/>
            </a:solidFill>
            <a:prstDash val="solid"/>
          </a:ln>
        </p:spPr>
      </p:sp>
      <p:sp>
        <p:nvSpPr>
          <p:cNvPr id="6" name="Text 3"/>
          <p:cNvSpPr txBox="1"/>
          <p:nvPr/>
        </p:nvSpPr>
        <p:spPr>
          <a:xfrm>
            <a:off x="8595360" y="1783080"/>
            <a:ext cx="283464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How to read it</a:t>
            </a:r>
            <a:endParaRPr lang="en-US" sz="1700" dirty="0"/>
          </a:p>
        </p:txBody>
      </p:sp>
      <p:sp>
        <p:nvSpPr>
          <p:cNvPr id="7" name="Text 4"/>
          <p:cNvSpPr txBox="1"/>
          <p:nvPr/>
        </p:nvSpPr>
        <p:spPr>
          <a:xfrm>
            <a:off x="8595360" y="2286000"/>
            <a:ext cx="2834640" cy="365760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chemeClr val="tx1"/>
                </a:solidFill>
              </a:rPr>
              <a:t>Exact</a:t>
            </a:r>
            <a:pPr indent="0" marL="0">
              <a:buNone/>
            </a:pPr>
            <a:r>
              <a:rPr lang="en-US" sz="1400" dirty="0">
                <a:solidFill>
                  <a:schemeClr val="tx1"/>
                </a:solidFill>
              </a:rPr>
              <a:t> = same MOFs (or count) as the hand-written gold plan</a:t>
            </a:r>
            <a:endParaRPr lang="en-US" sz="1400" dirty="0"/>
          </a:p>
          <a:p>
            <a:pPr marL="203200" indent="-203200">
              <a:spcAft>
                <a:spcPts val="800"/>
              </a:spcAft>
              <a:buSzPct val="100000"/>
              <a:buChar char="•"/>
            </a:pPr>
            <a:r>
              <a:rPr lang="en-US" sz="1400" b="1" dirty="0">
                <a:solidFill>
                  <a:schemeClr val="tx1"/>
                </a:solidFill>
              </a:rPr>
              <a:t>Dev 100 % is optimistic</a:t>
            </a:r>
            <a:pPr indent="0" marL="0">
              <a:buNone/>
            </a:pPr>
            <a:r>
              <a:rPr lang="en-US" sz="1400" dirty="0">
                <a:solidFill>
                  <a:schemeClr val="tx1"/>
                </a:solidFill>
              </a:rPr>
              <a:t> for rules: they were tuned on it</a:t>
            </a:r>
            <a:endParaRPr lang="en-US" sz="1400" dirty="0"/>
          </a:p>
          <a:p>
            <a:pPr marL="203200" indent="-203200">
              <a:spcAft>
                <a:spcPts val="800"/>
              </a:spcAft>
              <a:buSzPct val="100000"/>
              <a:buChar char="•"/>
            </a:pPr>
            <a:r>
              <a:rPr lang="en-US" sz="1400" b="1" dirty="0">
                <a:solidFill>
                  <a:schemeClr val="tx1"/>
                </a:solidFill>
              </a:rPr>
              <a:t>Held-out</a:t>
            </a:r>
            <a:pPr indent="0" marL="0">
              <a:buNone/>
            </a:pPr>
            <a:r>
              <a:rPr lang="en-US" sz="1400" dirty="0">
                <a:solidFill>
                  <a:schemeClr val="tx1"/>
                </a:solidFill>
              </a:rPr>
              <a:t> phrasings were written later, never tuned on</a:t>
            </a:r>
            <a:endParaRPr lang="en-US" sz="1400" dirty="0"/>
          </a:p>
          <a:p>
            <a:pPr marL="203200" indent="-203200">
              <a:spcAft>
                <a:spcPts val="800"/>
              </a:spcAft>
              <a:buSzPct val="100000"/>
              <a:buChar char="•"/>
            </a:pPr>
            <a:r>
              <a:rPr lang="en-US" sz="1400" b="1" dirty="0">
                <a:solidFill>
                  <a:schemeClr val="tx1"/>
                </a:solidFill>
              </a:rPr>
              <a:t>ChatMOF</a:t>
            </a:r>
            <a:pPr indent="0" marL="0">
              <a:buNone/>
            </a:pPr>
            <a:r>
              <a:rPr lang="en-US" sz="1400" dirty="0">
                <a:solidFill>
                  <a:schemeClr val="tx1"/>
                </a:solidFill>
              </a:rPr>
              <a:t> reports 96.9 % on its own search set (different questions)</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ABLATION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Validation and the hybrid planner make a small offline LLM usable</a:t>
            </a:r>
            <a:endParaRPr lang="en-US" sz="2800" dirty="0"/>
          </a:p>
        </p:txBody>
      </p:sp>
      <p:graphicFrame>
        <p:nvGraphicFramePr>
          <p:cNvPr id="4" name="Chart 0" descr=""/>
          <p:cNvGraphicFramePr/>
          <p:nvPr/>
        </p:nvGraphicFramePr>
        <p:xfrm>
          <a:off x="457200" y="1508760"/>
          <a:ext cx="6583680" cy="4709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498080" y="1600200"/>
            <a:ext cx="4114800" cy="6858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+15 pts</a:t>
            </a:r>
            <a:endParaRPr lang="en-US" sz="4800" dirty="0"/>
          </a:p>
        </p:txBody>
      </p:sp>
      <p:sp>
        <p:nvSpPr>
          <p:cNvPr id="6" name="Text 3"/>
          <p:cNvSpPr txBox="1"/>
          <p:nvPr/>
        </p:nvSpPr>
        <p:spPr>
          <a:xfrm>
            <a:off x="7498080" y="2331720"/>
            <a:ext cx="4114800" cy="548640"/>
          </a:xfrm>
          <a:prstGeom prst="rect">
            <a:avLst/>
          </a:prstGeom>
          <a:noFill/>
          <a:ln/>
        </p:spPr>
        <p:txBody>
          <a:bodyPr wrap="square" lIns="0" tIns="0" rIns="0" bIns="0" rtlCol="0" anchor="t"/>
          <a:lstStyle/>
          <a:p>
            <a:pPr indent="0" marL="0">
              <a:buNone/>
            </a:pPr>
            <a:r>
              <a:rPr lang="en-US" sz="1300" dirty="0">
                <a:solidFill>
                  <a:schemeClr val="accent3"/>
                </a:solidFill>
              </a:rPr>
              <a:t>held-out accuracy added by the safety layers, fully offline</a:t>
            </a:r>
            <a:endParaRPr lang="en-US" sz="1300" dirty="0"/>
          </a:p>
        </p:txBody>
      </p:sp>
      <p:sp>
        <p:nvSpPr>
          <p:cNvPr id="7" name="Text 4"/>
          <p:cNvSpPr txBox="1"/>
          <p:nvPr/>
        </p:nvSpPr>
        <p:spPr>
          <a:xfrm>
            <a:off x="7498080" y="3063240"/>
            <a:ext cx="411480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&lt; 0.01 s</a:t>
            </a:r>
            <a:endParaRPr lang="en-US" sz="4000" dirty="0"/>
          </a:p>
        </p:txBody>
      </p:sp>
      <p:sp>
        <p:nvSpPr>
          <p:cNvPr id="8" name="Text 5"/>
          <p:cNvSpPr txBox="1"/>
          <p:nvPr/>
        </p:nvSpPr>
        <p:spPr>
          <a:xfrm>
            <a:off x="7498080" y="3794760"/>
            <a:ext cx="4114800" cy="548640"/>
          </a:xfrm>
          <a:prstGeom prst="rect">
            <a:avLst/>
          </a:prstGeom>
          <a:noFill/>
          <a:ln/>
        </p:spPr>
        <p:txBody>
          <a:bodyPr wrap="square" lIns="0" tIns="0" rIns="0" bIns="0" rtlCol="0" anchor="t"/>
          <a:lstStyle/>
          <a:p>
            <a:pPr indent="0" marL="0">
              <a:buNone/>
            </a:pPr>
            <a:r>
              <a:rPr lang="en-US" sz="1300" dirty="0">
                <a:solidFill>
                  <a:schemeClr val="accent3"/>
                </a:solidFill>
              </a:rPr>
              <a:t>added by validation and the hybrid merge</a:t>
            </a:r>
            <a:endParaRPr lang="en-US" sz="1300" dirty="0"/>
          </a:p>
        </p:txBody>
      </p:sp>
      <p:sp>
        <p:nvSpPr>
          <p:cNvPr id="9" name="Text 6"/>
          <p:cNvSpPr txBox="1"/>
          <p:nvPr/>
        </p:nvSpPr>
        <p:spPr>
          <a:xfrm>
            <a:off x="7498080" y="4572000"/>
            <a:ext cx="4114800" cy="731520"/>
          </a:xfrm>
          <a:prstGeom prst="rect">
            <a:avLst/>
          </a:prstGeom>
          <a:noFill/>
          <a:ln/>
        </p:spPr>
        <p:txBody>
          <a:bodyPr wrap="square" lIns="0" tIns="0" rIns="0" bIns="0" rtlCol="0" anchor="t"/>
          <a:lstStyle/>
          <a:p>
            <a:pPr indent="0" marL="0">
              <a:buNone/>
            </a:pPr>
            <a:r>
              <a:rPr lang="en-US" sz="1400" dirty="0">
                <a:solidFill>
                  <a:schemeClr val="accent3"/>
                </a:solidFill>
              </a:rPr>
              <a:t>With a strong cloud model the layers change nothing (100 → 100 → 100 %); they are insurance.</a:t>
            </a:r>
            <a:endParaRPr lang="en-US" sz="1400" dirty="0"/>
          </a:p>
        </p:txBody>
      </p:sp>
      <p:sp>
        <p:nvSpPr>
          <p:cNvPr id="10" name="Text 7"/>
          <p:cNvSpPr txBox="1"/>
          <p:nvPr/>
        </p:nvSpPr>
        <p:spPr>
          <a:xfrm>
            <a:off x="7498080" y="5349240"/>
            <a:ext cx="4114800" cy="822960"/>
          </a:xfrm>
          <a:prstGeom prst="rect">
            <a:avLst/>
          </a:prstGeom>
          <a:noFill/>
          <a:ln/>
        </p:spPr>
        <p:txBody>
          <a:bodyPr wrap="square" lIns="0" tIns="0" rIns="0" bIns="0" rtlCol="0" anchor="t"/>
          <a:lstStyle/>
          <a:p>
            <a:pPr indent="0" marL="0">
              <a:buNone/>
            </a:pPr>
            <a:r>
              <a:rPr lang="en-US" sz="1400" i="1" dirty="0">
                <a:solidFill>
                  <a:schemeClr val="accent3"/>
                </a:solidFill>
              </a:rPr>
              <a:t>Remaining Llama errors: “natural gas” mapped to H₂, one extra objective, a count instead of a search.</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MODEL COMPARISON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Free cloud models tie on accuracy; reliability and speed differ</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566160"/>
                <a:gridCol w="1600200"/>
                <a:gridCol w="1463040"/>
                <a:gridCol w="1280160"/>
                <a:gridCol w="1417320"/>
                <a:gridCol w="173736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Held-out: LLM alone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Held-out: hybrid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Dev: hybrid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Median call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Provider errors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Gemini 3.1 Flash-Lite (default)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1.5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13 / 84</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GPT-OSS 120B (Groq)</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2.4–4.7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Qwen 3.8 27B (Groq)</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20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Nemotron 3 Super 120B (OpenRouter)</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2.0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Llama 3 8B (local, offline)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80 %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100 %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1.5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75488">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Gemini 3.5 Flash</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64 / 84 (quota)</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bl>
          </a:graphicData>
        </a:graphic>
      </p:graphicFrame>
      <p:sp>
        <p:nvSpPr>
          <p:cNvPr id="5" name="hex FaEquals"/>
          <p:cNvSpPr/>
          <p:nvPr/>
        </p:nvSpPr>
        <p:spPr>
          <a:xfrm>
            <a:off x="548640" y="5074920"/>
            <a:ext cx="548640" cy="482803"/>
          </a:xfrm>
          <a:prstGeom prst="hexagon">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07746" y="5201107"/>
            <a:ext cx="230429" cy="230429"/>
          </a:xfrm>
          <a:prstGeom prst="rect">
            <a:avLst/>
          </a:prstGeom>
        </p:spPr>
      </p:pic>
      <p:sp>
        <p:nvSpPr>
          <p:cNvPr id="7" name="Text 3"/>
          <p:cNvSpPr txBox="1"/>
          <p:nvPr/>
        </p:nvSpPr>
        <p:spPr>
          <a:xfrm>
            <a:off x="1234440" y="5029200"/>
            <a:ext cx="2880360" cy="1188720"/>
          </a:xfrm>
          <a:prstGeom prst="rect">
            <a:avLst/>
          </a:prstGeom>
          <a:noFill/>
          <a:ln/>
        </p:spPr>
        <p:txBody>
          <a:bodyPr wrap="square" lIns="0" tIns="0" rIns="0" bIns="0" rtlCol="0" anchor="t"/>
          <a:lstStyle/>
          <a:p>
            <a:pPr indent="0" marL="0">
              <a:buNone/>
            </a:pPr>
            <a:r>
              <a:rPr lang="en-US" sz="1500" b="1" dirty="0">
                <a:solidFill>
                  <a:schemeClr val="tx1"/>
                </a:solidFill>
              </a:rPr>
              <a:t>Effectively tied</a:t>
            </a:r>
            <a:pPr indent="0" marL="0">
              <a:buNone/>
            </a:pPr>
            <a:endParaRPr lang="en-US" sz="1500" dirty="0"/>
          </a:p>
          <a:p>
            <a:pPr indent="0" marL="0">
              <a:buNone/>
            </a:pPr>
            <a:r>
              <a:rPr lang="en-US" sz="1300" dirty="0">
                <a:solidFill>
                  <a:schemeClr val="accent3"/>
                </a:solidFill>
              </a:rPr>
              <a:t>Three models miss only “density above 8 g/cm³”, answering with a count of 0.</a:t>
            </a:r>
            <a:endParaRPr lang="en-US" sz="1500" dirty="0"/>
          </a:p>
        </p:txBody>
      </p:sp>
      <p:sp>
        <p:nvSpPr>
          <p:cNvPr id="8" name="hex FaTachometerAlt"/>
          <p:cNvSpPr/>
          <p:nvPr/>
        </p:nvSpPr>
        <p:spPr>
          <a:xfrm>
            <a:off x="4297680" y="5074920"/>
            <a:ext cx="548640" cy="482803"/>
          </a:xfrm>
          <a:prstGeom prst="hexagon">
            <a:avLst/>
          </a:prstGeom>
          <a:solidFill>
            <a:schemeClr val="accent1"/>
          </a:solidFill>
          <a:ln w="12700">
            <a:solidFill>
              <a:schemeClr val="accent1"/>
            </a:solidFill>
            <a:prstDash val="solid"/>
          </a:ln>
        </p:spPr>
      </p:sp>
      <p:pic>
        <p:nvPicPr>
          <p:cNvPr id="9" name="Image 1" descr="preencoded.png">    </p:cNvPr>
          <p:cNvPicPr>
            <a:picLocks noChangeAspect="1"/>
          </p:cNvPicPr>
          <p:nvPr/>
        </p:nvPicPr>
        <p:blipFill>
          <a:blip r:embed="rId2"/>
          <a:stretch>
            <a:fillRect/>
          </a:stretch>
        </p:blipFill>
        <p:spPr>
          <a:xfrm>
            <a:off x="4456786" y="5201107"/>
            <a:ext cx="230429" cy="230429"/>
          </a:xfrm>
          <a:prstGeom prst="rect">
            <a:avLst/>
          </a:prstGeom>
        </p:spPr>
      </p:pic>
      <p:sp>
        <p:nvSpPr>
          <p:cNvPr id="10" name="Text 5"/>
          <p:cNvSpPr txBox="1"/>
          <p:nvPr/>
        </p:nvSpPr>
        <p:spPr>
          <a:xfrm>
            <a:off x="4983480" y="5029200"/>
            <a:ext cx="2880360" cy="1188720"/>
          </a:xfrm>
          <a:prstGeom prst="rect">
            <a:avLst/>
          </a:prstGeom>
          <a:noFill/>
          <a:ln/>
        </p:spPr>
        <p:txBody>
          <a:bodyPr wrap="square" lIns="0" tIns="0" rIns="0" bIns="0" rtlCol="0" anchor="t"/>
          <a:lstStyle/>
          <a:p>
            <a:pPr indent="0" marL="0">
              <a:buNone/>
            </a:pPr>
            <a:r>
              <a:rPr lang="en-US" sz="1500" b="1" dirty="0">
                <a:solidFill>
                  <a:schemeClr val="tx1"/>
                </a:solidFill>
              </a:rPr>
              <a:t>Speed and reliability</a:t>
            </a:r>
            <a:pPr indent="0" marL="0">
              <a:buNone/>
            </a:pPr>
            <a:endParaRPr lang="en-US" sz="1500" dirty="0"/>
          </a:p>
          <a:p>
            <a:pPr indent="0" marL="0">
              <a:buNone/>
            </a:pPr>
            <a:r>
              <a:rPr lang="en-US" sz="1300" dirty="0">
                <a:solidFill>
                  <a:schemeClr val="accent3"/>
                </a:solidFill>
              </a:rPr>
              <a:t>Qwen 3.8 is a reasoning model and burns Groq's 8,000 tokens/min; Flash-Lite's errors were free-tier overload.</a:t>
            </a:r>
            <a:endParaRPr lang="en-US" sz="1500" dirty="0"/>
          </a:p>
        </p:txBody>
      </p:sp>
      <p:sp>
        <p:nvSpPr>
          <p:cNvPr id="11" name="hex FaBan"/>
          <p:cNvSpPr/>
          <p:nvPr/>
        </p:nvSpPr>
        <p:spPr>
          <a:xfrm>
            <a:off x="8046720" y="5074920"/>
            <a:ext cx="548640" cy="482803"/>
          </a:xfrm>
          <a:prstGeom prst="hexagon">
            <a:avLst/>
          </a:prstGeom>
          <a:solidFill>
            <a:schemeClr val="accent3"/>
          </a:solidFill>
          <a:ln w="12700">
            <a:solidFill>
              <a:schemeClr val="accent3"/>
            </a:solidFill>
            <a:prstDash val="solid"/>
          </a:ln>
        </p:spPr>
      </p:sp>
      <p:pic>
        <p:nvPicPr>
          <p:cNvPr id="12" name="Image 2" descr="preencoded.png">    </p:cNvPr>
          <p:cNvPicPr>
            <a:picLocks noChangeAspect="1"/>
          </p:cNvPicPr>
          <p:nvPr/>
        </p:nvPicPr>
        <p:blipFill>
          <a:blip r:embed="rId3"/>
          <a:stretch>
            <a:fillRect/>
          </a:stretch>
        </p:blipFill>
        <p:spPr>
          <a:xfrm>
            <a:off x="8205826" y="5201107"/>
            <a:ext cx="230429" cy="230429"/>
          </a:xfrm>
          <a:prstGeom prst="rect">
            <a:avLst/>
          </a:prstGeom>
        </p:spPr>
      </p:pic>
      <p:sp>
        <p:nvSpPr>
          <p:cNvPr id="13" name="Text 7"/>
          <p:cNvSpPr txBox="1"/>
          <p:nvPr/>
        </p:nvSpPr>
        <p:spPr>
          <a:xfrm>
            <a:off x="8732520" y="5029200"/>
            <a:ext cx="2880360" cy="1188720"/>
          </a:xfrm>
          <a:prstGeom prst="rect">
            <a:avLst/>
          </a:prstGeom>
          <a:noFill/>
          <a:ln/>
        </p:spPr>
        <p:txBody>
          <a:bodyPr wrap="square" lIns="0" tIns="0" rIns="0" bIns="0" rtlCol="0" anchor="t"/>
          <a:lstStyle/>
          <a:p>
            <a:pPr indent="0" marL="0">
              <a:buNone/>
            </a:pPr>
            <a:r>
              <a:rPr lang="en-US" sz="1500" b="1" dirty="0">
                <a:solidFill>
                  <a:schemeClr val="tx1"/>
                </a:solidFill>
              </a:rPr>
              <a:t>Not scored</a:t>
            </a:r>
            <a:pPr indent="0" marL="0">
              <a:buNone/>
            </a:pPr>
            <a:endParaRPr lang="en-US" sz="1500" dirty="0"/>
          </a:p>
          <a:p>
            <a:pPr indent="0" marL="0">
              <a:buNone/>
            </a:pPr>
            <a:r>
              <a:rPr lang="en-US" sz="1300" dirty="0">
                <a:solidFill>
                  <a:schemeClr val="accent3"/>
                </a:solidFill>
              </a:rPr>
              <a:t>Gemini 3.5 Flash ran out of daily quota, so its score would measure the fallback.</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ANSWER VALIDATION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answer validator catches invented numbers and false claims</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949440" cy="914400"/>
        </p:xfrm>
        <a:graphic>
          <a:graphicData uri="http://schemas.openxmlformats.org/drawingml/2006/table">
            <a:tbl>
              <a:tblPr/>
              <a:tblGrid>
                <a:gridCol w="2743200"/>
                <a:gridCol w="1280160"/>
                <a:gridCol w="914400"/>
                <a:gridCol w="1005840"/>
                <a:gridCol w="1005840"/>
              </a:tblGrid>
              <a:tr h="6400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Drafts with a problem</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Rewritten</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Still flagged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 answer</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640080">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Gemini 3.1 Flash-Lite (default)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 of 16</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9.9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r>
              <a:tr h="640080">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Llama 3 8B (local)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 of 16</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9.3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640080">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GPT-OSS 120B (Groq)</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 of 16</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30.2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640080">
                <a:tc>
                  <a:txBody>
                    <a:bodyPr/>
                    <a:lstStyle/>
                    <a:p>
                      <a:pPr algn="l" indent="0" marL="0">
                        <a:buNone/>
                      </a:pPr>
                      <a:r>
                        <a:rPr lang="en-US" sz="1400" b="1" dirty="0">
                          <a:solidFill>
                            <a:srgbClr val="0F2433"/>
                          </a:solidFill>
                          <a:latin typeface="Calibri" pitchFamily="34" charset="0"/>
                          <a:ea typeface="Calibri" pitchFamily="34" charset="-122"/>
                          <a:cs typeface="Calibri" pitchFamily="34" charset="-120"/>
                        </a:rPr>
                        <a:t>Qwen 3.8 27B (Groq)</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 of 16</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26.4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bl>
          </a:graphicData>
        </a:graphic>
      </p:graphicFrame>
      <p:sp>
        <p:nvSpPr>
          <p:cNvPr id="5" name="Text 2"/>
          <p:cNvSpPr txBox="1"/>
          <p:nvPr/>
        </p:nvSpPr>
        <p:spPr>
          <a:xfrm>
            <a:off x="548640" y="4983480"/>
            <a:ext cx="6949440" cy="640080"/>
          </a:xfrm>
          <a:prstGeom prst="rect">
            <a:avLst/>
          </a:prstGeom>
          <a:noFill/>
          <a:ln/>
        </p:spPr>
        <p:txBody>
          <a:bodyPr wrap="square" lIns="0" tIns="0" rIns="0" bIns="0" rtlCol="0" anchor="t"/>
          <a:lstStyle/>
          <a:p>
            <a:pPr indent="0" marL="0">
              <a:buNone/>
            </a:pPr>
            <a:r>
              <a:rPr lang="en-US" sz="1300" i="1" dirty="0">
                <a:solidFill>
                  <a:schemeClr val="accent3"/>
                </a:solidFill>
              </a:rPr>
              <a:t>16 full answers per model. Qwen 3.8: 7 answer calls hit Groq limits, so a template answer with the verified table was shown.</a:t>
            </a:r>
            <a:endParaRPr lang="en-US" sz="1300" dirty="0"/>
          </a:p>
        </p:txBody>
      </p:sp>
      <p:sp>
        <p:nvSpPr>
          <p:cNvPr id="6" name="Text 3"/>
          <p:cNvSpPr txBox="1"/>
          <p:nvPr/>
        </p:nvSpPr>
        <p:spPr>
          <a:xfrm>
            <a:off x="7955280" y="1600200"/>
            <a:ext cx="365760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it caught</a:t>
            </a:r>
            <a:endParaRPr lang="en-US" sz="1800" dirty="0"/>
          </a:p>
        </p:txBody>
      </p:sp>
      <p:sp>
        <p:nvSpPr>
          <p:cNvPr id="7" name="card"/>
          <p:cNvSpPr/>
          <p:nvPr/>
        </p:nvSpPr>
        <p:spPr>
          <a:xfrm>
            <a:off x="7955280" y="2148840"/>
            <a:ext cx="3657600" cy="1828800"/>
          </a:xfrm>
          <a:prstGeom prst="roundRect">
            <a:avLst>
              <a:gd name="adj" fmla="val 4000"/>
            </a:avLst>
          </a:prstGeom>
          <a:solidFill>
            <a:srgbClr val="FBEAE1"/>
          </a:solidFill>
          <a:ln w="12700">
            <a:solidFill>
              <a:srgbClr val="FBEAE1"/>
            </a:solidFill>
            <a:prstDash val="solid"/>
          </a:ln>
        </p:spPr>
      </p:sp>
      <p:pic>
        <p:nvPicPr>
          <p:cNvPr id="8" name="Image 0" descr="preencoded.png">    </p:cNvPr>
          <p:cNvPicPr>
            <a:picLocks noChangeAspect="1"/>
          </p:cNvPicPr>
          <p:nvPr/>
        </p:nvPicPr>
        <p:blipFill>
          <a:blip r:embed="rId1"/>
          <a:stretch>
            <a:fillRect/>
          </a:stretch>
        </p:blipFill>
        <p:spPr>
          <a:xfrm>
            <a:off x="8183880" y="2350008"/>
            <a:ext cx="320040" cy="320040"/>
          </a:xfrm>
          <a:prstGeom prst="rect">
            <a:avLst/>
          </a:prstGeom>
        </p:spPr>
      </p:pic>
      <p:sp>
        <p:nvSpPr>
          <p:cNvPr id="9" name="Text 5"/>
          <p:cNvSpPr txBox="1"/>
          <p:nvPr/>
        </p:nvSpPr>
        <p:spPr>
          <a:xfrm>
            <a:off x="8641080" y="2331720"/>
            <a:ext cx="2834640" cy="365760"/>
          </a:xfrm>
          <a:prstGeom prst="rect">
            <a:avLst/>
          </a:prstGeom>
          <a:noFill/>
          <a:ln/>
        </p:spPr>
        <p:txBody>
          <a:bodyPr wrap="square" lIns="0" tIns="0" rIns="0" bIns="0" rtlCol="0" anchor="t"/>
          <a:lstStyle/>
          <a:p>
            <a:pPr indent="0" marL="0">
              <a:buNone/>
            </a:pPr>
            <a:r>
              <a:rPr lang="en-US" sz="1600" b="1" dirty="0">
                <a:solidFill>
                  <a:schemeClr val="tx1"/>
                </a:solidFill>
              </a:rPr>
              <a:t>Llama 3 8B</a:t>
            </a:r>
            <a:endParaRPr lang="en-US" sz="1600" dirty="0"/>
          </a:p>
        </p:txBody>
      </p:sp>
      <p:sp>
        <p:nvSpPr>
          <p:cNvPr id="10" name="Text 6"/>
          <p:cNvSpPr txBox="1"/>
          <p:nvPr/>
        </p:nvSpPr>
        <p:spPr>
          <a:xfrm>
            <a:off x="8183880" y="2788920"/>
            <a:ext cx="3246120" cy="1097280"/>
          </a:xfrm>
          <a:prstGeom prst="rect">
            <a:avLst/>
          </a:prstGeom>
          <a:noFill/>
          <a:ln/>
        </p:spPr>
        <p:txBody>
          <a:bodyPr wrap="square" lIns="0" tIns="0" rIns="0" bIns="0" rtlCol="0" anchor="t"/>
          <a:lstStyle/>
          <a:p>
            <a:pPr indent="0" marL="0">
              <a:buNone/>
            </a:pPr>
            <a:r>
              <a:rPr lang="en-US" sz="1400" dirty="0">
                <a:solidFill>
                  <a:schemeClr val="tx2"/>
                </a:solidFill>
              </a:rPr>
              <a:t>invented two densities and a “90 %”; garbled OFEUN06 → OFERUN06, corrected automatically</a:t>
            </a:r>
            <a:endParaRPr lang="en-US" sz="1400" dirty="0"/>
          </a:p>
        </p:txBody>
      </p:sp>
      <p:sp>
        <p:nvSpPr>
          <p:cNvPr id="11" name="card"/>
          <p:cNvSpPr/>
          <p:nvPr/>
        </p:nvSpPr>
        <p:spPr>
          <a:xfrm>
            <a:off x="7955280" y="4160520"/>
            <a:ext cx="3657600" cy="1828800"/>
          </a:xfrm>
          <a:prstGeom prst="roundRect">
            <a:avLst>
              <a:gd name="adj" fmla="val 4000"/>
            </a:avLst>
          </a:prstGeom>
          <a:solidFill>
            <a:srgbClr val="FBEAE1"/>
          </a:solidFill>
          <a:ln w="12700">
            <a:solidFill>
              <a:srgbClr val="FBEAE1"/>
            </a:solidFill>
            <a:prstDash val="solid"/>
          </a:ln>
        </p:spPr>
      </p:sp>
      <p:pic>
        <p:nvPicPr>
          <p:cNvPr id="12" name="Image 1" descr="preencoded.png">    </p:cNvPr>
          <p:cNvPicPr>
            <a:picLocks noChangeAspect="1"/>
          </p:cNvPicPr>
          <p:nvPr/>
        </p:nvPicPr>
        <p:blipFill>
          <a:blip r:embed="rId2"/>
          <a:stretch>
            <a:fillRect/>
          </a:stretch>
        </p:blipFill>
        <p:spPr>
          <a:xfrm>
            <a:off x="8183880" y="4361688"/>
            <a:ext cx="320040" cy="320040"/>
          </a:xfrm>
          <a:prstGeom prst="rect">
            <a:avLst/>
          </a:prstGeom>
        </p:spPr>
      </p:pic>
      <p:sp>
        <p:nvSpPr>
          <p:cNvPr id="13" name="Text 8"/>
          <p:cNvSpPr txBox="1"/>
          <p:nvPr/>
        </p:nvSpPr>
        <p:spPr>
          <a:xfrm>
            <a:off x="8641080" y="4343400"/>
            <a:ext cx="2834640" cy="365760"/>
          </a:xfrm>
          <a:prstGeom prst="rect">
            <a:avLst/>
          </a:prstGeom>
          <a:noFill/>
          <a:ln/>
        </p:spPr>
        <p:txBody>
          <a:bodyPr wrap="square" lIns="0" tIns="0" rIns="0" bIns="0" rtlCol="0" anchor="t"/>
          <a:lstStyle/>
          <a:p>
            <a:pPr indent="0" marL="0">
              <a:buNone/>
            </a:pPr>
            <a:r>
              <a:rPr lang="en-US" sz="1600" b="1" dirty="0">
                <a:solidFill>
                  <a:schemeClr val="tx1"/>
                </a:solidFill>
              </a:rPr>
              <a:t>GPT-OSS 120B</a:t>
            </a:r>
            <a:endParaRPr lang="en-US" sz="1600" dirty="0"/>
          </a:p>
        </p:txBody>
      </p:sp>
      <p:sp>
        <p:nvSpPr>
          <p:cNvPr id="14" name="Text 9"/>
          <p:cNvSpPr txBox="1"/>
          <p:nvPr/>
        </p:nvSpPr>
        <p:spPr>
          <a:xfrm>
            <a:off x="8183880" y="4800600"/>
            <a:ext cx="3246120" cy="1097280"/>
          </a:xfrm>
          <a:prstGeom prst="rect">
            <a:avLst/>
          </a:prstGeom>
          <a:noFill/>
          <a:ln/>
        </p:spPr>
        <p:txBody>
          <a:bodyPr wrap="square" lIns="0" tIns="0" rIns="0" bIns="0" rtlCol="0" anchor="t"/>
          <a:lstStyle/>
          <a:p>
            <a:pPr indent="0" marL="0">
              <a:buNone/>
            </a:pPr>
            <a:r>
              <a:rPr lang="en-US" sz="1400" dirty="0">
                <a:solidFill>
                  <a:schemeClr val="tx2"/>
                </a:solidFill>
              </a:rPr>
              <a:t>claimed two MOFs were on “Pareto front 1”; NSGA-II ranked them on front 2 → shown with a warning</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SURROGATES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XGBoost: surface-area R² = 0.982 with calibrated intervals</a:t>
            </a:r>
            <a:endParaRPr lang="en-US" sz="2800" dirty="0"/>
          </a:p>
        </p:txBody>
      </p:sp>
      <p:sp>
        <p:nvSpPr>
          <p:cNvPr id="4" name="Text 2"/>
          <p:cNvSpPr txBox="1"/>
          <p:nvPr/>
        </p:nvSpPr>
        <p:spPr>
          <a:xfrm>
            <a:off x="548640" y="1463040"/>
            <a:ext cx="2651760" cy="6858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0.982</a:t>
            </a:r>
            <a:endParaRPr lang="en-US" sz="3400" dirty="0"/>
          </a:p>
        </p:txBody>
      </p:sp>
      <p:sp>
        <p:nvSpPr>
          <p:cNvPr id="5" name="Text 3"/>
          <p:cNvSpPr txBox="1"/>
          <p:nvPr/>
        </p:nvSpPr>
        <p:spPr>
          <a:xfrm>
            <a:off x="548640" y="2194560"/>
            <a:ext cx="2651760" cy="548640"/>
          </a:xfrm>
          <a:prstGeom prst="rect">
            <a:avLst/>
          </a:prstGeom>
          <a:noFill/>
          <a:ln/>
        </p:spPr>
        <p:txBody>
          <a:bodyPr wrap="square" lIns="0" tIns="0" rIns="0" bIns="0" rtlCol="0" anchor="t"/>
          <a:lstStyle/>
          <a:p>
            <a:pPr indent="0" marL="0">
              <a:buNone/>
            </a:pPr>
            <a:r>
              <a:rPr lang="en-US" sz="1300" dirty="0">
                <a:solidFill>
                  <a:schemeClr val="accent3"/>
                </a:solidFill>
              </a:rPr>
              <a:t>R² surface area (XGBoost)</a:t>
            </a:r>
            <a:endParaRPr lang="en-US" sz="1300" dirty="0"/>
          </a:p>
        </p:txBody>
      </p:sp>
      <p:sp>
        <p:nvSpPr>
          <p:cNvPr id="6" name="Text 4"/>
          <p:cNvSpPr txBox="1"/>
          <p:nvPr/>
        </p:nvSpPr>
        <p:spPr>
          <a:xfrm>
            <a:off x="3383280" y="1463040"/>
            <a:ext cx="2651760" cy="6858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90 m²/g</a:t>
            </a:r>
            <a:endParaRPr lang="en-US" sz="3400" dirty="0"/>
          </a:p>
        </p:txBody>
      </p:sp>
      <p:sp>
        <p:nvSpPr>
          <p:cNvPr id="7" name="Text 5"/>
          <p:cNvSpPr txBox="1"/>
          <p:nvPr/>
        </p:nvSpPr>
        <p:spPr>
          <a:xfrm>
            <a:off x="3383280" y="2194560"/>
            <a:ext cx="2651760" cy="548640"/>
          </a:xfrm>
          <a:prstGeom prst="rect">
            <a:avLst/>
          </a:prstGeom>
          <a:noFill/>
          <a:ln/>
        </p:spPr>
        <p:txBody>
          <a:bodyPr wrap="square" lIns="0" tIns="0" rIns="0" bIns="0" rtlCol="0" anchor="t"/>
          <a:lstStyle/>
          <a:p>
            <a:pPr indent="0" marL="0">
              <a:buNone/>
            </a:pPr>
            <a:r>
              <a:rPr lang="en-US" sz="1300" dirty="0">
                <a:solidFill>
                  <a:schemeClr val="accent3"/>
                </a:solidFill>
              </a:rPr>
              <a:t>mean absolute error</a:t>
            </a:r>
            <a:endParaRPr lang="en-US" sz="1300" dirty="0"/>
          </a:p>
        </p:txBody>
      </p:sp>
      <p:sp>
        <p:nvSpPr>
          <p:cNvPr id="8" name="Text 6"/>
          <p:cNvSpPr txBox="1"/>
          <p:nvPr/>
        </p:nvSpPr>
        <p:spPr>
          <a:xfrm>
            <a:off x="6217920" y="1463040"/>
            <a:ext cx="2651760" cy="685800"/>
          </a:xfrm>
          <a:prstGeom prst="rect">
            <a:avLst/>
          </a:prstGeom>
          <a:noFill/>
          <a:ln/>
        </p:spPr>
        <p:txBody>
          <a:bodyPr wrap="square" lIns="0" tIns="0" rIns="0" bIns="0" rtlCol="0" anchor="b"/>
          <a:lstStyle/>
          <a:p>
            <a:pPr indent="0" marL="0">
              <a:buNone/>
            </a:pPr>
            <a:r>
              <a:rPr lang="en-US" sz="3400" b="1" dirty="0">
                <a:solidFill>
                  <a:schemeClr val="accent2"/>
                </a:solidFill>
                <a:latin typeface="Cambria" pitchFamily="34" charset="0"/>
                <a:ea typeface="Cambria" pitchFamily="34" charset="-122"/>
                <a:cs typeface="Cambria" pitchFamily="34" charset="-120"/>
              </a:rPr>
              <a:t>90.5 %</a:t>
            </a:r>
            <a:endParaRPr lang="en-US" sz="3400" dirty="0"/>
          </a:p>
        </p:txBody>
      </p:sp>
      <p:sp>
        <p:nvSpPr>
          <p:cNvPr id="9" name="Text 7"/>
          <p:cNvSpPr txBox="1"/>
          <p:nvPr/>
        </p:nvSpPr>
        <p:spPr>
          <a:xfrm>
            <a:off x="6217920" y="2194560"/>
            <a:ext cx="2651760" cy="548640"/>
          </a:xfrm>
          <a:prstGeom prst="rect">
            <a:avLst/>
          </a:prstGeom>
          <a:noFill/>
          <a:ln/>
        </p:spPr>
        <p:txBody>
          <a:bodyPr wrap="square" lIns="0" tIns="0" rIns="0" bIns="0" rtlCol="0" anchor="t"/>
          <a:lstStyle/>
          <a:p>
            <a:pPr indent="0" marL="0">
              <a:buNone/>
            </a:pPr>
            <a:r>
              <a:rPr lang="en-US" sz="1300" dirty="0">
                <a:solidFill>
                  <a:schemeClr val="accent3"/>
                </a:solidFill>
              </a:rPr>
              <a:t>test coverage of the 90 % conformal interval</a:t>
            </a:r>
            <a:endParaRPr lang="en-US" sz="1300" dirty="0"/>
          </a:p>
        </p:txBody>
      </p:sp>
      <p:sp>
        <p:nvSpPr>
          <p:cNvPr id="10" name="Text 8"/>
          <p:cNvSpPr txBox="1"/>
          <p:nvPr/>
        </p:nvSpPr>
        <p:spPr>
          <a:xfrm>
            <a:off x="9052560" y="1463040"/>
            <a:ext cx="2651760" cy="68580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0.828</a:t>
            </a:r>
            <a:endParaRPr lang="en-US" sz="3400" dirty="0"/>
          </a:p>
        </p:txBody>
      </p:sp>
      <p:sp>
        <p:nvSpPr>
          <p:cNvPr id="11" name="Text 9"/>
          <p:cNvSpPr txBox="1"/>
          <p:nvPr/>
        </p:nvSpPr>
        <p:spPr>
          <a:xfrm>
            <a:off x="9052560" y="2194560"/>
            <a:ext cx="2651760" cy="548640"/>
          </a:xfrm>
          <a:prstGeom prst="rect">
            <a:avLst/>
          </a:prstGeom>
          <a:noFill/>
          <a:ln/>
        </p:spPr>
        <p:txBody>
          <a:bodyPr wrap="square" lIns="0" tIns="0" rIns="0" bIns="0" rtlCol="0" anchor="t"/>
          <a:lstStyle/>
          <a:p>
            <a:pPr indent="0" marL="0">
              <a:buNone/>
            </a:pPr>
            <a:r>
              <a:rPr lang="en-US" sz="1300" dirty="0">
                <a:solidFill>
                  <a:schemeClr val="accent3"/>
                </a:solidFill>
              </a:rPr>
              <a:t>R² void fraction (XGBoost)</a:t>
            </a:r>
            <a:endParaRPr lang="en-US" sz="1300" dirty="0"/>
          </a:p>
        </p:txBody>
      </p:sp>
      <p:graphicFrame>
        <p:nvGraphicFramePr>
          <p:cNvPr id="12" name="Chart 0" descr=""/>
          <p:cNvGraphicFramePr/>
          <p:nvPr/>
        </p:nvGraphicFramePr>
        <p:xfrm>
          <a:off x="457200" y="2880360"/>
          <a:ext cx="5760720" cy="3383280"/>
        </p:xfrm>
        <a:graphic xmlns:a="http://schemas.openxmlformats.org/drawingml/2006/main">
          <a:graphicData uri="http://schemas.openxmlformats.org/drawingml/2006/chart">
            <c:chart xmlns:c="http://schemas.openxmlformats.org/drawingml/2006/chart" r:id="rId1"/>
          </a:graphicData>
        </a:graphic>
      </p:graphicFrame>
      <p:pic>
        <p:nvPicPr>
          <p:cNvPr id="13" name="Image 0" descr="Parity plots, XGBoost and FT-Transformer, surface area">    </p:cNvPr>
          <p:cNvPicPr>
            <a:picLocks noChangeAspect="1"/>
          </p:cNvPicPr>
          <p:nvPr/>
        </p:nvPicPr>
        <p:blipFill>
          <a:blip r:embed="rId2"/>
          <a:stretch>
            <a:fillRect/>
          </a:stretch>
        </p:blipFill>
        <p:spPr>
          <a:xfrm>
            <a:off x="6400800" y="3017520"/>
            <a:ext cx="5212080" cy="2606040"/>
          </a:xfrm>
          <a:prstGeom prst="rect">
            <a:avLst/>
          </a:prstGeom>
        </p:spPr>
      </p:pic>
      <p:sp>
        <p:nvSpPr>
          <p:cNvPr id="14" name="Text 10"/>
          <p:cNvSpPr txBox="1"/>
          <p:nvPr/>
        </p:nvSpPr>
        <p:spPr>
          <a:xfrm>
            <a:off x="6400800" y="5669280"/>
            <a:ext cx="5212080" cy="548640"/>
          </a:xfrm>
          <a:prstGeom prst="rect">
            <a:avLst/>
          </a:prstGeom>
          <a:noFill/>
          <a:ln/>
        </p:spPr>
        <p:txBody>
          <a:bodyPr wrap="square" lIns="0" tIns="0" rIns="0" bIns="0" rtlCol="0" anchor="t"/>
          <a:lstStyle/>
          <a:p>
            <a:pPr indent="0" marL="0">
              <a:buNone/>
            </a:pPr>
            <a:r>
              <a:rPr lang="en-US" sz="1200" i="1" dirty="0">
                <a:solidFill>
                  <a:schemeClr val="accent3"/>
                </a:solidFill>
              </a:rPr>
              <a:t>Predicted vs actual surface area on test MOFs. XGBoost trains 400× faster than the FT-Transformer (0.25 s vs 112 s) for the same accuracy.</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EXPLANATIONS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SHAP drivers are physically sensible; embeddings find similar MOFs</a:t>
            </a:r>
            <a:endParaRPr lang="en-US" sz="2800" dirty="0"/>
          </a:p>
        </p:txBody>
      </p:sp>
      <p:pic>
        <p:nvPicPr>
          <p:cNvPr id="4" name="Image 0" descr="SHAP summary for the surface-area surrogate">    </p:cNvPr>
          <p:cNvPicPr>
            <a:picLocks noChangeAspect="1"/>
          </p:cNvPicPr>
          <p:nvPr/>
        </p:nvPicPr>
        <p:blipFill>
          <a:blip r:embed="rId1"/>
          <a:stretch>
            <a:fillRect/>
          </a:stretch>
        </p:blipFill>
        <p:spPr>
          <a:xfrm>
            <a:off x="457200" y="1554480"/>
            <a:ext cx="5852160" cy="3346704"/>
          </a:xfrm>
          <a:prstGeom prst="rect">
            <a:avLst/>
          </a:prstGeom>
        </p:spPr>
      </p:pic>
      <p:sp>
        <p:nvSpPr>
          <p:cNvPr id="5" name="Text 2"/>
          <p:cNvSpPr txBox="1"/>
          <p:nvPr/>
        </p:nvSpPr>
        <p:spPr>
          <a:xfrm>
            <a:off x="548640" y="5074920"/>
            <a:ext cx="5669280" cy="640080"/>
          </a:xfrm>
          <a:prstGeom prst="rect">
            <a:avLst/>
          </a:prstGeom>
          <a:noFill/>
          <a:ln/>
        </p:spPr>
        <p:txBody>
          <a:bodyPr wrap="square" lIns="0" tIns="0" rIns="0" bIns="0" rtlCol="0" anchor="t"/>
          <a:lstStyle/>
          <a:p>
            <a:pPr indent="0" marL="0">
              <a:buNone/>
            </a:pPr>
            <a:r>
              <a:rPr lang="en-US" sz="1500" dirty="0">
                <a:solidFill>
                  <a:schemeClr val="tx1"/>
                </a:solidFill>
              </a:rPr>
              <a:t>Pore volume and void fraction dominate surface area; density dominates void fraction.</a:t>
            </a:r>
            <a:endParaRPr lang="en-US" sz="1500" dirty="0"/>
          </a:p>
        </p:txBody>
      </p:sp>
      <p:sp>
        <p:nvSpPr>
          <p:cNvPr id="6" name="Text 3"/>
          <p:cNvSpPr txBox="1"/>
          <p:nvPr/>
        </p:nvSpPr>
        <p:spPr>
          <a:xfrm>
            <a:off x="6675120" y="1600200"/>
            <a:ext cx="4937760" cy="41148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Similarity search: 1,000 queries × 10 neighbours</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75120" y="2148840"/>
          <a:ext cx="4937760" cy="914400"/>
        </p:xfrm>
        <a:graphic>
          <a:graphicData uri="http://schemas.openxmlformats.org/drawingml/2006/table">
            <a:tbl>
              <a:tblPr/>
              <a:tblGrid>
                <a:gridCol w="2286000"/>
                <a:gridCol w="1463040"/>
                <a:gridCol w="118872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Neighbours from</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Descriptor gap (σ)</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Same metal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475488">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FT-Transformer embedding</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0.077</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c>
                  <a:txBody>
                    <a:bodyPr/>
                    <a:lstStyle/>
                    <a:p>
                      <a:pPr algn="ctr" indent="0" marL="0">
                        <a:buNone/>
                      </a:pPr>
                      <a:r>
                        <a:rPr lang="en-US" sz="1400" b="1" dirty="0">
                          <a:solidFill>
                            <a:srgbClr val="0F2433"/>
                          </a:solidFill>
                          <a:latin typeface="Calibri" pitchFamily="34" charset="0"/>
                          <a:ea typeface="Calibri" pitchFamily="34" charset="-122"/>
                          <a:cs typeface="Calibri" pitchFamily="34" charset="-120"/>
                        </a:rPr>
                        <a:t>27.8 %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E3F3F7"/>
                    </a:solidFill>
                  </a:tcPr>
                </a:tc>
              </a:tr>
              <a:tr h="475488">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k-NN on raw descriptors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0.068</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22.8 %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tcPr>
                </a:tc>
              </a:tr>
              <a:tr h="475488">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Random MOFs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0.952</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dirty="0">
                          <a:solidFill>
                            <a:srgbClr val="0F2433"/>
                          </a:solidFill>
                          <a:latin typeface="Calibri" pitchFamily="34" charset="0"/>
                          <a:ea typeface="Calibri" pitchFamily="34" charset="-122"/>
                          <a:cs typeface="Calibri" pitchFamily="34" charset="-120"/>
                        </a:rPr>
                        <a:t>8.0 %</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bl>
          </a:graphicData>
        </a:graphic>
      </p:graphicFrame>
      <p:sp>
        <p:nvSpPr>
          <p:cNvPr id="8" name="card"/>
          <p:cNvSpPr/>
          <p:nvPr/>
        </p:nvSpPr>
        <p:spPr>
          <a:xfrm>
            <a:off x="6675120" y="4251960"/>
            <a:ext cx="4937760" cy="1508760"/>
          </a:xfrm>
          <a:prstGeom prst="roundRect">
            <a:avLst>
              <a:gd name="adj" fmla="val 4848"/>
            </a:avLst>
          </a:prstGeom>
          <a:solidFill>
            <a:schemeClr val="bg2"/>
          </a:solidFill>
          <a:ln w="12700">
            <a:solidFill>
              <a:schemeClr val="bg2"/>
            </a:solidFill>
            <a:prstDash val="solid"/>
          </a:ln>
        </p:spPr>
      </p:sp>
      <p:sp>
        <p:nvSpPr>
          <p:cNvPr id="9" name="Text 5"/>
          <p:cNvSpPr txBox="1"/>
          <p:nvPr/>
        </p:nvSpPr>
        <p:spPr>
          <a:xfrm>
            <a:off x="6858000" y="4343400"/>
            <a:ext cx="4572000" cy="1325880"/>
          </a:xfrm>
          <a:prstGeom prst="rect">
            <a:avLst/>
          </a:prstGeom>
          <a:noFill/>
          <a:ln/>
        </p:spPr>
        <p:txBody>
          <a:bodyPr wrap="square" lIns="0" tIns="0" rIns="0" bIns="0" rtlCol="0" anchor="ctr"/>
          <a:lstStyle/>
          <a:p>
            <a:pPr indent="0" marL="0">
              <a:buNone/>
            </a:pPr>
            <a:r>
              <a:rPr lang="en-US" sz="1400" dirty="0">
                <a:solidFill>
                  <a:schemeClr val="tx2"/>
                </a:solidFill>
              </a:rPr>
              <a:t>Nearly as close as k-NN on the numbers (k-NN is the upper bound on that metric), but more often the same metal, because metal and open-metal-site are input tokens. 62 % overlap with k-NN lists.</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06 · AGAINST THE BASE PAPER</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Seven of ChatMOF's nine limitations are fully addressed</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566160"/>
                <a:gridCol w="6035040"/>
                <a:gridCol w="14630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ChatMOF limitation</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MOFChat does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0F2433"/>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No intrinsic materials knowledge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RAG over curated notes + ChatMOF paper</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Token-context limits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SQL filters first; LLM sees ≤ 10 rows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Logic errors in LLM code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JSON plan, validator, whitelisted SQL</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Restricted search space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all 12,020 MOFs searched and ranked</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Narrow topology coverage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all CoRE-MOF structures, 65 metals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A pretrained model per property</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surrogates trained on the table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General, non-fine-tuned LLM</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domain prompts, few-shot, presets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622B"/>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High compute cost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ms screening; XGBoost trains in 0.25 s</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2F6F7"/>
                    </a:solidFill>
                  </a:tcPr>
                </a:tc>
              </a:tr>
              <a:tr h="411480">
                <a:tc>
                  <a:txBody>
                    <a:bodyPr/>
                    <a:lstStyle/>
                    <a:p>
                      <a:pPr indent="0" marL="0">
                        <a:buNone/>
                      </a:pPr>
                      <a:r>
                        <a:rPr lang="en-US" sz="1400" b="1" dirty="0">
                          <a:solidFill>
                            <a:srgbClr val="0F2433"/>
                          </a:solidFill>
                          <a:latin typeface="Calibri" pitchFamily="34" charset="0"/>
                          <a:ea typeface="Calibri" pitchFamily="34" charset="-122"/>
                          <a:cs typeface="Calibri" pitchFamily="34" charset="-120"/>
                        </a:rPr>
                        <a:t>Unvalidated output</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indent="0" marL="0">
                        <a:buNone/>
                      </a:pPr>
                      <a:r>
                        <a:rPr lang="en-US" sz="1400" dirty="0">
                          <a:solidFill>
                            <a:srgbClr val="0F2433"/>
                          </a:solidFill>
                          <a:latin typeface="Calibri" pitchFamily="34" charset="0"/>
                          <a:ea typeface="Calibri" pitchFamily="34" charset="-122"/>
                          <a:cs typeface="Calibri" pitchFamily="34" charset="-120"/>
                        </a:rPr>
                        <a:t>answer validator, intervals, SHAP, benchmark</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891B2"/>
                          </a:solidFill>
                          <a:latin typeface="Calibri" pitchFamily="34" charset="0"/>
                          <a:ea typeface="Calibri" pitchFamily="34" charset="-122"/>
                          <a:cs typeface="Calibri" pitchFamily="34" charset="-120"/>
                        </a:rPr>
                        <a:t>Done</a:t>
                      </a:r>
                      <a:endParaRPr lang="en-US" sz="1400" dirty="0">
                        <a:latin typeface="Calibri" charset="0"/>
                        <a:ea typeface="Calibri" charset="0"/>
                        <a:cs typeface="Calibri" charset="0"/>
                      </a:endParaRPr>
                    </a:p>
                  </a:txBody>
                  <a:tcPr marL="76200" marR="76200" marT="38100" marB="38100" anchor="ctr">
                    <a:lnL w="9525" cap="flat" cmpd="sng" algn="ctr">
                      <a:solidFill>
                        <a:srgbClr val="D5DEE2"/>
                      </a:solidFill>
                      <a:prstDash val="solid"/>
                      <a:round/>
                      <a:headEnd type="none" w="med" len="med"/>
                      <a:tailEnd type="none" w="med" len="med"/>
                    </a:lnL>
                    <a:lnR w="9525" cap="flat" cmpd="sng" algn="ctr">
                      <a:solidFill>
                        <a:srgbClr val="D5DEE2"/>
                      </a:solidFill>
                      <a:prstDash val="solid"/>
                      <a:round/>
                      <a:headEnd type="none" w="med" len="med"/>
                      <a:tailEnd type="none" w="med" len="med"/>
                    </a:lnR>
                    <a:lnT w="9525" cap="flat" cmpd="sng" algn="ctr">
                      <a:solidFill>
                        <a:srgbClr val="D5DEE2"/>
                      </a:solidFill>
                      <a:prstDash val="solid"/>
                      <a:round/>
                      <a:headEnd type="none" w="med" len="med"/>
                      <a:tailEnd type="none" w="med" len="med"/>
                    </a:lnT>
                    <a:lnB w="9525" cap="flat" cmpd="sng" algn="ctr">
                      <a:solidFill>
                        <a:srgbClr val="D5DE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1200" i="1" dirty="0">
                <a:solidFill>
                  <a:schemeClr val="accent3"/>
                </a:solidFill>
              </a:rPr>
              <a:t>* for recommendation and for properties in the table: no structure generation, no gas uptake without uptake labels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07 · APPLICATION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app shows the answer, the verified table and how it was made</a:t>
            </a:r>
            <a:endParaRPr lang="en-US" sz="2800" dirty="0"/>
          </a:p>
        </p:txBody>
      </p:sp>
      <p:sp>
        <p:nvSpPr>
          <p:cNvPr id="4" name="Shape 2"/>
          <p:cNvSpPr/>
          <p:nvPr/>
        </p:nvSpPr>
        <p:spPr>
          <a:xfrm>
            <a:off x="585216" y="1591056"/>
            <a:ext cx="5449824" cy="2670048"/>
          </a:xfrm>
          <a:prstGeom prst="roundRect">
            <a:avLst>
              <a:gd name="adj" fmla="val 2055"/>
            </a:avLst>
          </a:prstGeom>
          <a:solidFill>
            <a:srgbClr val="FFFFFF"/>
          </a:solidFill>
          <a:ln w="9525">
            <a:solidFill>
              <a:srgbClr val="D5DEE2"/>
            </a:solidFill>
            <a:prstDash val="solid"/>
          </a:ln>
          <a:effectLst>
            <a:outerShdw sx="100000" sy="100000" kx="0" ky="0" algn="bl" rotWithShape="0" blurRad="101600" dist="25400" dir="5400000">
              <a:srgbClr val="0F2433">
                <a:alpha val="18000"/>
              </a:srgbClr>
            </a:outerShdw>
          </a:effectLst>
        </p:spPr>
      </p:sp>
      <p:pic>
        <p:nvPicPr>
          <p:cNvPr id="5" name="Image 0" descr="“Which zinc MOFs have high surface area and low density?”">    </p:cNvPr>
          <p:cNvPicPr>
            <a:picLocks noChangeAspect="1"/>
          </p:cNvPicPr>
          <p:nvPr/>
        </p:nvPicPr>
        <p:blipFill>
          <a:blip r:embed="rId1"/>
          <a:stretch>
            <a:fillRect/>
          </a:stretch>
        </p:blipFill>
        <p:spPr>
          <a:xfrm>
            <a:off x="640080" y="1645920"/>
            <a:ext cx="5340096" cy="2560320"/>
          </a:xfrm>
          <a:prstGeom prst="rect">
            <a:avLst/>
          </a:prstGeom>
        </p:spPr>
      </p:pic>
      <p:sp>
        <p:nvSpPr>
          <p:cNvPr id="6" name="Text 3"/>
          <p:cNvSpPr txBox="1"/>
          <p:nvPr/>
        </p:nvSpPr>
        <p:spPr>
          <a:xfrm>
            <a:off x="640080" y="4334256"/>
            <a:ext cx="5340096" cy="320040"/>
          </a:xfrm>
          <a:prstGeom prst="rect">
            <a:avLst/>
          </a:prstGeom>
          <a:noFill/>
          <a:ln/>
        </p:spPr>
        <p:txBody>
          <a:bodyPr wrap="square" lIns="0" tIns="0" rIns="0" bIns="0" rtlCol="0" anchor="t"/>
          <a:lstStyle/>
          <a:p>
            <a:pPr indent="0" marL="0">
              <a:buNone/>
            </a:pPr>
            <a:r>
              <a:rPr lang="en-US" sz="1300" i="1" dirty="0">
                <a:solidFill>
                  <a:schemeClr val="accent3"/>
                </a:solidFill>
              </a:rPr>
              <a:t>“Which zinc MOFs have high surface area and low density?”</a:t>
            </a:r>
            <a:endParaRPr lang="en-US" sz="1300" dirty="0"/>
          </a:p>
        </p:txBody>
      </p:sp>
      <p:sp>
        <p:nvSpPr>
          <p:cNvPr id="7" name="Shape 4"/>
          <p:cNvSpPr/>
          <p:nvPr/>
        </p:nvSpPr>
        <p:spPr>
          <a:xfrm>
            <a:off x="6163056" y="1591056"/>
            <a:ext cx="5504688" cy="2670048"/>
          </a:xfrm>
          <a:prstGeom prst="roundRect">
            <a:avLst>
              <a:gd name="adj" fmla="val 2055"/>
            </a:avLst>
          </a:prstGeom>
          <a:solidFill>
            <a:srgbClr val="FFFFFF"/>
          </a:solidFill>
          <a:ln w="9525">
            <a:solidFill>
              <a:srgbClr val="D5DEE2"/>
            </a:solidFill>
            <a:prstDash val="solid"/>
          </a:ln>
          <a:effectLst>
            <a:outerShdw sx="100000" sy="100000" kx="0" ky="0" algn="bl" rotWithShape="0" blurRad="101600" dist="25400" dir="5400000">
              <a:srgbClr val="0F2433">
                <a:alpha val="18000"/>
              </a:srgbClr>
            </a:outerShdw>
          </a:effectLst>
        </p:spPr>
      </p:sp>
      <p:pic>
        <p:nvPicPr>
          <p:cNvPr id="8" name="Image 1" descr="The same answer's NSGA-II Pareto plot: recommended set in copper">    </p:cNvPr>
          <p:cNvPicPr>
            <a:picLocks noChangeAspect="1"/>
          </p:cNvPicPr>
          <p:nvPr/>
        </p:nvPicPr>
        <p:blipFill>
          <a:blip r:embed="rId2"/>
          <a:stretch>
            <a:fillRect/>
          </a:stretch>
        </p:blipFill>
        <p:spPr>
          <a:xfrm>
            <a:off x="6217920" y="1645920"/>
            <a:ext cx="5394960" cy="2560320"/>
          </a:xfrm>
          <a:prstGeom prst="rect">
            <a:avLst/>
          </a:prstGeom>
        </p:spPr>
      </p:pic>
      <p:sp>
        <p:nvSpPr>
          <p:cNvPr id="9" name="Text 5"/>
          <p:cNvSpPr txBox="1"/>
          <p:nvPr/>
        </p:nvSpPr>
        <p:spPr>
          <a:xfrm>
            <a:off x="6217920" y="4334256"/>
            <a:ext cx="5394960" cy="320040"/>
          </a:xfrm>
          <a:prstGeom prst="rect">
            <a:avLst/>
          </a:prstGeom>
          <a:noFill/>
          <a:ln/>
        </p:spPr>
        <p:txBody>
          <a:bodyPr wrap="square" lIns="0" tIns="0" rIns="0" bIns="0" rtlCol="0" anchor="t"/>
          <a:lstStyle/>
          <a:p>
            <a:pPr indent="0" marL="0">
              <a:buNone/>
            </a:pPr>
            <a:r>
              <a:rPr lang="en-US" sz="1300" i="1" dirty="0">
                <a:solidFill>
                  <a:schemeClr val="accent3"/>
                </a:solidFill>
              </a:rPr>
              <a:t>The same answer's NSGA-II Pareto plot: recommended set in copper</a:t>
            </a:r>
            <a:endParaRPr lang="en-US" sz="1300" dirty="0"/>
          </a:p>
        </p:txBody>
      </p:sp>
      <p:sp>
        <p:nvSpPr>
          <p:cNvPr id="10" name="Text 6"/>
          <p:cNvSpPr txBox="1"/>
          <p:nvPr/>
        </p:nvSpPr>
        <p:spPr>
          <a:xfrm>
            <a:off x="640080" y="4846320"/>
            <a:ext cx="10972800" cy="548640"/>
          </a:xfrm>
          <a:prstGeom prst="rect">
            <a:avLst/>
          </a:prstGeom>
          <a:noFill/>
          <a:ln/>
        </p:spPr>
        <p:txBody>
          <a:bodyPr wrap="square" lIns="0" tIns="0" rIns="0" bIns="0" rtlCol="0" anchor="t"/>
          <a:lstStyle/>
          <a:p>
            <a:pPr indent="0" marL="0">
              <a:buNone/>
            </a:pPr>
            <a:r>
              <a:rPr lang="en-US" sz="1500" dirty="0">
                <a:solidFill>
                  <a:schemeClr val="tx2"/>
                </a:solidFill>
              </a:rPr>
              <a:t>Every answer also shows the plan, the SQL, the validator report and which model answered. With no language model at all, the rule planner and template answers still work.</a:t>
            </a:r>
            <a:endParaRPr lang="en-US" sz="1500" dirty="0"/>
          </a:p>
        </p:txBody>
      </p:sp>
      <p:sp>
        <p:nvSpPr>
          <p:cNvPr id="11" name="hex FaComments"/>
          <p:cNvSpPr/>
          <p:nvPr/>
        </p:nvSpPr>
        <p:spPr>
          <a:xfrm>
            <a:off x="640080" y="5577840"/>
            <a:ext cx="502920" cy="442570"/>
          </a:xfrm>
          <a:prstGeom prst="hexagon">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785927" y="5693512"/>
            <a:ext cx="211226" cy="211226"/>
          </a:xfrm>
          <a:prstGeom prst="rect">
            <a:avLst/>
          </a:prstGeom>
        </p:spPr>
      </p:pic>
      <p:sp>
        <p:nvSpPr>
          <p:cNvPr id="13" name="Text 8"/>
          <p:cNvSpPr txBox="1"/>
          <p:nvPr/>
        </p:nvSpPr>
        <p:spPr>
          <a:xfrm>
            <a:off x="1280160" y="5596128"/>
            <a:ext cx="2103120" cy="411480"/>
          </a:xfrm>
          <a:prstGeom prst="rect">
            <a:avLst/>
          </a:prstGeom>
          <a:noFill/>
          <a:ln/>
        </p:spPr>
        <p:txBody>
          <a:bodyPr wrap="square" lIns="0" tIns="0" rIns="0" bIns="0" rtlCol="0" anchor="ctr"/>
          <a:lstStyle/>
          <a:p>
            <a:pPr indent="0" marL="0">
              <a:buNone/>
            </a:pPr>
            <a:r>
              <a:rPr lang="en-US" sz="1500" b="1" dirty="0">
                <a:solidFill>
                  <a:schemeClr val="tx1"/>
                </a:solidFill>
              </a:rPr>
              <a:t>Chat</a:t>
            </a:r>
            <a:endParaRPr lang="en-US" sz="1500" dirty="0"/>
          </a:p>
        </p:txBody>
      </p:sp>
      <p:sp>
        <p:nvSpPr>
          <p:cNvPr id="14" name="hex FaSlidersH"/>
          <p:cNvSpPr/>
          <p:nvPr/>
        </p:nvSpPr>
        <p:spPr>
          <a:xfrm>
            <a:off x="3429000" y="5577840"/>
            <a:ext cx="502920" cy="442570"/>
          </a:xfrm>
          <a:prstGeom prst="hexagon">
            <a:avLst/>
          </a:prstGeom>
          <a:solidFill>
            <a:schemeClr val="accent2"/>
          </a:solidFill>
          <a:ln w="12700">
            <a:solidFill>
              <a:schemeClr val="accent2"/>
            </a:solidFill>
            <a:prstDash val="solid"/>
          </a:ln>
        </p:spPr>
      </p:sp>
      <p:pic>
        <p:nvPicPr>
          <p:cNvPr id="15" name="Image 3" descr="preencoded.png">    </p:cNvPr>
          <p:cNvPicPr>
            <a:picLocks noChangeAspect="1"/>
          </p:cNvPicPr>
          <p:nvPr/>
        </p:nvPicPr>
        <p:blipFill>
          <a:blip r:embed="rId4"/>
          <a:stretch>
            <a:fillRect/>
          </a:stretch>
        </p:blipFill>
        <p:spPr>
          <a:xfrm>
            <a:off x="3574847" y="5693512"/>
            <a:ext cx="211226" cy="211226"/>
          </a:xfrm>
          <a:prstGeom prst="rect">
            <a:avLst/>
          </a:prstGeom>
        </p:spPr>
      </p:pic>
      <p:sp>
        <p:nvSpPr>
          <p:cNvPr id="16" name="Text 10"/>
          <p:cNvSpPr txBox="1"/>
          <p:nvPr/>
        </p:nvSpPr>
        <p:spPr>
          <a:xfrm>
            <a:off x="4069080" y="5596128"/>
            <a:ext cx="2103120" cy="411480"/>
          </a:xfrm>
          <a:prstGeom prst="rect">
            <a:avLst/>
          </a:prstGeom>
          <a:noFill/>
          <a:ln/>
        </p:spPr>
        <p:txBody>
          <a:bodyPr wrap="square" lIns="0" tIns="0" rIns="0" bIns="0" rtlCol="0" anchor="ctr"/>
          <a:lstStyle/>
          <a:p>
            <a:pPr indent="0" marL="0">
              <a:buNone/>
            </a:pPr>
            <a:r>
              <a:rPr lang="en-US" sz="1500" b="1" dirty="0">
                <a:solidFill>
                  <a:schemeClr val="tx1"/>
                </a:solidFill>
              </a:rPr>
              <a:t>Explore &amp; optimise</a:t>
            </a:r>
            <a:endParaRPr lang="en-US" sz="1500" dirty="0"/>
          </a:p>
        </p:txBody>
      </p:sp>
      <p:sp>
        <p:nvSpPr>
          <p:cNvPr id="17" name="hex FaChartBar"/>
          <p:cNvSpPr/>
          <p:nvPr/>
        </p:nvSpPr>
        <p:spPr>
          <a:xfrm>
            <a:off x="6217920" y="5577840"/>
            <a:ext cx="502920" cy="442570"/>
          </a:xfrm>
          <a:prstGeom prst="hexagon">
            <a:avLst/>
          </a:prstGeom>
          <a:solidFill>
            <a:schemeClr val="accent1"/>
          </a:solidFill>
          <a:ln w="12700">
            <a:solidFill>
              <a:schemeClr val="accent1"/>
            </a:solidFill>
            <a:prstDash val="solid"/>
          </a:ln>
        </p:spPr>
      </p:sp>
      <p:pic>
        <p:nvPicPr>
          <p:cNvPr id="18" name="Image 4" descr="preencoded.png">    </p:cNvPr>
          <p:cNvPicPr>
            <a:picLocks noChangeAspect="1"/>
          </p:cNvPicPr>
          <p:nvPr/>
        </p:nvPicPr>
        <p:blipFill>
          <a:blip r:embed="rId5"/>
          <a:stretch>
            <a:fillRect/>
          </a:stretch>
        </p:blipFill>
        <p:spPr>
          <a:xfrm>
            <a:off x="6363767" y="5693512"/>
            <a:ext cx="211226" cy="211226"/>
          </a:xfrm>
          <a:prstGeom prst="rect">
            <a:avLst/>
          </a:prstGeom>
        </p:spPr>
      </p:pic>
      <p:sp>
        <p:nvSpPr>
          <p:cNvPr id="19" name="Text 12"/>
          <p:cNvSpPr txBox="1"/>
          <p:nvPr/>
        </p:nvSpPr>
        <p:spPr>
          <a:xfrm>
            <a:off x="6858000" y="5596128"/>
            <a:ext cx="2103120" cy="411480"/>
          </a:xfrm>
          <a:prstGeom prst="rect">
            <a:avLst/>
          </a:prstGeom>
          <a:noFill/>
          <a:ln/>
        </p:spPr>
        <p:txBody>
          <a:bodyPr wrap="square" lIns="0" tIns="0" rIns="0" bIns="0" rtlCol="0" anchor="ctr"/>
          <a:lstStyle/>
          <a:p>
            <a:pPr indent="0" marL="0">
              <a:buNone/>
            </a:pPr>
            <a:r>
              <a:rPr lang="en-US" sz="1500" b="1" dirty="0">
                <a:solidFill>
                  <a:schemeClr val="tx1"/>
                </a:solidFill>
              </a:rPr>
              <a:t>Predict &amp; explain</a:t>
            </a:r>
            <a:endParaRPr lang="en-US" sz="1500" dirty="0"/>
          </a:p>
        </p:txBody>
      </p:sp>
      <p:sp>
        <p:nvSpPr>
          <p:cNvPr id="20" name="hex FaClipboardCheck"/>
          <p:cNvSpPr/>
          <p:nvPr/>
        </p:nvSpPr>
        <p:spPr>
          <a:xfrm>
            <a:off x="9006840" y="5577840"/>
            <a:ext cx="502920" cy="442570"/>
          </a:xfrm>
          <a:prstGeom prst="hexagon">
            <a:avLst/>
          </a:prstGeom>
          <a:solidFill>
            <a:schemeClr val="accent2"/>
          </a:solidFill>
          <a:ln w="12700">
            <a:solidFill>
              <a:schemeClr val="accent2"/>
            </a:solidFill>
            <a:prstDash val="solid"/>
          </a:ln>
        </p:spPr>
      </p:sp>
      <p:pic>
        <p:nvPicPr>
          <p:cNvPr id="21" name="Image 5" descr="preencoded.png">    </p:cNvPr>
          <p:cNvPicPr>
            <a:picLocks noChangeAspect="1"/>
          </p:cNvPicPr>
          <p:nvPr/>
        </p:nvPicPr>
        <p:blipFill>
          <a:blip r:embed="rId6"/>
          <a:stretch>
            <a:fillRect/>
          </a:stretch>
        </p:blipFill>
        <p:spPr>
          <a:xfrm>
            <a:off x="9152687" y="5693512"/>
            <a:ext cx="211226" cy="211226"/>
          </a:xfrm>
          <a:prstGeom prst="rect">
            <a:avLst/>
          </a:prstGeom>
        </p:spPr>
      </p:pic>
      <p:sp>
        <p:nvSpPr>
          <p:cNvPr id="22" name="Text 14"/>
          <p:cNvSpPr txBox="1"/>
          <p:nvPr/>
        </p:nvSpPr>
        <p:spPr>
          <a:xfrm>
            <a:off x="9646920" y="5596128"/>
            <a:ext cx="2103120" cy="411480"/>
          </a:xfrm>
          <a:prstGeom prst="rect">
            <a:avLst/>
          </a:prstGeom>
          <a:noFill/>
          <a:ln/>
        </p:spPr>
        <p:txBody>
          <a:bodyPr wrap="square" lIns="0" tIns="0" rIns="0" bIns="0" rtlCol="0" anchor="ctr"/>
          <a:lstStyle/>
          <a:p>
            <a:pPr indent="0" marL="0">
              <a:buNone/>
            </a:pPr>
            <a:r>
              <a:rPr lang="en-US" sz="1500" b="1" dirty="0">
                <a:solidFill>
                  <a:schemeClr val="tx1"/>
                </a:solidFill>
              </a:rPr>
              <a:t>Evaluation</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08 · DISCUSSION</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Four lessons from building and testing MOFChat</a:t>
            </a:r>
            <a:endParaRPr lang="en-US" sz="2800" dirty="0"/>
          </a:p>
        </p:txBody>
      </p:sp>
      <p:sp>
        <p:nvSpPr>
          <p:cNvPr id="4" name="card"/>
          <p:cNvSpPr/>
          <p:nvPr/>
        </p:nvSpPr>
        <p:spPr>
          <a:xfrm>
            <a:off x="548640" y="1600200"/>
            <a:ext cx="5440680" cy="2103120"/>
          </a:xfrm>
          <a:prstGeom prst="roundRect">
            <a:avLst>
              <a:gd name="adj" fmla="val 3478"/>
            </a:avLst>
          </a:prstGeom>
          <a:solidFill>
            <a:schemeClr val="bg2"/>
          </a:solidFill>
          <a:ln w="12700">
            <a:solidFill>
              <a:schemeClr val="bg2"/>
            </a:solidFill>
            <a:prstDash val="solid"/>
          </a:ln>
        </p:spPr>
      </p:sp>
      <p:sp>
        <p:nvSpPr>
          <p:cNvPr id="5" name="hex FaSearchMinus"/>
          <p:cNvSpPr/>
          <p:nvPr/>
        </p:nvSpPr>
        <p:spPr>
          <a:xfrm>
            <a:off x="822960" y="1874520"/>
            <a:ext cx="640080" cy="563270"/>
          </a:xfrm>
          <a:prstGeom prst="hexagon">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08583" y="2021738"/>
            <a:ext cx="268834" cy="268834"/>
          </a:xfrm>
          <a:prstGeom prst="rect">
            <a:avLst/>
          </a:prstGeom>
        </p:spPr>
      </p:pic>
      <p:sp>
        <p:nvSpPr>
          <p:cNvPr id="7" name="Text 4"/>
          <p:cNvSpPr txBox="1"/>
          <p:nvPr/>
        </p:nvSpPr>
        <p:spPr>
          <a:xfrm>
            <a:off x="1645920" y="1947672"/>
            <a:ext cx="41605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Similarity ≠ constraints</a:t>
            </a:r>
            <a:endParaRPr lang="en-US" sz="1800" dirty="0"/>
          </a:p>
        </p:txBody>
      </p:sp>
      <p:sp>
        <p:nvSpPr>
          <p:cNvPr id="8" name="Text 5"/>
          <p:cNvSpPr txBox="1"/>
          <p:nvPr/>
        </p:nvSpPr>
        <p:spPr>
          <a:xfrm>
            <a:off x="1645920" y="2423160"/>
            <a:ext cx="4160520" cy="1188720"/>
          </a:xfrm>
          <a:prstGeom prst="rect">
            <a:avLst/>
          </a:prstGeom>
          <a:noFill/>
          <a:ln/>
        </p:spPr>
        <p:txBody>
          <a:bodyPr wrap="square" lIns="0" tIns="0" rIns="0" bIns="0" rtlCol="0" anchor="t"/>
          <a:lstStyle/>
          <a:p>
            <a:pPr indent="0" marL="0">
              <a:buNone/>
            </a:pPr>
            <a:r>
              <a:rPr lang="en-US" sz="1400" dirty="0">
                <a:solidFill>
                  <a:schemeClr val="tx2"/>
                </a:solidFill>
              </a:rPr>
              <a:t>A two-tower model needs paired training data, and numeric filters belong in a database. This is why review 1 scored 9.4 %.</a:t>
            </a:r>
            <a:endParaRPr lang="en-US" sz="1400" dirty="0"/>
          </a:p>
        </p:txBody>
      </p:sp>
      <p:sp>
        <p:nvSpPr>
          <p:cNvPr id="9" name="card"/>
          <p:cNvSpPr/>
          <p:nvPr/>
        </p:nvSpPr>
        <p:spPr>
          <a:xfrm>
            <a:off x="6172200" y="1600200"/>
            <a:ext cx="5440680" cy="2103120"/>
          </a:xfrm>
          <a:prstGeom prst="roundRect">
            <a:avLst>
              <a:gd name="adj" fmla="val 3478"/>
            </a:avLst>
          </a:prstGeom>
          <a:solidFill>
            <a:schemeClr val="bg2"/>
          </a:solidFill>
          <a:ln w="12700">
            <a:solidFill>
              <a:schemeClr val="bg2"/>
            </a:solidFill>
            <a:prstDash val="solid"/>
          </a:ln>
        </p:spPr>
      </p:sp>
      <p:sp>
        <p:nvSpPr>
          <p:cNvPr id="10" name="hex FaCodeBranch"/>
          <p:cNvSpPr/>
          <p:nvPr/>
        </p:nvSpPr>
        <p:spPr>
          <a:xfrm>
            <a:off x="6446520" y="1874520"/>
            <a:ext cx="640080" cy="563270"/>
          </a:xfrm>
          <a:prstGeom prst="hexagon">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632143" y="2021738"/>
            <a:ext cx="268834" cy="268834"/>
          </a:xfrm>
          <a:prstGeom prst="rect">
            <a:avLst/>
          </a:prstGeom>
        </p:spPr>
      </p:pic>
      <p:sp>
        <p:nvSpPr>
          <p:cNvPr id="12" name="Text 8"/>
          <p:cNvSpPr txBox="1"/>
          <p:nvPr/>
        </p:nvSpPr>
        <p:spPr>
          <a:xfrm>
            <a:off x="7269480" y="1947672"/>
            <a:ext cx="41605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LLMs and rules complement</a:t>
            </a:r>
            <a:endParaRPr lang="en-US" sz="1800" dirty="0"/>
          </a:p>
        </p:txBody>
      </p:sp>
      <p:sp>
        <p:nvSpPr>
          <p:cNvPr id="13" name="Text 9"/>
          <p:cNvSpPr txBox="1"/>
          <p:nvPr/>
        </p:nvSpPr>
        <p:spPr>
          <a:xfrm>
            <a:off x="7269480" y="2423160"/>
            <a:ext cx="4160520" cy="1188720"/>
          </a:xfrm>
          <a:prstGeom prst="rect">
            <a:avLst/>
          </a:prstGeom>
          <a:noFill/>
          <a:ln/>
        </p:spPr>
        <p:txBody>
          <a:bodyPr wrap="square" lIns="0" tIns="0" rIns="0" bIns="0" rtlCol="0" anchor="t"/>
          <a:lstStyle/>
          <a:p>
            <a:pPr indent="0" marL="0">
              <a:buNone/>
            </a:pPr>
            <a:r>
              <a:rPr lang="en-US" sz="1400" dirty="0">
                <a:solidFill>
                  <a:schemeClr val="tx2"/>
                </a:solidFill>
              </a:rPr>
              <a:t>Rules are exact but brittle on new phrasings; LLMs generalise but make schema errors. Validation and the hybrid merge combine both.</a:t>
            </a:r>
            <a:endParaRPr lang="en-US" sz="1400" dirty="0"/>
          </a:p>
        </p:txBody>
      </p:sp>
      <p:sp>
        <p:nvSpPr>
          <p:cNvPr id="14" name="card"/>
          <p:cNvSpPr/>
          <p:nvPr/>
        </p:nvSpPr>
        <p:spPr>
          <a:xfrm>
            <a:off x="548640" y="3886200"/>
            <a:ext cx="5440680" cy="2103120"/>
          </a:xfrm>
          <a:prstGeom prst="roundRect">
            <a:avLst>
              <a:gd name="adj" fmla="val 3478"/>
            </a:avLst>
          </a:prstGeom>
          <a:solidFill>
            <a:schemeClr val="bg2"/>
          </a:solidFill>
          <a:ln w="12700">
            <a:solidFill>
              <a:schemeClr val="bg2"/>
            </a:solidFill>
            <a:prstDash val="solid"/>
          </a:ln>
        </p:spPr>
      </p:sp>
      <p:sp>
        <p:nvSpPr>
          <p:cNvPr id="15" name="hex FaBug"/>
          <p:cNvSpPr/>
          <p:nvPr/>
        </p:nvSpPr>
        <p:spPr>
          <a:xfrm>
            <a:off x="822960" y="4160520"/>
            <a:ext cx="640080" cy="563270"/>
          </a:xfrm>
          <a:prstGeom prst="hexagon">
            <a:avLst/>
          </a:prstGeom>
          <a:solidFill>
            <a:schemeClr val="accent2"/>
          </a:solidFill>
          <a:ln w="12700">
            <a:solidFill>
              <a:schemeClr val="accent2"/>
            </a:solidFill>
            <a:prstDash val="solid"/>
          </a:ln>
        </p:spPr>
      </p:sp>
      <p:pic>
        <p:nvPicPr>
          <p:cNvPr id="16" name="Image 2" descr="preencoded.png">    </p:cNvPr>
          <p:cNvPicPr>
            <a:picLocks noChangeAspect="1"/>
          </p:cNvPicPr>
          <p:nvPr/>
        </p:nvPicPr>
        <p:blipFill>
          <a:blip r:embed="rId3"/>
          <a:stretch>
            <a:fillRect/>
          </a:stretch>
        </p:blipFill>
        <p:spPr>
          <a:xfrm>
            <a:off x="1008583" y="4307738"/>
            <a:ext cx="268834" cy="268834"/>
          </a:xfrm>
          <a:prstGeom prst="rect">
            <a:avLst/>
          </a:prstGeom>
        </p:spPr>
      </p:pic>
      <p:sp>
        <p:nvSpPr>
          <p:cNvPr id="17" name="Text 12"/>
          <p:cNvSpPr txBox="1"/>
          <p:nvPr/>
        </p:nvSpPr>
        <p:spPr>
          <a:xfrm>
            <a:off x="1645920" y="4233672"/>
            <a:ext cx="41605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Use the app, not only the benchmark</a:t>
            </a:r>
            <a:endParaRPr lang="en-US" sz="1800" dirty="0"/>
          </a:p>
        </p:txBody>
      </p:sp>
      <p:sp>
        <p:nvSpPr>
          <p:cNvPr id="18" name="Text 13"/>
          <p:cNvSpPr txBox="1"/>
          <p:nvPr/>
        </p:nvSpPr>
        <p:spPr>
          <a:xfrm>
            <a:off x="1645920" y="4709160"/>
            <a:ext cx="4160520" cy="1188720"/>
          </a:xfrm>
          <a:prstGeom prst="rect">
            <a:avLst/>
          </a:prstGeom>
          <a:noFill/>
          <a:ln/>
        </p:spPr>
        <p:txBody>
          <a:bodyPr wrap="square" lIns="0" tIns="0" rIns="0" bIns="0" rtlCol="0" anchor="t"/>
          <a:lstStyle/>
          <a:p>
            <a:pPr indent="0" marL="0">
              <a:buNone/>
            </a:pPr>
            <a:r>
              <a:rPr lang="en-US" sz="1400" dirty="0">
                <a:solidFill>
                  <a:schemeClr val="tx2"/>
                </a:solidFill>
              </a:rPr>
              <a:t>The benchmark scores plans, not text. Using the app found four bugs (false ≥ 6000 claim, overridden presets, “90 %” false positive, “8 318”). Each now has a unit test.</a:t>
            </a:r>
            <a:endParaRPr lang="en-US" sz="1400" dirty="0"/>
          </a:p>
        </p:txBody>
      </p:sp>
      <p:sp>
        <p:nvSpPr>
          <p:cNvPr id="19" name="card"/>
          <p:cNvSpPr/>
          <p:nvPr/>
        </p:nvSpPr>
        <p:spPr>
          <a:xfrm>
            <a:off x="6172200" y="3886200"/>
            <a:ext cx="5440680" cy="2103120"/>
          </a:xfrm>
          <a:prstGeom prst="roundRect">
            <a:avLst>
              <a:gd name="adj" fmla="val 3478"/>
            </a:avLst>
          </a:prstGeom>
          <a:solidFill>
            <a:schemeClr val="bg2"/>
          </a:solidFill>
          <a:ln w="12700">
            <a:solidFill>
              <a:schemeClr val="bg2"/>
            </a:solidFill>
            <a:prstDash val="solid"/>
          </a:ln>
        </p:spPr>
      </p:sp>
      <p:sp>
        <p:nvSpPr>
          <p:cNvPr id="20" name="hex FaTree"/>
          <p:cNvSpPr/>
          <p:nvPr/>
        </p:nvSpPr>
        <p:spPr>
          <a:xfrm>
            <a:off x="6446520" y="4160520"/>
            <a:ext cx="640080" cy="563270"/>
          </a:xfrm>
          <a:prstGeom prst="hexagon">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6632143" y="4307738"/>
            <a:ext cx="268834" cy="268834"/>
          </a:xfrm>
          <a:prstGeom prst="rect">
            <a:avLst/>
          </a:prstGeom>
        </p:spPr>
      </p:pic>
      <p:sp>
        <p:nvSpPr>
          <p:cNvPr id="22" name="Text 16"/>
          <p:cNvSpPr txBox="1"/>
          <p:nvPr/>
        </p:nvSpPr>
        <p:spPr>
          <a:xfrm>
            <a:off x="7269480" y="4233672"/>
            <a:ext cx="41605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Trees still win on small tables</a:t>
            </a:r>
            <a:endParaRPr lang="en-US" sz="1800" dirty="0"/>
          </a:p>
        </p:txBody>
      </p:sp>
      <p:sp>
        <p:nvSpPr>
          <p:cNvPr id="23" name="Text 17"/>
          <p:cNvSpPr txBox="1"/>
          <p:nvPr/>
        </p:nvSpPr>
        <p:spPr>
          <a:xfrm>
            <a:off x="7269480" y="4709160"/>
            <a:ext cx="4160520" cy="1188720"/>
          </a:xfrm>
          <a:prstGeom prst="rect">
            <a:avLst/>
          </a:prstGeom>
          <a:noFill/>
          <a:ln/>
        </p:spPr>
        <p:txBody>
          <a:bodyPr wrap="square" lIns="0" tIns="0" rIns="0" bIns="0" rtlCol="0" anchor="t"/>
          <a:lstStyle/>
          <a:p>
            <a:pPr indent="0" marL="0">
              <a:buNone/>
            </a:pPr>
            <a:r>
              <a:rPr lang="en-US" sz="1400" dirty="0">
                <a:solidFill>
                  <a:schemeClr val="tx2"/>
                </a:solidFill>
              </a:rPr>
              <a:t>On ~8,000 MOFs with 6 features XGBoost ties the FT-Transformer, trains 400× faster and gives exact SHAP.</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08 · LIMITATIONS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MOFChat does not do yet, and what comes next</a:t>
            </a:r>
            <a:endParaRPr lang="en-US" sz="2800" dirty="0"/>
          </a:p>
        </p:txBody>
      </p:sp>
      <p:sp>
        <p:nvSpPr>
          <p:cNvPr id="4" name="Text 2"/>
          <p:cNvSpPr txBox="1"/>
          <p:nvPr/>
        </p:nvSpPr>
        <p:spPr>
          <a:xfrm>
            <a:off x="1325880" y="1554480"/>
            <a:ext cx="4114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LIMITATION</a:t>
            </a:r>
            <a:endParaRPr lang="en-US" sz="1300" dirty="0"/>
          </a:p>
        </p:txBody>
      </p:sp>
      <p:sp>
        <p:nvSpPr>
          <p:cNvPr id="5" name="Text 3"/>
          <p:cNvSpPr txBox="1"/>
          <p:nvPr/>
        </p:nvSpPr>
        <p:spPr>
          <a:xfrm>
            <a:off x="6309360" y="1554480"/>
            <a:ext cx="50292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NEXT STEP</a:t>
            </a:r>
            <a:endParaRPr lang="en-US" sz="1300" dirty="0"/>
          </a:p>
        </p:txBody>
      </p:sp>
      <p:sp>
        <p:nvSpPr>
          <p:cNvPr id="6" name="Shape 4"/>
          <p:cNvSpPr/>
          <p:nvPr/>
        </p:nvSpPr>
        <p:spPr>
          <a:xfrm>
            <a:off x="548640" y="2011680"/>
            <a:ext cx="502920" cy="442570"/>
          </a:xfrm>
          <a:prstGeom prst="hexagon">
            <a:avLst/>
          </a:prstGeom>
          <a:solidFill>
            <a:schemeClr val="accent2"/>
          </a:solidFill>
          <a:ln w="12700">
            <a:solidFill>
              <a:schemeClr val="accent2"/>
            </a:solidFill>
            <a:prstDash val="solid"/>
          </a:ln>
        </p:spPr>
      </p:sp>
      <p:sp>
        <p:nvSpPr>
          <p:cNvPr id="7" name="Text 5"/>
          <p:cNvSpPr txBox="1"/>
          <p:nvPr/>
        </p:nvSpPr>
        <p:spPr>
          <a:xfrm>
            <a:off x="548640" y="20116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325880" y="20116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No gas-uptake labels</a:t>
            </a:r>
            <a:endParaRPr lang="en-US" sz="1600" dirty="0"/>
          </a:p>
        </p:txBody>
      </p:sp>
      <p:sp>
        <p:nvSpPr>
          <p:cNvPr id="9" name="Shape 7"/>
          <p:cNvSpPr/>
          <p:nvPr/>
        </p:nvSpPr>
        <p:spPr>
          <a:xfrm>
            <a:off x="5623560" y="2240280"/>
            <a:ext cx="457200" cy="0"/>
          </a:xfrm>
          <a:prstGeom prst="line">
            <a:avLst/>
          </a:prstGeom>
          <a:noFill/>
          <a:ln w="19050">
            <a:solidFill>
              <a:srgbClr val="5B6B73"/>
            </a:solidFill>
            <a:prstDash val="solid"/>
            <a:tailEnd type="triangle"/>
          </a:ln>
        </p:spPr>
      </p:sp>
      <p:sp>
        <p:nvSpPr>
          <p:cNvPr id="10" name="Text 8"/>
          <p:cNvSpPr txBox="1"/>
          <p:nvPr/>
        </p:nvSpPr>
        <p:spPr>
          <a:xfrm>
            <a:off x="6309360" y="2011680"/>
            <a:ext cx="5303520" cy="457200"/>
          </a:xfrm>
          <a:prstGeom prst="rect">
            <a:avLst/>
          </a:prstGeom>
          <a:noFill/>
          <a:ln/>
        </p:spPr>
        <p:txBody>
          <a:bodyPr wrap="square" lIns="0" tIns="0" rIns="0" bIns="0" rtlCol="0" anchor="ctr"/>
          <a:lstStyle/>
          <a:p>
            <a:pPr indent="0" marL="0">
              <a:buNone/>
            </a:pPr>
            <a:r>
              <a:rPr lang="en-US" sz="1500" dirty="0">
                <a:solidFill>
                  <a:schemeClr val="tx2"/>
                </a:solidFill>
              </a:rPr>
              <a:t>Attach GCMC uptake data; reuse the surrogate pipeline</a:t>
            </a:r>
            <a:endParaRPr lang="en-US" sz="1500" dirty="0"/>
          </a:p>
        </p:txBody>
      </p:sp>
      <p:sp>
        <p:nvSpPr>
          <p:cNvPr id="11" name="Shape 9"/>
          <p:cNvSpPr/>
          <p:nvPr/>
        </p:nvSpPr>
        <p:spPr>
          <a:xfrm>
            <a:off x="548640" y="2697480"/>
            <a:ext cx="502920" cy="442570"/>
          </a:xfrm>
          <a:prstGeom prst="hexagon">
            <a:avLst/>
          </a:prstGeom>
          <a:solidFill>
            <a:schemeClr val="accent2"/>
          </a:solidFill>
          <a:ln w="12700">
            <a:solidFill>
              <a:schemeClr val="accent2"/>
            </a:solidFill>
            <a:prstDash val="solid"/>
          </a:ln>
        </p:spPr>
      </p:sp>
      <p:sp>
        <p:nvSpPr>
          <p:cNvPr id="12" name="Text 10"/>
          <p:cNvSpPr txBox="1"/>
          <p:nvPr/>
        </p:nvSpPr>
        <p:spPr>
          <a:xfrm>
            <a:off x="548640" y="26974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325880" y="26974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No structure generation</a:t>
            </a:r>
            <a:endParaRPr lang="en-US" sz="1600" dirty="0"/>
          </a:p>
        </p:txBody>
      </p:sp>
      <p:sp>
        <p:nvSpPr>
          <p:cNvPr id="14" name="Shape 12"/>
          <p:cNvSpPr/>
          <p:nvPr/>
        </p:nvSpPr>
        <p:spPr>
          <a:xfrm>
            <a:off x="5623560" y="2926080"/>
            <a:ext cx="457200" cy="0"/>
          </a:xfrm>
          <a:prstGeom prst="line">
            <a:avLst/>
          </a:prstGeom>
          <a:noFill/>
          <a:ln w="19050">
            <a:solidFill>
              <a:srgbClr val="5B6B73"/>
            </a:solidFill>
            <a:prstDash val="solid"/>
            <a:tailEnd type="triangle"/>
          </a:ln>
        </p:spPr>
      </p:sp>
      <p:sp>
        <p:nvSpPr>
          <p:cNvPr id="15" name="Text 13"/>
          <p:cNvSpPr txBox="1"/>
          <p:nvPr/>
        </p:nvSpPr>
        <p:spPr>
          <a:xfrm>
            <a:off x="6309360" y="2697480"/>
            <a:ext cx="5303520" cy="457200"/>
          </a:xfrm>
          <a:prstGeom prst="rect">
            <a:avLst/>
          </a:prstGeom>
          <a:noFill/>
          <a:ln/>
        </p:spPr>
        <p:txBody>
          <a:bodyPr wrap="square" lIns="0" tIns="0" rIns="0" bIns="0" rtlCol="0" anchor="ctr"/>
          <a:lstStyle/>
          <a:p>
            <a:pPr indent="0" marL="0">
              <a:buNone/>
            </a:pPr>
            <a:r>
              <a:rPr lang="en-US" sz="1500" dirty="0">
                <a:solidFill>
                  <a:schemeClr val="tx2"/>
                </a:solidFill>
              </a:rPr>
              <a:t>Recommend only; a generator (e.g. genetic algorithm) is future work</a:t>
            </a:r>
            <a:endParaRPr lang="en-US" sz="1500" dirty="0"/>
          </a:p>
        </p:txBody>
      </p:sp>
      <p:sp>
        <p:nvSpPr>
          <p:cNvPr id="16" name="Shape 14"/>
          <p:cNvSpPr/>
          <p:nvPr/>
        </p:nvSpPr>
        <p:spPr>
          <a:xfrm>
            <a:off x="548640" y="3383280"/>
            <a:ext cx="502920" cy="442570"/>
          </a:xfrm>
          <a:prstGeom prst="hexagon">
            <a:avLst/>
          </a:prstGeom>
          <a:solidFill>
            <a:schemeClr val="accent2"/>
          </a:solidFill>
          <a:ln w="12700">
            <a:solidFill>
              <a:schemeClr val="accent2"/>
            </a:solidFill>
            <a:prstDash val="solid"/>
          </a:ln>
        </p:spPr>
      </p:sp>
      <p:sp>
        <p:nvSpPr>
          <p:cNvPr id="17" name="Text 15"/>
          <p:cNvSpPr txBox="1"/>
          <p:nvPr/>
        </p:nvSpPr>
        <p:spPr>
          <a:xfrm>
            <a:off x="548640" y="33832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325880" y="33832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Offline model at 80 %</a:t>
            </a:r>
            <a:endParaRPr lang="en-US" sz="1600" dirty="0"/>
          </a:p>
        </p:txBody>
      </p:sp>
      <p:sp>
        <p:nvSpPr>
          <p:cNvPr id="19" name="Shape 17"/>
          <p:cNvSpPr/>
          <p:nvPr/>
        </p:nvSpPr>
        <p:spPr>
          <a:xfrm>
            <a:off x="5623560" y="3611880"/>
            <a:ext cx="457200" cy="0"/>
          </a:xfrm>
          <a:prstGeom prst="line">
            <a:avLst/>
          </a:prstGeom>
          <a:noFill/>
          <a:ln w="19050">
            <a:solidFill>
              <a:srgbClr val="5B6B73"/>
            </a:solidFill>
            <a:prstDash val="solid"/>
            <a:tailEnd type="triangle"/>
          </a:ln>
        </p:spPr>
      </p:sp>
      <p:sp>
        <p:nvSpPr>
          <p:cNvPr id="20" name="Text 18"/>
          <p:cNvSpPr txBox="1"/>
          <p:nvPr/>
        </p:nvSpPr>
        <p:spPr>
          <a:xfrm>
            <a:off x="6309360" y="3383280"/>
            <a:ext cx="5303520" cy="457200"/>
          </a:xfrm>
          <a:prstGeom prst="rect">
            <a:avLst/>
          </a:prstGeom>
          <a:noFill/>
          <a:ln/>
        </p:spPr>
        <p:txBody>
          <a:bodyPr wrap="square" lIns="0" tIns="0" rIns="0" bIns="0" rtlCol="0" anchor="ctr"/>
          <a:lstStyle/>
          <a:p>
            <a:pPr indent="0" marL="0">
              <a:buNone/>
            </a:pPr>
            <a:r>
              <a:rPr lang="en-US" sz="1500" dirty="0">
                <a:solidFill>
                  <a:schemeClr val="tx2"/>
                </a:solidFill>
              </a:rPr>
              <a:t>LoRA fine-tuning of Llama 3 on plan examples</a:t>
            </a:r>
            <a:endParaRPr lang="en-US" sz="1500" dirty="0"/>
          </a:p>
        </p:txBody>
      </p:sp>
      <p:sp>
        <p:nvSpPr>
          <p:cNvPr id="21" name="Shape 19"/>
          <p:cNvSpPr/>
          <p:nvPr/>
        </p:nvSpPr>
        <p:spPr>
          <a:xfrm>
            <a:off x="548640" y="4069080"/>
            <a:ext cx="502920" cy="442570"/>
          </a:xfrm>
          <a:prstGeom prst="hexagon">
            <a:avLst/>
          </a:prstGeom>
          <a:solidFill>
            <a:schemeClr val="accent2"/>
          </a:solidFill>
          <a:ln w="12700">
            <a:solidFill>
              <a:schemeClr val="accent2"/>
            </a:solidFill>
            <a:prstDash val="solid"/>
          </a:ln>
        </p:spPr>
      </p:sp>
      <p:sp>
        <p:nvSpPr>
          <p:cNvPr id="22" name="Text 20"/>
          <p:cNvSpPr txBox="1"/>
          <p:nvPr/>
        </p:nvSpPr>
        <p:spPr>
          <a:xfrm>
            <a:off x="548640" y="40690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325880" y="40690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Free-text reasoning unchecked</a:t>
            </a:r>
            <a:endParaRPr lang="en-US" sz="1600" dirty="0"/>
          </a:p>
        </p:txBody>
      </p:sp>
      <p:sp>
        <p:nvSpPr>
          <p:cNvPr id="24" name="Shape 22"/>
          <p:cNvSpPr/>
          <p:nvPr/>
        </p:nvSpPr>
        <p:spPr>
          <a:xfrm>
            <a:off x="5623560" y="4297680"/>
            <a:ext cx="457200" cy="0"/>
          </a:xfrm>
          <a:prstGeom prst="line">
            <a:avLst/>
          </a:prstGeom>
          <a:noFill/>
          <a:ln w="19050">
            <a:solidFill>
              <a:srgbClr val="5B6B73"/>
            </a:solidFill>
            <a:prstDash val="solid"/>
            <a:tailEnd type="triangle"/>
          </a:ln>
        </p:spPr>
      </p:sp>
      <p:sp>
        <p:nvSpPr>
          <p:cNvPr id="25" name="Text 23"/>
          <p:cNvSpPr txBox="1"/>
          <p:nvPr/>
        </p:nvSpPr>
        <p:spPr>
          <a:xfrm>
            <a:off x="6309360" y="4069080"/>
            <a:ext cx="5303520" cy="457200"/>
          </a:xfrm>
          <a:prstGeom prst="rect">
            <a:avLst/>
          </a:prstGeom>
          <a:noFill/>
          <a:ln/>
        </p:spPr>
        <p:txBody>
          <a:bodyPr wrap="square" lIns="0" tIns="0" rIns="0" bIns="0" rtlCol="0" anchor="ctr"/>
          <a:lstStyle/>
          <a:p>
            <a:pPr indent="0" marL="0">
              <a:buNone/>
            </a:pPr>
            <a:r>
              <a:rPr lang="en-US" sz="1500" dirty="0">
                <a:solidFill>
                  <a:schemeClr val="tx2"/>
                </a:solidFill>
              </a:rPr>
              <a:t>Validator covers IDs, numbers and claims; sources are shown</a:t>
            </a:r>
            <a:endParaRPr lang="en-US" sz="1500" dirty="0"/>
          </a:p>
        </p:txBody>
      </p:sp>
      <p:sp>
        <p:nvSpPr>
          <p:cNvPr id="26" name="Shape 24"/>
          <p:cNvSpPr/>
          <p:nvPr/>
        </p:nvSpPr>
        <p:spPr>
          <a:xfrm>
            <a:off x="548640" y="4754880"/>
            <a:ext cx="502920" cy="442570"/>
          </a:xfrm>
          <a:prstGeom prst="hexagon">
            <a:avLst/>
          </a:prstGeom>
          <a:solidFill>
            <a:schemeClr val="accent2"/>
          </a:solidFill>
          <a:ln w="12700">
            <a:solidFill>
              <a:schemeClr val="accent2"/>
            </a:solidFill>
            <a:prstDash val="solid"/>
          </a:ln>
        </p:spPr>
      </p:sp>
      <p:sp>
        <p:nvSpPr>
          <p:cNvPr id="27" name="Text 25"/>
          <p:cNvSpPr txBox="1"/>
          <p:nvPr/>
        </p:nvSpPr>
        <p:spPr>
          <a:xfrm>
            <a:off x="548640" y="47548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1325880" y="47548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Presets are heuristics</a:t>
            </a:r>
            <a:endParaRPr lang="en-US" sz="1600" dirty="0"/>
          </a:p>
        </p:txBody>
      </p:sp>
      <p:sp>
        <p:nvSpPr>
          <p:cNvPr id="29" name="Shape 27"/>
          <p:cNvSpPr/>
          <p:nvPr/>
        </p:nvSpPr>
        <p:spPr>
          <a:xfrm>
            <a:off x="5623560" y="4983480"/>
            <a:ext cx="457200" cy="0"/>
          </a:xfrm>
          <a:prstGeom prst="line">
            <a:avLst/>
          </a:prstGeom>
          <a:noFill/>
          <a:ln w="19050">
            <a:solidFill>
              <a:srgbClr val="5B6B73"/>
            </a:solidFill>
            <a:prstDash val="solid"/>
            <a:tailEnd type="triangle"/>
          </a:ln>
        </p:spPr>
      </p:sp>
      <p:sp>
        <p:nvSpPr>
          <p:cNvPr id="30" name="Text 28"/>
          <p:cNvSpPr txBox="1"/>
          <p:nvPr/>
        </p:nvSpPr>
        <p:spPr>
          <a:xfrm>
            <a:off x="6309360" y="4754880"/>
            <a:ext cx="5303520" cy="457200"/>
          </a:xfrm>
          <a:prstGeom prst="rect">
            <a:avLst/>
          </a:prstGeom>
          <a:noFill/>
          <a:ln/>
        </p:spPr>
        <p:txBody>
          <a:bodyPr wrap="square" lIns="0" tIns="0" rIns="0" bIns="0" rtlCol="0" anchor="ctr"/>
          <a:lstStyle/>
          <a:p>
            <a:pPr indent="0" marL="0">
              <a:buNone/>
            </a:pPr>
            <a:r>
              <a:rPr lang="en-US" sz="1500" dirty="0">
                <a:solidFill>
                  <a:schemeClr val="tx2"/>
                </a:solidFill>
              </a:rPr>
              <a:t>Replace with learned rules once uptake data exists</a:t>
            </a:r>
            <a:endParaRPr lang="en-US" sz="1500" dirty="0"/>
          </a:p>
        </p:txBody>
      </p:sp>
      <p:sp>
        <p:nvSpPr>
          <p:cNvPr id="31" name="Shape 29"/>
          <p:cNvSpPr/>
          <p:nvPr/>
        </p:nvSpPr>
        <p:spPr>
          <a:xfrm>
            <a:off x="548640" y="5440680"/>
            <a:ext cx="502920" cy="442570"/>
          </a:xfrm>
          <a:prstGeom prst="hexagon">
            <a:avLst/>
          </a:prstGeom>
          <a:solidFill>
            <a:schemeClr val="accent2"/>
          </a:solidFill>
          <a:ln w="12700">
            <a:solidFill>
              <a:schemeClr val="accent2"/>
            </a:solidFill>
            <a:prstDash val="solid"/>
          </a:ln>
        </p:spPr>
      </p:sp>
      <p:sp>
        <p:nvSpPr>
          <p:cNvPr id="32" name="Text 30"/>
          <p:cNvSpPr txBox="1"/>
          <p:nvPr/>
        </p:nvSpPr>
        <p:spPr>
          <a:xfrm>
            <a:off x="548640" y="5440680"/>
            <a:ext cx="502920" cy="442570"/>
          </a:xfrm>
          <a:prstGeom prst="rect">
            <a:avLst/>
          </a:prstGeom>
          <a:noFill/>
          <a:ln/>
        </p:spPr>
        <p:txBody>
          <a:bodyPr wrap="square" lIns="0" tIns="0" rIns="0" bIns="0" rtlCol="0" anchor="ctr"/>
          <a:lstStyle/>
          <a:p>
            <a:pPr algn="ctr" indent="0" marL="0">
              <a:buNone/>
            </a:pPr>
            <a:r>
              <a:rPr lang="en-US" sz="1300" b="1" dirty="0">
                <a:solidFill>
                  <a:schemeClr val="bg1"/>
                </a:solidFill>
                <a:latin typeface="Cambria" pitchFamily="34" charset="0"/>
                <a:ea typeface="Cambria" pitchFamily="34" charset="-122"/>
                <a:cs typeface="Cambria" pitchFamily="34" charset="-120"/>
              </a:rPr>
              <a:t>6</a:t>
            </a:r>
            <a:endParaRPr lang="en-US" sz="1300" dirty="0"/>
          </a:p>
        </p:txBody>
      </p:sp>
      <p:sp>
        <p:nvSpPr>
          <p:cNvPr id="33" name="Text 31"/>
          <p:cNvSpPr txBox="1"/>
          <p:nvPr/>
        </p:nvSpPr>
        <p:spPr>
          <a:xfrm>
            <a:off x="1325880" y="5440680"/>
            <a:ext cx="4206240" cy="457200"/>
          </a:xfrm>
          <a:prstGeom prst="rect">
            <a:avLst/>
          </a:prstGeom>
          <a:noFill/>
          <a:ln/>
        </p:spPr>
        <p:txBody>
          <a:bodyPr wrap="square" lIns="0" tIns="0" rIns="0" bIns="0" rtlCol="0" anchor="ctr"/>
          <a:lstStyle/>
          <a:p>
            <a:pPr indent="0" marL="0">
              <a:buNone/>
            </a:pPr>
            <a:r>
              <a:rPr lang="en-US" sz="1600" b="1" dirty="0">
                <a:solidFill>
                  <a:schemeClr val="tx1"/>
                </a:solidFill>
              </a:rPr>
              <a:t>Descriptor-only similarity</a:t>
            </a:r>
            <a:endParaRPr lang="en-US" sz="1600" dirty="0"/>
          </a:p>
        </p:txBody>
      </p:sp>
      <p:sp>
        <p:nvSpPr>
          <p:cNvPr id="34" name="Shape 32"/>
          <p:cNvSpPr/>
          <p:nvPr/>
        </p:nvSpPr>
        <p:spPr>
          <a:xfrm>
            <a:off x="5623560" y="5669280"/>
            <a:ext cx="457200" cy="0"/>
          </a:xfrm>
          <a:prstGeom prst="line">
            <a:avLst/>
          </a:prstGeom>
          <a:noFill/>
          <a:ln w="19050">
            <a:solidFill>
              <a:srgbClr val="5B6B73"/>
            </a:solidFill>
            <a:prstDash val="solid"/>
            <a:tailEnd type="triangle"/>
          </a:ln>
        </p:spPr>
      </p:sp>
      <p:sp>
        <p:nvSpPr>
          <p:cNvPr id="35" name="Text 33"/>
          <p:cNvSpPr txBox="1"/>
          <p:nvPr/>
        </p:nvSpPr>
        <p:spPr>
          <a:xfrm>
            <a:off x="6309360" y="5440680"/>
            <a:ext cx="5303520" cy="457200"/>
          </a:xfrm>
          <a:prstGeom prst="rect">
            <a:avLst/>
          </a:prstGeom>
          <a:noFill/>
          <a:ln/>
        </p:spPr>
        <p:txBody>
          <a:bodyPr wrap="square" lIns="0" tIns="0" rIns="0" bIns="0" rtlCol="0" anchor="ctr"/>
          <a:lstStyle/>
          <a:p>
            <a:pPr indent="0" marL="0">
              <a:buNone/>
            </a:pPr>
            <a:r>
              <a:rPr lang="en-US" sz="1500" dirty="0">
                <a:solidFill>
                  <a:schemeClr val="tx2"/>
                </a:solidFill>
              </a:rPr>
              <a:t>Add structure embeddings (e.g. MOFTransformer)</a:t>
            </a:r>
            <a:endParaRPr lang="en-US" sz="15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548640"/>
            <a:ext cx="5486400" cy="320040"/>
          </a:xfrm>
          <a:prstGeom prst="rect">
            <a:avLst/>
          </a:prstGeom>
          <a:noFill/>
          <a:ln/>
        </p:spPr>
        <p:txBody>
          <a:bodyPr wrap="square" lIns="0" tIns="0" rIns="0" bIns="0" rtlCol="0" anchor="t"/>
          <a:lstStyle/>
          <a:p>
            <a:pPr indent="0" marL="0">
              <a:buNone/>
            </a:pPr>
            <a:r>
              <a:rPr lang="en-US" sz="1300" b="1" spc="200" kern="0" dirty="0">
                <a:solidFill>
                  <a:schemeClr val="accent5"/>
                </a:solidFill>
              </a:rPr>
              <a:t>CONCLUSION</a:t>
            </a:r>
            <a:endParaRPr lang="en-US" sz="1300" dirty="0"/>
          </a:p>
        </p:txBody>
      </p:sp>
      <p:sp>
        <p:nvSpPr>
          <p:cNvPr id="3" name="Text 1"/>
          <p:cNvSpPr txBox="1"/>
          <p:nvPr/>
        </p:nvSpPr>
        <p:spPr>
          <a:xfrm>
            <a:off x="640080" y="960120"/>
            <a:ext cx="10881360" cy="11887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MOFChat turns the ChatMOF idea into a validated, measurable system that runs on free models or fully offline</a:t>
            </a:r>
            <a:endParaRPr lang="en-US" sz="2800" dirty="0"/>
          </a:p>
        </p:txBody>
      </p:sp>
      <p:sp>
        <p:nvSpPr>
          <p:cNvPr id="4" name="Text 2"/>
          <p:cNvSpPr txBox="1"/>
          <p:nvPr/>
        </p:nvSpPr>
        <p:spPr>
          <a:xfrm>
            <a:off x="640080" y="2651760"/>
            <a:ext cx="2606040" cy="822960"/>
          </a:xfrm>
          <a:prstGeom prst="rect">
            <a:avLst/>
          </a:prstGeom>
          <a:noFill/>
          <a:ln/>
        </p:spPr>
        <p:txBody>
          <a:bodyPr wrap="square" lIns="0" tIns="0" rIns="0" bIns="0" rtlCol="0" anchor="b"/>
          <a:lstStyle/>
          <a:p>
            <a:pPr indent="0" marL="0">
              <a:buNone/>
            </a:pPr>
            <a:r>
              <a:rPr lang="en-US" sz="4400" b="1" dirty="0">
                <a:solidFill>
                  <a:schemeClr val="accent5"/>
                </a:solidFill>
                <a:latin typeface="Cambria" pitchFamily="34" charset="0"/>
                <a:ea typeface="Cambria" pitchFamily="34" charset="-122"/>
                <a:cs typeface="Cambria" pitchFamily="34" charset="-120"/>
              </a:rPr>
              <a:t>100 %</a:t>
            </a:r>
            <a:endParaRPr lang="en-US" sz="4400" dirty="0"/>
          </a:p>
        </p:txBody>
      </p:sp>
      <p:sp>
        <p:nvSpPr>
          <p:cNvPr id="5" name="Text 3"/>
          <p:cNvSpPr txBox="1"/>
          <p:nvPr/>
        </p:nvSpPr>
        <p:spPr>
          <a:xfrm>
            <a:off x="640080" y="3566160"/>
            <a:ext cx="2468880" cy="822960"/>
          </a:xfrm>
          <a:prstGeom prst="rect">
            <a:avLst/>
          </a:prstGeom>
          <a:noFill/>
          <a:ln/>
        </p:spPr>
        <p:txBody>
          <a:bodyPr wrap="square" lIns="0" tIns="0" rIns="0" bIns="0" rtlCol="0" anchor="t"/>
          <a:lstStyle/>
          <a:p>
            <a:pPr indent="0" marL="0">
              <a:buNone/>
            </a:pPr>
            <a:r>
              <a:rPr lang="en-US" sz="1400" dirty="0">
                <a:solidFill>
                  <a:srgbClr val="C9D9E0"/>
                </a:solidFill>
              </a:rPr>
              <a:t>held-out exact answers, default model (review 1: 5 %)</a:t>
            </a:r>
            <a:endParaRPr lang="en-US" sz="1400" dirty="0"/>
          </a:p>
        </p:txBody>
      </p:sp>
      <p:sp>
        <p:nvSpPr>
          <p:cNvPr id="6" name="Text 4"/>
          <p:cNvSpPr txBox="1"/>
          <p:nvPr/>
        </p:nvSpPr>
        <p:spPr>
          <a:xfrm>
            <a:off x="3429000" y="2651760"/>
            <a:ext cx="2606040" cy="822960"/>
          </a:xfrm>
          <a:prstGeom prst="rect">
            <a:avLst/>
          </a:prstGeom>
          <a:noFill/>
          <a:ln/>
        </p:spPr>
        <p:txBody>
          <a:bodyPr wrap="square" lIns="0" tIns="0" rIns="0" bIns="0" rtlCol="0" anchor="b"/>
          <a:lstStyle/>
          <a:p>
            <a:pPr indent="0" marL="0">
              <a:buNone/>
            </a:pPr>
            <a:r>
              <a:rPr lang="en-US" sz="4400" b="1" dirty="0">
                <a:solidFill>
                  <a:schemeClr val="accent6"/>
                </a:solidFill>
                <a:latin typeface="Cambria" pitchFamily="34" charset="0"/>
                <a:ea typeface="Cambria" pitchFamily="34" charset="-122"/>
                <a:cs typeface="Cambria" pitchFamily="34" charset="-120"/>
              </a:rPr>
              <a:t>80 %</a:t>
            </a:r>
            <a:endParaRPr lang="en-US" sz="4400" dirty="0"/>
          </a:p>
        </p:txBody>
      </p:sp>
      <p:sp>
        <p:nvSpPr>
          <p:cNvPr id="7" name="Text 5"/>
          <p:cNvSpPr txBox="1"/>
          <p:nvPr/>
        </p:nvSpPr>
        <p:spPr>
          <a:xfrm>
            <a:off x="3429000" y="3566160"/>
            <a:ext cx="2468880" cy="822960"/>
          </a:xfrm>
          <a:prstGeom prst="rect">
            <a:avLst/>
          </a:prstGeom>
          <a:noFill/>
          <a:ln/>
        </p:spPr>
        <p:txBody>
          <a:bodyPr wrap="square" lIns="0" tIns="0" rIns="0" bIns="0" rtlCol="0" anchor="t"/>
          <a:lstStyle/>
          <a:p>
            <a:pPr indent="0" marL="0">
              <a:buNone/>
            </a:pPr>
            <a:r>
              <a:rPr lang="en-US" sz="1400" dirty="0">
                <a:solidFill>
                  <a:srgbClr val="C9D9E0"/>
                </a:solidFill>
              </a:rPr>
              <a:t>fully offline with Llama 3 8B, +15 pts from validation</a:t>
            </a:r>
            <a:endParaRPr lang="en-US" sz="1400" dirty="0"/>
          </a:p>
        </p:txBody>
      </p:sp>
      <p:sp>
        <p:nvSpPr>
          <p:cNvPr id="8" name="Text 6"/>
          <p:cNvSpPr txBox="1"/>
          <p:nvPr/>
        </p:nvSpPr>
        <p:spPr>
          <a:xfrm>
            <a:off x="6217920" y="2651760"/>
            <a:ext cx="2606040" cy="822960"/>
          </a:xfrm>
          <a:prstGeom prst="rect">
            <a:avLst/>
          </a:prstGeom>
          <a:noFill/>
          <a:ln/>
        </p:spPr>
        <p:txBody>
          <a:bodyPr wrap="square" lIns="0" tIns="0" rIns="0" bIns="0" rtlCol="0" anchor="b"/>
          <a:lstStyle/>
          <a:p>
            <a:pPr indent="0" marL="0">
              <a:buNone/>
            </a:pPr>
            <a:r>
              <a:rPr lang="en-US" sz="4400" b="1" dirty="0">
                <a:solidFill>
                  <a:schemeClr val="accent5"/>
                </a:solidFill>
                <a:latin typeface="Cambria" pitchFamily="34" charset="0"/>
                <a:ea typeface="Cambria" pitchFamily="34" charset="-122"/>
                <a:cs typeface="Cambria" pitchFamily="34" charset="-120"/>
              </a:rPr>
              <a:t>0.982</a:t>
            </a:r>
            <a:endParaRPr lang="en-US" sz="4400" dirty="0"/>
          </a:p>
        </p:txBody>
      </p:sp>
      <p:sp>
        <p:nvSpPr>
          <p:cNvPr id="9" name="Text 7"/>
          <p:cNvSpPr txBox="1"/>
          <p:nvPr/>
        </p:nvSpPr>
        <p:spPr>
          <a:xfrm>
            <a:off x="6217920" y="3566160"/>
            <a:ext cx="2468880" cy="822960"/>
          </a:xfrm>
          <a:prstGeom prst="rect">
            <a:avLst/>
          </a:prstGeom>
          <a:noFill/>
          <a:ln/>
        </p:spPr>
        <p:txBody>
          <a:bodyPr wrap="square" lIns="0" tIns="0" rIns="0" bIns="0" rtlCol="0" anchor="t"/>
          <a:lstStyle/>
          <a:p>
            <a:pPr indent="0" marL="0">
              <a:buNone/>
            </a:pPr>
            <a:r>
              <a:rPr lang="en-US" sz="1400" dirty="0">
                <a:solidFill>
                  <a:srgbClr val="C9D9E0"/>
                </a:solidFill>
              </a:rPr>
              <a:t>surface-area R², 90.5 % interval coverage</a:t>
            </a:r>
            <a:endParaRPr lang="en-US" sz="1400" dirty="0"/>
          </a:p>
        </p:txBody>
      </p:sp>
      <p:sp>
        <p:nvSpPr>
          <p:cNvPr id="10" name="Text 8"/>
          <p:cNvSpPr txBox="1"/>
          <p:nvPr/>
        </p:nvSpPr>
        <p:spPr>
          <a:xfrm>
            <a:off x="9006840" y="2651760"/>
            <a:ext cx="2606040" cy="822960"/>
          </a:xfrm>
          <a:prstGeom prst="rect">
            <a:avLst/>
          </a:prstGeom>
          <a:noFill/>
          <a:ln/>
        </p:spPr>
        <p:txBody>
          <a:bodyPr wrap="square" lIns="0" tIns="0" rIns="0" bIns="0" rtlCol="0" anchor="b"/>
          <a:lstStyle/>
          <a:p>
            <a:pPr indent="0" marL="0">
              <a:buNone/>
            </a:pPr>
            <a:r>
              <a:rPr lang="en-US" sz="4400" b="1" dirty="0">
                <a:solidFill>
                  <a:schemeClr val="accent6"/>
                </a:solidFill>
                <a:latin typeface="Cambria" pitchFamily="34" charset="0"/>
                <a:ea typeface="Cambria" pitchFamily="34" charset="-122"/>
                <a:cs typeface="Cambria" pitchFamily="34" charset="-120"/>
              </a:rPr>
              <a:t>14</a:t>
            </a:r>
            <a:endParaRPr lang="en-US" sz="4400" dirty="0"/>
          </a:p>
        </p:txBody>
      </p:sp>
      <p:sp>
        <p:nvSpPr>
          <p:cNvPr id="11" name="Text 9"/>
          <p:cNvSpPr txBox="1"/>
          <p:nvPr/>
        </p:nvSpPr>
        <p:spPr>
          <a:xfrm>
            <a:off x="9006840" y="3566160"/>
            <a:ext cx="2468880" cy="822960"/>
          </a:xfrm>
          <a:prstGeom prst="rect">
            <a:avLst/>
          </a:prstGeom>
          <a:noFill/>
          <a:ln/>
        </p:spPr>
        <p:txBody>
          <a:bodyPr wrap="square" lIns="0" tIns="0" rIns="0" bIns="0" rtlCol="0" anchor="t"/>
          <a:lstStyle/>
          <a:p>
            <a:pPr indent="0" marL="0">
              <a:buNone/>
            </a:pPr>
            <a:r>
              <a:rPr lang="en-US" sz="1400" dirty="0">
                <a:solidFill>
                  <a:srgbClr val="C9D9E0"/>
                </a:solidFill>
              </a:rPr>
              <a:t>free or local LLMs with automatic fallback</a:t>
            </a:r>
            <a:endParaRPr lang="en-US" sz="1400" dirty="0"/>
          </a:p>
        </p:txBody>
      </p:sp>
      <p:sp>
        <p:nvSpPr>
          <p:cNvPr id="12" name="Text 10"/>
          <p:cNvSpPr txBox="1"/>
          <p:nvPr/>
        </p:nvSpPr>
        <p:spPr>
          <a:xfrm>
            <a:off x="640080" y="4892040"/>
            <a:ext cx="10881360" cy="822960"/>
          </a:xfrm>
          <a:prstGeom prst="rect">
            <a:avLst/>
          </a:prstGeom>
          <a:noFill/>
          <a:ln/>
        </p:spPr>
        <p:txBody>
          <a:bodyPr wrap="square" lIns="0" tIns="0" rIns="0" bIns="0" rtlCol="0" anchor="t"/>
          <a:lstStyle/>
          <a:p>
            <a:pPr indent="0" marL="0">
              <a:buNone/>
            </a:pPr>
            <a:r>
              <a:rPr lang="en-US" sz="1600" dirty="0">
                <a:solidFill>
                  <a:schemeClr val="bg1"/>
                </a:solidFill>
              </a:rPr>
              <a:t>Exact answers over all 12,020 MOFs  ·  NSGA-II multi-objective ranking  ·  calibrated, explained predictions  ·  literature grounding  ·  an answer validator that keeps the LLM honest</a:t>
            </a:r>
            <a:endParaRPr lang="en-US" sz="1600" dirty="0"/>
          </a:p>
        </p:txBody>
      </p:sp>
      <p:sp>
        <p:nvSpPr>
          <p:cNvPr id="13" name="Text 11"/>
          <p:cNvSpPr txBox="1"/>
          <p:nvPr/>
        </p:nvSpPr>
        <p:spPr>
          <a:xfrm>
            <a:off x="640080" y="5897880"/>
            <a:ext cx="10881360" cy="365760"/>
          </a:xfrm>
          <a:prstGeom prst="rect">
            <a:avLst/>
          </a:prstGeom>
          <a:noFill/>
          <a:ln/>
        </p:spPr>
        <p:txBody>
          <a:bodyPr wrap="square" lIns="0" tIns="0" rIns="0" bIns="0" rtlCol="0" anchor="t"/>
          <a:lstStyle/>
          <a:p>
            <a:pPr indent="0" marL="0">
              <a:buNone/>
            </a:pPr>
            <a:r>
              <a:rPr lang="en-US" sz="1300" i="1" dirty="0">
                <a:solidFill>
                  <a:srgbClr val="9FB6C1"/>
                </a:solidFill>
              </a:rPr>
              <a:t>Every number in this deck is produced by evaluate.py and recorded in docs/RESULTS.md.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9144000" cy="292608"/>
          </a:xfrm>
          <a:prstGeom prst="rect">
            <a:avLst/>
          </a:prstGeom>
          <a:noFill/>
          <a:ln/>
        </p:spPr>
        <p:txBody>
          <a:bodyPr wrap="square" lIns="0" tIns="0" rIns="0" bIns="0" rtlCol="0"/>
          <a:lstStyle/>
          <a:p>
            <a:pPr indent="0" marL="0">
              <a:buNone/>
            </a:pPr>
            <a:r>
              <a:rPr lang="en-US" sz="1200" b="1" spc="200" kern="0" dirty="0">
                <a:solidFill>
                  <a:schemeClr val="accent1"/>
                </a:solidFill>
              </a:rPr>
              <a:t>REFERENCES</a:t>
            </a:r>
            <a:endParaRPr lang="en-US" sz="1200" dirty="0"/>
          </a:p>
        </p:txBody>
      </p:sp>
      <p:sp>
        <p:nvSpPr>
          <p:cNvPr id="3" name="Text 1"/>
          <p:cNvSpPr/>
          <p:nvPr>
            <p:ph idx="102"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References</a:t>
            </a:r>
            <a:endParaRPr lang="en-US" sz="2800" dirty="0"/>
          </a:p>
        </p:txBody>
      </p:sp>
      <p:sp>
        <p:nvSpPr>
          <p:cNvPr id="4" name="Text 2"/>
          <p:cNvSpPr txBox="1"/>
          <p:nvPr/>
        </p:nvSpPr>
        <p:spPr>
          <a:xfrm>
            <a:off x="548640" y="1508760"/>
            <a:ext cx="5440680" cy="4754880"/>
          </a:xfrm>
          <a:prstGeom prst="rect">
            <a:avLst/>
          </a:prstGeom>
          <a:noFill/>
          <a:ln/>
        </p:spPr>
        <p:txBody>
          <a:bodyPr wrap="square" lIns="0" tIns="0" rIns="0" bIns="0" rtlCol="0" anchor="t"/>
          <a:lstStyle/>
          <a:p>
            <a:pPr indent="0" marL="0">
              <a:spcAft>
                <a:spcPts val="700"/>
              </a:spcAft>
              <a:buNone/>
            </a:pPr>
            <a:r>
              <a:rPr lang="en-US" sz="1200" dirty="0">
                <a:solidFill>
                  <a:schemeClr val="tx2"/>
                </a:solidFill>
              </a:rPr>
              <a:t>[1]  Y. Kang, J. Kim, “ChatMOF: an artificial intelligence system for predicting and generating metal-organic frameworks using large language models,” Nat. Commun., 15, 4705, 2024.</a:t>
            </a:r>
            <a:endParaRPr lang="en-US" sz="1200" dirty="0"/>
          </a:p>
          <a:p>
            <a:pPr indent="0" marL="0">
              <a:spcAft>
                <a:spcPts val="700"/>
              </a:spcAft>
              <a:buNone/>
            </a:pPr>
            <a:r>
              <a:rPr lang="en-US" sz="1200" dirty="0">
                <a:solidFill>
                  <a:schemeClr val="tx2"/>
                </a:solidFill>
              </a:rPr>
              <a:t>[2]  Y. Kang, H. Park, B. Smit, J. Kim, “A multi-modal pre-training transformer for universal transfer learning in metal–organic frameworks,” Nat. Mach. Intell., 5, 309–318, 2023.</a:t>
            </a:r>
            <a:endParaRPr lang="en-US" sz="1200" dirty="0"/>
          </a:p>
          <a:p>
            <a:pPr indent="0" marL="0">
              <a:spcAft>
                <a:spcPts val="700"/>
              </a:spcAft>
              <a:buNone/>
            </a:pPr>
            <a:r>
              <a:rPr lang="en-US" sz="1200" dirty="0">
                <a:solidFill>
                  <a:schemeClr val="tx2"/>
                </a:solidFill>
              </a:rPr>
              <a:t>[3]  Y. G. Chung et al., “Advances, updates, and analytics for the computation-ready, experimental metal–organic framework database: CoRE MOF 2019,” J. Chem. Eng. Data, 64, 5985–5998, 2019.</a:t>
            </a:r>
            <a:endParaRPr lang="en-US" sz="1200" dirty="0"/>
          </a:p>
          <a:p>
            <a:pPr indent="0" marL="0">
              <a:spcAft>
                <a:spcPts val="700"/>
              </a:spcAft>
              <a:buNone/>
            </a:pPr>
            <a:r>
              <a:rPr lang="en-US" sz="1200" dirty="0">
                <a:solidFill>
                  <a:schemeClr val="tx2"/>
                </a:solidFill>
              </a:rPr>
              <a:t>[4]  Y. Gorishniy, I. Rubachev, V. Khrulkov, A. Babenko, “Revisiting deep learning models for tabular data,” NeurIPS, 2021.</a:t>
            </a:r>
            <a:endParaRPr lang="en-US" sz="1200" dirty="0"/>
          </a:p>
          <a:p>
            <a:pPr indent="0" marL="0">
              <a:spcAft>
                <a:spcPts val="700"/>
              </a:spcAft>
              <a:buNone/>
            </a:pPr>
            <a:r>
              <a:rPr lang="en-US" sz="1200" dirty="0">
                <a:solidFill>
                  <a:schemeClr val="tx2"/>
                </a:solidFill>
              </a:rPr>
              <a:t>[5]  L. Grinsztajn, E. Oyallon, G. Varoquaux, “Why do tree-based models still outperform deep learning on typical tabular data?” NeurIPS Datasets &amp; Benchmarks, 2022.</a:t>
            </a:r>
            <a:endParaRPr lang="en-US" sz="1200" dirty="0"/>
          </a:p>
          <a:p>
            <a:pPr indent="0" marL="0">
              <a:spcAft>
                <a:spcPts val="700"/>
              </a:spcAft>
              <a:buNone/>
            </a:pPr>
            <a:r>
              <a:rPr lang="en-US" sz="1200" dirty="0">
                <a:solidFill>
                  <a:schemeClr val="tx2"/>
                </a:solidFill>
              </a:rPr>
              <a:t>[6]  P. Lewis et al., “Retrieval-augmented generation for knowledge-intensive NLP tasks,” NeurIPS, 2020.</a:t>
            </a:r>
            <a:endParaRPr lang="en-US" sz="1200" dirty="0"/>
          </a:p>
        </p:txBody>
      </p:sp>
      <p:sp>
        <p:nvSpPr>
          <p:cNvPr id="5" name="Text 3"/>
          <p:cNvSpPr txBox="1"/>
          <p:nvPr/>
        </p:nvSpPr>
        <p:spPr>
          <a:xfrm>
            <a:off x="6172200" y="1508760"/>
            <a:ext cx="5440680" cy="4754880"/>
          </a:xfrm>
          <a:prstGeom prst="rect">
            <a:avLst/>
          </a:prstGeom>
          <a:noFill/>
          <a:ln/>
        </p:spPr>
        <p:txBody>
          <a:bodyPr wrap="square" lIns="0" tIns="0" rIns="0" bIns="0" rtlCol="0" anchor="t"/>
          <a:lstStyle/>
          <a:p>
            <a:pPr indent="0" marL="0">
              <a:spcAft>
                <a:spcPts val="700"/>
              </a:spcAft>
              <a:buNone/>
            </a:pPr>
            <a:r>
              <a:rPr lang="en-US" sz="1200" dirty="0">
                <a:solidFill>
                  <a:schemeClr val="tx2"/>
                </a:solidFill>
              </a:rPr>
              <a:t>[7]  S.-A. Chen et al., “TableRAG: Million-token table understanding with language models,” NeurIPS, 2024.</a:t>
            </a:r>
            <a:endParaRPr lang="en-US" sz="1200" dirty="0"/>
          </a:p>
          <a:p>
            <a:pPr indent="0" marL="0">
              <a:spcAft>
                <a:spcPts val="700"/>
              </a:spcAft>
              <a:buNone/>
            </a:pPr>
            <a:r>
              <a:rPr lang="en-US" sz="1200" dirty="0">
                <a:solidFill>
                  <a:schemeClr val="tx2"/>
                </a:solidFill>
              </a:rPr>
              <a:t>[8]  Z. Wang et al., “Chain-of-Table: Evolving tables in the reasoning chain for table understanding,” ICLR, 2024.</a:t>
            </a:r>
            <a:endParaRPr lang="en-US" sz="1200" dirty="0"/>
          </a:p>
          <a:p>
            <a:pPr indent="0" marL="0">
              <a:spcAft>
                <a:spcPts val="700"/>
              </a:spcAft>
              <a:buNone/>
            </a:pPr>
            <a:r>
              <a:rPr lang="en-US" sz="1200" dirty="0">
                <a:solidFill>
                  <a:schemeClr val="tx2"/>
                </a:solidFill>
              </a:rPr>
              <a:t>[9]  K. Deb, A. Pratap, S. Agarwal, T. Meyarivan, “A fast and elitist multiobjective genetic algorithm: NSGA-II,” IEEE Trans. Evol. Comput., 6, 182–197, 2002.</a:t>
            </a:r>
            <a:endParaRPr lang="en-US" sz="1200" dirty="0"/>
          </a:p>
          <a:p>
            <a:pPr indent="0" marL="0">
              <a:spcAft>
                <a:spcPts val="700"/>
              </a:spcAft>
              <a:buNone/>
            </a:pPr>
            <a:r>
              <a:rPr lang="en-US" sz="1200" dirty="0">
                <a:solidFill>
                  <a:schemeClr val="tx2"/>
                </a:solidFill>
              </a:rPr>
              <a:t>[10]  S. M. Lundberg, S.-I. Lee, “A unified approach to interpreting model predictions,” NeurIPS, 2017.</a:t>
            </a:r>
            <a:endParaRPr lang="en-US" sz="1200" dirty="0"/>
          </a:p>
          <a:p>
            <a:pPr indent="0" marL="0">
              <a:spcAft>
                <a:spcPts val="700"/>
              </a:spcAft>
              <a:buNone/>
            </a:pPr>
            <a:r>
              <a:rPr lang="en-US" sz="1200" dirty="0">
                <a:solidFill>
                  <a:schemeClr val="tx2"/>
                </a:solidFill>
              </a:rPr>
              <a:t>[11]  Z. Zheng, O. Zhang, C. Borgs, J. T. Chayes, O. M. Yaghi, “ChatGPT chemistry assistant for text mining and the prediction of MOF synthesis,” J. Am. Chem. Soc., 145, 18048–18062, 2023.</a:t>
            </a:r>
            <a:endParaRPr lang="en-US" sz="1200" dirty="0"/>
          </a:p>
          <a:p>
            <a:pPr indent="0" marL="0">
              <a:spcAft>
                <a:spcPts val="700"/>
              </a:spcAft>
              <a:buNone/>
            </a:pPr>
            <a:r>
              <a:rPr lang="en-US" sz="1200" dirty="0">
                <a:solidFill>
                  <a:schemeClr val="tx2"/>
                </a:solidFill>
              </a:rPr>
              <a:t>[12]  T. M. Pruyn et al., “MOF-ChemUnity: Literature-informed large language models for metal–organic framework research,” J. Am. Chem. Soc., 2025.</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7589520" y="914400"/>
            <a:ext cx="914400" cy="0"/>
          </a:xfrm>
          <a:prstGeom prst="line">
            <a:avLst/>
          </a:prstGeom>
          <a:noFill/>
          <a:ln w="15875">
            <a:solidFill>
              <a:srgbClr val="2E5266"/>
            </a:solidFill>
            <a:prstDash val="solid"/>
          </a:ln>
        </p:spPr>
      </p:sp>
      <p:sp>
        <p:nvSpPr>
          <p:cNvPr id="3" name="Shape 1"/>
          <p:cNvSpPr/>
          <p:nvPr/>
        </p:nvSpPr>
        <p:spPr>
          <a:xfrm>
            <a:off x="7589520" y="914400"/>
            <a:ext cx="0" cy="914400"/>
          </a:xfrm>
          <a:prstGeom prst="line">
            <a:avLst/>
          </a:prstGeom>
          <a:noFill/>
          <a:ln w="15875">
            <a:solidFill>
              <a:srgbClr val="2E5266"/>
            </a:solidFill>
            <a:prstDash val="solid"/>
          </a:ln>
        </p:spPr>
      </p:sp>
      <p:sp>
        <p:nvSpPr>
          <p:cNvPr id="4" name="Shape 2"/>
          <p:cNvSpPr/>
          <p:nvPr/>
        </p:nvSpPr>
        <p:spPr>
          <a:xfrm>
            <a:off x="7964424" y="841248"/>
            <a:ext cx="164592" cy="146304"/>
          </a:xfrm>
          <a:prstGeom prst="hexagon">
            <a:avLst/>
          </a:prstGeom>
          <a:solidFill>
            <a:srgbClr val="0F2433"/>
          </a:solidFill>
          <a:ln w="12700">
            <a:solidFill>
              <a:srgbClr val="3B6A80"/>
            </a:solidFill>
            <a:prstDash val="solid"/>
          </a:ln>
        </p:spPr>
      </p:sp>
      <p:sp>
        <p:nvSpPr>
          <p:cNvPr id="5" name="Shape 3"/>
          <p:cNvSpPr/>
          <p:nvPr/>
        </p:nvSpPr>
        <p:spPr>
          <a:xfrm>
            <a:off x="7507224" y="1298448"/>
            <a:ext cx="164592" cy="146304"/>
          </a:xfrm>
          <a:prstGeom prst="hexagon">
            <a:avLst/>
          </a:prstGeom>
          <a:solidFill>
            <a:srgbClr val="0F2433"/>
          </a:solidFill>
          <a:ln w="12700">
            <a:solidFill>
              <a:srgbClr val="3B6A80"/>
            </a:solidFill>
            <a:prstDash val="solid"/>
          </a:ln>
        </p:spPr>
      </p:sp>
      <p:sp>
        <p:nvSpPr>
          <p:cNvPr id="6" name="Shape 4"/>
          <p:cNvSpPr/>
          <p:nvPr/>
        </p:nvSpPr>
        <p:spPr>
          <a:xfrm>
            <a:off x="8503920" y="914400"/>
            <a:ext cx="914400" cy="0"/>
          </a:xfrm>
          <a:prstGeom prst="line">
            <a:avLst/>
          </a:prstGeom>
          <a:noFill/>
          <a:ln w="15875">
            <a:solidFill>
              <a:srgbClr val="2E5266"/>
            </a:solidFill>
            <a:prstDash val="solid"/>
          </a:ln>
        </p:spPr>
      </p:sp>
      <p:sp>
        <p:nvSpPr>
          <p:cNvPr id="7" name="Shape 5"/>
          <p:cNvSpPr/>
          <p:nvPr/>
        </p:nvSpPr>
        <p:spPr>
          <a:xfrm>
            <a:off x="8503920" y="914400"/>
            <a:ext cx="0" cy="914400"/>
          </a:xfrm>
          <a:prstGeom prst="line">
            <a:avLst/>
          </a:prstGeom>
          <a:noFill/>
          <a:ln w="15875">
            <a:solidFill>
              <a:srgbClr val="2E5266"/>
            </a:solidFill>
            <a:prstDash val="solid"/>
          </a:ln>
        </p:spPr>
      </p:sp>
      <p:sp>
        <p:nvSpPr>
          <p:cNvPr id="8" name="Shape 6"/>
          <p:cNvSpPr/>
          <p:nvPr/>
        </p:nvSpPr>
        <p:spPr>
          <a:xfrm>
            <a:off x="8878824" y="841248"/>
            <a:ext cx="164592" cy="146304"/>
          </a:xfrm>
          <a:prstGeom prst="hexagon">
            <a:avLst/>
          </a:prstGeom>
          <a:solidFill>
            <a:srgbClr val="0F2433"/>
          </a:solidFill>
          <a:ln w="12700">
            <a:solidFill>
              <a:srgbClr val="3B6A80"/>
            </a:solidFill>
            <a:prstDash val="solid"/>
          </a:ln>
        </p:spPr>
      </p:sp>
      <p:sp>
        <p:nvSpPr>
          <p:cNvPr id="9" name="Shape 7"/>
          <p:cNvSpPr/>
          <p:nvPr/>
        </p:nvSpPr>
        <p:spPr>
          <a:xfrm>
            <a:off x="8421624" y="1298448"/>
            <a:ext cx="164592" cy="146304"/>
          </a:xfrm>
          <a:prstGeom prst="hexagon">
            <a:avLst/>
          </a:prstGeom>
          <a:solidFill>
            <a:srgbClr val="0F2433"/>
          </a:solidFill>
          <a:ln w="12700">
            <a:solidFill>
              <a:srgbClr val="3B6A80"/>
            </a:solidFill>
            <a:prstDash val="solid"/>
          </a:ln>
        </p:spPr>
      </p:sp>
      <p:sp>
        <p:nvSpPr>
          <p:cNvPr id="10" name="Shape 8"/>
          <p:cNvSpPr/>
          <p:nvPr/>
        </p:nvSpPr>
        <p:spPr>
          <a:xfrm>
            <a:off x="9418320" y="914400"/>
            <a:ext cx="914400" cy="0"/>
          </a:xfrm>
          <a:prstGeom prst="line">
            <a:avLst/>
          </a:prstGeom>
          <a:noFill/>
          <a:ln w="15875">
            <a:solidFill>
              <a:srgbClr val="2E5266"/>
            </a:solidFill>
            <a:prstDash val="solid"/>
          </a:ln>
        </p:spPr>
      </p:sp>
      <p:sp>
        <p:nvSpPr>
          <p:cNvPr id="11" name="Shape 9"/>
          <p:cNvSpPr/>
          <p:nvPr/>
        </p:nvSpPr>
        <p:spPr>
          <a:xfrm>
            <a:off x="9418320" y="914400"/>
            <a:ext cx="0" cy="914400"/>
          </a:xfrm>
          <a:prstGeom prst="line">
            <a:avLst/>
          </a:prstGeom>
          <a:noFill/>
          <a:ln w="15875">
            <a:solidFill>
              <a:srgbClr val="2E5266"/>
            </a:solidFill>
            <a:prstDash val="solid"/>
          </a:ln>
        </p:spPr>
      </p:sp>
      <p:sp>
        <p:nvSpPr>
          <p:cNvPr id="12" name="Shape 10"/>
          <p:cNvSpPr/>
          <p:nvPr/>
        </p:nvSpPr>
        <p:spPr>
          <a:xfrm>
            <a:off x="9793224" y="841248"/>
            <a:ext cx="164592" cy="146304"/>
          </a:xfrm>
          <a:prstGeom prst="hexagon">
            <a:avLst/>
          </a:prstGeom>
          <a:solidFill>
            <a:srgbClr val="0F2433"/>
          </a:solidFill>
          <a:ln w="12700">
            <a:solidFill>
              <a:srgbClr val="3B6A80"/>
            </a:solidFill>
            <a:prstDash val="solid"/>
          </a:ln>
        </p:spPr>
      </p:sp>
      <p:sp>
        <p:nvSpPr>
          <p:cNvPr id="13" name="Shape 11"/>
          <p:cNvSpPr/>
          <p:nvPr/>
        </p:nvSpPr>
        <p:spPr>
          <a:xfrm>
            <a:off x="9336024" y="1298448"/>
            <a:ext cx="164592" cy="146304"/>
          </a:xfrm>
          <a:prstGeom prst="hexagon">
            <a:avLst/>
          </a:prstGeom>
          <a:solidFill>
            <a:srgbClr val="0F2433"/>
          </a:solidFill>
          <a:ln w="12700">
            <a:solidFill>
              <a:srgbClr val="3B6A80"/>
            </a:solidFill>
            <a:prstDash val="solid"/>
          </a:ln>
        </p:spPr>
      </p:sp>
      <p:sp>
        <p:nvSpPr>
          <p:cNvPr id="14" name="Shape 12"/>
          <p:cNvSpPr/>
          <p:nvPr/>
        </p:nvSpPr>
        <p:spPr>
          <a:xfrm>
            <a:off x="10332720" y="914400"/>
            <a:ext cx="914400" cy="0"/>
          </a:xfrm>
          <a:prstGeom prst="line">
            <a:avLst/>
          </a:prstGeom>
          <a:noFill/>
          <a:ln w="15875">
            <a:solidFill>
              <a:srgbClr val="2E5266"/>
            </a:solidFill>
            <a:prstDash val="solid"/>
          </a:ln>
        </p:spPr>
      </p:sp>
      <p:sp>
        <p:nvSpPr>
          <p:cNvPr id="15" name="Shape 13"/>
          <p:cNvSpPr/>
          <p:nvPr/>
        </p:nvSpPr>
        <p:spPr>
          <a:xfrm>
            <a:off x="10332720" y="914400"/>
            <a:ext cx="0" cy="914400"/>
          </a:xfrm>
          <a:prstGeom prst="line">
            <a:avLst/>
          </a:prstGeom>
          <a:noFill/>
          <a:ln w="15875">
            <a:solidFill>
              <a:srgbClr val="2E5266"/>
            </a:solidFill>
            <a:prstDash val="solid"/>
          </a:ln>
        </p:spPr>
      </p:sp>
      <p:sp>
        <p:nvSpPr>
          <p:cNvPr id="16" name="Shape 14"/>
          <p:cNvSpPr/>
          <p:nvPr/>
        </p:nvSpPr>
        <p:spPr>
          <a:xfrm>
            <a:off x="10707624" y="841248"/>
            <a:ext cx="164592" cy="146304"/>
          </a:xfrm>
          <a:prstGeom prst="hexagon">
            <a:avLst/>
          </a:prstGeom>
          <a:solidFill>
            <a:srgbClr val="0F2433"/>
          </a:solidFill>
          <a:ln w="12700">
            <a:solidFill>
              <a:srgbClr val="3B6A80"/>
            </a:solidFill>
            <a:prstDash val="solid"/>
          </a:ln>
        </p:spPr>
      </p:sp>
      <p:sp>
        <p:nvSpPr>
          <p:cNvPr id="17" name="Shape 15"/>
          <p:cNvSpPr/>
          <p:nvPr/>
        </p:nvSpPr>
        <p:spPr>
          <a:xfrm>
            <a:off x="10250424" y="1298448"/>
            <a:ext cx="164592" cy="146304"/>
          </a:xfrm>
          <a:prstGeom prst="hexagon">
            <a:avLst/>
          </a:prstGeom>
          <a:solidFill>
            <a:srgbClr val="0F2433"/>
          </a:solidFill>
          <a:ln w="12700">
            <a:solidFill>
              <a:srgbClr val="3B6A80"/>
            </a:solidFill>
            <a:prstDash val="solid"/>
          </a:ln>
        </p:spPr>
      </p:sp>
      <p:sp>
        <p:nvSpPr>
          <p:cNvPr id="18" name="Shape 16"/>
          <p:cNvSpPr/>
          <p:nvPr/>
        </p:nvSpPr>
        <p:spPr>
          <a:xfrm>
            <a:off x="11247120" y="914400"/>
            <a:ext cx="0" cy="914400"/>
          </a:xfrm>
          <a:prstGeom prst="line">
            <a:avLst/>
          </a:prstGeom>
          <a:noFill/>
          <a:ln w="15875">
            <a:solidFill>
              <a:srgbClr val="2E5266"/>
            </a:solidFill>
            <a:prstDash val="solid"/>
          </a:ln>
        </p:spPr>
      </p:sp>
      <p:sp>
        <p:nvSpPr>
          <p:cNvPr id="19" name="Shape 17"/>
          <p:cNvSpPr/>
          <p:nvPr/>
        </p:nvSpPr>
        <p:spPr>
          <a:xfrm>
            <a:off x="11164824" y="1298448"/>
            <a:ext cx="164592" cy="146304"/>
          </a:xfrm>
          <a:prstGeom prst="hexagon">
            <a:avLst/>
          </a:prstGeom>
          <a:solidFill>
            <a:srgbClr val="0F2433"/>
          </a:solidFill>
          <a:ln w="12700">
            <a:solidFill>
              <a:srgbClr val="3B6A80"/>
            </a:solidFill>
            <a:prstDash val="solid"/>
          </a:ln>
        </p:spPr>
      </p:sp>
      <p:sp>
        <p:nvSpPr>
          <p:cNvPr id="20" name="Shape 18"/>
          <p:cNvSpPr/>
          <p:nvPr/>
        </p:nvSpPr>
        <p:spPr>
          <a:xfrm>
            <a:off x="7589520" y="1828800"/>
            <a:ext cx="914400" cy="0"/>
          </a:xfrm>
          <a:prstGeom prst="line">
            <a:avLst/>
          </a:prstGeom>
          <a:noFill/>
          <a:ln w="15875">
            <a:solidFill>
              <a:srgbClr val="2E5266"/>
            </a:solidFill>
            <a:prstDash val="solid"/>
          </a:ln>
        </p:spPr>
      </p:sp>
      <p:sp>
        <p:nvSpPr>
          <p:cNvPr id="21" name="Shape 19"/>
          <p:cNvSpPr/>
          <p:nvPr/>
        </p:nvSpPr>
        <p:spPr>
          <a:xfrm>
            <a:off x="7589520" y="1828800"/>
            <a:ext cx="0" cy="914400"/>
          </a:xfrm>
          <a:prstGeom prst="line">
            <a:avLst/>
          </a:prstGeom>
          <a:noFill/>
          <a:ln w="15875">
            <a:solidFill>
              <a:srgbClr val="2E5266"/>
            </a:solidFill>
            <a:prstDash val="solid"/>
          </a:ln>
        </p:spPr>
      </p:sp>
      <p:sp>
        <p:nvSpPr>
          <p:cNvPr id="22" name="Shape 20"/>
          <p:cNvSpPr/>
          <p:nvPr/>
        </p:nvSpPr>
        <p:spPr>
          <a:xfrm>
            <a:off x="7964424" y="1755648"/>
            <a:ext cx="164592" cy="146304"/>
          </a:xfrm>
          <a:prstGeom prst="hexagon">
            <a:avLst/>
          </a:prstGeom>
          <a:solidFill>
            <a:srgbClr val="0F2433"/>
          </a:solidFill>
          <a:ln w="12700">
            <a:solidFill>
              <a:srgbClr val="3B6A80"/>
            </a:solidFill>
            <a:prstDash val="solid"/>
          </a:ln>
        </p:spPr>
      </p:sp>
      <p:sp>
        <p:nvSpPr>
          <p:cNvPr id="23" name="Shape 21"/>
          <p:cNvSpPr/>
          <p:nvPr/>
        </p:nvSpPr>
        <p:spPr>
          <a:xfrm>
            <a:off x="7507224" y="2212848"/>
            <a:ext cx="164592" cy="146304"/>
          </a:xfrm>
          <a:prstGeom prst="hexagon">
            <a:avLst/>
          </a:prstGeom>
          <a:solidFill>
            <a:srgbClr val="0F2433"/>
          </a:solidFill>
          <a:ln w="12700">
            <a:solidFill>
              <a:srgbClr val="3B6A80"/>
            </a:solidFill>
            <a:prstDash val="solid"/>
          </a:ln>
        </p:spPr>
      </p:sp>
      <p:sp>
        <p:nvSpPr>
          <p:cNvPr id="24" name="Shape 22"/>
          <p:cNvSpPr/>
          <p:nvPr/>
        </p:nvSpPr>
        <p:spPr>
          <a:xfrm>
            <a:off x="8503920" y="1828800"/>
            <a:ext cx="914400" cy="0"/>
          </a:xfrm>
          <a:prstGeom prst="line">
            <a:avLst/>
          </a:prstGeom>
          <a:noFill/>
          <a:ln w="15875">
            <a:solidFill>
              <a:srgbClr val="2E5266"/>
            </a:solidFill>
            <a:prstDash val="solid"/>
          </a:ln>
        </p:spPr>
      </p:sp>
      <p:sp>
        <p:nvSpPr>
          <p:cNvPr id="25" name="Shape 23"/>
          <p:cNvSpPr/>
          <p:nvPr/>
        </p:nvSpPr>
        <p:spPr>
          <a:xfrm>
            <a:off x="8503920" y="1828800"/>
            <a:ext cx="0" cy="914400"/>
          </a:xfrm>
          <a:prstGeom prst="line">
            <a:avLst/>
          </a:prstGeom>
          <a:noFill/>
          <a:ln w="15875">
            <a:solidFill>
              <a:srgbClr val="2E5266"/>
            </a:solidFill>
            <a:prstDash val="solid"/>
          </a:ln>
        </p:spPr>
      </p:sp>
      <p:sp>
        <p:nvSpPr>
          <p:cNvPr id="26" name="Shape 24"/>
          <p:cNvSpPr/>
          <p:nvPr/>
        </p:nvSpPr>
        <p:spPr>
          <a:xfrm>
            <a:off x="8878824" y="1755648"/>
            <a:ext cx="164592" cy="146304"/>
          </a:xfrm>
          <a:prstGeom prst="hexagon">
            <a:avLst/>
          </a:prstGeom>
          <a:solidFill>
            <a:srgbClr val="0F2433"/>
          </a:solidFill>
          <a:ln w="12700">
            <a:solidFill>
              <a:srgbClr val="3B6A80"/>
            </a:solidFill>
            <a:prstDash val="solid"/>
          </a:ln>
        </p:spPr>
      </p:sp>
      <p:sp>
        <p:nvSpPr>
          <p:cNvPr id="27" name="Shape 25"/>
          <p:cNvSpPr/>
          <p:nvPr/>
        </p:nvSpPr>
        <p:spPr>
          <a:xfrm>
            <a:off x="8421624" y="2212848"/>
            <a:ext cx="164592" cy="146304"/>
          </a:xfrm>
          <a:prstGeom prst="hexagon">
            <a:avLst/>
          </a:prstGeom>
          <a:solidFill>
            <a:srgbClr val="0F2433"/>
          </a:solidFill>
          <a:ln w="12700">
            <a:solidFill>
              <a:srgbClr val="3B6A80"/>
            </a:solidFill>
            <a:prstDash val="solid"/>
          </a:ln>
        </p:spPr>
      </p:sp>
      <p:sp>
        <p:nvSpPr>
          <p:cNvPr id="28" name="Shape 26"/>
          <p:cNvSpPr/>
          <p:nvPr/>
        </p:nvSpPr>
        <p:spPr>
          <a:xfrm>
            <a:off x="9418320" y="1828800"/>
            <a:ext cx="914400" cy="0"/>
          </a:xfrm>
          <a:prstGeom prst="line">
            <a:avLst/>
          </a:prstGeom>
          <a:noFill/>
          <a:ln w="15875">
            <a:solidFill>
              <a:srgbClr val="2E5266"/>
            </a:solidFill>
            <a:prstDash val="solid"/>
          </a:ln>
        </p:spPr>
      </p:sp>
      <p:sp>
        <p:nvSpPr>
          <p:cNvPr id="29" name="Shape 27"/>
          <p:cNvSpPr/>
          <p:nvPr/>
        </p:nvSpPr>
        <p:spPr>
          <a:xfrm>
            <a:off x="9418320" y="1828800"/>
            <a:ext cx="0" cy="914400"/>
          </a:xfrm>
          <a:prstGeom prst="line">
            <a:avLst/>
          </a:prstGeom>
          <a:noFill/>
          <a:ln w="15875">
            <a:solidFill>
              <a:srgbClr val="2E5266"/>
            </a:solidFill>
            <a:prstDash val="solid"/>
          </a:ln>
        </p:spPr>
      </p:sp>
      <p:sp>
        <p:nvSpPr>
          <p:cNvPr id="30" name="Shape 28"/>
          <p:cNvSpPr/>
          <p:nvPr/>
        </p:nvSpPr>
        <p:spPr>
          <a:xfrm>
            <a:off x="9793224" y="1755648"/>
            <a:ext cx="164592" cy="146304"/>
          </a:xfrm>
          <a:prstGeom prst="hexagon">
            <a:avLst/>
          </a:prstGeom>
          <a:solidFill>
            <a:srgbClr val="0F2433"/>
          </a:solidFill>
          <a:ln w="12700">
            <a:solidFill>
              <a:srgbClr val="3B6A80"/>
            </a:solidFill>
            <a:prstDash val="solid"/>
          </a:ln>
        </p:spPr>
      </p:sp>
      <p:sp>
        <p:nvSpPr>
          <p:cNvPr id="31" name="Shape 29"/>
          <p:cNvSpPr/>
          <p:nvPr/>
        </p:nvSpPr>
        <p:spPr>
          <a:xfrm>
            <a:off x="9336024" y="2212848"/>
            <a:ext cx="164592" cy="146304"/>
          </a:xfrm>
          <a:prstGeom prst="hexagon">
            <a:avLst/>
          </a:prstGeom>
          <a:solidFill>
            <a:srgbClr val="0F2433"/>
          </a:solidFill>
          <a:ln w="12700">
            <a:solidFill>
              <a:srgbClr val="3B6A80"/>
            </a:solidFill>
            <a:prstDash val="solid"/>
          </a:ln>
        </p:spPr>
      </p:sp>
      <p:sp>
        <p:nvSpPr>
          <p:cNvPr id="32" name="Shape 30"/>
          <p:cNvSpPr/>
          <p:nvPr/>
        </p:nvSpPr>
        <p:spPr>
          <a:xfrm>
            <a:off x="10332720" y="1828800"/>
            <a:ext cx="914400" cy="0"/>
          </a:xfrm>
          <a:prstGeom prst="line">
            <a:avLst/>
          </a:prstGeom>
          <a:noFill/>
          <a:ln w="15875">
            <a:solidFill>
              <a:srgbClr val="2E5266"/>
            </a:solidFill>
            <a:prstDash val="solid"/>
          </a:ln>
        </p:spPr>
      </p:sp>
      <p:sp>
        <p:nvSpPr>
          <p:cNvPr id="33" name="Shape 31"/>
          <p:cNvSpPr/>
          <p:nvPr/>
        </p:nvSpPr>
        <p:spPr>
          <a:xfrm>
            <a:off x="10332720" y="1828800"/>
            <a:ext cx="0" cy="914400"/>
          </a:xfrm>
          <a:prstGeom prst="line">
            <a:avLst/>
          </a:prstGeom>
          <a:noFill/>
          <a:ln w="15875">
            <a:solidFill>
              <a:srgbClr val="2E5266"/>
            </a:solidFill>
            <a:prstDash val="solid"/>
          </a:ln>
        </p:spPr>
      </p:sp>
      <p:sp>
        <p:nvSpPr>
          <p:cNvPr id="34" name="Shape 32"/>
          <p:cNvSpPr/>
          <p:nvPr/>
        </p:nvSpPr>
        <p:spPr>
          <a:xfrm>
            <a:off x="10707624" y="1755648"/>
            <a:ext cx="164592" cy="146304"/>
          </a:xfrm>
          <a:prstGeom prst="hexagon">
            <a:avLst/>
          </a:prstGeom>
          <a:solidFill>
            <a:srgbClr val="0F2433"/>
          </a:solidFill>
          <a:ln w="12700">
            <a:solidFill>
              <a:srgbClr val="3B6A80"/>
            </a:solidFill>
            <a:prstDash val="solid"/>
          </a:ln>
        </p:spPr>
      </p:sp>
      <p:sp>
        <p:nvSpPr>
          <p:cNvPr id="35" name="Shape 33"/>
          <p:cNvSpPr/>
          <p:nvPr/>
        </p:nvSpPr>
        <p:spPr>
          <a:xfrm>
            <a:off x="10250424" y="2212848"/>
            <a:ext cx="164592" cy="146304"/>
          </a:xfrm>
          <a:prstGeom prst="hexagon">
            <a:avLst/>
          </a:prstGeom>
          <a:solidFill>
            <a:srgbClr val="0F2433"/>
          </a:solidFill>
          <a:ln w="12700">
            <a:solidFill>
              <a:srgbClr val="3B6A80"/>
            </a:solidFill>
            <a:prstDash val="solid"/>
          </a:ln>
        </p:spPr>
      </p:sp>
      <p:sp>
        <p:nvSpPr>
          <p:cNvPr id="36" name="Shape 34"/>
          <p:cNvSpPr/>
          <p:nvPr/>
        </p:nvSpPr>
        <p:spPr>
          <a:xfrm>
            <a:off x="11247120" y="1828800"/>
            <a:ext cx="0" cy="914400"/>
          </a:xfrm>
          <a:prstGeom prst="line">
            <a:avLst/>
          </a:prstGeom>
          <a:noFill/>
          <a:ln w="15875">
            <a:solidFill>
              <a:srgbClr val="2E5266"/>
            </a:solidFill>
            <a:prstDash val="solid"/>
          </a:ln>
        </p:spPr>
      </p:sp>
      <p:sp>
        <p:nvSpPr>
          <p:cNvPr id="37" name="Shape 35"/>
          <p:cNvSpPr/>
          <p:nvPr/>
        </p:nvSpPr>
        <p:spPr>
          <a:xfrm>
            <a:off x="11164824" y="2212848"/>
            <a:ext cx="164592" cy="146304"/>
          </a:xfrm>
          <a:prstGeom prst="hexagon">
            <a:avLst/>
          </a:prstGeom>
          <a:solidFill>
            <a:srgbClr val="0F2433"/>
          </a:solidFill>
          <a:ln w="12700">
            <a:solidFill>
              <a:srgbClr val="3B6A80"/>
            </a:solidFill>
            <a:prstDash val="solid"/>
          </a:ln>
        </p:spPr>
      </p:sp>
      <p:sp>
        <p:nvSpPr>
          <p:cNvPr id="38" name="Shape 36"/>
          <p:cNvSpPr/>
          <p:nvPr/>
        </p:nvSpPr>
        <p:spPr>
          <a:xfrm>
            <a:off x="7589520" y="2743200"/>
            <a:ext cx="914400" cy="0"/>
          </a:xfrm>
          <a:prstGeom prst="line">
            <a:avLst/>
          </a:prstGeom>
          <a:noFill/>
          <a:ln w="15875">
            <a:solidFill>
              <a:srgbClr val="2E5266"/>
            </a:solidFill>
            <a:prstDash val="solid"/>
          </a:ln>
        </p:spPr>
      </p:sp>
      <p:sp>
        <p:nvSpPr>
          <p:cNvPr id="39" name="Shape 37"/>
          <p:cNvSpPr/>
          <p:nvPr/>
        </p:nvSpPr>
        <p:spPr>
          <a:xfrm>
            <a:off x="7589520" y="2743200"/>
            <a:ext cx="0" cy="914400"/>
          </a:xfrm>
          <a:prstGeom prst="line">
            <a:avLst/>
          </a:prstGeom>
          <a:noFill/>
          <a:ln w="15875">
            <a:solidFill>
              <a:srgbClr val="2E5266"/>
            </a:solidFill>
            <a:prstDash val="solid"/>
          </a:ln>
        </p:spPr>
      </p:sp>
      <p:sp>
        <p:nvSpPr>
          <p:cNvPr id="40" name="Shape 38"/>
          <p:cNvSpPr/>
          <p:nvPr/>
        </p:nvSpPr>
        <p:spPr>
          <a:xfrm>
            <a:off x="7964424" y="2670048"/>
            <a:ext cx="164592" cy="146304"/>
          </a:xfrm>
          <a:prstGeom prst="hexagon">
            <a:avLst/>
          </a:prstGeom>
          <a:solidFill>
            <a:srgbClr val="0F2433"/>
          </a:solidFill>
          <a:ln w="12700">
            <a:solidFill>
              <a:srgbClr val="3B6A80"/>
            </a:solidFill>
            <a:prstDash val="solid"/>
          </a:ln>
        </p:spPr>
      </p:sp>
      <p:sp>
        <p:nvSpPr>
          <p:cNvPr id="41" name="Shape 39"/>
          <p:cNvSpPr/>
          <p:nvPr/>
        </p:nvSpPr>
        <p:spPr>
          <a:xfrm>
            <a:off x="7507224" y="3127248"/>
            <a:ext cx="164592" cy="146304"/>
          </a:xfrm>
          <a:prstGeom prst="hexagon">
            <a:avLst/>
          </a:prstGeom>
          <a:solidFill>
            <a:srgbClr val="0F2433"/>
          </a:solidFill>
          <a:ln w="12700">
            <a:solidFill>
              <a:srgbClr val="3B6A80"/>
            </a:solidFill>
            <a:prstDash val="solid"/>
          </a:ln>
        </p:spPr>
      </p:sp>
      <p:sp>
        <p:nvSpPr>
          <p:cNvPr id="42" name="Shape 40"/>
          <p:cNvSpPr/>
          <p:nvPr/>
        </p:nvSpPr>
        <p:spPr>
          <a:xfrm>
            <a:off x="8503920" y="2743200"/>
            <a:ext cx="914400" cy="0"/>
          </a:xfrm>
          <a:prstGeom prst="line">
            <a:avLst/>
          </a:prstGeom>
          <a:noFill/>
          <a:ln w="15875">
            <a:solidFill>
              <a:srgbClr val="2E5266"/>
            </a:solidFill>
            <a:prstDash val="solid"/>
          </a:ln>
        </p:spPr>
      </p:sp>
      <p:sp>
        <p:nvSpPr>
          <p:cNvPr id="43" name="Shape 41"/>
          <p:cNvSpPr/>
          <p:nvPr/>
        </p:nvSpPr>
        <p:spPr>
          <a:xfrm>
            <a:off x="8503920" y="2743200"/>
            <a:ext cx="0" cy="914400"/>
          </a:xfrm>
          <a:prstGeom prst="line">
            <a:avLst/>
          </a:prstGeom>
          <a:noFill/>
          <a:ln w="15875">
            <a:solidFill>
              <a:srgbClr val="2E5266"/>
            </a:solidFill>
            <a:prstDash val="solid"/>
          </a:ln>
        </p:spPr>
      </p:sp>
      <p:sp>
        <p:nvSpPr>
          <p:cNvPr id="44" name="Shape 42"/>
          <p:cNvSpPr/>
          <p:nvPr/>
        </p:nvSpPr>
        <p:spPr>
          <a:xfrm>
            <a:off x="8878824" y="2670048"/>
            <a:ext cx="164592" cy="146304"/>
          </a:xfrm>
          <a:prstGeom prst="hexagon">
            <a:avLst/>
          </a:prstGeom>
          <a:solidFill>
            <a:srgbClr val="0F2433"/>
          </a:solidFill>
          <a:ln w="12700">
            <a:solidFill>
              <a:srgbClr val="3B6A80"/>
            </a:solidFill>
            <a:prstDash val="solid"/>
          </a:ln>
        </p:spPr>
      </p:sp>
      <p:sp>
        <p:nvSpPr>
          <p:cNvPr id="45" name="Shape 43"/>
          <p:cNvSpPr/>
          <p:nvPr/>
        </p:nvSpPr>
        <p:spPr>
          <a:xfrm>
            <a:off x="8421624" y="3127248"/>
            <a:ext cx="164592" cy="146304"/>
          </a:xfrm>
          <a:prstGeom prst="hexagon">
            <a:avLst/>
          </a:prstGeom>
          <a:solidFill>
            <a:srgbClr val="0F2433"/>
          </a:solidFill>
          <a:ln w="12700">
            <a:solidFill>
              <a:srgbClr val="3B6A80"/>
            </a:solidFill>
            <a:prstDash val="solid"/>
          </a:ln>
        </p:spPr>
      </p:sp>
      <p:sp>
        <p:nvSpPr>
          <p:cNvPr id="46" name="Shape 44"/>
          <p:cNvSpPr/>
          <p:nvPr/>
        </p:nvSpPr>
        <p:spPr>
          <a:xfrm>
            <a:off x="9418320" y="2743200"/>
            <a:ext cx="914400" cy="0"/>
          </a:xfrm>
          <a:prstGeom prst="line">
            <a:avLst/>
          </a:prstGeom>
          <a:noFill/>
          <a:ln w="15875">
            <a:solidFill>
              <a:srgbClr val="2E5266"/>
            </a:solidFill>
            <a:prstDash val="solid"/>
          </a:ln>
        </p:spPr>
      </p:sp>
      <p:sp>
        <p:nvSpPr>
          <p:cNvPr id="47" name="Shape 45"/>
          <p:cNvSpPr/>
          <p:nvPr/>
        </p:nvSpPr>
        <p:spPr>
          <a:xfrm>
            <a:off x="9418320" y="2743200"/>
            <a:ext cx="0" cy="914400"/>
          </a:xfrm>
          <a:prstGeom prst="line">
            <a:avLst/>
          </a:prstGeom>
          <a:noFill/>
          <a:ln w="15875">
            <a:solidFill>
              <a:srgbClr val="2E5266"/>
            </a:solidFill>
            <a:prstDash val="solid"/>
          </a:ln>
        </p:spPr>
      </p:sp>
      <p:sp>
        <p:nvSpPr>
          <p:cNvPr id="48" name="Shape 46"/>
          <p:cNvSpPr/>
          <p:nvPr/>
        </p:nvSpPr>
        <p:spPr>
          <a:xfrm>
            <a:off x="9793224" y="2670048"/>
            <a:ext cx="164592" cy="146304"/>
          </a:xfrm>
          <a:prstGeom prst="hexagon">
            <a:avLst/>
          </a:prstGeom>
          <a:solidFill>
            <a:srgbClr val="0F2433"/>
          </a:solidFill>
          <a:ln w="12700">
            <a:solidFill>
              <a:srgbClr val="3B6A80"/>
            </a:solidFill>
            <a:prstDash val="solid"/>
          </a:ln>
        </p:spPr>
      </p:sp>
      <p:sp>
        <p:nvSpPr>
          <p:cNvPr id="49" name="Shape 47"/>
          <p:cNvSpPr/>
          <p:nvPr/>
        </p:nvSpPr>
        <p:spPr>
          <a:xfrm>
            <a:off x="9336024" y="3127248"/>
            <a:ext cx="164592" cy="146304"/>
          </a:xfrm>
          <a:prstGeom prst="hexagon">
            <a:avLst/>
          </a:prstGeom>
          <a:solidFill>
            <a:srgbClr val="0F2433"/>
          </a:solidFill>
          <a:ln w="12700">
            <a:solidFill>
              <a:srgbClr val="3B6A80"/>
            </a:solidFill>
            <a:prstDash val="solid"/>
          </a:ln>
        </p:spPr>
      </p:sp>
      <p:sp>
        <p:nvSpPr>
          <p:cNvPr id="50" name="Shape 48"/>
          <p:cNvSpPr/>
          <p:nvPr/>
        </p:nvSpPr>
        <p:spPr>
          <a:xfrm>
            <a:off x="10332720" y="2743200"/>
            <a:ext cx="914400" cy="0"/>
          </a:xfrm>
          <a:prstGeom prst="line">
            <a:avLst/>
          </a:prstGeom>
          <a:noFill/>
          <a:ln w="15875">
            <a:solidFill>
              <a:srgbClr val="2E5266"/>
            </a:solidFill>
            <a:prstDash val="solid"/>
          </a:ln>
        </p:spPr>
      </p:sp>
      <p:sp>
        <p:nvSpPr>
          <p:cNvPr id="51" name="Shape 49"/>
          <p:cNvSpPr/>
          <p:nvPr/>
        </p:nvSpPr>
        <p:spPr>
          <a:xfrm>
            <a:off x="10332720" y="2743200"/>
            <a:ext cx="0" cy="914400"/>
          </a:xfrm>
          <a:prstGeom prst="line">
            <a:avLst/>
          </a:prstGeom>
          <a:noFill/>
          <a:ln w="15875">
            <a:solidFill>
              <a:srgbClr val="2E5266"/>
            </a:solidFill>
            <a:prstDash val="solid"/>
          </a:ln>
        </p:spPr>
      </p:sp>
      <p:sp>
        <p:nvSpPr>
          <p:cNvPr id="52" name="Shape 50"/>
          <p:cNvSpPr/>
          <p:nvPr/>
        </p:nvSpPr>
        <p:spPr>
          <a:xfrm>
            <a:off x="10707624" y="2670048"/>
            <a:ext cx="164592" cy="146304"/>
          </a:xfrm>
          <a:prstGeom prst="hexagon">
            <a:avLst/>
          </a:prstGeom>
          <a:solidFill>
            <a:srgbClr val="0F2433"/>
          </a:solidFill>
          <a:ln w="12700">
            <a:solidFill>
              <a:srgbClr val="3B6A80"/>
            </a:solidFill>
            <a:prstDash val="solid"/>
          </a:ln>
        </p:spPr>
      </p:sp>
      <p:sp>
        <p:nvSpPr>
          <p:cNvPr id="53" name="Shape 51"/>
          <p:cNvSpPr/>
          <p:nvPr/>
        </p:nvSpPr>
        <p:spPr>
          <a:xfrm>
            <a:off x="10250424" y="3127248"/>
            <a:ext cx="164592" cy="146304"/>
          </a:xfrm>
          <a:prstGeom prst="hexagon">
            <a:avLst/>
          </a:prstGeom>
          <a:solidFill>
            <a:srgbClr val="0F2433"/>
          </a:solidFill>
          <a:ln w="12700">
            <a:solidFill>
              <a:srgbClr val="3B6A80"/>
            </a:solidFill>
            <a:prstDash val="solid"/>
          </a:ln>
        </p:spPr>
      </p:sp>
      <p:sp>
        <p:nvSpPr>
          <p:cNvPr id="54" name="Shape 52"/>
          <p:cNvSpPr/>
          <p:nvPr/>
        </p:nvSpPr>
        <p:spPr>
          <a:xfrm>
            <a:off x="11247120" y="2743200"/>
            <a:ext cx="0" cy="914400"/>
          </a:xfrm>
          <a:prstGeom prst="line">
            <a:avLst/>
          </a:prstGeom>
          <a:noFill/>
          <a:ln w="15875">
            <a:solidFill>
              <a:srgbClr val="2E5266"/>
            </a:solidFill>
            <a:prstDash val="solid"/>
          </a:ln>
        </p:spPr>
      </p:sp>
      <p:sp>
        <p:nvSpPr>
          <p:cNvPr id="55" name="Shape 53"/>
          <p:cNvSpPr/>
          <p:nvPr/>
        </p:nvSpPr>
        <p:spPr>
          <a:xfrm>
            <a:off x="11164824" y="3127248"/>
            <a:ext cx="164592" cy="146304"/>
          </a:xfrm>
          <a:prstGeom prst="hexagon">
            <a:avLst/>
          </a:prstGeom>
          <a:solidFill>
            <a:srgbClr val="0F2433"/>
          </a:solidFill>
          <a:ln w="12700">
            <a:solidFill>
              <a:srgbClr val="3B6A80"/>
            </a:solidFill>
            <a:prstDash val="solid"/>
          </a:ln>
        </p:spPr>
      </p:sp>
      <p:sp>
        <p:nvSpPr>
          <p:cNvPr id="56" name="Shape 54"/>
          <p:cNvSpPr/>
          <p:nvPr/>
        </p:nvSpPr>
        <p:spPr>
          <a:xfrm>
            <a:off x="7589520" y="3657600"/>
            <a:ext cx="914400" cy="0"/>
          </a:xfrm>
          <a:prstGeom prst="line">
            <a:avLst/>
          </a:prstGeom>
          <a:noFill/>
          <a:ln w="15875">
            <a:solidFill>
              <a:srgbClr val="2E5266"/>
            </a:solidFill>
            <a:prstDash val="solid"/>
          </a:ln>
        </p:spPr>
      </p:sp>
      <p:sp>
        <p:nvSpPr>
          <p:cNvPr id="57" name="Shape 55"/>
          <p:cNvSpPr/>
          <p:nvPr/>
        </p:nvSpPr>
        <p:spPr>
          <a:xfrm>
            <a:off x="7589520" y="3657600"/>
            <a:ext cx="0" cy="914400"/>
          </a:xfrm>
          <a:prstGeom prst="line">
            <a:avLst/>
          </a:prstGeom>
          <a:noFill/>
          <a:ln w="15875">
            <a:solidFill>
              <a:srgbClr val="2E5266"/>
            </a:solidFill>
            <a:prstDash val="solid"/>
          </a:ln>
        </p:spPr>
      </p:sp>
      <p:sp>
        <p:nvSpPr>
          <p:cNvPr id="58" name="Shape 56"/>
          <p:cNvSpPr/>
          <p:nvPr/>
        </p:nvSpPr>
        <p:spPr>
          <a:xfrm>
            <a:off x="7964424" y="3584448"/>
            <a:ext cx="164592" cy="146304"/>
          </a:xfrm>
          <a:prstGeom prst="hexagon">
            <a:avLst/>
          </a:prstGeom>
          <a:solidFill>
            <a:srgbClr val="0F2433"/>
          </a:solidFill>
          <a:ln w="12700">
            <a:solidFill>
              <a:srgbClr val="3B6A80"/>
            </a:solidFill>
            <a:prstDash val="solid"/>
          </a:ln>
        </p:spPr>
      </p:sp>
      <p:sp>
        <p:nvSpPr>
          <p:cNvPr id="59" name="Shape 57"/>
          <p:cNvSpPr/>
          <p:nvPr/>
        </p:nvSpPr>
        <p:spPr>
          <a:xfrm>
            <a:off x="7507224" y="4041648"/>
            <a:ext cx="164592" cy="146304"/>
          </a:xfrm>
          <a:prstGeom prst="hexagon">
            <a:avLst/>
          </a:prstGeom>
          <a:solidFill>
            <a:srgbClr val="0F2433"/>
          </a:solidFill>
          <a:ln w="12700">
            <a:solidFill>
              <a:srgbClr val="3B6A80"/>
            </a:solidFill>
            <a:prstDash val="solid"/>
          </a:ln>
        </p:spPr>
      </p:sp>
      <p:sp>
        <p:nvSpPr>
          <p:cNvPr id="60" name="Shape 58"/>
          <p:cNvSpPr/>
          <p:nvPr/>
        </p:nvSpPr>
        <p:spPr>
          <a:xfrm>
            <a:off x="8503920" y="3657600"/>
            <a:ext cx="914400" cy="0"/>
          </a:xfrm>
          <a:prstGeom prst="line">
            <a:avLst/>
          </a:prstGeom>
          <a:noFill/>
          <a:ln w="15875">
            <a:solidFill>
              <a:srgbClr val="2E5266"/>
            </a:solidFill>
            <a:prstDash val="solid"/>
          </a:ln>
        </p:spPr>
      </p:sp>
      <p:sp>
        <p:nvSpPr>
          <p:cNvPr id="61" name="Shape 59"/>
          <p:cNvSpPr/>
          <p:nvPr/>
        </p:nvSpPr>
        <p:spPr>
          <a:xfrm>
            <a:off x="8503920" y="3657600"/>
            <a:ext cx="0" cy="914400"/>
          </a:xfrm>
          <a:prstGeom prst="line">
            <a:avLst/>
          </a:prstGeom>
          <a:noFill/>
          <a:ln w="15875">
            <a:solidFill>
              <a:srgbClr val="2E5266"/>
            </a:solidFill>
            <a:prstDash val="solid"/>
          </a:ln>
        </p:spPr>
      </p:sp>
      <p:sp>
        <p:nvSpPr>
          <p:cNvPr id="62" name="Shape 60"/>
          <p:cNvSpPr/>
          <p:nvPr/>
        </p:nvSpPr>
        <p:spPr>
          <a:xfrm>
            <a:off x="8878824" y="3584448"/>
            <a:ext cx="164592" cy="146304"/>
          </a:xfrm>
          <a:prstGeom prst="hexagon">
            <a:avLst/>
          </a:prstGeom>
          <a:solidFill>
            <a:srgbClr val="0F2433"/>
          </a:solidFill>
          <a:ln w="12700">
            <a:solidFill>
              <a:srgbClr val="3B6A80"/>
            </a:solidFill>
            <a:prstDash val="solid"/>
          </a:ln>
        </p:spPr>
      </p:sp>
      <p:sp>
        <p:nvSpPr>
          <p:cNvPr id="63" name="Shape 61"/>
          <p:cNvSpPr/>
          <p:nvPr/>
        </p:nvSpPr>
        <p:spPr>
          <a:xfrm>
            <a:off x="8421624" y="4041648"/>
            <a:ext cx="164592" cy="146304"/>
          </a:xfrm>
          <a:prstGeom prst="hexagon">
            <a:avLst/>
          </a:prstGeom>
          <a:solidFill>
            <a:srgbClr val="0F2433"/>
          </a:solidFill>
          <a:ln w="12700">
            <a:solidFill>
              <a:srgbClr val="3B6A80"/>
            </a:solidFill>
            <a:prstDash val="solid"/>
          </a:ln>
        </p:spPr>
      </p:sp>
      <p:sp>
        <p:nvSpPr>
          <p:cNvPr id="64" name="Shape 62"/>
          <p:cNvSpPr/>
          <p:nvPr/>
        </p:nvSpPr>
        <p:spPr>
          <a:xfrm>
            <a:off x="9418320" y="3657600"/>
            <a:ext cx="914400" cy="0"/>
          </a:xfrm>
          <a:prstGeom prst="line">
            <a:avLst/>
          </a:prstGeom>
          <a:noFill/>
          <a:ln w="15875">
            <a:solidFill>
              <a:srgbClr val="2E5266"/>
            </a:solidFill>
            <a:prstDash val="solid"/>
          </a:ln>
        </p:spPr>
      </p:sp>
      <p:sp>
        <p:nvSpPr>
          <p:cNvPr id="65" name="Shape 63"/>
          <p:cNvSpPr/>
          <p:nvPr/>
        </p:nvSpPr>
        <p:spPr>
          <a:xfrm>
            <a:off x="9418320" y="3657600"/>
            <a:ext cx="0" cy="914400"/>
          </a:xfrm>
          <a:prstGeom prst="line">
            <a:avLst/>
          </a:prstGeom>
          <a:noFill/>
          <a:ln w="15875">
            <a:solidFill>
              <a:srgbClr val="2E5266"/>
            </a:solidFill>
            <a:prstDash val="solid"/>
          </a:ln>
        </p:spPr>
      </p:sp>
      <p:sp>
        <p:nvSpPr>
          <p:cNvPr id="66" name="Shape 64"/>
          <p:cNvSpPr/>
          <p:nvPr/>
        </p:nvSpPr>
        <p:spPr>
          <a:xfrm>
            <a:off x="9793224" y="3584448"/>
            <a:ext cx="164592" cy="146304"/>
          </a:xfrm>
          <a:prstGeom prst="hexagon">
            <a:avLst/>
          </a:prstGeom>
          <a:solidFill>
            <a:srgbClr val="0F2433"/>
          </a:solidFill>
          <a:ln w="12700">
            <a:solidFill>
              <a:srgbClr val="3B6A80"/>
            </a:solidFill>
            <a:prstDash val="solid"/>
          </a:ln>
        </p:spPr>
      </p:sp>
      <p:sp>
        <p:nvSpPr>
          <p:cNvPr id="67" name="Shape 65"/>
          <p:cNvSpPr/>
          <p:nvPr/>
        </p:nvSpPr>
        <p:spPr>
          <a:xfrm>
            <a:off x="9336024" y="4041648"/>
            <a:ext cx="164592" cy="146304"/>
          </a:xfrm>
          <a:prstGeom prst="hexagon">
            <a:avLst/>
          </a:prstGeom>
          <a:solidFill>
            <a:srgbClr val="0F2433"/>
          </a:solidFill>
          <a:ln w="12700">
            <a:solidFill>
              <a:srgbClr val="3B6A80"/>
            </a:solidFill>
            <a:prstDash val="solid"/>
          </a:ln>
        </p:spPr>
      </p:sp>
      <p:sp>
        <p:nvSpPr>
          <p:cNvPr id="68" name="Shape 66"/>
          <p:cNvSpPr/>
          <p:nvPr/>
        </p:nvSpPr>
        <p:spPr>
          <a:xfrm>
            <a:off x="10332720" y="3657600"/>
            <a:ext cx="914400" cy="0"/>
          </a:xfrm>
          <a:prstGeom prst="line">
            <a:avLst/>
          </a:prstGeom>
          <a:noFill/>
          <a:ln w="15875">
            <a:solidFill>
              <a:srgbClr val="2E5266"/>
            </a:solidFill>
            <a:prstDash val="solid"/>
          </a:ln>
        </p:spPr>
      </p:sp>
      <p:sp>
        <p:nvSpPr>
          <p:cNvPr id="69" name="Shape 67"/>
          <p:cNvSpPr/>
          <p:nvPr/>
        </p:nvSpPr>
        <p:spPr>
          <a:xfrm>
            <a:off x="10332720" y="3657600"/>
            <a:ext cx="0" cy="914400"/>
          </a:xfrm>
          <a:prstGeom prst="line">
            <a:avLst/>
          </a:prstGeom>
          <a:noFill/>
          <a:ln w="15875">
            <a:solidFill>
              <a:srgbClr val="2E5266"/>
            </a:solidFill>
            <a:prstDash val="solid"/>
          </a:ln>
        </p:spPr>
      </p:sp>
      <p:sp>
        <p:nvSpPr>
          <p:cNvPr id="70" name="Shape 68"/>
          <p:cNvSpPr/>
          <p:nvPr/>
        </p:nvSpPr>
        <p:spPr>
          <a:xfrm>
            <a:off x="10707624" y="3584448"/>
            <a:ext cx="164592" cy="146304"/>
          </a:xfrm>
          <a:prstGeom prst="hexagon">
            <a:avLst/>
          </a:prstGeom>
          <a:solidFill>
            <a:srgbClr val="0F2433"/>
          </a:solidFill>
          <a:ln w="12700">
            <a:solidFill>
              <a:srgbClr val="3B6A80"/>
            </a:solidFill>
            <a:prstDash val="solid"/>
          </a:ln>
        </p:spPr>
      </p:sp>
      <p:sp>
        <p:nvSpPr>
          <p:cNvPr id="71" name="Shape 69"/>
          <p:cNvSpPr/>
          <p:nvPr/>
        </p:nvSpPr>
        <p:spPr>
          <a:xfrm>
            <a:off x="10250424" y="4041648"/>
            <a:ext cx="164592" cy="146304"/>
          </a:xfrm>
          <a:prstGeom prst="hexagon">
            <a:avLst/>
          </a:prstGeom>
          <a:solidFill>
            <a:srgbClr val="0F2433"/>
          </a:solidFill>
          <a:ln w="12700">
            <a:solidFill>
              <a:srgbClr val="3B6A80"/>
            </a:solidFill>
            <a:prstDash val="solid"/>
          </a:ln>
        </p:spPr>
      </p:sp>
      <p:sp>
        <p:nvSpPr>
          <p:cNvPr id="72" name="Shape 70"/>
          <p:cNvSpPr/>
          <p:nvPr/>
        </p:nvSpPr>
        <p:spPr>
          <a:xfrm>
            <a:off x="11247120" y="3657600"/>
            <a:ext cx="0" cy="914400"/>
          </a:xfrm>
          <a:prstGeom prst="line">
            <a:avLst/>
          </a:prstGeom>
          <a:noFill/>
          <a:ln w="15875">
            <a:solidFill>
              <a:srgbClr val="2E5266"/>
            </a:solidFill>
            <a:prstDash val="solid"/>
          </a:ln>
        </p:spPr>
      </p:sp>
      <p:sp>
        <p:nvSpPr>
          <p:cNvPr id="73" name="Shape 71"/>
          <p:cNvSpPr/>
          <p:nvPr/>
        </p:nvSpPr>
        <p:spPr>
          <a:xfrm>
            <a:off x="11164824" y="4041648"/>
            <a:ext cx="164592" cy="146304"/>
          </a:xfrm>
          <a:prstGeom prst="hexagon">
            <a:avLst/>
          </a:prstGeom>
          <a:solidFill>
            <a:srgbClr val="0F2433"/>
          </a:solidFill>
          <a:ln w="12700">
            <a:solidFill>
              <a:srgbClr val="3B6A80"/>
            </a:solidFill>
            <a:prstDash val="solid"/>
          </a:ln>
        </p:spPr>
      </p:sp>
      <p:sp>
        <p:nvSpPr>
          <p:cNvPr id="74" name="Shape 72"/>
          <p:cNvSpPr/>
          <p:nvPr/>
        </p:nvSpPr>
        <p:spPr>
          <a:xfrm>
            <a:off x="7589520" y="4572000"/>
            <a:ext cx="914400" cy="0"/>
          </a:xfrm>
          <a:prstGeom prst="line">
            <a:avLst/>
          </a:prstGeom>
          <a:noFill/>
          <a:ln w="15875">
            <a:solidFill>
              <a:srgbClr val="2E5266"/>
            </a:solidFill>
            <a:prstDash val="solid"/>
          </a:ln>
        </p:spPr>
      </p:sp>
      <p:sp>
        <p:nvSpPr>
          <p:cNvPr id="75" name="Shape 73"/>
          <p:cNvSpPr/>
          <p:nvPr/>
        </p:nvSpPr>
        <p:spPr>
          <a:xfrm>
            <a:off x="7589520" y="4572000"/>
            <a:ext cx="0" cy="914400"/>
          </a:xfrm>
          <a:prstGeom prst="line">
            <a:avLst/>
          </a:prstGeom>
          <a:noFill/>
          <a:ln w="15875">
            <a:solidFill>
              <a:srgbClr val="2E5266"/>
            </a:solidFill>
            <a:prstDash val="solid"/>
          </a:ln>
        </p:spPr>
      </p:sp>
      <p:sp>
        <p:nvSpPr>
          <p:cNvPr id="76" name="Shape 74"/>
          <p:cNvSpPr/>
          <p:nvPr/>
        </p:nvSpPr>
        <p:spPr>
          <a:xfrm>
            <a:off x="7964424" y="4498848"/>
            <a:ext cx="164592" cy="146304"/>
          </a:xfrm>
          <a:prstGeom prst="hexagon">
            <a:avLst/>
          </a:prstGeom>
          <a:solidFill>
            <a:srgbClr val="0F2433"/>
          </a:solidFill>
          <a:ln w="12700">
            <a:solidFill>
              <a:srgbClr val="3B6A80"/>
            </a:solidFill>
            <a:prstDash val="solid"/>
          </a:ln>
        </p:spPr>
      </p:sp>
      <p:sp>
        <p:nvSpPr>
          <p:cNvPr id="77" name="Shape 75"/>
          <p:cNvSpPr/>
          <p:nvPr/>
        </p:nvSpPr>
        <p:spPr>
          <a:xfrm>
            <a:off x="7507224" y="4956048"/>
            <a:ext cx="164592" cy="146304"/>
          </a:xfrm>
          <a:prstGeom prst="hexagon">
            <a:avLst/>
          </a:prstGeom>
          <a:solidFill>
            <a:srgbClr val="0F2433"/>
          </a:solidFill>
          <a:ln w="12700">
            <a:solidFill>
              <a:srgbClr val="3B6A80"/>
            </a:solidFill>
            <a:prstDash val="solid"/>
          </a:ln>
        </p:spPr>
      </p:sp>
      <p:sp>
        <p:nvSpPr>
          <p:cNvPr id="78" name="Shape 76"/>
          <p:cNvSpPr/>
          <p:nvPr/>
        </p:nvSpPr>
        <p:spPr>
          <a:xfrm>
            <a:off x="8503920" y="4572000"/>
            <a:ext cx="914400" cy="0"/>
          </a:xfrm>
          <a:prstGeom prst="line">
            <a:avLst/>
          </a:prstGeom>
          <a:noFill/>
          <a:ln w="15875">
            <a:solidFill>
              <a:srgbClr val="2E5266"/>
            </a:solidFill>
            <a:prstDash val="solid"/>
          </a:ln>
        </p:spPr>
      </p:sp>
      <p:sp>
        <p:nvSpPr>
          <p:cNvPr id="79" name="Shape 77"/>
          <p:cNvSpPr/>
          <p:nvPr/>
        </p:nvSpPr>
        <p:spPr>
          <a:xfrm>
            <a:off x="8503920" y="4572000"/>
            <a:ext cx="0" cy="914400"/>
          </a:xfrm>
          <a:prstGeom prst="line">
            <a:avLst/>
          </a:prstGeom>
          <a:noFill/>
          <a:ln w="15875">
            <a:solidFill>
              <a:srgbClr val="2E5266"/>
            </a:solidFill>
            <a:prstDash val="solid"/>
          </a:ln>
        </p:spPr>
      </p:sp>
      <p:sp>
        <p:nvSpPr>
          <p:cNvPr id="80" name="Shape 78"/>
          <p:cNvSpPr/>
          <p:nvPr/>
        </p:nvSpPr>
        <p:spPr>
          <a:xfrm>
            <a:off x="8878824" y="4498848"/>
            <a:ext cx="164592" cy="146304"/>
          </a:xfrm>
          <a:prstGeom prst="hexagon">
            <a:avLst/>
          </a:prstGeom>
          <a:solidFill>
            <a:srgbClr val="0F2433"/>
          </a:solidFill>
          <a:ln w="12700">
            <a:solidFill>
              <a:srgbClr val="3B6A80"/>
            </a:solidFill>
            <a:prstDash val="solid"/>
          </a:ln>
        </p:spPr>
      </p:sp>
      <p:sp>
        <p:nvSpPr>
          <p:cNvPr id="81" name="Shape 79"/>
          <p:cNvSpPr/>
          <p:nvPr/>
        </p:nvSpPr>
        <p:spPr>
          <a:xfrm>
            <a:off x="8421624" y="4956048"/>
            <a:ext cx="164592" cy="146304"/>
          </a:xfrm>
          <a:prstGeom prst="hexagon">
            <a:avLst/>
          </a:prstGeom>
          <a:solidFill>
            <a:srgbClr val="0F2433"/>
          </a:solidFill>
          <a:ln w="12700">
            <a:solidFill>
              <a:srgbClr val="3B6A80"/>
            </a:solidFill>
            <a:prstDash val="solid"/>
          </a:ln>
        </p:spPr>
      </p:sp>
      <p:sp>
        <p:nvSpPr>
          <p:cNvPr id="82" name="Shape 80"/>
          <p:cNvSpPr/>
          <p:nvPr/>
        </p:nvSpPr>
        <p:spPr>
          <a:xfrm>
            <a:off x="9418320" y="4572000"/>
            <a:ext cx="914400" cy="0"/>
          </a:xfrm>
          <a:prstGeom prst="line">
            <a:avLst/>
          </a:prstGeom>
          <a:noFill/>
          <a:ln w="15875">
            <a:solidFill>
              <a:srgbClr val="2E5266"/>
            </a:solidFill>
            <a:prstDash val="solid"/>
          </a:ln>
        </p:spPr>
      </p:sp>
      <p:sp>
        <p:nvSpPr>
          <p:cNvPr id="83" name="Shape 81"/>
          <p:cNvSpPr/>
          <p:nvPr/>
        </p:nvSpPr>
        <p:spPr>
          <a:xfrm>
            <a:off x="9418320" y="4572000"/>
            <a:ext cx="0" cy="914400"/>
          </a:xfrm>
          <a:prstGeom prst="line">
            <a:avLst/>
          </a:prstGeom>
          <a:noFill/>
          <a:ln w="15875">
            <a:solidFill>
              <a:srgbClr val="2E5266"/>
            </a:solidFill>
            <a:prstDash val="solid"/>
          </a:ln>
        </p:spPr>
      </p:sp>
      <p:sp>
        <p:nvSpPr>
          <p:cNvPr id="84" name="Shape 82"/>
          <p:cNvSpPr/>
          <p:nvPr/>
        </p:nvSpPr>
        <p:spPr>
          <a:xfrm>
            <a:off x="9793224" y="4498848"/>
            <a:ext cx="164592" cy="146304"/>
          </a:xfrm>
          <a:prstGeom prst="hexagon">
            <a:avLst/>
          </a:prstGeom>
          <a:solidFill>
            <a:srgbClr val="0F2433"/>
          </a:solidFill>
          <a:ln w="12700">
            <a:solidFill>
              <a:srgbClr val="3B6A80"/>
            </a:solidFill>
            <a:prstDash val="solid"/>
          </a:ln>
        </p:spPr>
      </p:sp>
      <p:sp>
        <p:nvSpPr>
          <p:cNvPr id="85" name="Shape 83"/>
          <p:cNvSpPr/>
          <p:nvPr/>
        </p:nvSpPr>
        <p:spPr>
          <a:xfrm>
            <a:off x="9336024" y="4956048"/>
            <a:ext cx="164592" cy="146304"/>
          </a:xfrm>
          <a:prstGeom prst="hexagon">
            <a:avLst/>
          </a:prstGeom>
          <a:solidFill>
            <a:srgbClr val="0F2433"/>
          </a:solidFill>
          <a:ln w="12700">
            <a:solidFill>
              <a:srgbClr val="3B6A80"/>
            </a:solidFill>
            <a:prstDash val="solid"/>
          </a:ln>
        </p:spPr>
      </p:sp>
      <p:sp>
        <p:nvSpPr>
          <p:cNvPr id="86" name="Shape 84"/>
          <p:cNvSpPr/>
          <p:nvPr/>
        </p:nvSpPr>
        <p:spPr>
          <a:xfrm>
            <a:off x="10332720" y="4572000"/>
            <a:ext cx="914400" cy="0"/>
          </a:xfrm>
          <a:prstGeom prst="line">
            <a:avLst/>
          </a:prstGeom>
          <a:noFill/>
          <a:ln w="15875">
            <a:solidFill>
              <a:srgbClr val="2E5266"/>
            </a:solidFill>
            <a:prstDash val="solid"/>
          </a:ln>
        </p:spPr>
      </p:sp>
      <p:sp>
        <p:nvSpPr>
          <p:cNvPr id="87" name="Shape 85"/>
          <p:cNvSpPr/>
          <p:nvPr/>
        </p:nvSpPr>
        <p:spPr>
          <a:xfrm>
            <a:off x="10332720" y="4572000"/>
            <a:ext cx="0" cy="914400"/>
          </a:xfrm>
          <a:prstGeom prst="line">
            <a:avLst/>
          </a:prstGeom>
          <a:noFill/>
          <a:ln w="15875">
            <a:solidFill>
              <a:srgbClr val="2E5266"/>
            </a:solidFill>
            <a:prstDash val="solid"/>
          </a:ln>
        </p:spPr>
      </p:sp>
      <p:sp>
        <p:nvSpPr>
          <p:cNvPr id="88" name="Shape 86"/>
          <p:cNvSpPr/>
          <p:nvPr/>
        </p:nvSpPr>
        <p:spPr>
          <a:xfrm>
            <a:off x="10707624" y="4498848"/>
            <a:ext cx="164592" cy="146304"/>
          </a:xfrm>
          <a:prstGeom prst="hexagon">
            <a:avLst/>
          </a:prstGeom>
          <a:solidFill>
            <a:srgbClr val="0F2433"/>
          </a:solidFill>
          <a:ln w="12700">
            <a:solidFill>
              <a:srgbClr val="3B6A80"/>
            </a:solidFill>
            <a:prstDash val="solid"/>
          </a:ln>
        </p:spPr>
      </p:sp>
      <p:sp>
        <p:nvSpPr>
          <p:cNvPr id="89" name="Shape 87"/>
          <p:cNvSpPr/>
          <p:nvPr/>
        </p:nvSpPr>
        <p:spPr>
          <a:xfrm>
            <a:off x="10250424" y="4956048"/>
            <a:ext cx="164592" cy="146304"/>
          </a:xfrm>
          <a:prstGeom prst="hexagon">
            <a:avLst/>
          </a:prstGeom>
          <a:solidFill>
            <a:srgbClr val="0F2433"/>
          </a:solidFill>
          <a:ln w="12700">
            <a:solidFill>
              <a:srgbClr val="3B6A80"/>
            </a:solidFill>
            <a:prstDash val="solid"/>
          </a:ln>
        </p:spPr>
      </p:sp>
      <p:sp>
        <p:nvSpPr>
          <p:cNvPr id="90" name="Shape 88"/>
          <p:cNvSpPr/>
          <p:nvPr/>
        </p:nvSpPr>
        <p:spPr>
          <a:xfrm>
            <a:off x="11247120" y="4572000"/>
            <a:ext cx="0" cy="914400"/>
          </a:xfrm>
          <a:prstGeom prst="line">
            <a:avLst/>
          </a:prstGeom>
          <a:noFill/>
          <a:ln w="15875">
            <a:solidFill>
              <a:srgbClr val="2E5266"/>
            </a:solidFill>
            <a:prstDash val="solid"/>
          </a:ln>
        </p:spPr>
      </p:sp>
      <p:sp>
        <p:nvSpPr>
          <p:cNvPr id="91" name="Shape 89"/>
          <p:cNvSpPr/>
          <p:nvPr/>
        </p:nvSpPr>
        <p:spPr>
          <a:xfrm>
            <a:off x="11164824" y="4956048"/>
            <a:ext cx="164592" cy="146304"/>
          </a:xfrm>
          <a:prstGeom prst="hexagon">
            <a:avLst/>
          </a:prstGeom>
          <a:solidFill>
            <a:srgbClr val="0F2433"/>
          </a:solidFill>
          <a:ln w="12700">
            <a:solidFill>
              <a:srgbClr val="3B6A80"/>
            </a:solidFill>
            <a:prstDash val="solid"/>
          </a:ln>
        </p:spPr>
      </p:sp>
      <p:sp>
        <p:nvSpPr>
          <p:cNvPr id="92" name="Shape 90"/>
          <p:cNvSpPr/>
          <p:nvPr/>
        </p:nvSpPr>
        <p:spPr>
          <a:xfrm>
            <a:off x="7589520" y="5486400"/>
            <a:ext cx="914400" cy="0"/>
          </a:xfrm>
          <a:prstGeom prst="line">
            <a:avLst/>
          </a:prstGeom>
          <a:noFill/>
          <a:ln w="15875">
            <a:solidFill>
              <a:srgbClr val="2E5266"/>
            </a:solidFill>
            <a:prstDash val="solid"/>
          </a:ln>
        </p:spPr>
      </p:sp>
      <p:sp>
        <p:nvSpPr>
          <p:cNvPr id="93" name="Shape 91"/>
          <p:cNvSpPr/>
          <p:nvPr/>
        </p:nvSpPr>
        <p:spPr>
          <a:xfrm>
            <a:off x="7964424" y="5413248"/>
            <a:ext cx="164592" cy="146304"/>
          </a:xfrm>
          <a:prstGeom prst="hexagon">
            <a:avLst/>
          </a:prstGeom>
          <a:solidFill>
            <a:srgbClr val="0F2433"/>
          </a:solidFill>
          <a:ln w="12700">
            <a:solidFill>
              <a:srgbClr val="3B6A80"/>
            </a:solidFill>
            <a:prstDash val="solid"/>
          </a:ln>
        </p:spPr>
      </p:sp>
      <p:sp>
        <p:nvSpPr>
          <p:cNvPr id="94" name="Shape 92"/>
          <p:cNvSpPr/>
          <p:nvPr/>
        </p:nvSpPr>
        <p:spPr>
          <a:xfrm>
            <a:off x="8503920" y="5486400"/>
            <a:ext cx="914400" cy="0"/>
          </a:xfrm>
          <a:prstGeom prst="line">
            <a:avLst/>
          </a:prstGeom>
          <a:noFill/>
          <a:ln w="15875">
            <a:solidFill>
              <a:srgbClr val="2E5266"/>
            </a:solidFill>
            <a:prstDash val="solid"/>
          </a:ln>
        </p:spPr>
      </p:sp>
      <p:sp>
        <p:nvSpPr>
          <p:cNvPr id="95" name="Shape 93"/>
          <p:cNvSpPr/>
          <p:nvPr/>
        </p:nvSpPr>
        <p:spPr>
          <a:xfrm>
            <a:off x="8878824" y="5413248"/>
            <a:ext cx="164592" cy="146304"/>
          </a:xfrm>
          <a:prstGeom prst="hexagon">
            <a:avLst/>
          </a:prstGeom>
          <a:solidFill>
            <a:srgbClr val="0F2433"/>
          </a:solidFill>
          <a:ln w="12700">
            <a:solidFill>
              <a:srgbClr val="3B6A80"/>
            </a:solidFill>
            <a:prstDash val="solid"/>
          </a:ln>
        </p:spPr>
      </p:sp>
      <p:sp>
        <p:nvSpPr>
          <p:cNvPr id="96" name="Shape 94"/>
          <p:cNvSpPr/>
          <p:nvPr/>
        </p:nvSpPr>
        <p:spPr>
          <a:xfrm>
            <a:off x="9418320" y="5486400"/>
            <a:ext cx="914400" cy="0"/>
          </a:xfrm>
          <a:prstGeom prst="line">
            <a:avLst/>
          </a:prstGeom>
          <a:noFill/>
          <a:ln w="15875">
            <a:solidFill>
              <a:srgbClr val="2E5266"/>
            </a:solidFill>
            <a:prstDash val="solid"/>
          </a:ln>
        </p:spPr>
      </p:sp>
      <p:sp>
        <p:nvSpPr>
          <p:cNvPr id="97" name="Shape 95"/>
          <p:cNvSpPr/>
          <p:nvPr/>
        </p:nvSpPr>
        <p:spPr>
          <a:xfrm>
            <a:off x="9793224" y="5413248"/>
            <a:ext cx="164592" cy="146304"/>
          </a:xfrm>
          <a:prstGeom prst="hexagon">
            <a:avLst/>
          </a:prstGeom>
          <a:solidFill>
            <a:srgbClr val="0F2433"/>
          </a:solidFill>
          <a:ln w="12700">
            <a:solidFill>
              <a:srgbClr val="3B6A80"/>
            </a:solidFill>
            <a:prstDash val="solid"/>
          </a:ln>
        </p:spPr>
      </p:sp>
      <p:sp>
        <p:nvSpPr>
          <p:cNvPr id="98" name="Shape 96"/>
          <p:cNvSpPr/>
          <p:nvPr/>
        </p:nvSpPr>
        <p:spPr>
          <a:xfrm>
            <a:off x="10332720" y="5486400"/>
            <a:ext cx="914400" cy="0"/>
          </a:xfrm>
          <a:prstGeom prst="line">
            <a:avLst/>
          </a:prstGeom>
          <a:noFill/>
          <a:ln w="15875">
            <a:solidFill>
              <a:srgbClr val="2E5266"/>
            </a:solidFill>
            <a:prstDash val="solid"/>
          </a:ln>
        </p:spPr>
      </p:sp>
      <p:sp>
        <p:nvSpPr>
          <p:cNvPr id="99" name="Shape 97"/>
          <p:cNvSpPr/>
          <p:nvPr/>
        </p:nvSpPr>
        <p:spPr>
          <a:xfrm>
            <a:off x="10707624" y="5413248"/>
            <a:ext cx="164592" cy="146304"/>
          </a:xfrm>
          <a:prstGeom prst="hexagon">
            <a:avLst/>
          </a:prstGeom>
          <a:solidFill>
            <a:srgbClr val="0F2433"/>
          </a:solidFill>
          <a:ln w="12700">
            <a:solidFill>
              <a:srgbClr val="3B6A80"/>
            </a:solidFill>
            <a:prstDash val="solid"/>
          </a:ln>
        </p:spPr>
      </p:sp>
      <p:sp>
        <p:nvSpPr>
          <p:cNvPr id="100" name="Shape 98"/>
          <p:cNvSpPr/>
          <p:nvPr/>
        </p:nvSpPr>
        <p:spPr>
          <a:xfrm>
            <a:off x="7452360" y="777240"/>
            <a:ext cx="274320" cy="274320"/>
          </a:xfrm>
          <a:prstGeom prst="ellipse">
            <a:avLst/>
          </a:prstGeom>
          <a:solidFill>
            <a:srgbClr val="D9622B"/>
          </a:solidFill>
          <a:ln w="19050">
            <a:solidFill>
              <a:srgbClr val="F4A57C"/>
            </a:solidFill>
            <a:prstDash val="solid"/>
          </a:ln>
        </p:spPr>
      </p:sp>
      <p:sp>
        <p:nvSpPr>
          <p:cNvPr id="101" name="Shape 99"/>
          <p:cNvSpPr/>
          <p:nvPr/>
        </p:nvSpPr>
        <p:spPr>
          <a:xfrm>
            <a:off x="8403336" y="813816"/>
            <a:ext cx="201168" cy="201168"/>
          </a:xfrm>
          <a:prstGeom prst="ellipse">
            <a:avLst/>
          </a:prstGeom>
          <a:solidFill>
            <a:srgbClr val="17394B"/>
          </a:solidFill>
          <a:ln w="19050">
            <a:solidFill>
              <a:srgbClr val="0891B2"/>
            </a:solidFill>
            <a:prstDash val="solid"/>
          </a:ln>
        </p:spPr>
      </p:sp>
      <p:sp>
        <p:nvSpPr>
          <p:cNvPr id="102" name="Shape 100"/>
          <p:cNvSpPr/>
          <p:nvPr/>
        </p:nvSpPr>
        <p:spPr>
          <a:xfrm>
            <a:off x="9317736" y="813816"/>
            <a:ext cx="201168" cy="201168"/>
          </a:xfrm>
          <a:prstGeom prst="ellipse">
            <a:avLst/>
          </a:prstGeom>
          <a:solidFill>
            <a:srgbClr val="17394B"/>
          </a:solidFill>
          <a:ln w="19050">
            <a:solidFill>
              <a:srgbClr val="0891B2"/>
            </a:solidFill>
            <a:prstDash val="solid"/>
          </a:ln>
        </p:spPr>
      </p:sp>
      <p:sp>
        <p:nvSpPr>
          <p:cNvPr id="103" name="Shape 101"/>
          <p:cNvSpPr/>
          <p:nvPr/>
        </p:nvSpPr>
        <p:spPr>
          <a:xfrm>
            <a:off x="10232136" y="813816"/>
            <a:ext cx="201168" cy="201168"/>
          </a:xfrm>
          <a:prstGeom prst="ellipse">
            <a:avLst/>
          </a:prstGeom>
          <a:solidFill>
            <a:srgbClr val="17394B"/>
          </a:solidFill>
          <a:ln w="19050">
            <a:solidFill>
              <a:srgbClr val="0891B2"/>
            </a:solidFill>
            <a:prstDash val="solid"/>
          </a:ln>
        </p:spPr>
      </p:sp>
      <p:sp>
        <p:nvSpPr>
          <p:cNvPr id="104" name="Shape 102"/>
          <p:cNvSpPr/>
          <p:nvPr/>
        </p:nvSpPr>
        <p:spPr>
          <a:xfrm>
            <a:off x="11146536" y="813816"/>
            <a:ext cx="201168" cy="201168"/>
          </a:xfrm>
          <a:prstGeom prst="ellipse">
            <a:avLst/>
          </a:prstGeom>
          <a:solidFill>
            <a:srgbClr val="17394B"/>
          </a:solidFill>
          <a:ln w="19050">
            <a:solidFill>
              <a:srgbClr val="0891B2"/>
            </a:solidFill>
            <a:prstDash val="solid"/>
          </a:ln>
        </p:spPr>
      </p:sp>
      <p:sp>
        <p:nvSpPr>
          <p:cNvPr id="105" name="Shape 103"/>
          <p:cNvSpPr/>
          <p:nvPr/>
        </p:nvSpPr>
        <p:spPr>
          <a:xfrm>
            <a:off x="7488936" y="1728216"/>
            <a:ext cx="201168" cy="201168"/>
          </a:xfrm>
          <a:prstGeom prst="ellipse">
            <a:avLst/>
          </a:prstGeom>
          <a:solidFill>
            <a:srgbClr val="17394B"/>
          </a:solidFill>
          <a:ln w="19050">
            <a:solidFill>
              <a:srgbClr val="0891B2"/>
            </a:solidFill>
            <a:prstDash val="solid"/>
          </a:ln>
        </p:spPr>
      </p:sp>
      <p:sp>
        <p:nvSpPr>
          <p:cNvPr id="106" name="Shape 104"/>
          <p:cNvSpPr/>
          <p:nvPr/>
        </p:nvSpPr>
        <p:spPr>
          <a:xfrm>
            <a:off x="8403336" y="1728216"/>
            <a:ext cx="201168" cy="201168"/>
          </a:xfrm>
          <a:prstGeom prst="ellipse">
            <a:avLst/>
          </a:prstGeom>
          <a:solidFill>
            <a:srgbClr val="17394B"/>
          </a:solidFill>
          <a:ln w="19050">
            <a:solidFill>
              <a:srgbClr val="0891B2"/>
            </a:solidFill>
            <a:prstDash val="solid"/>
          </a:ln>
        </p:spPr>
      </p:sp>
      <p:sp>
        <p:nvSpPr>
          <p:cNvPr id="107" name="Shape 105"/>
          <p:cNvSpPr/>
          <p:nvPr/>
        </p:nvSpPr>
        <p:spPr>
          <a:xfrm>
            <a:off x="9317736" y="1728216"/>
            <a:ext cx="201168" cy="201168"/>
          </a:xfrm>
          <a:prstGeom prst="ellipse">
            <a:avLst/>
          </a:prstGeom>
          <a:solidFill>
            <a:srgbClr val="17394B"/>
          </a:solidFill>
          <a:ln w="19050">
            <a:solidFill>
              <a:srgbClr val="0891B2"/>
            </a:solidFill>
            <a:prstDash val="solid"/>
          </a:ln>
        </p:spPr>
      </p:sp>
      <p:sp>
        <p:nvSpPr>
          <p:cNvPr id="108" name="Shape 106"/>
          <p:cNvSpPr/>
          <p:nvPr/>
        </p:nvSpPr>
        <p:spPr>
          <a:xfrm>
            <a:off x="10195560" y="1691640"/>
            <a:ext cx="274320" cy="274320"/>
          </a:xfrm>
          <a:prstGeom prst="ellipse">
            <a:avLst/>
          </a:prstGeom>
          <a:solidFill>
            <a:srgbClr val="D9622B"/>
          </a:solidFill>
          <a:ln w="19050">
            <a:solidFill>
              <a:srgbClr val="F4A57C"/>
            </a:solidFill>
            <a:prstDash val="solid"/>
          </a:ln>
        </p:spPr>
      </p:sp>
      <p:sp>
        <p:nvSpPr>
          <p:cNvPr id="109" name="Shape 107"/>
          <p:cNvSpPr/>
          <p:nvPr/>
        </p:nvSpPr>
        <p:spPr>
          <a:xfrm>
            <a:off x="11146536" y="1728216"/>
            <a:ext cx="201168" cy="201168"/>
          </a:xfrm>
          <a:prstGeom prst="ellipse">
            <a:avLst/>
          </a:prstGeom>
          <a:solidFill>
            <a:srgbClr val="17394B"/>
          </a:solidFill>
          <a:ln w="19050">
            <a:solidFill>
              <a:srgbClr val="0891B2"/>
            </a:solidFill>
            <a:prstDash val="solid"/>
          </a:ln>
        </p:spPr>
      </p:sp>
      <p:sp>
        <p:nvSpPr>
          <p:cNvPr id="110" name="Shape 108"/>
          <p:cNvSpPr/>
          <p:nvPr/>
        </p:nvSpPr>
        <p:spPr>
          <a:xfrm>
            <a:off x="7488936" y="2642616"/>
            <a:ext cx="201168" cy="201168"/>
          </a:xfrm>
          <a:prstGeom prst="ellipse">
            <a:avLst/>
          </a:prstGeom>
          <a:solidFill>
            <a:srgbClr val="17394B"/>
          </a:solidFill>
          <a:ln w="19050">
            <a:solidFill>
              <a:srgbClr val="0891B2"/>
            </a:solidFill>
            <a:prstDash val="solid"/>
          </a:ln>
        </p:spPr>
      </p:sp>
      <p:sp>
        <p:nvSpPr>
          <p:cNvPr id="111" name="Shape 109"/>
          <p:cNvSpPr/>
          <p:nvPr/>
        </p:nvSpPr>
        <p:spPr>
          <a:xfrm>
            <a:off x="8403336" y="2642616"/>
            <a:ext cx="201168" cy="201168"/>
          </a:xfrm>
          <a:prstGeom prst="ellipse">
            <a:avLst/>
          </a:prstGeom>
          <a:solidFill>
            <a:srgbClr val="17394B"/>
          </a:solidFill>
          <a:ln w="19050">
            <a:solidFill>
              <a:srgbClr val="0891B2"/>
            </a:solidFill>
            <a:prstDash val="solid"/>
          </a:ln>
        </p:spPr>
      </p:sp>
      <p:sp>
        <p:nvSpPr>
          <p:cNvPr id="112" name="Shape 110"/>
          <p:cNvSpPr/>
          <p:nvPr/>
        </p:nvSpPr>
        <p:spPr>
          <a:xfrm>
            <a:off x="9317736" y="2642616"/>
            <a:ext cx="201168" cy="201168"/>
          </a:xfrm>
          <a:prstGeom prst="ellipse">
            <a:avLst/>
          </a:prstGeom>
          <a:solidFill>
            <a:srgbClr val="17394B"/>
          </a:solidFill>
          <a:ln w="19050">
            <a:solidFill>
              <a:srgbClr val="0891B2"/>
            </a:solidFill>
            <a:prstDash val="solid"/>
          </a:ln>
        </p:spPr>
      </p:sp>
      <p:sp>
        <p:nvSpPr>
          <p:cNvPr id="113" name="Shape 111"/>
          <p:cNvSpPr/>
          <p:nvPr/>
        </p:nvSpPr>
        <p:spPr>
          <a:xfrm>
            <a:off x="10232136" y="2642616"/>
            <a:ext cx="201168" cy="201168"/>
          </a:xfrm>
          <a:prstGeom prst="ellipse">
            <a:avLst/>
          </a:prstGeom>
          <a:solidFill>
            <a:srgbClr val="17394B"/>
          </a:solidFill>
          <a:ln w="19050">
            <a:solidFill>
              <a:srgbClr val="0891B2"/>
            </a:solidFill>
            <a:prstDash val="solid"/>
          </a:ln>
        </p:spPr>
      </p:sp>
      <p:sp>
        <p:nvSpPr>
          <p:cNvPr id="114" name="Shape 112"/>
          <p:cNvSpPr/>
          <p:nvPr/>
        </p:nvSpPr>
        <p:spPr>
          <a:xfrm>
            <a:off x="11146536" y="2642616"/>
            <a:ext cx="201168" cy="201168"/>
          </a:xfrm>
          <a:prstGeom prst="ellipse">
            <a:avLst/>
          </a:prstGeom>
          <a:solidFill>
            <a:srgbClr val="17394B"/>
          </a:solidFill>
          <a:ln w="19050">
            <a:solidFill>
              <a:srgbClr val="0891B2"/>
            </a:solidFill>
            <a:prstDash val="solid"/>
          </a:ln>
        </p:spPr>
      </p:sp>
      <p:sp>
        <p:nvSpPr>
          <p:cNvPr id="115" name="Shape 113"/>
          <p:cNvSpPr/>
          <p:nvPr/>
        </p:nvSpPr>
        <p:spPr>
          <a:xfrm>
            <a:off x="7488936" y="3557016"/>
            <a:ext cx="201168" cy="201168"/>
          </a:xfrm>
          <a:prstGeom prst="ellipse">
            <a:avLst/>
          </a:prstGeom>
          <a:solidFill>
            <a:srgbClr val="17394B"/>
          </a:solidFill>
          <a:ln w="19050">
            <a:solidFill>
              <a:srgbClr val="0891B2"/>
            </a:solidFill>
            <a:prstDash val="solid"/>
          </a:ln>
        </p:spPr>
      </p:sp>
      <p:sp>
        <p:nvSpPr>
          <p:cNvPr id="116" name="Shape 114"/>
          <p:cNvSpPr/>
          <p:nvPr/>
        </p:nvSpPr>
        <p:spPr>
          <a:xfrm>
            <a:off x="8403336" y="3557016"/>
            <a:ext cx="201168" cy="201168"/>
          </a:xfrm>
          <a:prstGeom prst="ellipse">
            <a:avLst/>
          </a:prstGeom>
          <a:solidFill>
            <a:srgbClr val="17394B"/>
          </a:solidFill>
          <a:ln w="19050">
            <a:solidFill>
              <a:srgbClr val="0891B2"/>
            </a:solidFill>
            <a:prstDash val="solid"/>
          </a:ln>
        </p:spPr>
      </p:sp>
      <p:sp>
        <p:nvSpPr>
          <p:cNvPr id="117" name="Shape 115"/>
          <p:cNvSpPr/>
          <p:nvPr/>
        </p:nvSpPr>
        <p:spPr>
          <a:xfrm>
            <a:off x="9281160" y="3520440"/>
            <a:ext cx="274320" cy="274320"/>
          </a:xfrm>
          <a:prstGeom prst="ellipse">
            <a:avLst/>
          </a:prstGeom>
          <a:solidFill>
            <a:srgbClr val="D9622B"/>
          </a:solidFill>
          <a:ln w="19050">
            <a:solidFill>
              <a:srgbClr val="F4A57C"/>
            </a:solidFill>
            <a:prstDash val="solid"/>
          </a:ln>
        </p:spPr>
      </p:sp>
      <p:sp>
        <p:nvSpPr>
          <p:cNvPr id="118" name="Shape 116"/>
          <p:cNvSpPr/>
          <p:nvPr/>
        </p:nvSpPr>
        <p:spPr>
          <a:xfrm>
            <a:off x="10232136" y="3557016"/>
            <a:ext cx="201168" cy="201168"/>
          </a:xfrm>
          <a:prstGeom prst="ellipse">
            <a:avLst/>
          </a:prstGeom>
          <a:solidFill>
            <a:srgbClr val="17394B"/>
          </a:solidFill>
          <a:ln w="19050">
            <a:solidFill>
              <a:srgbClr val="0891B2"/>
            </a:solidFill>
            <a:prstDash val="solid"/>
          </a:ln>
        </p:spPr>
      </p:sp>
      <p:sp>
        <p:nvSpPr>
          <p:cNvPr id="119" name="Shape 117"/>
          <p:cNvSpPr/>
          <p:nvPr/>
        </p:nvSpPr>
        <p:spPr>
          <a:xfrm>
            <a:off x="11146536" y="3557016"/>
            <a:ext cx="201168" cy="201168"/>
          </a:xfrm>
          <a:prstGeom prst="ellipse">
            <a:avLst/>
          </a:prstGeom>
          <a:solidFill>
            <a:srgbClr val="17394B"/>
          </a:solidFill>
          <a:ln w="19050">
            <a:solidFill>
              <a:srgbClr val="0891B2"/>
            </a:solidFill>
            <a:prstDash val="solid"/>
          </a:ln>
        </p:spPr>
      </p:sp>
      <p:sp>
        <p:nvSpPr>
          <p:cNvPr id="120" name="Shape 118"/>
          <p:cNvSpPr/>
          <p:nvPr/>
        </p:nvSpPr>
        <p:spPr>
          <a:xfrm>
            <a:off x="7488936" y="4471416"/>
            <a:ext cx="201168" cy="201168"/>
          </a:xfrm>
          <a:prstGeom prst="ellipse">
            <a:avLst/>
          </a:prstGeom>
          <a:solidFill>
            <a:srgbClr val="17394B"/>
          </a:solidFill>
          <a:ln w="19050">
            <a:solidFill>
              <a:srgbClr val="0891B2"/>
            </a:solidFill>
            <a:prstDash val="solid"/>
          </a:ln>
        </p:spPr>
      </p:sp>
      <p:sp>
        <p:nvSpPr>
          <p:cNvPr id="121" name="Shape 119"/>
          <p:cNvSpPr/>
          <p:nvPr/>
        </p:nvSpPr>
        <p:spPr>
          <a:xfrm>
            <a:off x="8403336" y="4471416"/>
            <a:ext cx="201168" cy="201168"/>
          </a:xfrm>
          <a:prstGeom prst="ellipse">
            <a:avLst/>
          </a:prstGeom>
          <a:solidFill>
            <a:srgbClr val="17394B"/>
          </a:solidFill>
          <a:ln w="19050">
            <a:solidFill>
              <a:srgbClr val="0891B2"/>
            </a:solidFill>
            <a:prstDash val="solid"/>
          </a:ln>
        </p:spPr>
      </p:sp>
      <p:sp>
        <p:nvSpPr>
          <p:cNvPr id="122" name="Shape 120"/>
          <p:cNvSpPr/>
          <p:nvPr/>
        </p:nvSpPr>
        <p:spPr>
          <a:xfrm>
            <a:off x="9317736" y="4471416"/>
            <a:ext cx="201168" cy="201168"/>
          </a:xfrm>
          <a:prstGeom prst="ellipse">
            <a:avLst/>
          </a:prstGeom>
          <a:solidFill>
            <a:srgbClr val="17394B"/>
          </a:solidFill>
          <a:ln w="19050">
            <a:solidFill>
              <a:srgbClr val="0891B2"/>
            </a:solidFill>
            <a:prstDash val="solid"/>
          </a:ln>
        </p:spPr>
      </p:sp>
      <p:sp>
        <p:nvSpPr>
          <p:cNvPr id="123" name="Shape 121"/>
          <p:cNvSpPr/>
          <p:nvPr/>
        </p:nvSpPr>
        <p:spPr>
          <a:xfrm>
            <a:off x="10232136" y="4471416"/>
            <a:ext cx="201168" cy="201168"/>
          </a:xfrm>
          <a:prstGeom prst="ellipse">
            <a:avLst/>
          </a:prstGeom>
          <a:solidFill>
            <a:srgbClr val="17394B"/>
          </a:solidFill>
          <a:ln w="19050">
            <a:solidFill>
              <a:srgbClr val="0891B2"/>
            </a:solidFill>
            <a:prstDash val="solid"/>
          </a:ln>
        </p:spPr>
      </p:sp>
      <p:sp>
        <p:nvSpPr>
          <p:cNvPr id="124" name="Shape 122"/>
          <p:cNvSpPr/>
          <p:nvPr/>
        </p:nvSpPr>
        <p:spPr>
          <a:xfrm>
            <a:off x="11146536" y="4471416"/>
            <a:ext cx="201168" cy="201168"/>
          </a:xfrm>
          <a:prstGeom prst="ellipse">
            <a:avLst/>
          </a:prstGeom>
          <a:solidFill>
            <a:srgbClr val="17394B"/>
          </a:solidFill>
          <a:ln w="19050">
            <a:solidFill>
              <a:srgbClr val="0891B2"/>
            </a:solidFill>
            <a:prstDash val="solid"/>
          </a:ln>
        </p:spPr>
      </p:sp>
      <p:sp>
        <p:nvSpPr>
          <p:cNvPr id="125" name="Shape 123"/>
          <p:cNvSpPr/>
          <p:nvPr/>
        </p:nvSpPr>
        <p:spPr>
          <a:xfrm>
            <a:off x="7488936" y="5385816"/>
            <a:ext cx="201168" cy="201168"/>
          </a:xfrm>
          <a:prstGeom prst="ellipse">
            <a:avLst/>
          </a:prstGeom>
          <a:solidFill>
            <a:srgbClr val="17394B"/>
          </a:solidFill>
          <a:ln w="19050">
            <a:solidFill>
              <a:srgbClr val="0891B2"/>
            </a:solidFill>
            <a:prstDash val="solid"/>
          </a:ln>
        </p:spPr>
      </p:sp>
      <p:sp>
        <p:nvSpPr>
          <p:cNvPr id="126" name="Shape 124"/>
          <p:cNvSpPr/>
          <p:nvPr/>
        </p:nvSpPr>
        <p:spPr>
          <a:xfrm>
            <a:off x="8403336" y="5385816"/>
            <a:ext cx="201168" cy="201168"/>
          </a:xfrm>
          <a:prstGeom prst="ellipse">
            <a:avLst/>
          </a:prstGeom>
          <a:solidFill>
            <a:srgbClr val="17394B"/>
          </a:solidFill>
          <a:ln w="19050">
            <a:solidFill>
              <a:srgbClr val="0891B2"/>
            </a:solidFill>
            <a:prstDash val="solid"/>
          </a:ln>
        </p:spPr>
      </p:sp>
      <p:sp>
        <p:nvSpPr>
          <p:cNvPr id="127" name="Shape 125"/>
          <p:cNvSpPr/>
          <p:nvPr/>
        </p:nvSpPr>
        <p:spPr>
          <a:xfrm>
            <a:off x="9317736" y="5385816"/>
            <a:ext cx="201168" cy="201168"/>
          </a:xfrm>
          <a:prstGeom prst="ellipse">
            <a:avLst/>
          </a:prstGeom>
          <a:solidFill>
            <a:srgbClr val="17394B"/>
          </a:solidFill>
          <a:ln w="19050">
            <a:solidFill>
              <a:srgbClr val="0891B2"/>
            </a:solidFill>
            <a:prstDash val="solid"/>
          </a:ln>
        </p:spPr>
      </p:sp>
      <p:sp>
        <p:nvSpPr>
          <p:cNvPr id="128" name="Shape 126"/>
          <p:cNvSpPr/>
          <p:nvPr/>
        </p:nvSpPr>
        <p:spPr>
          <a:xfrm>
            <a:off x="10232136" y="5385816"/>
            <a:ext cx="201168" cy="201168"/>
          </a:xfrm>
          <a:prstGeom prst="ellipse">
            <a:avLst/>
          </a:prstGeom>
          <a:solidFill>
            <a:srgbClr val="17394B"/>
          </a:solidFill>
          <a:ln w="19050">
            <a:solidFill>
              <a:srgbClr val="0891B2"/>
            </a:solidFill>
            <a:prstDash val="solid"/>
          </a:ln>
        </p:spPr>
      </p:sp>
      <p:sp>
        <p:nvSpPr>
          <p:cNvPr id="129" name="Shape 127"/>
          <p:cNvSpPr/>
          <p:nvPr/>
        </p:nvSpPr>
        <p:spPr>
          <a:xfrm>
            <a:off x="11109960" y="5349240"/>
            <a:ext cx="274320" cy="274320"/>
          </a:xfrm>
          <a:prstGeom prst="ellipse">
            <a:avLst/>
          </a:prstGeom>
          <a:solidFill>
            <a:srgbClr val="D9622B"/>
          </a:solidFill>
          <a:ln w="19050">
            <a:solidFill>
              <a:srgbClr val="F4A57C"/>
            </a:solidFill>
            <a:prstDash val="solid"/>
          </a:ln>
        </p:spPr>
      </p:sp>
      <p:sp>
        <p:nvSpPr>
          <p:cNvPr id="130" name="Text 128"/>
          <p:cNvSpPr txBox="1"/>
          <p:nvPr/>
        </p:nvSpPr>
        <p:spPr>
          <a:xfrm>
            <a:off x="640080" y="1828800"/>
            <a:ext cx="658368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p>
        </p:txBody>
      </p:sp>
      <p:sp>
        <p:nvSpPr>
          <p:cNvPr id="131" name="Text 129"/>
          <p:cNvSpPr txBox="1"/>
          <p:nvPr/>
        </p:nvSpPr>
        <p:spPr>
          <a:xfrm>
            <a:off x="640080" y="2971800"/>
            <a:ext cx="6583680" cy="548640"/>
          </a:xfrm>
          <a:prstGeom prst="rect">
            <a:avLst/>
          </a:prstGeom>
          <a:noFill/>
          <a:ln/>
        </p:spPr>
        <p:txBody>
          <a:bodyPr wrap="square" lIns="0" tIns="0" rIns="0" bIns="0" rtlCol="0" anchor="t"/>
          <a:lstStyle/>
          <a:p>
            <a:pPr indent="0" marL="0">
              <a:buNone/>
            </a:pPr>
            <a:r>
              <a:rPr lang="en-US" sz="2400" dirty="0">
                <a:solidFill>
                  <a:schemeClr val="accent6"/>
                </a:solidFill>
              </a:rPr>
              <a:t>Questions and live demo</a:t>
            </a:r>
            <a:endParaRPr lang="en-US" sz="2400" dirty="0"/>
          </a:p>
        </p:txBody>
      </p:sp>
      <p:sp>
        <p:nvSpPr>
          <p:cNvPr id="132" name="Text 130"/>
          <p:cNvSpPr txBox="1"/>
          <p:nvPr/>
        </p:nvSpPr>
        <p:spPr>
          <a:xfrm>
            <a:off x="640080" y="4206240"/>
            <a:ext cx="6675120" cy="640080"/>
          </a:xfrm>
          <a:prstGeom prst="rect">
            <a:avLst/>
          </a:prstGeom>
          <a:noFill/>
          <a:ln/>
        </p:spPr>
        <p:txBody>
          <a:bodyPr wrap="square" lIns="0" tIns="0" rIns="0" bIns="0" rtlCol="0" anchor="t"/>
          <a:lstStyle/>
          <a:p>
            <a:pPr indent="0" marL="0">
              <a:buNone/>
            </a:pPr>
            <a:r>
              <a:rPr lang="en-US" sz="1400" b="1" dirty="0">
                <a:solidFill>
                  <a:schemeClr val="accent5"/>
                </a:solidFill>
              </a:rPr>
              <a:t>Code  </a:t>
            </a:r>
            <a:pPr indent="0" marL="0">
              <a:buNone/>
            </a:pPr>
            <a:r>
              <a:rPr lang="en-US" sz="1400" dirty="0">
                <a:solidFill>
                  <a:srgbClr val="D6E4EA"/>
                </a:solidFill>
              </a:rPr>
              <a:t>github.com/Sai-Mohith24/MOFChat-AI-Driven-Material-Recommendation-</a:t>
            </a:r>
            <a:endParaRPr lang="en-US" sz="1400" dirty="0"/>
          </a:p>
        </p:txBody>
      </p:sp>
      <p:sp>
        <p:nvSpPr>
          <p:cNvPr id="133" name="Text 131"/>
          <p:cNvSpPr txBox="1"/>
          <p:nvPr/>
        </p:nvSpPr>
        <p:spPr>
          <a:xfrm>
            <a:off x="640080" y="5029200"/>
            <a:ext cx="6675120" cy="365760"/>
          </a:xfrm>
          <a:prstGeom prst="rect">
            <a:avLst/>
          </a:prstGeom>
          <a:noFill/>
          <a:ln/>
        </p:spPr>
        <p:txBody>
          <a:bodyPr wrap="square" lIns="0" tIns="0" rIns="0" bIns="0" rtlCol="0" anchor="t"/>
          <a:lstStyle/>
          <a:p>
            <a:pPr indent="0" marL="0">
              <a:buNone/>
            </a:pPr>
            <a:r>
              <a:rPr lang="en-US" sz="1400" dirty="0">
                <a:solidFill>
                  <a:srgbClr val="9FB6C1"/>
                </a:solidFill>
              </a:rPr>
              <a:t>Team 09  ·  22AIE452 Data Driven Material Modeling and Simulation</a:t>
            </a:r>
            <a:endParaRPr lang="en-US" sz="1400" dirty="0"/>
          </a:p>
        </p:txBody>
      </p:sp>
    </p:spTree>
  </p:cSld>
  <p:clrMapOvr>
    <a:masterClrMapping/>
  </p:clrMapOvr>
</p:sld>
</file>

<file path=ppt/theme/theme1.xml><?xml version="1.0" encoding="utf-8"?>
<a:theme xmlns:a="http://schemas.openxmlformats.org/drawingml/2006/main" name="MOFChat Crystal Lattice">
  <a:themeElements>
    <a:clrScheme name="MOFChat Crystal Lattice">
      <a:dk1>
        <a:srgbClr val="0F2433"/>
      </a:dk1>
      <a:lt1>
        <a:srgbClr val="FFFFFF"/>
      </a:lt1>
      <a:dk2>
        <a:srgbClr val="1B3A4B"/>
      </a:dk2>
      <a:lt2>
        <a:srgbClr val="F2F6F7"/>
      </a:lt2>
      <a:accent1>
        <a:srgbClr val="0891B2"/>
      </a:accent1>
      <a:accent2>
        <a:srgbClr val="D9622B"/>
      </a:accent2>
      <a:accent3>
        <a:srgbClr val="5B6B73"/>
      </a:accent3>
      <a:accent4>
        <a:srgbClr val="C5CFD3"/>
      </a:accent4>
      <a:accent5>
        <a:srgbClr val="67D4E8"/>
      </a:accent5>
      <a:accent6>
        <a:srgbClr val="F4A57C"/>
      </a:accent6>
      <a:hlink>
        <a:srgbClr val="0891B2"/>
      </a:hlink>
      <a:folHlink>
        <a:srgbClr val="5B6B73"/>
      </a:folHlink>
    </a:clrScheme>
    <a:fontScheme name="MOFChat Crystal Latt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Team 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MOFChat - Final Review</dc:title>
  <dc:subject>PptxGenJS Presentation</dc:subject>
  <dc:creator>Team 09, 22AIE452</dc:creator>
  <cp:lastModifiedBy>Team 09, 22AIE452</cp:lastModifiedBy>
  <cp:revision>1</cp:revision>
  <dcterms:created xsi:type="dcterms:W3CDTF">2026-10-21T16:29:36Z</dcterms:created>
  <dcterms:modified xsi:type="dcterms:W3CDTF">2026-10-21T16:29:36Z</dcterms:modified>
</cp:coreProperties>
</file>