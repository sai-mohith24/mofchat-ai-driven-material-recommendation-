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4.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0689336" cy="7562088"/>
  <p:notesSz cx="7562088" cy="1068933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047b47b-1e99-99ee-bda7-c2ec165c1034}">
          <p14:sldIdLst>
            <p14:sldId id="256"/>
            <p14:sldId id="257"/>
            <p14:sldId id="258"/>
            <p14:sldId id="259"/>
          </p14:sldIdLst>
        </p14:section>
        <p14:section name="Objectives" id="{145185e5-6f42-eee2-815e-28c8cf2dc989}">
          <p14:sldIdLst>
            <p14:sldId id="260"/>
          </p14:sldIdLst>
        </p14:section>
        <p14:section name="Literature" id="{748c3224-c299-4981-1dbf-f4df9192a499}">
          <p14:sldIdLst>
            <p14:sldId id="261"/>
            <p14:sldId id="262"/>
            <p14:sldId id="263"/>
            <p14:sldId id="264"/>
          </p14:sldIdLst>
        </p14:section>
        <p14:section name="Dataset" id="{e0163d00-7ab7-3687-8f15-555d496ee782}">
          <p14:sldIdLst>
            <p14:sldId id="265"/>
            <p14:sldId id="266"/>
            <p14:sldId id="267"/>
          </p14:sldIdLst>
        </p14:section>
        <p14:section name="Architecture" id="{d5707f64-de09-4355-fd9d-0bee62b13767}">
          <p14:sldIdLst>
            <p14:sldId id="268"/>
            <p14:sldId id="269"/>
            <p14:sldId id="270"/>
            <p14:sldId id="271"/>
            <p14:sldId id="272"/>
            <p14:sldId id="273"/>
            <p14:sldId id="274"/>
          </p14:sldIdLst>
        </p14:section>
        <p14:section name="Results" id="{8207cecc-1647-e377-4b94-25da0e7a18a8}">
          <p14:sldIdLst>
            <p14:sldId id="275"/>
            <p14:sldId id="276"/>
            <p14:sldId id="277"/>
            <p14:sldId id="278"/>
            <p14:sldId id="279"/>
            <p14:sldId id="280"/>
            <p14:sldId id="281"/>
            <p14:sldId id="282"/>
            <p14:sldId id="283"/>
            <p14:sldId id="284"/>
          </p14:sldIdLst>
        </p14:section>
        <p14:section name="Application" id="{4310b34a-2631-42e2-17c8-c4911afe41df}">
          <p14:sldIdLst>
            <p14:sldId id="285"/>
          </p14:sldIdLst>
        </p14:section>
        <p14:section name="Conclusion" id="{8347c846-8395-f2cc-707b-95b6a06be51d}">
          <p14:sldIdLst>
            <p14:sldId id="286"/>
            <p14:sldId id="287"/>
            <p14:sldId id="288"/>
            <p14:sldId id="289"/>
          </p14:sldIdLst>
        </p14:section>
        <p14:section name="Appendix" id="{497a3bc2-f535-7538-55d6-117d6be1bdb2}">
          <p14:sldIdLst>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H2 storage: 10,226 MOFs with PLD ≥ 2.89 Å</a:t>
            </a:r>
          </a:p>
        </c:rich>
      </c:tx>
      <c:layout/>
      <c:overlay val="0"/>
    </c:title>
    <c:autoTitleDeleted val="0"/>
    <c:plotArea>
      <c:layout/>
      <c:scatterChart>
        <c:scatterStyle val="lineMarker"/>
        <c:varyColors val="0"/>
        <c:ser>
          <c:idx val="0"/>
          <c:order val="0"/>
          <c:tx>
            <c:strRef>
              <c:f>Sheet1!$B$1</c:f>
              <c:strCache>
                <c:ptCount val="1"/>
                <c:pt idx="0">
                  <c:v>Candidates (sample of 700)</c:v>
                </c:pt>
              </c:strCache>
            </c:strRef>
          </c:tx>
          <c:spPr>
            <a:solidFill>
              <a:srgbClr val="BFBFBF"/>
            </a:solidFill>
            <a:ln>
              <a:noFill/>
            </a:ln>
            <a:effectLst/>
          </c:spPr>
          <c:marker>
            <c:symbol val="circle"/>
            <c:size val="6"/>
            <c:spPr>
              <a:solidFill>
                <a:srgbClr val="BFBFBF"/>
              </a:solidFill>
              <a:ln w="9525" cap="flat">
                <a:solidFill>
                  <a:srgbClr val="BFBFBF"/>
                </a:solidFill>
                <a:prstDash val="solid"/>
                <a:round/>
              </a:ln>
              <a:effectLst/>
            </c:spPr>
          </c:marker>
          <c:xVal>
            <c:numRef>
              <c:f>Sheet1!$A$2:$A$714</c:f>
              <c:numCache>
                <c:formatCode>General</c:formatCode>
                <c:ptCount val="713"/>
                <c:pt idx="0">
                  <c:v>545.82</c:v>
                </c:pt>
                <c:pt idx="1">
                  <c:v>0</c:v>
                </c:pt>
                <c:pt idx="2">
                  <c:v>4172.71</c:v>
                </c:pt>
                <c:pt idx="3">
                  <c:v>2713.58</c:v>
                </c:pt>
                <c:pt idx="4">
                  <c:v>506.618</c:v>
                </c:pt>
                <c:pt idx="5">
                  <c:v>2068.99</c:v>
                </c:pt>
                <c:pt idx="6">
                  <c:v>1271.94</c:v>
                </c:pt>
                <c:pt idx="7">
                  <c:v>0</c:v>
                </c:pt>
                <c:pt idx="8">
                  <c:v>453.821</c:v>
                </c:pt>
                <c:pt idx="9">
                  <c:v>572.359</c:v>
                </c:pt>
                <c:pt idx="10">
                  <c:v>1693.37</c:v>
                </c:pt>
                <c:pt idx="11">
                  <c:v>416.31</c:v>
                </c:pt>
                <c:pt idx="12">
                  <c:v>0</c:v>
                </c:pt>
                <c:pt idx="13">
                  <c:v>259.461</c:v>
                </c:pt>
                <c:pt idx="14">
                  <c:v>242.09</c:v>
                </c:pt>
                <c:pt idx="15">
                  <c:v>1349.38</c:v>
                </c:pt>
                <c:pt idx="16">
                  <c:v>916.008</c:v>
                </c:pt>
                <c:pt idx="17">
                  <c:v>1525.26</c:v>
                </c:pt>
                <c:pt idx="18">
                  <c:v>764.667</c:v>
                </c:pt>
                <c:pt idx="19">
                  <c:v>763.156</c:v>
                </c:pt>
                <c:pt idx="20">
                  <c:v>0</c:v>
                </c:pt>
                <c:pt idx="21">
                  <c:v>1180.25</c:v>
                </c:pt>
                <c:pt idx="22">
                  <c:v>1200.36</c:v>
                </c:pt>
                <c:pt idx="23">
                  <c:v>669.362</c:v>
                </c:pt>
                <c:pt idx="24">
                  <c:v>534.065</c:v>
                </c:pt>
                <c:pt idx="25">
                  <c:v>4456.97</c:v>
                </c:pt>
                <c:pt idx="26">
                  <c:v>1944.66</c:v>
                </c:pt>
                <c:pt idx="27">
                  <c:v>0</c:v>
                </c:pt>
                <c:pt idx="28">
                  <c:v>729.746</c:v>
                </c:pt>
                <c:pt idx="29">
                  <c:v>1731.28</c:v>
                </c:pt>
                <c:pt idx="30">
                  <c:v>0</c:v>
                </c:pt>
                <c:pt idx="31">
                  <c:v>2126.83</c:v>
                </c:pt>
                <c:pt idx="32">
                  <c:v>5633.74</c:v>
                </c:pt>
                <c:pt idx="33">
                  <c:v>1609.79</c:v>
                </c:pt>
                <c:pt idx="34">
                  <c:v>2332.52</c:v>
                </c:pt>
                <c:pt idx="35">
                  <c:v>4087.73</c:v>
                </c:pt>
                <c:pt idx="36">
                  <c:v>1169.08</c:v>
                </c:pt>
                <c:pt idx="37">
                  <c:v>2806.02</c:v>
                </c:pt>
                <c:pt idx="38">
                  <c:v>0</c:v>
                </c:pt>
                <c:pt idx="39">
                  <c:v>0</c:v>
                </c:pt>
                <c:pt idx="40">
                  <c:v>0</c:v>
                </c:pt>
                <c:pt idx="41">
                  <c:v>1134.17</c:v>
                </c:pt>
                <c:pt idx="42">
                  <c:v>1593</c:v>
                </c:pt>
                <c:pt idx="43">
                  <c:v>765.906</c:v>
                </c:pt>
                <c:pt idx="44">
                  <c:v>1240.98</c:v>
                </c:pt>
                <c:pt idx="45">
                  <c:v>1300.59</c:v>
                </c:pt>
                <c:pt idx="46">
                  <c:v>2609.57</c:v>
                </c:pt>
                <c:pt idx="47">
                  <c:v>568.828</c:v>
                </c:pt>
                <c:pt idx="48">
                  <c:v>2398.93</c:v>
                </c:pt>
                <c:pt idx="49">
                  <c:v>1642.13</c:v>
                </c:pt>
                <c:pt idx="50">
                  <c:v>2031.62</c:v>
                </c:pt>
                <c:pt idx="51">
                  <c:v>1168.65</c:v>
                </c:pt>
                <c:pt idx="52">
                  <c:v>885.371</c:v>
                </c:pt>
                <c:pt idx="53">
                  <c:v>0</c:v>
                </c:pt>
                <c:pt idx="54">
                  <c:v>469.341</c:v>
                </c:pt>
                <c:pt idx="55">
                  <c:v>608.942</c:v>
                </c:pt>
                <c:pt idx="56">
                  <c:v>563.951</c:v>
                </c:pt>
                <c:pt idx="57">
                  <c:v>796.865</c:v>
                </c:pt>
                <c:pt idx="58">
                  <c:v>1007.93</c:v>
                </c:pt>
                <c:pt idx="59">
                  <c:v>635.609</c:v>
                </c:pt>
                <c:pt idx="60">
                  <c:v>0</c:v>
                </c:pt>
                <c:pt idx="61">
                  <c:v>781.89</c:v>
                </c:pt>
                <c:pt idx="62">
                  <c:v>2371.82</c:v>
                </c:pt>
                <c:pt idx="63">
                  <c:v>1821.21</c:v>
                </c:pt>
                <c:pt idx="64">
                  <c:v>1630.43</c:v>
                </c:pt>
                <c:pt idx="65">
                  <c:v>0</c:v>
                </c:pt>
                <c:pt idx="66">
                  <c:v>695.781</c:v>
                </c:pt>
                <c:pt idx="67">
                  <c:v>1696.49</c:v>
                </c:pt>
                <c:pt idx="68">
                  <c:v>606.343</c:v>
                </c:pt>
                <c:pt idx="69">
                  <c:v>954.205</c:v>
                </c:pt>
                <c:pt idx="70">
                  <c:v>423.257</c:v>
                </c:pt>
                <c:pt idx="71">
                  <c:v>569.831</c:v>
                </c:pt>
                <c:pt idx="72">
                  <c:v>1134.33</c:v>
                </c:pt>
                <c:pt idx="73">
                  <c:v>2552.15</c:v>
                </c:pt>
                <c:pt idx="74">
                  <c:v>1943.66</c:v>
                </c:pt>
                <c:pt idx="75">
                  <c:v>371.02</c:v>
                </c:pt>
                <c:pt idx="76">
                  <c:v>1675.41</c:v>
                </c:pt>
                <c:pt idx="77">
                  <c:v>539.212</c:v>
                </c:pt>
                <c:pt idx="78">
                  <c:v>831.808</c:v>
                </c:pt>
                <c:pt idx="79">
                  <c:v>2061.03</c:v>
                </c:pt>
                <c:pt idx="80">
                  <c:v>1884.87</c:v>
                </c:pt>
                <c:pt idx="81">
                  <c:v>492.811</c:v>
                </c:pt>
                <c:pt idx="82">
                  <c:v>917.059</c:v>
                </c:pt>
                <c:pt idx="83">
                  <c:v>249.498</c:v>
                </c:pt>
                <c:pt idx="84">
                  <c:v>2117.36</c:v>
                </c:pt>
                <c:pt idx="85">
                  <c:v>3613.74</c:v>
                </c:pt>
                <c:pt idx="86">
                  <c:v>2022.22</c:v>
                </c:pt>
                <c:pt idx="87">
                  <c:v>2769.29</c:v>
                </c:pt>
                <c:pt idx="88">
                  <c:v>2068.16</c:v>
                </c:pt>
                <c:pt idx="89">
                  <c:v>1079.15</c:v>
                </c:pt>
                <c:pt idx="90">
                  <c:v>1444.86</c:v>
                </c:pt>
                <c:pt idx="91">
                  <c:v>350.505</c:v>
                </c:pt>
                <c:pt idx="92">
                  <c:v>1953.94</c:v>
                </c:pt>
                <c:pt idx="93">
                  <c:v>780.005</c:v>
                </c:pt>
                <c:pt idx="94">
                  <c:v>1906.44</c:v>
                </c:pt>
                <c:pt idx="95">
                  <c:v>2676.71</c:v>
                </c:pt>
                <c:pt idx="96">
                  <c:v>740.859</c:v>
                </c:pt>
                <c:pt idx="97">
                  <c:v>527.802</c:v>
                </c:pt>
                <c:pt idx="98">
                  <c:v>1522.76</c:v>
                </c:pt>
                <c:pt idx="99">
                  <c:v>465.173</c:v>
                </c:pt>
                <c:pt idx="100">
                  <c:v>0</c:v>
                </c:pt>
                <c:pt idx="101">
                  <c:v>0</c:v>
                </c:pt>
                <c:pt idx="102">
                  <c:v>762.952</c:v>
                </c:pt>
                <c:pt idx="103">
                  <c:v>0</c:v>
                </c:pt>
                <c:pt idx="104">
                  <c:v>3296.16</c:v>
                </c:pt>
                <c:pt idx="105">
                  <c:v>1393.89</c:v>
                </c:pt>
                <c:pt idx="106">
                  <c:v>144.09</c:v>
                </c:pt>
                <c:pt idx="107">
                  <c:v>1695.22</c:v>
                </c:pt>
                <c:pt idx="108">
                  <c:v>1331.4</c:v>
                </c:pt>
                <c:pt idx="109">
                  <c:v>496.303</c:v>
                </c:pt>
                <c:pt idx="110">
                  <c:v>435.067</c:v>
                </c:pt>
                <c:pt idx="111">
                  <c:v>2916.02</c:v>
                </c:pt>
                <c:pt idx="112">
                  <c:v>1371.88</c:v>
                </c:pt>
                <c:pt idx="113">
                  <c:v>527.818</c:v>
                </c:pt>
                <c:pt idx="114">
                  <c:v>0</c:v>
                </c:pt>
                <c:pt idx="115">
                  <c:v>0</c:v>
                </c:pt>
                <c:pt idx="116">
                  <c:v>381.159</c:v>
                </c:pt>
                <c:pt idx="117">
                  <c:v>417.302</c:v>
                </c:pt>
                <c:pt idx="118">
                  <c:v>1512.66</c:v>
                </c:pt>
                <c:pt idx="119">
                  <c:v>2608.35</c:v>
                </c:pt>
                <c:pt idx="120">
                  <c:v>2351.98</c:v>
                </c:pt>
                <c:pt idx="121">
                  <c:v>2478.78</c:v>
                </c:pt>
                <c:pt idx="122">
                  <c:v>2646</c:v>
                </c:pt>
                <c:pt idx="123">
                  <c:v>545.932</c:v>
                </c:pt>
                <c:pt idx="124">
                  <c:v>0</c:v>
                </c:pt>
                <c:pt idx="125">
                  <c:v>594.949</c:v>
                </c:pt>
                <c:pt idx="126">
                  <c:v>0</c:v>
                </c:pt>
                <c:pt idx="127">
                  <c:v>1105.24</c:v>
                </c:pt>
                <c:pt idx="128">
                  <c:v>512.733</c:v>
                </c:pt>
                <c:pt idx="129">
                  <c:v>609.926</c:v>
                </c:pt>
                <c:pt idx="130">
                  <c:v>0</c:v>
                </c:pt>
                <c:pt idx="131">
                  <c:v>3453</c:v>
                </c:pt>
                <c:pt idx="132">
                  <c:v>1109.01</c:v>
                </c:pt>
                <c:pt idx="133">
                  <c:v>0</c:v>
                </c:pt>
                <c:pt idx="134">
                  <c:v>0</c:v>
                </c:pt>
                <c:pt idx="135">
                  <c:v>246.694</c:v>
                </c:pt>
                <c:pt idx="136">
                  <c:v>1677.82</c:v>
                </c:pt>
                <c:pt idx="137">
                  <c:v>1447.48</c:v>
                </c:pt>
                <c:pt idx="138">
                  <c:v>320.302</c:v>
                </c:pt>
                <c:pt idx="139">
                  <c:v>855.37</c:v>
                </c:pt>
                <c:pt idx="140">
                  <c:v>3282.31</c:v>
                </c:pt>
                <c:pt idx="141">
                  <c:v>1527.42</c:v>
                </c:pt>
                <c:pt idx="142">
                  <c:v>495.388</c:v>
                </c:pt>
                <c:pt idx="143">
                  <c:v>977.523</c:v>
                </c:pt>
                <c:pt idx="144">
                  <c:v>597.937</c:v>
                </c:pt>
                <c:pt idx="145">
                  <c:v>0</c:v>
                </c:pt>
                <c:pt idx="146">
                  <c:v>1734.34</c:v>
                </c:pt>
                <c:pt idx="147">
                  <c:v>1876.59</c:v>
                </c:pt>
                <c:pt idx="148">
                  <c:v>1439.3</c:v>
                </c:pt>
                <c:pt idx="149">
                  <c:v>505.572</c:v>
                </c:pt>
                <c:pt idx="150">
                  <c:v>522.32</c:v>
                </c:pt>
                <c:pt idx="151">
                  <c:v>184.259</c:v>
                </c:pt>
                <c:pt idx="152">
                  <c:v>0</c:v>
                </c:pt>
                <c:pt idx="153">
                  <c:v>1975.96</c:v>
                </c:pt>
                <c:pt idx="154">
                  <c:v>1442.8</c:v>
                </c:pt>
                <c:pt idx="155">
                  <c:v>2944.33</c:v>
                </c:pt>
                <c:pt idx="156">
                  <c:v>694.5</c:v>
                </c:pt>
                <c:pt idx="157">
                  <c:v>0</c:v>
                </c:pt>
                <c:pt idx="158">
                  <c:v>256.961</c:v>
                </c:pt>
                <c:pt idx="159">
                  <c:v>1242.32</c:v>
                </c:pt>
                <c:pt idx="160">
                  <c:v>278.462</c:v>
                </c:pt>
                <c:pt idx="161">
                  <c:v>1792.48</c:v>
                </c:pt>
                <c:pt idx="162">
                  <c:v>3015.8</c:v>
                </c:pt>
                <c:pt idx="163">
                  <c:v>3701.13</c:v>
                </c:pt>
                <c:pt idx="164">
                  <c:v>1786.13</c:v>
                </c:pt>
                <c:pt idx="165">
                  <c:v>4078.37</c:v>
                </c:pt>
                <c:pt idx="166">
                  <c:v>420.551</c:v>
                </c:pt>
                <c:pt idx="167">
                  <c:v>967.204</c:v>
                </c:pt>
                <c:pt idx="168">
                  <c:v>550.682</c:v>
                </c:pt>
                <c:pt idx="169">
                  <c:v>1619.1</c:v>
                </c:pt>
                <c:pt idx="170">
                  <c:v>3871.6</c:v>
                </c:pt>
                <c:pt idx="171">
                  <c:v>573.642</c:v>
                </c:pt>
                <c:pt idx="172">
                  <c:v>2279.51</c:v>
                </c:pt>
                <c:pt idx="173">
                  <c:v>485.841</c:v>
                </c:pt>
                <c:pt idx="174">
                  <c:v>1869.84</c:v>
                </c:pt>
                <c:pt idx="175">
                  <c:v>2612.77</c:v>
                </c:pt>
                <c:pt idx="176">
                  <c:v>709.56</c:v>
                </c:pt>
                <c:pt idx="177">
                  <c:v>426.241</c:v>
                </c:pt>
                <c:pt idx="178">
                  <c:v>552.567</c:v>
                </c:pt>
                <c:pt idx="179">
                  <c:v>2231.58</c:v>
                </c:pt>
                <c:pt idx="180">
                  <c:v>0</c:v>
                </c:pt>
                <c:pt idx="181">
                  <c:v>997.26</c:v>
                </c:pt>
                <c:pt idx="182">
                  <c:v>294.04</c:v>
                </c:pt>
                <c:pt idx="183">
                  <c:v>0</c:v>
                </c:pt>
                <c:pt idx="184">
                  <c:v>95.2905</c:v>
                </c:pt>
                <c:pt idx="185">
                  <c:v>2789.93</c:v>
                </c:pt>
                <c:pt idx="186">
                  <c:v>334.414</c:v>
                </c:pt>
                <c:pt idx="187">
                  <c:v>1463.44</c:v>
                </c:pt>
                <c:pt idx="188">
                  <c:v>403.738</c:v>
                </c:pt>
                <c:pt idx="189">
                  <c:v>2782.5</c:v>
                </c:pt>
                <c:pt idx="190">
                  <c:v>224.357</c:v>
                </c:pt>
                <c:pt idx="191">
                  <c:v>0</c:v>
                </c:pt>
                <c:pt idx="192">
                  <c:v>1132.04</c:v>
                </c:pt>
                <c:pt idx="193">
                  <c:v>2011.65</c:v>
                </c:pt>
                <c:pt idx="194">
                  <c:v>508.464</c:v>
                </c:pt>
                <c:pt idx="195">
                  <c:v>2049.74</c:v>
                </c:pt>
                <c:pt idx="196">
                  <c:v>2055.94</c:v>
                </c:pt>
                <c:pt idx="197">
                  <c:v>4502.96</c:v>
                </c:pt>
                <c:pt idx="198">
                  <c:v>1090.34</c:v>
                </c:pt>
                <c:pt idx="199">
                  <c:v>1629.78</c:v>
                </c:pt>
                <c:pt idx="200">
                  <c:v>4232.98</c:v>
                </c:pt>
                <c:pt idx="201">
                  <c:v>2160.98</c:v>
                </c:pt>
                <c:pt idx="202">
                  <c:v>877.291</c:v>
                </c:pt>
                <c:pt idx="203">
                  <c:v>0</c:v>
                </c:pt>
                <c:pt idx="204">
                  <c:v>0</c:v>
                </c:pt>
                <c:pt idx="205">
                  <c:v>3030.22</c:v>
                </c:pt>
                <c:pt idx="206">
                  <c:v>3748.72</c:v>
                </c:pt>
                <c:pt idx="207">
                  <c:v>0</c:v>
                </c:pt>
                <c:pt idx="208">
                  <c:v>2061.46</c:v>
                </c:pt>
                <c:pt idx="209">
                  <c:v>2248.26</c:v>
                </c:pt>
                <c:pt idx="210">
                  <c:v>1428.11</c:v>
                </c:pt>
                <c:pt idx="211">
                  <c:v>486.421</c:v>
                </c:pt>
                <c:pt idx="212">
                  <c:v>1617.07</c:v>
                </c:pt>
                <c:pt idx="213">
                  <c:v>2072.42</c:v>
                </c:pt>
                <c:pt idx="214">
                  <c:v>1445.9</c:v>
                </c:pt>
                <c:pt idx="215">
                  <c:v>3824.31</c:v>
                </c:pt>
                <c:pt idx="216">
                  <c:v>1417.84</c:v>
                </c:pt>
                <c:pt idx="217">
                  <c:v>1998.98</c:v>
                </c:pt>
                <c:pt idx="218">
                  <c:v>0</c:v>
                </c:pt>
                <c:pt idx="219">
                  <c:v>0</c:v>
                </c:pt>
                <c:pt idx="220">
                  <c:v>1334.81</c:v>
                </c:pt>
                <c:pt idx="221">
                  <c:v>262.825</c:v>
                </c:pt>
                <c:pt idx="222">
                  <c:v>1255.03</c:v>
                </c:pt>
                <c:pt idx="223">
                  <c:v>0</c:v>
                </c:pt>
                <c:pt idx="224">
                  <c:v>2414.16</c:v>
                </c:pt>
                <c:pt idx="225">
                  <c:v>639.585</c:v>
                </c:pt>
                <c:pt idx="226">
                  <c:v>1609.42</c:v>
                </c:pt>
                <c:pt idx="227">
                  <c:v>433.06</c:v>
                </c:pt>
                <c:pt idx="228">
                  <c:v>4788.47</c:v>
                </c:pt>
                <c:pt idx="229">
                  <c:v>636.557</c:v>
                </c:pt>
                <c:pt idx="230">
                  <c:v>494.351</c:v>
                </c:pt>
                <c:pt idx="231">
                  <c:v>3247.44</c:v>
                </c:pt>
                <c:pt idx="232">
                  <c:v>0</c:v>
                </c:pt>
                <c:pt idx="233">
                  <c:v>2037.11</c:v>
                </c:pt>
                <c:pt idx="234">
                  <c:v>2352.94</c:v>
                </c:pt>
                <c:pt idx="235">
                  <c:v>1347.74</c:v>
                </c:pt>
                <c:pt idx="236">
                  <c:v>1176.2</c:v>
                </c:pt>
                <c:pt idx="237">
                  <c:v>1539.84</c:v>
                </c:pt>
                <c:pt idx="238">
                  <c:v>256.629</c:v>
                </c:pt>
                <c:pt idx="239">
                  <c:v>886.195</c:v>
                </c:pt>
                <c:pt idx="240">
                  <c:v>2084.58</c:v>
                </c:pt>
                <c:pt idx="241">
                  <c:v>1170.94</c:v>
                </c:pt>
                <c:pt idx="242">
                  <c:v>0</c:v>
                </c:pt>
                <c:pt idx="243">
                  <c:v>718.001</c:v>
                </c:pt>
                <c:pt idx="244">
                  <c:v>0</c:v>
                </c:pt>
                <c:pt idx="245">
                  <c:v>0</c:v>
                </c:pt>
                <c:pt idx="246">
                  <c:v>1571.97</c:v>
                </c:pt>
                <c:pt idx="247">
                  <c:v>532.44</c:v>
                </c:pt>
                <c:pt idx="248">
                  <c:v>1277.73</c:v>
                </c:pt>
                <c:pt idx="249">
                  <c:v>1014.14</c:v>
                </c:pt>
                <c:pt idx="250">
                  <c:v>1019.88</c:v>
                </c:pt>
                <c:pt idx="251">
                  <c:v>890.338</c:v>
                </c:pt>
                <c:pt idx="252">
                  <c:v>1764.27</c:v>
                </c:pt>
                <c:pt idx="253">
                  <c:v>0</c:v>
                </c:pt>
                <c:pt idx="254">
                  <c:v>441.02</c:v>
                </c:pt>
                <c:pt idx="255">
                  <c:v>1809.63</c:v>
                </c:pt>
                <c:pt idx="256">
                  <c:v>0</c:v>
                </c:pt>
                <c:pt idx="257">
                  <c:v>579.643</c:v>
                </c:pt>
                <c:pt idx="258">
                  <c:v>252.133</c:v>
                </c:pt>
                <c:pt idx="259">
                  <c:v>0</c:v>
                </c:pt>
                <c:pt idx="260">
                  <c:v>2772.55</c:v>
                </c:pt>
                <c:pt idx="261">
                  <c:v>765.783</c:v>
                </c:pt>
                <c:pt idx="262">
                  <c:v>0</c:v>
                </c:pt>
                <c:pt idx="263">
                  <c:v>2640.77</c:v>
                </c:pt>
                <c:pt idx="264">
                  <c:v>0</c:v>
                </c:pt>
                <c:pt idx="265">
                  <c:v>1807</c:v>
                </c:pt>
                <c:pt idx="266">
                  <c:v>1064.88</c:v>
                </c:pt>
                <c:pt idx="267">
                  <c:v>3617.24</c:v>
                </c:pt>
                <c:pt idx="268">
                  <c:v>1812.47</c:v>
                </c:pt>
                <c:pt idx="269">
                  <c:v>3645.63</c:v>
                </c:pt>
                <c:pt idx="270">
                  <c:v>0</c:v>
                </c:pt>
                <c:pt idx="271">
                  <c:v>1019.33</c:v>
                </c:pt>
                <c:pt idx="272">
                  <c:v>1727.54</c:v>
                </c:pt>
                <c:pt idx="273">
                  <c:v>265.155</c:v>
                </c:pt>
                <c:pt idx="274">
                  <c:v>0</c:v>
                </c:pt>
                <c:pt idx="275">
                  <c:v>723.534</c:v>
                </c:pt>
                <c:pt idx="276">
                  <c:v>0</c:v>
                </c:pt>
                <c:pt idx="277">
                  <c:v>1142.54</c:v>
                </c:pt>
                <c:pt idx="278">
                  <c:v>928.009</c:v>
                </c:pt>
                <c:pt idx="279">
                  <c:v>1394.5</c:v>
                </c:pt>
                <c:pt idx="280">
                  <c:v>327.064</c:v>
                </c:pt>
                <c:pt idx="281">
                  <c:v>439.178</c:v>
                </c:pt>
                <c:pt idx="282">
                  <c:v>759.198</c:v>
                </c:pt>
                <c:pt idx="283">
                  <c:v>966.904</c:v>
                </c:pt>
                <c:pt idx="284">
                  <c:v>5172.97</c:v>
                </c:pt>
                <c:pt idx="285">
                  <c:v>2323.19</c:v>
                </c:pt>
                <c:pt idx="286">
                  <c:v>725.062</c:v>
                </c:pt>
                <c:pt idx="287">
                  <c:v>3436.94</c:v>
                </c:pt>
                <c:pt idx="288">
                  <c:v>1075.53</c:v>
                </c:pt>
                <c:pt idx="289">
                  <c:v>257.809</c:v>
                </c:pt>
                <c:pt idx="290">
                  <c:v>1293.26</c:v>
                </c:pt>
                <c:pt idx="291">
                  <c:v>134.096</c:v>
                </c:pt>
                <c:pt idx="292">
                  <c:v>1554.98</c:v>
                </c:pt>
                <c:pt idx="293">
                  <c:v>3530.9</c:v>
                </c:pt>
                <c:pt idx="294">
                  <c:v>2701.8</c:v>
                </c:pt>
                <c:pt idx="295">
                  <c:v>0</c:v>
                </c:pt>
                <c:pt idx="296">
                  <c:v>178.199</c:v>
                </c:pt>
                <c:pt idx="297">
                  <c:v>393.774</c:v>
                </c:pt>
                <c:pt idx="298">
                  <c:v>970.31</c:v>
                </c:pt>
                <c:pt idx="299">
                  <c:v>1660.22</c:v>
                </c:pt>
                <c:pt idx="300">
                  <c:v>0</c:v>
                </c:pt>
                <c:pt idx="301">
                  <c:v>2234.95</c:v>
                </c:pt>
                <c:pt idx="302">
                  <c:v>0</c:v>
                </c:pt>
                <c:pt idx="303">
                  <c:v>1021.16</c:v>
                </c:pt>
                <c:pt idx="304">
                  <c:v>83.8054</c:v>
                </c:pt>
                <c:pt idx="305">
                  <c:v>819.095</c:v>
                </c:pt>
                <c:pt idx="306">
                  <c:v>762.382</c:v>
                </c:pt>
                <c:pt idx="307">
                  <c:v>2605.28</c:v>
                </c:pt>
                <c:pt idx="308">
                  <c:v>1024.2</c:v>
                </c:pt>
                <c:pt idx="309">
                  <c:v>1031.87</c:v>
                </c:pt>
                <c:pt idx="310">
                  <c:v>4393.62</c:v>
                </c:pt>
                <c:pt idx="311">
                  <c:v>0</c:v>
                </c:pt>
                <c:pt idx="312">
                  <c:v>771.152</c:v>
                </c:pt>
                <c:pt idx="313">
                  <c:v>1005.6</c:v>
                </c:pt>
                <c:pt idx="314">
                  <c:v>549.25</c:v>
                </c:pt>
                <c:pt idx="315">
                  <c:v>437.397</c:v>
                </c:pt>
                <c:pt idx="316">
                  <c:v>0</c:v>
                </c:pt>
                <c:pt idx="317">
                  <c:v>5737</c:v>
                </c:pt>
                <c:pt idx="318">
                  <c:v>1973.11</c:v>
                </c:pt>
                <c:pt idx="319">
                  <c:v>320.112</c:v>
                </c:pt>
                <c:pt idx="320">
                  <c:v>508.268</c:v>
                </c:pt>
                <c:pt idx="321">
                  <c:v>0</c:v>
                </c:pt>
                <c:pt idx="322">
                  <c:v>1076.83</c:v>
                </c:pt>
                <c:pt idx="323">
                  <c:v>379.568</c:v>
                </c:pt>
                <c:pt idx="324">
                  <c:v>2163.48</c:v>
                </c:pt>
                <c:pt idx="325">
                  <c:v>921.195</c:v>
                </c:pt>
                <c:pt idx="326">
                  <c:v>2111.12</c:v>
                </c:pt>
                <c:pt idx="327">
                  <c:v>1409.49</c:v>
                </c:pt>
                <c:pt idx="328">
                  <c:v>2917.86</c:v>
                </c:pt>
                <c:pt idx="329">
                  <c:v>278.51</c:v>
                </c:pt>
                <c:pt idx="330">
                  <c:v>0</c:v>
                </c:pt>
                <c:pt idx="331">
                  <c:v>4729.69</c:v>
                </c:pt>
                <c:pt idx="332">
                  <c:v>4368.3</c:v>
                </c:pt>
                <c:pt idx="333">
                  <c:v>1348.86</c:v>
                </c:pt>
                <c:pt idx="334">
                  <c:v>1319.2</c:v>
                </c:pt>
                <c:pt idx="335">
                  <c:v>546.574</c:v>
                </c:pt>
                <c:pt idx="336">
                  <c:v>1990.05</c:v>
                </c:pt>
                <c:pt idx="337">
                  <c:v>1368.83</c:v>
                </c:pt>
                <c:pt idx="338">
                  <c:v>0</c:v>
                </c:pt>
                <c:pt idx="339">
                  <c:v>2466.88</c:v>
                </c:pt>
                <c:pt idx="340">
                  <c:v>485.476</c:v>
                </c:pt>
                <c:pt idx="341">
                  <c:v>3283.03</c:v>
                </c:pt>
                <c:pt idx="342">
                  <c:v>4254.04</c:v>
                </c:pt>
                <c:pt idx="343">
                  <c:v>1959.13</c:v>
                </c:pt>
                <c:pt idx="344">
                  <c:v>359.307</c:v>
                </c:pt>
                <c:pt idx="345">
                  <c:v>3091.21</c:v>
                </c:pt>
                <c:pt idx="346">
                  <c:v>1996.52</c:v>
                </c:pt>
                <c:pt idx="347">
                  <c:v>1108.85</c:v>
                </c:pt>
                <c:pt idx="348">
                  <c:v>2720.81</c:v>
                </c:pt>
                <c:pt idx="349">
                  <c:v>1279.81</c:v>
                </c:pt>
                <c:pt idx="350">
                  <c:v>1614.99</c:v>
                </c:pt>
                <c:pt idx="351">
                  <c:v>1301.95</c:v>
                </c:pt>
                <c:pt idx="352">
                  <c:v>0</c:v>
                </c:pt>
                <c:pt idx="353">
                  <c:v>726.335</c:v>
                </c:pt>
                <c:pt idx="354">
                  <c:v>691.446</c:v>
                </c:pt>
                <c:pt idx="355">
                  <c:v>1273.76</c:v>
                </c:pt>
                <c:pt idx="356">
                  <c:v>3786.57</c:v>
                </c:pt>
                <c:pt idx="357">
                  <c:v>1435.75</c:v>
                </c:pt>
                <c:pt idx="358">
                  <c:v>0</c:v>
                </c:pt>
                <c:pt idx="359">
                  <c:v>527.505</c:v>
                </c:pt>
                <c:pt idx="360">
                  <c:v>2614.92</c:v>
                </c:pt>
                <c:pt idx="361">
                  <c:v>1896.96</c:v>
                </c:pt>
                <c:pt idx="362">
                  <c:v>0</c:v>
                </c:pt>
                <c:pt idx="363">
                  <c:v>2712.69</c:v>
                </c:pt>
                <c:pt idx="364">
                  <c:v>0</c:v>
                </c:pt>
                <c:pt idx="365">
                  <c:v>850.397</c:v>
                </c:pt>
                <c:pt idx="366">
                  <c:v>780.471</c:v>
                </c:pt>
                <c:pt idx="367">
                  <c:v>1405.01</c:v>
                </c:pt>
                <c:pt idx="368">
                  <c:v>707.651</c:v>
                </c:pt>
                <c:pt idx="369">
                  <c:v>1197.39</c:v>
                </c:pt>
                <c:pt idx="370">
                  <c:v>772.734</c:v>
                </c:pt>
                <c:pt idx="371">
                  <c:v>0</c:v>
                </c:pt>
                <c:pt idx="372">
                  <c:v>1640.96</c:v>
                </c:pt>
                <c:pt idx="373">
                  <c:v>0</c:v>
                </c:pt>
                <c:pt idx="374">
                  <c:v>1543.53</c:v>
                </c:pt>
                <c:pt idx="375">
                  <c:v>1681.17</c:v>
                </c:pt>
                <c:pt idx="376">
                  <c:v>1035.16</c:v>
                </c:pt>
                <c:pt idx="377">
                  <c:v>262.141</c:v>
                </c:pt>
                <c:pt idx="378">
                  <c:v>2335.99</c:v>
                </c:pt>
                <c:pt idx="379">
                  <c:v>2750.17</c:v>
                </c:pt>
                <c:pt idx="380">
                  <c:v>0</c:v>
                </c:pt>
                <c:pt idx="381">
                  <c:v>2238.66</c:v>
                </c:pt>
                <c:pt idx="382">
                  <c:v>1661.47</c:v>
                </c:pt>
                <c:pt idx="383">
                  <c:v>1141.22</c:v>
                </c:pt>
                <c:pt idx="384">
                  <c:v>1794.59</c:v>
                </c:pt>
                <c:pt idx="385">
                  <c:v>4830.79</c:v>
                </c:pt>
                <c:pt idx="386">
                  <c:v>1113.94</c:v>
                </c:pt>
                <c:pt idx="387">
                  <c:v>1000.55</c:v>
                </c:pt>
                <c:pt idx="388">
                  <c:v>542.742</c:v>
                </c:pt>
                <c:pt idx="389">
                  <c:v>1361.82</c:v>
                </c:pt>
                <c:pt idx="390">
                  <c:v>2509.71</c:v>
                </c:pt>
                <c:pt idx="391">
                  <c:v>3069.79</c:v>
                </c:pt>
                <c:pt idx="392">
                  <c:v>311.02</c:v>
                </c:pt>
                <c:pt idx="393">
                  <c:v>4764.07</c:v>
                </c:pt>
                <c:pt idx="394">
                  <c:v>1753.36</c:v>
                </c:pt>
                <c:pt idx="395">
                  <c:v>1686.76</c:v>
                </c:pt>
                <c:pt idx="396">
                  <c:v>0</c:v>
                </c:pt>
                <c:pt idx="397">
                  <c:v>628.996</c:v>
                </c:pt>
                <c:pt idx="398">
                  <c:v>2671.92</c:v>
                </c:pt>
                <c:pt idx="399">
                  <c:v>1510.06</c:v>
                </c:pt>
                <c:pt idx="400">
                  <c:v>2553.43</c:v>
                </c:pt>
                <c:pt idx="401">
                  <c:v>385.016</c:v>
                </c:pt>
                <c:pt idx="402">
                  <c:v>796.112</c:v>
                </c:pt>
                <c:pt idx="403">
                  <c:v>688.489</c:v>
                </c:pt>
                <c:pt idx="404">
                  <c:v>2151.05</c:v>
                </c:pt>
                <c:pt idx="405">
                  <c:v>0</c:v>
                </c:pt>
                <c:pt idx="406">
                  <c:v>447.024</c:v>
                </c:pt>
                <c:pt idx="407">
                  <c:v>665.708</c:v>
                </c:pt>
                <c:pt idx="408">
                  <c:v>3271.64</c:v>
                </c:pt>
                <c:pt idx="409">
                  <c:v>3352.39</c:v>
                </c:pt>
                <c:pt idx="410">
                  <c:v>0</c:v>
                </c:pt>
                <c:pt idx="411">
                  <c:v>0</c:v>
                </c:pt>
                <c:pt idx="412">
                  <c:v>1459.74</c:v>
                </c:pt>
                <c:pt idx="413">
                  <c:v>1723.03</c:v>
                </c:pt>
                <c:pt idx="414">
                  <c:v>2275.42</c:v>
                </c:pt>
                <c:pt idx="415">
                  <c:v>468.829</c:v>
                </c:pt>
                <c:pt idx="416">
                  <c:v>1808.61</c:v>
                </c:pt>
                <c:pt idx="417">
                  <c:v>1683.16</c:v>
                </c:pt>
                <c:pt idx="418">
                  <c:v>149.037</c:v>
                </c:pt>
                <c:pt idx="419">
                  <c:v>211.859</c:v>
                </c:pt>
                <c:pt idx="420">
                  <c:v>1752.83</c:v>
                </c:pt>
                <c:pt idx="421">
                  <c:v>1803.42</c:v>
                </c:pt>
                <c:pt idx="422">
                  <c:v>2474.46</c:v>
                </c:pt>
                <c:pt idx="423">
                  <c:v>1714.2</c:v>
                </c:pt>
                <c:pt idx="424">
                  <c:v>955.354</c:v>
                </c:pt>
                <c:pt idx="425">
                  <c:v>760.57</c:v>
                </c:pt>
                <c:pt idx="426">
                  <c:v>2430.62</c:v>
                </c:pt>
                <c:pt idx="427">
                  <c:v>1293.53</c:v>
                </c:pt>
                <c:pt idx="428">
                  <c:v>0</c:v>
                </c:pt>
                <c:pt idx="429">
                  <c:v>439.291</c:v>
                </c:pt>
                <c:pt idx="430">
                  <c:v>0</c:v>
                </c:pt>
                <c:pt idx="431">
                  <c:v>0</c:v>
                </c:pt>
                <c:pt idx="432">
                  <c:v>446.806</c:v>
                </c:pt>
                <c:pt idx="433">
                  <c:v>323.577</c:v>
                </c:pt>
                <c:pt idx="434">
                  <c:v>1721.06</c:v>
                </c:pt>
                <c:pt idx="435">
                  <c:v>697.671</c:v>
                </c:pt>
                <c:pt idx="436">
                  <c:v>0</c:v>
                </c:pt>
                <c:pt idx="437">
                  <c:v>729.539</c:v>
                </c:pt>
                <c:pt idx="438">
                  <c:v>557.976</c:v>
                </c:pt>
                <c:pt idx="439">
                  <c:v>375.407</c:v>
                </c:pt>
                <c:pt idx="440">
                  <c:v>2341.47</c:v>
                </c:pt>
                <c:pt idx="441">
                  <c:v>0</c:v>
                </c:pt>
                <c:pt idx="442">
                  <c:v>1472.72</c:v>
                </c:pt>
                <c:pt idx="443">
                  <c:v>0</c:v>
                </c:pt>
                <c:pt idx="444">
                  <c:v>2350.74</c:v>
                </c:pt>
                <c:pt idx="445">
                  <c:v>366.717</c:v>
                </c:pt>
                <c:pt idx="446">
                  <c:v>337.351</c:v>
                </c:pt>
                <c:pt idx="447">
                  <c:v>2502.84</c:v>
                </c:pt>
                <c:pt idx="448">
                  <c:v>0</c:v>
                </c:pt>
                <c:pt idx="449">
                  <c:v>965.69</c:v>
                </c:pt>
                <c:pt idx="450">
                  <c:v>1698.26</c:v>
                </c:pt>
                <c:pt idx="451">
                  <c:v>454.67</c:v>
                </c:pt>
                <c:pt idx="452">
                  <c:v>0</c:v>
                </c:pt>
                <c:pt idx="453">
                  <c:v>0</c:v>
                </c:pt>
                <c:pt idx="454">
                  <c:v>0</c:v>
                </c:pt>
                <c:pt idx="455">
                  <c:v>1606.55</c:v>
                </c:pt>
                <c:pt idx="456">
                  <c:v>1139.36</c:v>
                </c:pt>
                <c:pt idx="457">
                  <c:v>3137.61</c:v>
                </c:pt>
                <c:pt idx="458">
                  <c:v>595.258</c:v>
                </c:pt>
                <c:pt idx="459">
                  <c:v>1620.88</c:v>
                </c:pt>
                <c:pt idx="460">
                  <c:v>1642.33</c:v>
                </c:pt>
                <c:pt idx="461">
                  <c:v>0</c:v>
                </c:pt>
                <c:pt idx="462">
                  <c:v>0</c:v>
                </c:pt>
                <c:pt idx="463">
                  <c:v>569.409</c:v>
                </c:pt>
                <c:pt idx="464">
                  <c:v>1683.36</c:v>
                </c:pt>
                <c:pt idx="465">
                  <c:v>785.834</c:v>
                </c:pt>
                <c:pt idx="466">
                  <c:v>1863.88</c:v>
                </c:pt>
                <c:pt idx="467">
                  <c:v>1567.33</c:v>
                </c:pt>
                <c:pt idx="468">
                  <c:v>978.277</c:v>
                </c:pt>
                <c:pt idx="469">
                  <c:v>1712.15</c:v>
                </c:pt>
                <c:pt idx="470">
                  <c:v>0</c:v>
                </c:pt>
                <c:pt idx="471">
                  <c:v>1646.02</c:v>
                </c:pt>
                <c:pt idx="472">
                  <c:v>210.151</c:v>
                </c:pt>
                <c:pt idx="473">
                  <c:v>363.149</c:v>
                </c:pt>
                <c:pt idx="474">
                  <c:v>851.388</c:v>
                </c:pt>
                <c:pt idx="475">
                  <c:v>246.951</c:v>
                </c:pt>
                <c:pt idx="476">
                  <c:v>1267.78</c:v>
                </c:pt>
                <c:pt idx="477">
                  <c:v>510.387</c:v>
                </c:pt>
                <c:pt idx="478">
                  <c:v>1306.7</c:v>
                </c:pt>
                <c:pt idx="479">
                  <c:v>2360.27</c:v>
                </c:pt>
                <c:pt idx="480">
                  <c:v>2074.35</c:v>
                </c:pt>
                <c:pt idx="481">
                  <c:v>1547.92</c:v>
                </c:pt>
                <c:pt idx="482">
                  <c:v>736.354</c:v>
                </c:pt>
                <c:pt idx="483">
                  <c:v>1016.22</c:v>
                </c:pt>
                <c:pt idx="484">
                  <c:v>3730.15</c:v>
                </c:pt>
                <c:pt idx="485">
                  <c:v>1145.95</c:v>
                </c:pt>
                <c:pt idx="486">
                  <c:v>934.408</c:v>
                </c:pt>
                <c:pt idx="487">
                  <c:v>791.435</c:v>
                </c:pt>
                <c:pt idx="488">
                  <c:v>0</c:v>
                </c:pt>
                <c:pt idx="489">
                  <c:v>2274.84</c:v>
                </c:pt>
                <c:pt idx="490">
                  <c:v>0</c:v>
                </c:pt>
                <c:pt idx="491">
                  <c:v>1558.04</c:v>
                </c:pt>
                <c:pt idx="492">
                  <c:v>2396.52</c:v>
                </c:pt>
                <c:pt idx="493">
                  <c:v>2364.92</c:v>
                </c:pt>
                <c:pt idx="494">
                  <c:v>2962.88</c:v>
                </c:pt>
                <c:pt idx="495">
                  <c:v>2303.48</c:v>
                </c:pt>
                <c:pt idx="496">
                  <c:v>1021.14</c:v>
                </c:pt>
                <c:pt idx="497">
                  <c:v>0</c:v>
                </c:pt>
                <c:pt idx="498">
                  <c:v>0</c:v>
                </c:pt>
                <c:pt idx="499">
                  <c:v>2254.56</c:v>
                </c:pt>
                <c:pt idx="500">
                  <c:v>472.661</c:v>
                </c:pt>
                <c:pt idx="501">
                  <c:v>1781.5</c:v>
                </c:pt>
                <c:pt idx="502">
                  <c:v>988.008</c:v>
                </c:pt>
                <c:pt idx="503">
                  <c:v>914.712</c:v>
                </c:pt>
                <c:pt idx="504">
                  <c:v>0</c:v>
                </c:pt>
                <c:pt idx="505">
                  <c:v>349.792</c:v>
                </c:pt>
                <c:pt idx="506">
                  <c:v>195.762</c:v>
                </c:pt>
                <c:pt idx="507">
                  <c:v>489.625</c:v>
                </c:pt>
                <c:pt idx="508">
                  <c:v>0</c:v>
                </c:pt>
                <c:pt idx="509">
                  <c:v>501.612</c:v>
                </c:pt>
                <c:pt idx="510">
                  <c:v>1065.39</c:v>
                </c:pt>
                <c:pt idx="511">
                  <c:v>2803.9</c:v>
                </c:pt>
                <c:pt idx="512">
                  <c:v>845.64</c:v>
                </c:pt>
                <c:pt idx="513">
                  <c:v>1188.2</c:v>
                </c:pt>
                <c:pt idx="514">
                  <c:v>1636.69</c:v>
                </c:pt>
                <c:pt idx="515">
                  <c:v>589.372</c:v>
                </c:pt>
                <c:pt idx="516">
                  <c:v>1353.01</c:v>
                </c:pt>
                <c:pt idx="517">
                  <c:v>0</c:v>
                </c:pt>
                <c:pt idx="518">
                  <c:v>401.03</c:v>
                </c:pt>
                <c:pt idx="519">
                  <c:v>552.741</c:v>
                </c:pt>
                <c:pt idx="520">
                  <c:v>2321.59</c:v>
                </c:pt>
                <c:pt idx="521">
                  <c:v>3631.71</c:v>
                </c:pt>
                <c:pt idx="522">
                  <c:v>661.023</c:v>
                </c:pt>
                <c:pt idx="523">
                  <c:v>0</c:v>
                </c:pt>
                <c:pt idx="524">
                  <c:v>2170.52</c:v>
                </c:pt>
                <c:pt idx="525">
                  <c:v>1434.24</c:v>
                </c:pt>
                <c:pt idx="526">
                  <c:v>3361.34</c:v>
                </c:pt>
                <c:pt idx="527">
                  <c:v>1678.06</c:v>
                </c:pt>
                <c:pt idx="528">
                  <c:v>1550.89</c:v>
                </c:pt>
                <c:pt idx="529">
                  <c:v>881.121</c:v>
                </c:pt>
                <c:pt idx="530">
                  <c:v>1302.55</c:v>
                </c:pt>
                <c:pt idx="531">
                  <c:v>283.963</c:v>
                </c:pt>
                <c:pt idx="532">
                  <c:v>1750.81</c:v>
                </c:pt>
                <c:pt idx="533">
                  <c:v>367.273</c:v>
                </c:pt>
                <c:pt idx="534">
                  <c:v>0</c:v>
                </c:pt>
                <c:pt idx="535">
                  <c:v>356.574</c:v>
                </c:pt>
                <c:pt idx="536">
                  <c:v>1909.57</c:v>
                </c:pt>
                <c:pt idx="537">
                  <c:v>2517.24</c:v>
                </c:pt>
                <c:pt idx="538">
                  <c:v>0</c:v>
                </c:pt>
                <c:pt idx="539">
                  <c:v>2542.56</c:v>
                </c:pt>
                <c:pt idx="540">
                  <c:v>1349.85</c:v>
                </c:pt>
                <c:pt idx="541">
                  <c:v>612.757</c:v>
                </c:pt>
                <c:pt idx="542">
                  <c:v>1623.85</c:v>
                </c:pt>
                <c:pt idx="543">
                  <c:v>750.605</c:v>
                </c:pt>
                <c:pt idx="544">
                  <c:v>3023.99</c:v>
                </c:pt>
                <c:pt idx="545">
                  <c:v>0</c:v>
                </c:pt>
                <c:pt idx="546">
                  <c:v>1371.18</c:v>
                </c:pt>
                <c:pt idx="547">
                  <c:v>380.351</c:v>
                </c:pt>
                <c:pt idx="548">
                  <c:v>438.637</c:v>
                </c:pt>
                <c:pt idx="549">
                  <c:v>1330.34</c:v>
                </c:pt>
                <c:pt idx="550">
                  <c:v>2273.31</c:v>
                </c:pt>
                <c:pt idx="551">
                  <c:v>1755.19</c:v>
                </c:pt>
                <c:pt idx="552">
                  <c:v>682.337</c:v>
                </c:pt>
                <c:pt idx="553">
                  <c:v>1303.83</c:v>
                </c:pt>
                <c:pt idx="554">
                  <c:v>1254.63</c:v>
                </c:pt>
                <c:pt idx="555">
                  <c:v>1857.73</c:v>
                </c:pt>
                <c:pt idx="556">
                  <c:v>0</c:v>
                </c:pt>
                <c:pt idx="557">
                  <c:v>1479.68</c:v>
                </c:pt>
                <c:pt idx="558">
                  <c:v>1374.26</c:v>
                </c:pt>
                <c:pt idx="559">
                  <c:v>721.035</c:v>
                </c:pt>
                <c:pt idx="560">
                  <c:v>493.924</c:v>
                </c:pt>
                <c:pt idx="561">
                  <c:v>909.941</c:v>
                </c:pt>
                <c:pt idx="562">
                  <c:v>1676.15</c:v>
                </c:pt>
                <c:pt idx="563">
                  <c:v>1865.6</c:v>
                </c:pt>
                <c:pt idx="564">
                  <c:v>623.479</c:v>
                </c:pt>
                <c:pt idx="565">
                  <c:v>391.531</c:v>
                </c:pt>
                <c:pt idx="566">
                  <c:v>790.035</c:v>
                </c:pt>
                <c:pt idx="567">
                  <c:v>1352.15</c:v>
                </c:pt>
                <c:pt idx="568">
                  <c:v>573.704</c:v>
                </c:pt>
                <c:pt idx="569">
                  <c:v>2106.82</c:v>
                </c:pt>
                <c:pt idx="570">
                  <c:v>981.073</c:v>
                </c:pt>
                <c:pt idx="571">
                  <c:v>1911.25</c:v>
                </c:pt>
                <c:pt idx="572">
                  <c:v>1841.57</c:v>
                </c:pt>
                <c:pt idx="573">
                  <c:v>2943.87</c:v>
                </c:pt>
                <c:pt idx="574">
                  <c:v>765.482</c:v>
                </c:pt>
                <c:pt idx="575">
                  <c:v>1654.59</c:v>
                </c:pt>
                <c:pt idx="576">
                  <c:v>1536.56</c:v>
                </c:pt>
                <c:pt idx="577">
                  <c:v>0</c:v>
                </c:pt>
                <c:pt idx="578">
                  <c:v>3750.66</c:v>
                </c:pt>
                <c:pt idx="579">
                  <c:v>977.987</c:v>
                </c:pt>
                <c:pt idx="580">
                  <c:v>251.407</c:v>
                </c:pt>
                <c:pt idx="581">
                  <c:v>2623.96</c:v>
                </c:pt>
                <c:pt idx="582">
                  <c:v>1587.32</c:v>
                </c:pt>
                <c:pt idx="583">
                  <c:v>582.667</c:v>
                </c:pt>
                <c:pt idx="584">
                  <c:v>1786.13</c:v>
                </c:pt>
                <c:pt idx="585">
                  <c:v>1056.54</c:v>
                </c:pt>
                <c:pt idx="586">
                  <c:v>721.382</c:v>
                </c:pt>
                <c:pt idx="587">
                  <c:v>3146.38</c:v>
                </c:pt>
                <c:pt idx="588">
                  <c:v>2312.29</c:v>
                </c:pt>
                <c:pt idx="589">
                  <c:v>648.04</c:v>
                </c:pt>
                <c:pt idx="590">
                  <c:v>1619.08</c:v>
                </c:pt>
                <c:pt idx="591">
                  <c:v>1298.27</c:v>
                </c:pt>
                <c:pt idx="592">
                  <c:v>1395.26</c:v>
                </c:pt>
                <c:pt idx="593">
                  <c:v>3985.35</c:v>
                </c:pt>
                <c:pt idx="594">
                  <c:v>1641.23</c:v>
                </c:pt>
                <c:pt idx="595">
                  <c:v>424.154</c:v>
                </c:pt>
                <c:pt idx="596">
                  <c:v>2185.42</c:v>
                </c:pt>
                <c:pt idx="597">
                  <c:v>168.587</c:v>
                </c:pt>
                <c:pt idx="598">
                  <c:v>626.635</c:v>
                </c:pt>
                <c:pt idx="599">
                  <c:v>3363.78</c:v>
                </c:pt>
                <c:pt idx="600">
                  <c:v>2567.63</c:v>
                </c:pt>
                <c:pt idx="601">
                  <c:v>825.812</c:v>
                </c:pt>
                <c:pt idx="602">
                  <c:v>649.284</c:v>
                </c:pt>
                <c:pt idx="603">
                  <c:v>1682.06</c:v>
                </c:pt>
                <c:pt idx="604">
                  <c:v>375.269</c:v>
                </c:pt>
                <c:pt idx="605">
                  <c:v>0</c:v>
                </c:pt>
                <c:pt idx="606">
                  <c:v>1463.57</c:v>
                </c:pt>
                <c:pt idx="607">
                  <c:v>2808.75</c:v>
                </c:pt>
                <c:pt idx="608">
                  <c:v>4229.57</c:v>
                </c:pt>
                <c:pt idx="609">
                  <c:v>584.023</c:v>
                </c:pt>
                <c:pt idx="610">
                  <c:v>372.007</c:v>
                </c:pt>
                <c:pt idx="611">
                  <c:v>823.275</c:v>
                </c:pt>
                <c:pt idx="612">
                  <c:v>0</c:v>
                </c:pt>
                <c:pt idx="613">
                  <c:v>325.921</c:v>
                </c:pt>
                <c:pt idx="614">
                  <c:v>2426.31</c:v>
                </c:pt>
                <c:pt idx="615">
                  <c:v>0</c:v>
                </c:pt>
                <c:pt idx="616">
                  <c:v>2690.72</c:v>
                </c:pt>
                <c:pt idx="617">
                  <c:v>1034.76</c:v>
                </c:pt>
                <c:pt idx="618">
                  <c:v>1716.46</c:v>
                </c:pt>
                <c:pt idx="619">
                  <c:v>2494.95</c:v>
                </c:pt>
                <c:pt idx="620">
                  <c:v>0</c:v>
                </c:pt>
                <c:pt idx="621">
                  <c:v>1967.56</c:v>
                </c:pt>
                <c:pt idx="622">
                  <c:v>1765.57</c:v>
                </c:pt>
                <c:pt idx="623">
                  <c:v>1112.92</c:v>
                </c:pt>
                <c:pt idx="624">
                  <c:v>1122.99</c:v>
                </c:pt>
                <c:pt idx="625">
                  <c:v>2997.95</c:v>
                </c:pt>
                <c:pt idx="626">
                  <c:v>1966.39</c:v>
                </c:pt>
                <c:pt idx="627">
                  <c:v>1115.15</c:v>
                </c:pt>
                <c:pt idx="628">
                  <c:v>0</c:v>
                </c:pt>
                <c:pt idx="629">
                  <c:v>241.495</c:v>
                </c:pt>
                <c:pt idx="630">
                  <c:v>0</c:v>
                </c:pt>
                <c:pt idx="631">
                  <c:v>397.113</c:v>
                </c:pt>
                <c:pt idx="632">
                  <c:v>3211.3</c:v>
                </c:pt>
                <c:pt idx="633">
                  <c:v>0</c:v>
                </c:pt>
                <c:pt idx="634">
                  <c:v>1204.35</c:v>
                </c:pt>
                <c:pt idx="635">
                  <c:v>547.773</c:v>
                </c:pt>
                <c:pt idx="636">
                  <c:v>4506.73</c:v>
                </c:pt>
                <c:pt idx="637">
                  <c:v>1407.96</c:v>
                </c:pt>
                <c:pt idx="638">
                  <c:v>1971.24</c:v>
                </c:pt>
                <c:pt idx="639">
                  <c:v>2527.25</c:v>
                </c:pt>
                <c:pt idx="640">
                  <c:v>0</c:v>
                </c:pt>
                <c:pt idx="641">
                  <c:v>1107.49</c:v>
                </c:pt>
                <c:pt idx="642">
                  <c:v>4996.41</c:v>
                </c:pt>
                <c:pt idx="643">
                  <c:v>823.864</c:v>
                </c:pt>
                <c:pt idx="644">
                  <c:v>0</c:v>
                </c:pt>
                <c:pt idx="645">
                  <c:v>0</c:v>
                </c:pt>
                <c:pt idx="646">
                  <c:v>960.372</c:v>
                </c:pt>
                <c:pt idx="647">
                  <c:v>1680.59</c:v>
                </c:pt>
                <c:pt idx="648">
                  <c:v>1450.1</c:v>
                </c:pt>
                <c:pt idx="649">
                  <c:v>1753.69</c:v>
                </c:pt>
                <c:pt idx="650">
                  <c:v>3026.49</c:v>
                </c:pt>
                <c:pt idx="651">
                  <c:v>2799.35</c:v>
                </c:pt>
                <c:pt idx="652">
                  <c:v>2522.59</c:v>
                </c:pt>
                <c:pt idx="653">
                  <c:v>810.735</c:v>
                </c:pt>
                <c:pt idx="654">
                  <c:v>1385.79</c:v>
                </c:pt>
                <c:pt idx="655">
                  <c:v>0</c:v>
                </c:pt>
                <c:pt idx="656">
                  <c:v>1017</c:v>
                </c:pt>
                <c:pt idx="657">
                  <c:v>1295.14</c:v>
                </c:pt>
                <c:pt idx="658">
                  <c:v>1893.13</c:v>
                </c:pt>
                <c:pt idx="659">
                  <c:v>3496.86</c:v>
                </c:pt>
                <c:pt idx="660">
                  <c:v>1446.52</c:v>
                </c:pt>
                <c:pt idx="661">
                  <c:v>0</c:v>
                </c:pt>
                <c:pt idx="662">
                  <c:v>0</c:v>
                </c:pt>
                <c:pt idx="663">
                  <c:v>2819.83</c:v>
                </c:pt>
                <c:pt idx="664">
                  <c:v>119.206</c:v>
                </c:pt>
                <c:pt idx="665">
                  <c:v>810.351</c:v>
                </c:pt>
                <c:pt idx="666">
                  <c:v>215.439</c:v>
                </c:pt>
                <c:pt idx="667">
                  <c:v>523.587</c:v>
                </c:pt>
                <c:pt idx="668">
                  <c:v>1654.33</c:v>
                </c:pt>
                <c:pt idx="669">
                  <c:v>1093.26</c:v>
                </c:pt>
                <c:pt idx="670">
                  <c:v>798.68</c:v>
                </c:pt>
                <c:pt idx="671">
                  <c:v>1373.57</c:v>
                </c:pt>
                <c:pt idx="672">
                  <c:v>1571.04</c:v>
                </c:pt>
                <c:pt idx="673">
                  <c:v>580.418</c:v>
                </c:pt>
                <c:pt idx="674">
                  <c:v>2635.04</c:v>
                </c:pt>
                <c:pt idx="675">
                  <c:v>693.039</c:v>
                </c:pt>
                <c:pt idx="676">
                  <c:v>2232.36</c:v>
                </c:pt>
                <c:pt idx="677">
                  <c:v>912.558</c:v>
                </c:pt>
                <c:pt idx="678">
                  <c:v>266.99</c:v>
                </c:pt>
                <c:pt idx="679">
                  <c:v>1019.54</c:v>
                </c:pt>
                <c:pt idx="680">
                  <c:v>385.618</c:v>
                </c:pt>
                <c:pt idx="681">
                  <c:v>473.272</c:v>
                </c:pt>
                <c:pt idx="682">
                  <c:v>2401.03</c:v>
                </c:pt>
                <c:pt idx="683">
                  <c:v>398.973</c:v>
                </c:pt>
                <c:pt idx="684">
                  <c:v>1381.04</c:v>
                </c:pt>
                <c:pt idx="685">
                  <c:v>297.176</c:v>
                </c:pt>
                <c:pt idx="686">
                  <c:v>2088.78</c:v>
                </c:pt>
                <c:pt idx="687">
                  <c:v>405.056</c:v>
                </c:pt>
                <c:pt idx="688">
                  <c:v>852.276</c:v>
                </c:pt>
                <c:pt idx="689">
                  <c:v>597.274</c:v>
                </c:pt>
                <c:pt idx="690">
                  <c:v>1132.32</c:v>
                </c:pt>
                <c:pt idx="691">
                  <c:v>350.969</c:v>
                </c:pt>
                <c:pt idx="692">
                  <c:v>2908.52</c:v>
                </c:pt>
                <c:pt idx="693">
                  <c:v>4721.18</c:v>
                </c:pt>
                <c:pt idx="694">
                  <c:v>293.64</c:v>
                </c:pt>
                <c:pt idx="695">
                  <c:v>604.235</c:v>
                </c:pt>
                <c:pt idx="696">
                  <c:v>578.956</c:v>
                </c:pt>
                <c:pt idx="697">
                  <c:v>465.181</c:v>
                </c:pt>
                <c:pt idx="698">
                  <c:v>168.032</c:v>
                </c:pt>
                <c:pt idx="699">
                  <c:v>374.831</c:v>
                </c:pt>
                <c:pt idx="700">
                  <c:v>7061.42</c:v>
                </c:pt>
                <c:pt idx="701">
                  <c:v>7043.44</c:v>
                </c:pt>
                <c:pt idx="702">
                  <c:v>6786.58</c:v>
                </c:pt>
                <c:pt idx="703">
                  <c:v>6628.79</c:v>
                </c:pt>
                <c:pt idx="704">
                  <c:v>6405.57</c:v>
                </c:pt>
                <c:pt idx="705">
                  <c:v>6931.17</c:v>
                </c:pt>
                <c:pt idx="706">
                  <c:v>6442.53</c:v>
                </c:pt>
                <c:pt idx="707">
                  <c:v>6179.32</c:v>
                </c:pt>
                <c:pt idx="708">
                  <c:v>6105.88</c:v>
                </c:pt>
                <c:pt idx="709">
                  <c:v>6088.87</c:v>
                </c:pt>
                <c:pt idx="710">
                  <c:v>5644.76</c:v>
                </c:pt>
                <c:pt idx="711">
                  <c:v>8318.18</c:v>
                </c:pt>
                <c:pt idx="712">
                  <c:v>8054.44</c:v>
                </c:pt>
              </c:numCache>
            </c:numRef>
          </c:xVal>
          <c:yVal>
            <c:numRef>
              <c:f>Sheet1!$B$2:$B$714</c:f>
              <c:numCache>
                <c:formatCode>General</c:formatCode>
                <c:ptCount val="713"/>
                <c:pt idx="0">
                  <c:v>0.448</c:v>
                </c:pt>
                <c:pt idx="1">
                  <c:v>0.554</c:v>
                </c:pt>
                <c:pt idx="2">
                  <c:v>0.7312</c:v>
                </c:pt>
                <c:pt idx="3">
                  <c:v>0.7368</c:v>
                </c:pt>
                <c:pt idx="4">
                  <c:v>0.503</c:v>
                </c:pt>
                <c:pt idx="5">
                  <c:v>0.662</c:v>
                </c:pt>
                <c:pt idx="6">
                  <c:v>0.6096</c:v>
                </c:pt>
                <c:pt idx="7">
                  <c:v>0.4062</c:v>
                </c:pt>
                <c:pt idx="8">
                  <c:v>0.4692</c:v>
                </c:pt>
                <c:pt idx="9">
                  <c:v>0.4418</c:v>
                </c:pt>
                <c:pt idx="10">
                  <c:v>0.6396</c:v>
                </c:pt>
                <c:pt idx="11">
                  <c:v>0.4898</c:v>
                </c:pt>
                <c:pt idx="12">
                  <c:v>0.5302</c:v>
                </c:pt>
                <c:pt idx="13">
                  <c:v>0.3928</c:v>
                </c:pt>
                <c:pt idx="14">
                  <c:v>0.4036</c:v>
                </c:pt>
                <c:pt idx="15">
                  <c:v>0.5828</c:v>
                </c:pt>
                <c:pt idx="16">
                  <c:v>0.5378</c:v>
                </c:pt>
                <c:pt idx="17">
                  <c:v>0.566</c:v>
                </c:pt>
                <c:pt idx="18">
                  <c:v>0.4848</c:v>
                </c:pt>
                <c:pt idx="19">
                  <c:v>0.4918</c:v>
                </c:pt>
                <c:pt idx="20">
                  <c:v>0.4378</c:v>
                </c:pt>
                <c:pt idx="21">
                  <c:v>0.59</c:v>
                </c:pt>
                <c:pt idx="22">
                  <c:v>0.5452</c:v>
                </c:pt>
                <c:pt idx="23">
                  <c:v>0.5494</c:v>
                </c:pt>
                <c:pt idx="24">
                  <c:v>0.4776</c:v>
                </c:pt>
                <c:pt idx="25">
                  <c:v>0.8196</c:v>
                </c:pt>
                <c:pt idx="26">
                  <c:v>0.644</c:v>
                </c:pt>
                <c:pt idx="27">
                  <c:v>0.4624</c:v>
                </c:pt>
                <c:pt idx="28">
                  <c:v>0.4686</c:v>
                </c:pt>
                <c:pt idx="29">
                  <c:v>0.5974</c:v>
                </c:pt>
                <c:pt idx="30">
                  <c:v>0.3946</c:v>
                </c:pt>
                <c:pt idx="31">
                  <c:v>0.6638</c:v>
                </c:pt>
                <c:pt idx="32">
                  <c:v>0.8662</c:v>
                </c:pt>
                <c:pt idx="33">
                  <c:v>0.5956</c:v>
                </c:pt>
                <c:pt idx="34">
                  <c:v>0.674</c:v>
                </c:pt>
                <c:pt idx="35">
                  <c:v>0.8658</c:v>
                </c:pt>
                <c:pt idx="36">
                  <c:v>0.5546</c:v>
                </c:pt>
                <c:pt idx="37">
                  <c:v>0.7084</c:v>
                </c:pt>
                <c:pt idx="38">
                  <c:v>0.596</c:v>
                </c:pt>
                <c:pt idx="39">
                  <c:v>0.529</c:v>
                </c:pt>
                <c:pt idx="40">
                  <c:v>0.5298</c:v>
                </c:pt>
                <c:pt idx="41">
                  <c:v>0.5514</c:v>
                </c:pt>
                <c:pt idx="42">
                  <c:v>0.6086</c:v>
                </c:pt>
                <c:pt idx="43">
                  <c:v>0.459</c:v>
                </c:pt>
                <c:pt idx="44">
                  <c:v>0.5792</c:v>
                </c:pt>
                <c:pt idx="45">
                  <c:v>0.5722</c:v>
                </c:pt>
                <c:pt idx="46">
                  <c:v>0.6808</c:v>
                </c:pt>
                <c:pt idx="47">
                  <c:v>0.5408</c:v>
                </c:pt>
                <c:pt idx="48">
                  <c:v>0.7312</c:v>
                </c:pt>
                <c:pt idx="49">
                  <c:v>0.6246</c:v>
                </c:pt>
                <c:pt idx="50">
                  <c:v>0.621</c:v>
                </c:pt>
                <c:pt idx="51">
                  <c:v>0.5752</c:v>
                </c:pt>
                <c:pt idx="52">
                  <c:v>0.4844</c:v>
                </c:pt>
                <c:pt idx="53">
                  <c:v>0.4742</c:v>
                </c:pt>
                <c:pt idx="54">
                  <c:v>0.4496</c:v>
                </c:pt>
                <c:pt idx="55">
                  <c:v>0.4944</c:v>
                </c:pt>
                <c:pt idx="56">
                  <c:v>0.5568</c:v>
                </c:pt>
                <c:pt idx="57">
                  <c:v>0.5274</c:v>
                </c:pt>
                <c:pt idx="58">
                  <c:v>0.573</c:v>
                </c:pt>
                <c:pt idx="59">
                  <c:v>0.4966</c:v>
                </c:pt>
                <c:pt idx="60">
                  <c:v>0.4434</c:v>
                </c:pt>
                <c:pt idx="61">
                  <c:v>0.5116</c:v>
                </c:pt>
                <c:pt idx="62">
                  <c:v>0.827</c:v>
                </c:pt>
                <c:pt idx="63">
                  <c:v>0.6478</c:v>
                </c:pt>
                <c:pt idx="64">
                  <c:v>0.614</c:v>
                </c:pt>
                <c:pt idx="65">
                  <c:v>0.416</c:v>
                </c:pt>
                <c:pt idx="66">
                  <c:v>0.4754</c:v>
                </c:pt>
                <c:pt idx="67">
                  <c:v>0.6366</c:v>
                </c:pt>
                <c:pt idx="68">
                  <c:v>0.4722</c:v>
                </c:pt>
                <c:pt idx="69">
                  <c:v>0.5156</c:v>
                </c:pt>
                <c:pt idx="70">
                  <c:v>0.5446</c:v>
                </c:pt>
                <c:pt idx="71">
                  <c:v>0.5542</c:v>
                </c:pt>
                <c:pt idx="72">
                  <c:v>0.5486</c:v>
                </c:pt>
                <c:pt idx="73">
                  <c:v>0.6776</c:v>
                </c:pt>
                <c:pt idx="74">
                  <c:v>0.659</c:v>
                </c:pt>
                <c:pt idx="75">
                  <c:v>0.5434</c:v>
                </c:pt>
                <c:pt idx="76">
                  <c:v>0.6094</c:v>
                </c:pt>
                <c:pt idx="77">
                  <c:v>0.5212</c:v>
                </c:pt>
                <c:pt idx="78">
                  <c:v>0.5128</c:v>
                </c:pt>
                <c:pt idx="79">
                  <c:v>0.67</c:v>
                </c:pt>
                <c:pt idx="80">
                  <c:v>0.5976</c:v>
                </c:pt>
                <c:pt idx="81">
                  <c:v>0.4524</c:v>
                </c:pt>
                <c:pt idx="82">
                  <c:v>0.631</c:v>
                </c:pt>
                <c:pt idx="83">
                  <c:v>0.4672</c:v>
                </c:pt>
                <c:pt idx="84">
                  <c:v>0.788</c:v>
                </c:pt>
                <c:pt idx="85">
                  <c:v>0.693</c:v>
                </c:pt>
                <c:pt idx="86">
                  <c:v>0.7914</c:v>
                </c:pt>
                <c:pt idx="87">
                  <c:v>0.7402</c:v>
                </c:pt>
                <c:pt idx="88">
                  <c:v>0.6398</c:v>
                </c:pt>
                <c:pt idx="89">
                  <c:v>0.5474</c:v>
                </c:pt>
                <c:pt idx="90">
                  <c:v>0.5964</c:v>
                </c:pt>
                <c:pt idx="91">
                  <c:v>0.4558</c:v>
                </c:pt>
                <c:pt idx="92">
                  <c:v>0.648</c:v>
                </c:pt>
                <c:pt idx="93">
                  <c:v>0.5024</c:v>
                </c:pt>
                <c:pt idx="94">
                  <c:v>0.64</c:v>
                </c:pt>
                <c:pt idx="95">
                  <c:v>0.7268</c:v>
                </c:pt>
                <c:pt idx="96">
                  <c:v>0.5352</c:v>
                </c:pt>
                <c:pt idx="97">
                  <c:v>0.4756</c:v>
                </c:pt>
                <c:pt idx="98">
                  <c:v>0.6024</c:v>
                </c:pt>
                <c:pt idx="99">
                  <c:v>0.4648</c:v>
                </c:pt>
                <c:pt idx="100">
                  <c:v>0.4016</c:v>
                </c:pt>
                <c:pt idx="101">
                  <c:v>0.495</c:v>
                </c:pt>
                <c:pt idx="102">
                  <c:v>0.5586</c:v>
                </c:pt>
                <c:pt idx="103">
                  <c:v>0.5114</c:v>
                </c:pt>
                <c:pt idx="104">
                  <c:v>0.701</c:v>
                </c:pt>
                <c:pt idx="105">
                  <c:v>0.626</c:v>
                </c:pt>
                <c:pt idx="106">
                  <c:v>0.3762</c:v>
                </c:pt>
                <c:pt idx="107">
                  <c:v>0.6114</c:v>
                </c:pt>
                <c:pt idx="108">
                  <c:v>0.5858</c:v>
                </c:pt>
                <c:pt idx="109">
                  <c:v>0.507</c:v>
                </c:pt>
                <c:pt idx="110">
                  <c:v>0.4168</c:v>
                </c:pt>
                <c:pt idx="111">
                  <c:v>0.7288</c:v>
                </c:pt>
                <c:pt idx="112">
                  <c:v>0.6304</c:v>
                </c:pt>
                <c:pt idx="113">
                  <c:v>0.5034</c:v>
                </c:pt>
                <c:pt idx="114">
                  <c:v>0.3948</c:v>
                </c:pt>
                <c:pt idx="115">
                  <c:v>0.4926</c:v>
                </c:pt>
                <c:pt idx="116">
                  <c:v>0.4116</c:v>
                </c:pt>
                <c:pt idx="117">
                  <c:v>0.4712</c:v>
                </c:pt>
                <c:pt idx="118">
                  <c:v>0.5602</c:v>
                </c:pt>
                <c:pt idx="119">
                  <c:v>0.72</c:v>
                </c:pt>
                <c:pt idx="120">
                  <c:v>0.6198</c:v>
                </c:pt>
                <c:pt idx="121">
                  <c:v>0.6956</c:v>
                </c:pt>
                <c:pt idx="122">
                  <c:v>0.6888</c:v>
                </c:pt>
                <c:pt idx="123">
                  <c:v>0.542</c:v>
                </c:pt>
                <c:pt idx="124">
                  <c:v>0.5074</c:v>
                </c:pt>
                <c:pt idx="125">
                  <c:v>0.476</c:v>
                </c:pt>
                <c:pt idx="126">
                  <c:v>0.3626</c:v>
                </c:pt>
                <c:pt idx="127">
                  <c:v>0.644</c:v>
                </c:pt>
                <c:pt idx="128">
                  <c:v>0.5114</c:v>
                </c:pt>
                <c:pt idx="129">
                  <c:v>0.4804</c:v>
                </c:pt>
                <c:pt idx="130">
                  <c:v>0.4296</c:v>
                </c:pt>
                <c:pt idx="131">
                  <c:v>0.7576</c:v>
                </c:pt>
                <c:pt idx="132">
                  <c:v>0.5368</c:v>
                </c:pt>
                <c:pt idx="133">
                  <c:v>0.4328</c:v>
                </c:pt>
                <c:pt idx="134">
                  <c:v>0.3716</c:v>
                </c:pt>
                <c:pt idx="135">
                  <c:v>0.4474</c:v>
                </c:pt>
                <c:pt idx="136">
                  <c:v>0.691</c:v>
                </c:pt>
                <c:pt idx="137">
                  <c:v>0.6542</c:v>
                </c:pt>
                <c:pt idx="138">
                  <c:v>0.4784</c:v>
                </c:pt>
                <c:pt idx="139">
                  <c:v>0.5356</c:v>
                </c:pt>
                <c:pt idx="140">
                  <c:v>0.7418</c:v>
                </c:pt>
                <c:pt idx="141">
                  <c:v>0.5924</c:v>
                </c:pt>
                <c:pt idx="142">
                  <c:v>0.4688</c:v>
                </c:pt>
                <c:pt idx="143">
                  <c:v>0.5254</c:v>
                </c:pt>
                <c:pt idx="144">
                  <c:v>0.5126</c:v>
                </c:pt>
                <c:pt idx="145">
                  <c:v>0.4992</c:v>
                </c:pt>
                <c:pt idx="146">
                  <c:v>0.7354</c:v>
                </c:pt>
                <c:pt idx="147">
                  <c:v>0.6824</c:v>
                </c:pt>
                <c:pt idx="148">
                  <c:v>0.577</c:v>
                </c:pt>
                <c:pt idx="149">
                  <c:v>0.4472</c:v>
                </c:pt>
                <c:pt idx="150">
                  <c:v>0.431</c:v>
                </c:pt>
                <c:pt idx="151">
                  <c:v>0.4148</c:v>
                </c:pt>
                <c:pt idx="152">
                  <c:v>0.4642</c:v>
                </c:pt>
                <c:pt idx="153">
                  <c:v>0.764</c:v>
                </c:pt>
                <c:pt idx="154">
                  <c:v>0.6074</c:v>
                </c:pt>
                <c:pt idx="155">
                  <c:v>0.811</c:v>
                </c:pt>
                <c:pt idx="156">
                  <c:v>0.5122</c:v>
                </c:pt>
                <c:pt idx="157">
                  <c:v>0.4634</c:v>
                </c:pt>
                <c:pt idx="158">
                  <c:v>0.3428</c:v>
                </c:pt>
                <c:pt idx="159">
                  <c:v>0.552</c:v>
                </c:pt>
                <c:pt idx="160">
                  <c:v>0.4604</c:v>
                </c:pt>
                <c:pt idx="161">
                  <c:v>0.6258</c:v>
                </c:pt>
                <c:pt idx="162">
                  <c:v>0.749</c:v>
                </c:pt>
                <c:pt idx="163">
                  <c:v>0.783</c:v>
                </c:pt>
                <c:pt idx="164">
                  <c:v>0.6286</c:v>
                </c:pt>
                <c:pt idx="165">
                  <c:v>0.7584</c:v>
                </c:pt>
                <c:pt idx="166">
                  <c:v>0.4406</c:v>
                </c:pt>
                <c:pt idx="167">
                  <c:v>0.499</c:v>
                </c:pt>
                <c:pt idx="168">
                  <c:v>0.5752</c:v>
                </c:pt>
                <c:pt idx="169">
                  <c:v>0.612</c:v>
                </c:pt>
                <c:pt idx="170">
                  <c:v>0.815</c:v>
                </c:pt>
                <c:pt idx="171">
                  <c:v>0.461</c:v>
                </c:pt>
                <c:pt idx="172">
                  <c:v>0.608</c:v>
                </c:pt>
                <c:pt idx="173">
                  <c:v>0.4626</c:v>
                </c:pt>
                <c:pt idx="174">
                  <c:v>0.6472</c:v>
                </c:pt>
                <c:pt idx="175">
                  <c:v>0.6628</c:v>
                </c:pt>
                <c:pt idx="176">
                  <c:v>0.577</c:v>
                </c:pt>
                <c:pt idx="177">
                  <c:v>0.5094</c:v>
                </c:pt>
                <c:pt idx="178">
                  <c:v>0.4686</c:v>
                </c:pt>
                <c:pt idx="179">
                  <c:v>0.6442</c:v>
                </c:pt>
                <c:pt idx="180">
                  <c:v>0.445</c:v>
                </c:pt>
                <c:pt idx="181">
                  <c:v>0.5216</c:v>
                </c:pt>
                <c:pt idx="182">
                  <c:v>0.4526</c:v>
                </c:pt>
                <c:pt idx="183">
                  <c:v>0.5298</c:v>
                </c:pt>
                <c:pt idx="184">
                  <c:v>0.3472</c:v>
                </c:pt>
                <c:pt idx="185">
                  <c:v>0.6948</c:v>
                </c:pt>
                <c:pt idx="186">
                  <c:v>0.397</c:v>
                </c:pt>
                <c:pt idx="187">
                  <c:v>0.6146</c:v>
                </c:pt>
                <c:pt idx="188">
                  <c:v>0.4654</c:v>
                </c:pt>
                <c:pt idx="189">
                  <c:v>0.7208</c:v>
                </c:pt>
                <c:pt idx="190">
                  <c:v>0.4076</c:v>
                </c:pt>
                <c:pt idx="191">
                  <c:v>0.493</c:v>
                </c:pt>
                <c:pt idx="192">
                  <c:v>0.5476</c:v>
                </c:pt>
                <c:pt idx="193">
                  <c:v>0.64</c:v>
                </c:pt>
                <c:pt idx="194">
                  <c:v>0.4674</c:v>
                </c:pt>
                <c:pt idx="195">
                  <c:v>0.6286</c:v>
                </c:pt>
                <c:pt idx="196">
                  <c:v>0.6462</c:v>
                </c:pt>
                <c:pt idx="197">
                  <c:v>0.826</c:v>
                </c:pt>
                <c:pt idx="198">
                  <c:v>0.5276</c:v>
                </c:pt>
                <c:pt idx="199">
                  <c:v>0.6638</c:v>
                </c:pt>
                <c:pt idx="200">
                  <c:v>0.7296</c:v>
                </c:pt>
                <c:pt idx="201">
                  <c:v>0.7096</c:v>
                </c:pt>
                <c:pt idx="202">
                  <c:v>0.5068</c:v>
                </c:pt>
                <c:pt idx="203">
                  <c:v>0.4366</c:v>
                </c:pt>
                <c:pt idx="204">
                  <c:v>0.3842</c:v>
                </c:pt>
                <c:pt idx="205">
                  <c:v>0.7072</c:v>
                </c:pt>
                <c:pt idx="206">
                  <c:v>0.7298</c:v>
                </c:pt>
                <c:pt idx="207">
                  <c:v>0.4538</c:v>
                </c:pt>
                <c:pt idx="208">
                  <c:v>0.6858</c:v>
                </c:pt>
                <c:pt idx="209">
                  <c:v>0.6654</c:v>
                </c:pt>
                <c:pt idx="210">
                  <c:v>0.6596</c:v>
                </c:pt>
                <c:pt idx="211">
                  <c:v>0.4834</c:v>
                </c:pt>
                <c:pt idx="212">
                  <c:v>0.6484</c:v>
                </c:pt>
                <c:pt idx="213">
                  <c:v>0.654</c:v>
                </c:pt>
                <c:pt idx="214">
                  <c:v>0.5844</c:v>
                </c:pt>
                <c:pt idx="215">
                  <c:v>0.8696</c:v>
                </c:pt>
                <c:pt idx="216">
                  <c:v>0.554</c:v>
                </c:pt>
                <c:pt idx="217">
                  <c:v>0.6526</c:v>
                </c:pt>
                <c:pt idx="218">
                  <c:v>0.538</c:v>
                </c:pt>
                <c:pt idx="219">
                  <c:v>0.464</c:v>
                </c:pt>
                <c:pt idx="220">
                  <c:v>0.577</c:v>
                </c:pt>
                <c:pt idx="221">
                  <c:v>0.4048</c:v>
                </c:pt>
                <c:pt idx="222">
                  <c:v>0.5652</c:v>
                </c:pt>
                <c:pt idx="223">
                  <c:v>0.3406</c:v>
                </c:pt>
                <c:pt idx="224">
                  <c:v>0.72</c:v>
                </c:pt>
                <c:pt idx="225">
                  <c:v>0.562</c:v>
                </c:pt>
                <c:pt idx="226">
                  <c:v>0.6024</c:v>
                </c:pt>
                <c:pt idx="227">
                  <c:v>0.4368</c:v>
                </c:pt>
                <c:pt idx="228">
                  <c:v>0.7912</c:v>
                </c:pt>
                <c:pt idx="229">
                  <c:v>0.5686</c:v>
                </c:pt>
                <c:pt idx="230">
                  <c:v>0.4572</c:v>
                </c:pt>
                <c:pt idx="231">
                  <c:v>0.788</c:v>
                </c:pt>
                <c:pt idx="232">
                  <c:v>0.4682</c:v>
                </c:pt>
                <c:pt idx="233">
                  <c:v>0.6218</c:v>
                </c:pt>
                <c:pt idx="234">
                  <c:v>0.6328</c:v>
                </c:pt>
                <c:pt idx="235">
                  <c:v>0.6084</c:v>
                </c:pt>
                <c:pt idx="236">
                  <c:v>0.5908</c:v>
                </c:pt>
                <c:pt idx="237">
                  <c:v>0.5404</c:v>
                </c:pt>
                <c:pt idx="238">
                  <c:v>0.3926</c:v>
                </c:pt>
                <c:pt idx="239">
                  <c:v>0.506</c:v>
                </c:pt>
                <c:pt idx="240">
                  <c:v>0.7072</c:v>
                </c:pt>
                <c:pt idx="241">
                  <c:v>0.5394</c:v>
                </c:pt>
                <c:pt idx="242">
                  <c:v>0.5084</c:v>
                </c:pt>
                <c:pt idx="243">
                  <c:v>0.5288</c:v>
                </c:pt>
                <c:pt idx="244">
                  <c:v>0.46</c:v>
                </c:pt>
                <c:pt idx="245">
                  <c:v>0.4648</c:v>
                </c:pt>
                <c:pt idx="246">
                  <c:v>0.5972</c:v>
                </c:pt>
                <c:pt idx="247">
                  <c:v>0.5782</c:v>
                </c:pt>
                <c:pt idx="248">
                  <c:v>0.7178</c:v>
                </c:pt>
                <c:pt idx="249">
                  <c:v>0.6018</c:v>
                </c:pt>
                <c:pt idx="250">
                  <c:v>0.4842</c:v>
                </c:pt>
                <c:pt idx="251">
                  <c:v>0.6876</c:v>
                </c:pt>
                <c:pt idx="252">
                  <c:v>0.639</c:v>
                </c:pt>
                <c:pt idx="253">
                  <c:v>0.4888</c:v>
                </c:pt>
                <c:pt idx="254">
                  <c:v>0.4422</c:v>
                </c:pt>
                <c:pt idx="255">
                  <c:v>0.664</c:v>
                </c:pt>
                <c:pt idx="256">
                  <c:v>0.4148</c:v>
                </c:pt>
                <c:pt idx="257">
                  <c:v>0.5026</c:v>
                </c:pt>
                <c:pt idx="258">
                  <c:v>0.4388</c:v>
                </c:pt>
                <c:pt idx="259">
                  <c:v>0.5058</c:v>
                </c:pt>
                <c:pt idx="260">
                  <c:v>0.7494</c:v>
                </c:pt>
                <c:pt idx="261">
                  <c:v>0.5896</c:v>
                </c:pt>
                <c:pt idx="262">
                  <c:v>0.4452</c:v>
                </c:pt>
                <c:pt idx="263">
                  <c:v>0.6964</c:v>
                </c:pt>
                <c:pt idx="264">
                  <c:v>0.4606</c:v>
                </c:pt>
                <c:pt idx="265">
                  <c:v>0.6308</c:v>
                </c:pt>
                <c:pt idx="266">
                  <c:v>0.538</c:v>
                </c:pt>
                <c:pt idx="267">
                  <c:v>0.7342</c:v>
                </c:pt>
                <c:pt idx="268">
                  <c:v>0.6024</c:v>
                </c:pt>
                <c:pt idx="269">
                  <c:v>0.7068</c:v>
                </c:pt>
                <c:pt idx="270">
                  <c:v>0.4354</c:v>
                </c:pt>
                <c:pt idx="271">
                  <c:v>0.5676</c:v>
                </c:pt>
                <c:pt idx="272">
                  <c:v>0.6292</c:v>
                </c:pt>
                <c:pt idx="273">
                  <c:v>0.4296</c:v>
                </c:pt>
                <c:pt idx="274">
                  <c:v>0.4792</c:v>
                </c:pt>
                <c:pt idx="275">
                  <c:v>0.5828</c:v>
                </c:pt>
                <c:pt idx="276">
                  <c:v>0.4284</c:v>
                </c:pt>
                <c:pt idx="277">
                  <c:v>0.5456</c:v>
                </c:pt>
                <c:pt idx="278">
                  <c:v>0.546</c:v>
                </c:pt>
                <c:pt idx="279">
                  <c:v>0.6208</c:v>
                </c:pt>
                <c:pt idx="280">
                  <c:v>0.4994</c:v>
                </c:pt>
                <c:pt idx="281">
                  <c:v>0.419</c:v>
                </c:pt>
                <c:pt idx="282">
                  <c:v>0.5198</c:v>
                </c:pt>
                <c:pt idx="283">
                  <c:v>0.5276</c:v>
                </c:pt>
                <c:pt idx="284">
                  <c:v>0.8008</c:v>
                </c:pt>
                <c:pt idx="285">
                  <c:v>0.7142</c:v>
                </c:pt>
                <c:pt idx="286">
                  <c:v>0.4716</c:v>
                </c:pt>
                <c:pt idx="287">
                  <c:v>0.7038</c:v>
                </c:pt>
                <c:pt idx="288">
                  <c:v>0.5584</c:v>
                </c:pt>
                <c:pt idx="289">
                  <c:v>0.4372</c:v>
                </c:pt>
                <c:pt idx="290">
                  <c:v>0.5712</c:v>
                </c:pt>
                <c:pt idx="291">
                  <c:v>0.3906</c:v>
                </c:pt>
                <c:pt idx="292">
                  <c:v>0.6228</c:v>
                </c:pt>
                <c:pt idx="293">
                  <c:v>0.7602</c:v>
                </c:pt>
                <c:pt idx="294">
                  <c:v>0.7068</c:v>
                </c:pt>
                <c:pt idx="295">
                  <c:v>0.4784</c:v>
                </c:pt>
                <c:pt idx="296">
                  <c:v>0.4096</c:v>
                </c:pt>
                <c:pt idx="297">
                  <c:v>0.4432</c:v>
                </c:pt>
                <c:pt idx="298">
                  <c:v>0.5256</c:v>
                </c:pt>
                <c:pt idx="299">
                  <c:v>0.6036</c:v>
                </c:pt>
                <c:pt idx="300">
                  <c:v>0.5938</c:v>
                </c:pt>
                <c:pt idx="301">
                  <c:v>0.7346</c:v>
                </c:pt>
                <c:pt idx="302">
                  <c:v>0.6166</c:v>
                </c:pt>
                <c:pt idx="303">
                  <c:v>0.5686</c:v>
                </c:pt>
                <c:pt idx="304">
                  <c:v>0.3614</c:v>
                </c:pt>
                <c:pt idx="305">
                  <c:v>0.5004</c:v>
                </c:pt>
                <c:pt idx="306">
                  <c:v>0.4932</c:v>
                </c:pt>
                <c:pt idx="307">
                  <c:v>0.7056</c:v>
                </c:pt>
                <c:pt idx="308">
                  <c:v>0.5614</c:v>
                </c:pt>
                <c:pt idx="309">
                  <c:v>0.503</c:v>
                </c:pt>
                <c:pt idx="310">
                  <c:v>0.8668</c:v>
                </c:pt>
                <c:pt idx="311">
                  <c:v>0.3766</c:v>
                </c:pt>
                <c:pt idx="312">
                  <c:v>0.522</c:v>
                </c:pt>
                <c:pt idx="313">
                  <c:v>0.5514</c:v>
                </c:pt>
                <c:pt idx="314">
                  <c:v>0.452</c:v>
                </c:pt>
                <c:pt idx="315">
                  <c:v>0.4398</c:v>
                </c:pt>
                <c:pt idx="316">
                  <c:v>0.4318</c:v>
                </c:pt>
                <c:pt idx="317">
                  <c:v>0.8616</c:v>
                </c:pt>
                <c:pt idx="318">
                  <c:v>0.6348</c:v>
                </c:pt>
                <c:pt idx="319">
                  <c:v>0.42</c:v>
                </c:pt>
                <c:pt idx="320">
                  <c:v>0.548</c:v>
                </c:pt>
                <c:pt idx="321">
                  <c:v>0.432</c:v>
                </c:pt>
                <c:pt idx="322">
                  <c:v>0.5756</c:v>
                </c:pt>
                <c:pt idx="323">
                  <c:v>0.4478</c:v>
                </c:pt>
                <c:pt idx="324">
                  <c:v>0.6666</c:v>
                </c:pt>
                <c:pt idx="325">
                  <c:v>0.5072</c:v>
                </c:pt>
                <c:pt idx="326">
                  <c:v>0.6676</c:v>
                </c:pt>
                <c:pt idx="327">
                  <c:v>0.5638</c:v>
                </c:pt>
                <c:pt idx="328">
                  <c:v>0.7118</c:v>
                </c:pt>
                <c:pt idx="329">
                  <c:v>0.4168</c:v>
                </c:pt>
                <c:pt idx="330">
                  <c:v>0.4966</c:v>
                </c:pt>
                <c:pt idx="331">
                  <c:v>0.724</c:v>
                </c:pt>
                <c:pt idx="332">
                  <c:v>0.8068</c:v>
                </c:pt>
                <c:pt idx="333">
                  <c:v>0.6184</c:v>
                </c:pt>
                <c:pt idx="334">
                  <c:v>0.6318</c:v>
                </c:pt>
                <c:pt idx="335">
                  <c:v>0.491</c:v>
                </c:pt>
                <c:pt idx="336">
                  <c:v>0.6454</c:v>
                </c:pt>
                <c:pt idx="337">
                  <c:v>0.5964</c:v>
                </c:pt>
                <c:pt idx="338">
                  <c:v>0.5262</c:v>
                </c:pt>
                <c:pt idx="339">
                  <c:v>0.6558</c:v>
                </c:pt>
                <c:pt idx="340">
                  <c:v>0.4612</c:v>
                </c:pt>
                <c:pt idx="341">
                  <c:v>0.7048</c:v>
                </c:pt>
                <c:pt idx="342">
                  <c:v>0.8176</c:v>
                </c:pt>
                <c:pt idx="343">
                  <c:v>0.6454</c:v>
                </c:pt>
                <c:pt idx="344">
                  <c:v>0.4442</c:v>
                </c:pt>
                <c:pt idx="345">
                  <c:v>0.6562</c:v>
                </c:pt>
                <c:pt idx="346">
                  <c:v>0.7034</c:v>
                </c:pt>
                <c:pt idx="347">
                  <c:v>0.56</c:v>
                </c:pt>
                <c:pt idx="348">
                  <c:v>0.7442</c:v>
                </c:pt>
                <c:pt idx="349">
                  <c:v>0.5182</c:v>
                </c:pt>
                <c:pt idx="350">
                  <c:v>0.6576</c:v>
                </c:pt>
                <c:pt idx="351">
                  <c:v>0.6108</c:v>
                </c:pt>
                <c:pt idx="352">
                  <c:v>0.4656</c:v>
                </c:pt>
                <c:pt idx="353">
                  <c:v>0.4826</c:v>
                </c:pt>
                <c:pt idx="354">
                  <c:v>0.4792</c:v>
                </c:pt>
                <c:pt idx="355">
                  <c:v>0.5942</c:v>
                </c:pt>
                <c:pt idx="356">
                  <c:v>0.8002</c:v>
                </c:pt>
                <c:pt idx="357">
                  <c:v>0.608</c:v>
                </c:pt>
                <c:pt idx="358">
                  <c:v>0.5198</c:v>
                </c:pt>
                <c:pt idx="359">
                  <c:v>0.47</c:v>
                </c:pt>
                <c:pt idx="360">
                  <c:v>0.808</c:v>
                </c:pt>
                <c:pt idx="361">
                  <c:v>0.651</c:v>
                </c:pt>
                <c:pt idx="362">
                  <c:v>0.3242</c:v>
                </c:pt>
                <c:pt idx="363">
                  <c:v>0.7374</c:v>
                </c:pt>
                <c:pt idx="364">
                  <c:v>0.3818</c:v>
                </c:pt>
                <c:pt idx="365">
                  <c:v>0.5722</c:v>
                </c:pt>
                <c:pt idx="366">
                  <c:v>0.5144</c:v>
                </c:pt>
                <c:pt idx="367">
                  <c:v>0.5742</c:v>
                </c:pt>
                <c:pt idx="368">
                  <c:v>0.5304</c:v>
                </c:pt>
                <c:pt idx="369">
                  <c:v>0.5754</c:v>
                </c:pt>
                <c:pt idx="370">
                  <c:v>0.4954</c:v>
                </c:pt>
                <c:pt idx="371">
                  <c:v>0.5052</c:v>
                </c:pt>
                <c:pt idx="372">
                  <c:v>0.617</c:v>
                </c:pt>
                <c:pt idx="373">
                  <c:v>0.4806</c:v>
                </c:pt>
                <c:pt idx="374">
                  <c:v>0.659</c:v>
                </c:pt>
                <c:pt idx="375">
                  <c:v>0.6662</c:v>
                </c:pt>
                <c:pt idx="376">
                  <c:v>0.568</c:v>
                </c:pt>
                <c:pt idx="377">
                  <c:v>0.4494</c:v>
                </c:pt>
                <c:pt idx="378">
                  <c:v>0.6572</c:v>
                </c:pt>
                <c:pt idx="379">
                  <c:v>0.7548</c:v>
                </c:pt>
                <c:pt idx="380">
                  <c:v>0.487</c:v>
                </c:pt>
                <c:pt idx="381">
                  <c:v>0.64</c:v>
                </c:pt>
                <c:pt idx="382">
                  <c:v>0.5814</c:v>
                </c:pt>
                <c:pt idx="383">
                  <c:v>0.6116</c:v>
                </c:pt>
                <c:pt idx="384">
                  <c:v>0.694</c:v>
                </c:pt>
                <c:pt idx="385">
                  <c:v>0.865</c:v>
                </c:pt>
                <c:pt idx="386">
                  <c:v>0.5382</c:v>
                </c:pt>
                <c:pt idx="387">
                  <c:v>0.555</c:v>
                </c:pt>
                <c:pt idx="388">
                  <c:v>0.4512</c:v>
                </c:pt>
                <c:pt idx="389">
                  <c:v>0.594</c:v>
                </c:pt>
                <c:pt idx="390">
                  <c:v>0.7242</c:v>
                </c:pt>
                <c:pt idx="391">
                  <c:v>0.7212</c:v>
                </c:pt>
                <c:pt idx="392">
                  <c:v>0.3962</c:v>
                </c:pt>
                <c:pt idx="393">
                  <c:v>0.7408</c:v>
                </c:pt>
                <c:pt idx="394">
                  <c:v>0.6152</c:v>
                </c:pt>
                <c:pt idx="395">
                  <c:v>0.664</c:v>
                </c:pt>
                <c:pt idx="396">
                  <c:v>0.4962</c:v>
                </c:pt>
                <c:pt idx="397">
                  <c:v>0.48</c:v>
                </c:pt>
                <c:pt idx="398">
                  <c:v>0.6968</c:v>
                </c:pt>
                <c:pt idx="399">
                  <c:v>0.573</c:v>
                </c:pt>
                <c:pt idx="400">
                  <c:v>0.7258</c:v>
                </c:pt>
                <c:pt idx="401">
                  <c:v>0.474</c:v>
                </c:pt>
                <c:pt idx="402">
                  <c:v>0.5532</c:v>
                </c:pt>
                <c:pt idx="403">
                  <c:v>0.521</c:v>
                </c:pt>
                <c:pt idx="404">
                  <c:v>0.6648</c:v>
                </c:pt>
                <c:pt idx="405">
                  <c:v>0.6388</c:v>
                </c:pt>
                <c:pt idx="406">
                  <c:v>0.4642</c:v>
                </c:pt>
                <c:pt idx="407">
                  <c:v>0.4934</c:v>
                </c:pt>
                <c:pt idx="408">
                  <c:v>0.7566</c:v>
                </c:pt>
                <c:pt idx="409">
                  <c:v>0.6498</c:v>
                </c:pt>
                <c:pt idx="410">
                  <c:v>0.5016</c:v>
                </c:pt>
                <c:pt idx="411">
                  <c:v>0.4668</c:v>
                </c:pt>
                <c:pt idx="412">
                  <c:v>0.5748</c:v>
                </c:pt>
                <c:pt idx="413">
                  <c:v>0.6742</c:v>
                </c:pt>
                <c:pt idx="414">
                  <c:v>0.6618</c:v>
                </c:pt>
                <c:pt idx="415">
                  <c:v>0.4514</c:v>
                </c:pt>
                <c:pt idx="416">
                  <c:v>0.5758</c:v>
                </c:pt>
                <c:pt idx="417">
                  <c:v>0.6042</c:v>
                </c:pt>
                <c:pt idx="418">
                  <c:v>0.3762</c:v>
                </c:pt>
                <c:pt idx="419">
                  <c:v>0.4554</c:v>
                </c:pt>
                <c:pt idx="420">
                  <c:v>0.6012</c:v>
                </c:pt>
                <c:pt idx="421">
                  <c:v>0.6308</c:v>
                </c:pt>
                <c:pt idx="422">
                  <c:v>0.641</c:v>
                </c:pt>
                <c:pt idx="423">
                  <c:v>0.7124</c:v>
                </c:pt>
                <c:pt idx="424">
                  <c:v>0.6308</c:v>
                </c:pt>
                <c:pt idx="425">
                  <c:v>0.5592</c:v>
                </c:pt>
                <c:pt idx="426">
                  <c:v>0.7182</c:v>
                </c:pt>
                <c:pt idx="427">
                  <c:v>0.5698</c:v>
                </c:pt>
                <c:pt idx="428">
                  <c:v>0.48</c:v>
                </c:pt>
                <c:pt idx="429">
                  <c:v>0.4238</c:v>
                </c:pt>
                <c:pt idx="430">
                  <c:v>0.4644</c:v>
                </c:pt>
                <c:pt idx="431">
                  <c:v>0.526</c:v>
                </c:pt>
                <c:pt idx="432">
                  <c:v>0.4566</c:v>
                </c:pt>
                <c:pt idx="433">
                  <c:v>0.459</c:v>
                </c:pt>
                <c:pt idx="434">
                  <c:v>0.6094</c:v>
                </c:pt>
                <c:pt idx="435">
                  <c:v>0.533</c:v>
                </c:pt>
                <c:pt idx="436">
                  <c:v>0.466</c:v>
                </c:pt>
                <c:pt idx="437">
                  <c:v>0.5038</c:v>
                </c:pt>
                <c:pt idx="438">
                  <c:v>0.4882</c:v>
                </c:pt>
                <c:pt idx="439">
                  <c:v>0.4332</c:v>
                </c:pt>
                <c:pt idx="440">
                  <c:v>0.6496</c:v>
                </c:pt>
                <c:pt idx="441">
                  <c:v>0.5466</c:v>
                </c:pt>
                <c:pt idx="442">
                  <c:v>0.6112</c:v>
                </c:pt>
                <c:pt idx="443">
                  <c:v>0.3806</c:v>
                </c:pt>
                <c:pt idx="444">
                  <c:v>0.6516</c:v>
                </c:pt>
                <c:pt idx="445">
                  <c:v>0.4282</c:v>
                </c:pt>
                <c:pt idx="446">
                  <c:v>0.4426</c:v>
                </c:pt>
                <c:pt idx="447">
                  <c:v>0.6956</c:v>
                </c:pt>
                <c:pt idx="448">
                  <c:v>0.4534</c:v>
                </c:pt>
                <c:pt idx="449">
                  <c:v>0.5226</c:v>
                </c:pt>
                <c:pt idx="450">
                  <c:v>0.635</c:v>
                </c:pt>
                <c:pt idx="451">
                  <c:v>0.4626</c:v>
                </c:pt>
                <c:pt idx="452">
                  <c:v>0.4302</c:v>
                </c:pt>
                <c:pt idx="453">
                  <c:v>0.4336</c:v>
                </c:pt>
                <c:pt idx="454">
                  <c:v>0.4544</c:v>
                </c:pt>
                <c:pt idx="455">
                  <c:v>0.6096</c:v>
                </c:pt>
                <c:pt idx="456">
                  <c:v>0.582</c:v>
                </c:pt>
                <c:pt idx="457">
                  <c:v>0.7298</c:v>
                </c:pt>
                <c:pt idx="458">
                  <c:v>0.516</c:v>
                </c:pt>
                <c:pt idx="459">
                  <c:v>0.6988</c:v>
                </c:pt>
                <c:pt idx="460">
                  <c:v>0.5826</c:v>
                </c:pt>
                <c:pt idx="461">
                  <c:v>0.3554</c:v>
                </c:pt>
                <c:pt idx="462">
                  <c:v>0.4794</c:v>
                </c:pt>
                <c:pt idx="463">
                  <c:v>0.4472</c:v>
                </c:pt>
                <c:pt idx="464">
                  <c:v>0.6094</c:v>
                </c:pt>
                <c:pt idx="465">
                  <c:v>0.4976</c:v>
                </c:pt>
                <c:pt idx="466">
                  <c:v>0.653</c:v>
                </c:pt>
                <c:pt idx="467">
                  <c:v>0.6202</c:v>
                </c:pt>
                <c:pt idx="468">
                  <c:v>0.5382</c:v>
                </c:pt>
                <c:pt idx="469">
                  <c:v>0.5628</c:v>
                </c:pt>
                <c:pt idx="470">
                  <c:v>0.448</c:v>
                </c:pt>
                <c:pt idx="471">
                  <c:v>0.638</c:v>
                </c:pt>
                <c:pt idx="472">
                  <c:v>0.4708</c:v>
                </c:pt>
                <c:pt idx="473">
                  <c:v>0.4536</c:v>
                </c:pt>
                <c:pt idx="474">
                  <c:v>0.558</c:v>
                </c:pt>
                <c:pt idx="475">
                  <c:v>0.4794</c:v>
                </c:pt>
                <c:pt idx="476">
                  <c:v>0.5636</c:v>
                </c:pt>
                <c:pt idx="477">
                  <c:v>0.5562</c:v>
                </c:pt>
                <c:pt idx="478">
                  <c:v>0.5494</c:v>
                </c:pt>
                <c:pt idx="479">
                  <c:v>0.621</c:v>
                </c:pt>
                <c:pt idx="480">
                  <c:v>0.6074</c:v>
                </c:pt>
                <c:pt idx="481">
                  <c:v>0.6482</c:v>
                </c:pt>
                <c:pt idx="482">
                  <c:v>0.481</c:v>
                </c:pt>
                <c:pt idx="483">
                  <c:v>0.5848</c:v>
                </c:pt>
                <c:pt idx="484">
                  <c:v>0.7556</c:v>
                </c:pt>
                <c:pt idx="485">
                  <c:v>0.542</c:v>
                </c:pt>
                <c:pt idx="486">
                  <c:v>0.5164</c:v>
                </c:pt>
                <c:pt idx="487">
                  <c:v>0.504</c:v>
                </c:pt>
                <c:pt idx="488">
                  <c:v>0.515</c:v>
                </c:pt>
                <c:pt idx="489">
                  <c:v>0.7358</c:v>
                </c:pt>
                <c:pt idx="490">
                  <c:v>0.5176</c:v>
                </c:pt>
                <c:pt idx="491">
                  <c:v>0.6064</c:v>
                </c:pt>
                <c:pt idx="492">
                  <c:v>0.6304</c:v>
                </c:pt>
                <c:pt idx="493">
                  <c:v>0.6966</c:v>
                </c:pt>
                <c:pt idx="494">
                  <c:v>0.7282</c:v>
                </c:pt>
                <c:pt idx="495">
                  <c:v>0.6574</c:v>
                </c:pt>
                <c:pt idx="496">
                  <c:v>0.6092</c:v>
                </c:pt>
                <c:pt idx="497">
                  <c:v>0.4076</c:v>
                </c:pt>
                <c:pt idx="498">
                  <c:v>0.502</c:v>
                </c:pt>
                <c:pt idx="499">
                  <c:v>0.7364</c:v>
                </c:pt>
                <c:pt idx="500">
                  <c:v>0.4246</c:v>
                </c:pt>
                <c:pt idx="501">
                  <c:v>0.6044</c:v>
                </c:pt>
                <c:pt idx="502">
                  <c:v>0.5346</c:v>
                </c:pt>
                <c:pt idx="503">
                  <c:v>0.5364</c:v>
                </c:pt>
                <c:pt idx="504">
                  <c:v>0.4508</c:v>
                </c:pt>
                <c:pt idx="505">
                  <c:v>0.3874</c:v>
                </c:pt>
                <c:pt idx="506">
                  <c:v>0.4902</c:v>
                </c:pt>
                <c:pt idx="507">
                  <c:v>0.5328</c:v>
                </c:pt>
                <c:pt idx="508">
                  <c:v>0.3928</c:v>
                </c:pt>
                <c:pt idx="509">
                  <c:v>0.4646</c:v>
                </c:pt>
                <c:pt idx="510">
                  <c:v>0.54</c:v>
                </c:pt>
                <c:pt idx="511">
                  <c:v>0.7394</c:v>
                </c:pt>
                <c:pt idx="512">
                  <c:v>0.4926</c:v>
                </c:pt>
                <c:pt idx="513">
                  <c:v>0.5098</c:v>
                </c:pt>
                <c:pt idx="514">
                  <c:v>0.5978</c:v>
                </c:pt>
                <c:pt idx="515">
                  <c:v>0.4664</c:v>
                </c:pt>
                <c:pt idx="516">
                  <c:v>0.594</c:v>
                </c:pt>
                <c:pt idx="517">
                  <c:v>0.4538</c:v>
                </c:pt>
                <c:pt idx="518">
                  <c:v>0.4326</c:v>
                </c:pt>
                <c:pt idx="519">
                  <c:v>0.4918</c:v>
                </c:pt>
                <c:pt idx="520">
                  <c:v>0.7172</c:v>
                </c:pt>
                <c:pt idx="521">
                  <c:v>0.7812</c:v>
                </c:pt>
                <c:pt idx="522">
                  <c:v>0.526</c:v>
                </c:pt>
                <c:pt idx="523">
                  <c:v>0.3474</c:v>
                </c:pt>
                <c:pt idx="524">
                  <c:v>0.6104</c:v>
                </c:pt>
                <c:pt idx="525">
                  <c:v>0.5948</c:v>
                </c:pt>
                <c:pt idx="526">
                  <c:v>0.7608</c:v>
                </c:pt>
                <c:pt idx="527">
                  <c:v>0.6096</c:v>
                </c:pt>
                <c:pt idx="528">
                  <c:v>0.6474</c:v>
                </c:pt>
                <c:pt idx="529">
                  <c:v>0.5532</c:v>
                </c:pt>
                <c:pt idx="530">
                  <c:v>0.6328</c:v>
                </c:pt>
                <c:pt idx="531">
                  <c:v>0.3404</c:v>
                </c:pt>
                <c:pt idx="532">
                  <c:v>0.6212</c:v>
                </c:pt>
                <c:pt idx="533">
                  <c:v>0.4904</c:v>
                </c:pt>
                <c:pt idx="534">
                  <c:v>0.4218</c:v>
                </c:pt>
                <c:pt idx="535">
                  <c:v>0.414</c:v>
                </c:pt>
                <c:pt idx="536">
                  <c:v>0.681</c:v>
                </c:pt>
                <c:pt idx="537">
                  <c:v>0.7808</c:v>
                </c:pt>
                <c:pt idx="538">
                  <c:v>0.3834</c:v>
                </c:pt>
                <c:pt idx="539">
                  <c:v>0.6426</c:v>
                </c:pt>
                <c:pt idx="540">
                  <c:v>0.5668</c:v>
                </c:pt>
                <c:pt idx="541">
                  <c:v>0.5082</c:v>
                </c:pt>
                <c:pt idx="542">
                  <c:v>0.6112</c:v>
                </c:pt>
                <c:pt idx="543">
                  <c:v>0.4732</c:v>
                </c:pt>
                <c:pt idx="544">
                  <c:v>0.771</c:v>
                </c:pt>
                <c:pt idx="545">
                  <c:v>0.4814</c:v>
                </c:pt>
                <c:pt idx="546">
                  <c:v>0.6426</c:v>
                </c:pt>
                <c:pt idx="547">
                  <c:v>0.4776</c:v>
                </c:pt>
                <c:pt idx="548">
                  <c:v>0.4852</c:v>
                </c:pt>
                <c:pt idx="549">
                  <c:v>0.5852</c:v>
                </c:pt>
                <c:pt idx="550">
                  <c:v>0.6424</c:v>
                </c:pt>
                <c:pt idx="551">
                  <c:v>0.6276</c:v>
                </c:pt>
                <c:pt idx="552">
                  <c:v>0.5204</c:v>
                </c:pt>
                <c:pt idx="553">
                  <c:v>0.5312</c:v>
                </c:pt>
                <c:pt idx="554">
                  <c:v>0.5346</c:v>
                </c:pt>
                <c:pt idx="555">
                  <c:v>0.5908</c:v>
                </c:pt>
                <c:pt idx="556">
                  <c:v>0.4356</c:v>
                </c:pt>
                <c:pt idx="557">
                  <c:v>0.5684</c:v>
                </c:pt>
                <c:pt idx="558">
                  <c:v>0.709</c:v>
                </c:pt>
                <c:pt idx="559">
                  <c:v>0.5212</c:v>
                </c:pt>
                <c:pt idx="560">
                  <c:v>0.4434</c:v>
                </c:pt>
                <c:pt idx="561">
                  <c:v>0.516</c:v>
                </c:pt>
                <c:pt idx="562">
                  <c:v>0.6984</c:v>
                </c:pt>
                <c:pt idx="563">
                  <c:v>0.6174</c:v>
                </c:pt>
                <c:pt idx="564">
                  <c:v>0.5464</c:v>
                </c:pt>
                <c:pt idx="565">
                  <c:v>0.355</c:v>
                </c:pt>
                <c:pt idx="566">
                  <c:v>0.4616</c:v>
                </c:pt>
                <c:pt idx="567">
                  <c:v>0.5992</c:v>
                </c:pt>
                <c:pt idx="568">
                  <c:v>0.4398</c:v>
                </c:pt>
                <c:pt idx="569">
                  <c:v>0.6568</c:v>
                </c:pt>
                <c:pt idx="570">
                  <c:v>0.5342</c:v>
                </c:pt>
                <c:pt idx="571">
                  <c:v>0.6898</c:v>
                </c:pt>
                <c:pt idx="572">
                  <c:v>0.705</c:v>
                </c:pt>
                <c:pt idx="573">
                  <c:v>0.7296</c:v>
                </c:pt>
                <c:pt idx="574">
                  <c:v>0.521</c:v>
                </c:pt>
                <c:pt idx="575">
                  <c:v>0.5992</c:v>
                </c:pt>
                <c:pt idx="576">
                  <c:v>0.602</c:v>
                </c:pt>
                <c:pt idx="577">
                  <c:v>0.4602</c:v>
                </c:pt>
                <c:pt idx="578">
                  <c:v>0.7806</c:v>
                </c:pt>
                <c:pt idx="579">
                  <c:v>0.5038</c:v>
                </c:pt>
                <c:pt idx="580">
                  <c:v>0.433</c:v>
                </c:pt>
                <c:pt idx="581">
                  <c:v>0.6828</c:v>
                </c:pt>
                <c:pt idx="582">
                  <c:v>0.6228</c:v>
                </c:pt>
                <c:pt idx="583">
                  <c:v>0.5328</c:v>
                </c:pt>
                <c:pt idx="584">
                  <c:v>0.6026</c:v>
                </c:pt>
                <c:pt idx="585">
                  <c:v>0.5324</c:v>
                </c:pt>
                <c:pt idx="586">
                  <c:v>0.5004</c:v>
                </c:pt>
                <c:pt idx="587">
                  <c:v>0.7396</c:v>
                </c:pt>
                <c:pt idx="588">
                  <c:v>0.6514</c:v>
                </c:pt>
                <c:pt idx="589">
                  <c:v>0.5008</c:v>
                </c:pt>
                <c:pt idx="590">
                  <c:v>0.6182</c:v>
                </c:pt>
                <c:pt idx="591">
                  <c:v>0.6082</c:v>
                </c:pt>
                <c:pt idx="592">
                  <c:v>0.578</c:v>
                </c:pt>
                <c:pt idx="593">
                  <c:v>0.787</c:v>
                </c:pt>
                <c:pt idx="594">
                  <c:v>0.559</c:v>
                </c:pt>
                <c:pt idx="595">
                  <c:v>0.3828</c:v>
                </c:pt>
                <c:pt idx="596">
                  <c:v>0.6546</c:v>
                </c:pt>
                <c:pt idx="597">
                  <c:v>0.3994</c:v>
                </c:pt>
                <c:pt idx="598">
                  <c:v>0.4566</c:v>
                </c:pt>
                <c:pt idx="599">
                  <c:v>0.7708</c:v>
                </c:pt>
                <c:pt idx="600">
                  <c:v>0.7894</c:v>
                </c:pt>
                <c:pt idx="601">
                  <c:v>0.4964</c:v>
                </c:pt>
                <c:pt idx="602">
                  <c:v>0.5552</c:v>
                </c:pt>
                <c:pt idx="603">
                  <c:v>0.609</c:v>
                </c:pt>
                <c:pt idx="604">
                  <c:v>0.4558</c:v>
                </c:pt>
                <c:pt idx="605">
                  <c:v>0.549</c:v>
                </c:pt>
                <c:pt idx="606">
                  <c:v>0.6946</c:v>
                </c:pt>
                <c:pt idx="607">
                  <c:v>0.6702</c:v>
                </c:pt>
                <c:pt idx="608">
                  <c:v>0.8104</c:v>
                </c:pt>
                <c:pt idx="609">
                  <c:v>0.4496</c:v>
                </c:pt>
                <c:pt idx="610">
                  <c:v>0.4702</c:v>
                </c:pt>
                <c:pt idx="611">
                  <c:v>0.5418</c:v>
                </c:pt>
                <c:pt idx="612">
                  <c:v>0.4816</c:v>
                </c:pt>
                <c:pt idx="613">
                  <c:v>0.388</c:v>
                </c:pt>
                <c:pt idx="614">
                  <c:v>0.718</c:v>
                </c:pt>
                <c:pt idx="615">
                  <c:v>0.4734</c:v>
                </c:pt>
                <c:pt idx="616">
                  <c:v>0.7078</c:v>
                </c:pt>
                <c:pt idx="617">
                  <c:v>0.5578</c:v>
                </c:pt>
                <c:pt idx="618">
                  <c:v>0.5834</c:v>
                </c:pt>
                <c:pt idx="619">
                  <c:v>0.6398</c:v>
                </c:pt>
                <c:pt idx="620">
                  <c:v>0.3714</c:v>
                </c:pt>
                <c:pt idx="621">
                  <c:v>0.6078</c:v>
                </c:pt>
                <c:pt idx="622">
                  <c:v>0.7352</c:v>
                </c:pt>
                <c:pt idx="623">
                  <c:v>0.5646</c:v>
                </c:pt>
                <c:pt idx="624">
                  <c:v>0.496</c:v>
                </c:pt>
                <c:pt idx="625">
                  <c:v>0.734</c:v>
                </c:pt>
                <c:pt idx="626">
                  <c:v>0.6454</c:v>
                </c:pt>
                <c:pt idx="627">
                  <c:v>0.5294</c:v>
                </c:pt>
                <c:pt idx="628">
                  <c:v>0.5242</c:v>
                </c:pt>
                <c:pt idx="629">
                  <c:v>0.3936</c:v>
                </c:pt>
                <c:pt idx="630">
                  <c:v>0.5614</c:v>
                </c:pt>
                <c:pt idx="631">
                  <c:v>0.4486</c:v>
                </c:pt>
                <c:pt idx="632">
                  <c:v>0.696</c:v>
                </c:pt>
                <c:pt idx="633">
                  <c:v>0.4036</c:v>
                </c:pt>
                <c:pt idx="634">
                  <c:v>0.6238</c:v>
                </c:pt>
                <c:pt idx="635">
                  <c:v>0.481</c:v>
                </c:pt>
                <c:pt idx="636">
                  <c:v>0.796</c:v>
                </c:pt>
                <c:pt idx="637">
                  <c:v>0.5428</c:v>
                </c:pt>
                <c:pt idx="638">
                  <c:v>0.5942</c:v>
                </c:pt>
                <c:pt idx="639">
                  <c:v>0.6912</c:v>
                </c:pt>
                <c:pt idx="640">
                  <c:v>0.37</c:v>
                </c:pt>
                <c:pt idx="641">
                  <c:v>0.571</c:v>
                </c:pt>
                <c:pt idx="642">
                  <c:v>0.8398</c:v>
                </c:pt>
                <c:pt idx="643">
                  <c:v>0.5798</c:v>
                </c:pt>
                <c:pt idx="644">
                  <c:v>0.4486</c:v>
                </c:pt>
                <c:pt idx="645">
                  <c:v>0.2856</c:v>
                </c:pt>
                <c:pt idx="646">
                  <c:v>0.5342</c:v>
                </c:pt>
                <c:pt idx="647">
                  <c:v>0.6058</c:v>
                </c:pt>
                <c:pt idx="648">
                  <c:v>0.6012</c:v>
                </c:pt>
                <c:pt idx="649">
                  <c:v>0.6</c:v>
                </c:pt>
                <c:pt idx="650">
                  <c:v>0.7012</c:v>
                </c:pt>
                <c:pt idx="651">
                  <c:v>0.7322</c:v>
                </c:pt>
                <c:pt idx="652">
                  <c:v>0.6952</c:v>
                </c:pt>
                <c:pt idx="653">
                  <c:v>0.4896</c:v>
                </c:pt>
                <c:pt idx="654">
                  <c:v>0.6158</c:v>
                </c:pt>
                <c:pt idx="655">
                  <c:v>0.3872</c:v>
                </c:pt>
                <c:pt idx="656">
                  <c:v>0.5164</c:v>
                </c:pt>
                <c:pt idx="657">
                  <c:v>0.6596</c:v>
                </c:pt>
                <c:pt idx="658">
                  <c:v>0.6436</c:v>
                </c:pt>
                <c:pt idx="659">
                  <c:v>0.6962</c:v>
                </c:pt>
                <c:pt idx="660">
                  <c:v>0.5588</c:v>
                </c:pt>
                <c:pt idx="661">
                  <c:v>0.3552</c:v>
                </c:pt>
                <c:pt idx="662">
                  <c:v>0.437</c:v>
                </c:pt>
                <c:pt idx="663">
                  <c:v>0.7676</c:v>
                </c:pt>
                <c:pt idx="664">
                  <c:v>0.4326</c:v>
                </c:pt>
                <c:pt idx="665">
                  <c:v>0.499</c:v>
                </c:pt>
                <c:pt idx="666">
                  <c:v>0.5436</c:v>
                </c:pt>
                <c:pt idx="667">
                  <c:v>0.5514</c:v>
                </c:pt>
                <c:pt idx="668">
                  <c:v>0.6746</c:v>
                </c:pt>
                <c:pt idx="669">
                  <c:v>0.5774</c:v>
                </c:pt>
                <c:pt idx="670">
                  <c:v>0.473</c:v>
                </c:pt>
                <c:pt idx="671">
                  <c:v>0.5934</c:v>
                </c:pt>
                <c:pt idx="672">
                  <c:v>0.5968</c:v>
                </c:pt>
                <c:pt idx="673">
                  <c:v>0.4712</c:v>
                </c:pt>
                <c:pt idx="674">
                  <c:v>0.7482</c:v>
                </c:pt>
                <c:pt idx="675">
                  <c:v>0.5078</c:v>
                </c:pt>
                <c:pt idx="676">
                  <c:v>0.7248</c:v>
                </c:pt>
                <c:pt idx="677">
                  <c:v>0.6152</c:v>
                </c:pt>
                <c:pt idx="678">
                  <c:v>0.3326</c:v>
                </c:pt>
                <c:pt idx="679">
                  <c:v>0.5834</c:v>
                </c:pt>
                <c:pt idx="680">
                  <c:v>0.4442</c:v>
                </c:pt>
                <c:pt idx="681">
                  <c:v>0.4616</c:v>
                </c:pt>
                <c:pt idx="682">
                  <c:v>0.7182</c:v>
                </c:pt>
                <c:pt idx="683">
                  <c:v>0.4892</c:v>
                </c:pt>
                <c:pt idx="684">
                  <c:v>0.5844</c:v>
                </c:pt>
                <c:pt idx="685">
                  <c:v>0.4566</c:v>
                </c:pt>
                <c:pt idx="686">
                  <c:v>0.6618</c:v>
                </c:pt>
                <c:pt idx="687">
                  <c:v>0.4836</c:v>
                </c:pt>
                <c:pt idx="688">
                  <c:v>0.5394</c:v>
                </c:pt>
                <c:pt idx="689">
                  <c:v>0.4696</c:v>
                </c:pt>
                <c:pt idx="690">
                  <c:v>0.6106</c:v>
                </c:pt>
                <c:pt idx="691">
                  <c:v>0.4278</c:v>
                </c:pt>
                <c:pt idx="692">
                  <c:v>0.7174</c:v>
                </c:pt>
                <c:pt idx="693">
                  <c:v>0.8104</c:v>
                </c:pt>
                <c:pt idx="694">
                  <c:v>0.4404</c:v>
                </c:pt>
                <c:pt idx="695">
                  <c:v>0.4582</c:v>
                </c:pt>
                <c:pt idx="696">
                  <c:v>0.5076</c:v>
                </c:pt>
                <c:pt idx="697">
                  <c:v>0.4892</c:v>
                </c:pt>
                <c:pt idx="698">
                  <c:v>0.3902</c:v>
                </c:pt>
                <c:pt idx="699">
                  <c:v>0.4364</c:v>
                </c:pt>
                <c:pt idx="700">
                  <c:v/>
                </c:pt>
                <c:pt idx="701">
                  <c:v/>
                </c:pt>
                <c:pt idx="702">
                  <c:v/>
                </c:pt>
                <c:pt idx="703">
                  <c:v/>
                </c:pt>
                <c:pt idx="704">
                  <c:v/>
                </c:pt>
                <c:pt idx="705">
                  <c:v/>
                </c:pt>
                <c:pt idx="706">
                  <c:v/>
                </c:pt>
                <c:pt idx="707">
                  <c:v/>
                </c:pt>
                <c:pt idx="708">
                  <c:v/>
                </c:pt>
                <c:pt idx="709">
                  <c:v/>
                </c:pt>
                <c:pt idx="710">
                  <c:v/>
                </c:pt>
                <c:pt idx="711">
                  <c:v/>
                </c:pt>
                <c:pt idx="712">
                  <c:v/>
                </c:pt>
              </c:numCache>
            </c:numRef>
          </c:yVal>
          <c:smooth val="0"/>
        </c:ser>
        <c:ser>
          <c:idx val="1"/>
          <c:order val="1"/>
          <c:tx>
            <c:strRef>
              <c:f>Sheet1!$C$1</c:f>
              <c:strCache>
                <c:ptCount val="1"/>
                <c:pt idx="0">
                  <c:v>Pareto fronts 2-3</c:v>
                </c:pt>
              </c:strCache>
            </c:strRef>
          </c:tx>
          <c:spPr>
            <a:solidFill>
              <a:srgbClr val="4F81BD"/>
            </a:solidFill>
            <a:ln>
              <a:noFill/>
            </a:ln>
            <a:effectLst/>
          </c:spPr>
          <c:marker>
            <c:symbol val="circle"/>
            <c:size val="6"/>
            <c:spPr>
              <a:solidFill>
                <a:srgbClr val="4F81BD"/>
              </a:solidFill>
              <a:ln w="9525" cap="flat">
                <a:solidFill>
                  <a:srgbClr val="4F81BD"/>
                </a:solidFill>
                <a:prstDash val="solid"/>
                <a:round/>
              </a:ln>
              <a:effectLst/>
            </c:spPr>
          </c:marker>
          <c:xVal>
            <c:numRef>
              <c:f>Sheet1!$A$2:$A$714</c:f>
              <c:numCache>
                <c:formatCode>General</c:formatCode>
                <c:ptCount val="713"/>
                <c:pt idx="0">
                  <c:v>545.82</c:v>
                </c:pt>
                <c:pt idx="1">
                  <c:v>0</c:v>
                </c:pt>
                <c:pt idx="2">
                  <c:v>4172.71</c:v>
                </c:pt>
                <c:pt idx="3">
                  <c:v>2713.58</c:v>
                </c:pt>
                <c:pt idx="4">
                  <c:v>506.618</c:v>
                </c:pt>
                <c:pt idx="5">
                  <c:v>2068.99</c:v>
                </c:pt>
                <c:pt idx="6">
                  <c:v>1271.94</c:v>
                </c:pt>
                <c:pt idx="7">
                  <c:v>0</c:v>
                </c:pt>
                <c:pt idx="8">
                  <c:v>453.821</c:v>
                </c:pt>
                <c:pt idx="9">
                  <c:v>572.359</c:v>
                </c:pt>
                <c:pt idx="10">
                  <c:v>1693.37</c:v>
                </c:pt>
                <c:pt idx="11">
                  <c:v>416.31</c:v>
                </c:pt>
                <c:pt idx="12">
                  <c:v>0</c:v>
                </c:pt>
                <c:pt idx="13">
                  <c:v>259.461</c:v>
                </c:pt>
                <c:pt idx="14">
                  <c:v>242.09</c:v>
                </c:pt>
                <c:pt idx="15">
                  <c:v>1349.38</c:v>
                </c:pt>
                <c:pt idx="16">
                  <c:v>916.008</c:v>
                </c:pt>
                <c:pt idx="17">
                  <c:v>1525.26</c:v>
                </c:pt>
                <c:pt idx="18">
                  <c:v>764.667</c:v>
                </c:pt>
                <c:pt idx="19">
                  <c:v>763.156</c:v>
                </c:pt>
                <c:pt idx="20">
                  <c:v>0</c:v>
                </c:pt>
                <c:pt idx="21">
                  <c:v>1180.25</c:v>
                </c:pt>
                <c:pt idx="22">
                  <c:v>1200.36</c:v>
                </c:pt>
                <c:pt idx="23">
                  <c:v>669.362</c:v>
                </c:pt>
                <c:pt idx="24">
                  <c:v>534.065</c:v>
                </c:pt>
                <c:pt idx="25">
                  <c:v>4456.97</c:v>
                </c:pt>
                <c:pt idx="26">
                  <c:v>1944.66</c:v>
                </c:pt>
                <c:pt idx="27">
                  <c:v>0</c:v>
                </c:pt>
                <c:pt idx="28">
                  <c:v>729.746</c:v>
                </c:pt>
                <c:pt idx="29">
                  <c:v>1731.28</c:v>
                </c:pt>
                <c:pt idx="30">
                  <c:v>0</c:v>
                </c:pt>
                <c:pt idx="31">
                  <c:v>2126.83</c:v>
                </c:pt>
                <c:pt idx="32">
                  <c:v>5633.74</c:v>
                </c:pt>
                <c:pt idx="33">
                  <c:v>1609.79</c:v>
                </c:pt>
                <c:pt idx="34">
                  <c:v>2332.52</c:v>
                </c:pt>
                <c:pt idx="35">
                  <c:v>4087.73</c:v>
                </c:pt>
                <c:pt idx="36">
                  <c:v>1169.08</c:v>
                </c:pt>
                <c:pt idx="37">
                  <c:v>2806.02</c:v>
                </c:pt>
                <c:pt idx="38">
                  <c:v>0</c:v>
                </c:pt>
                <c:pt idx="39">
                  <c:v>0</c:v>
                </c:pt>
                <c:pt idx="40">
                  <c:v>0</c:v>
                </c:pt>
                <c:pt idx="41">
                  <c:v>1134.17</c:v>
                </c:pt>
                <c:pt idx="42">
                  <c:v>1593</c:v>
                </c:pt>
                <c:pt idx="43">
                  <c:v>765.906</c:v>
                </c:pt>
                <c:pt idx="44">
                  <c:v>1240.98</c:v>
                </c:pt>
                <c:pt idx="45">
                  <c:v>1300.59</c:v>
                </c:pt>
                <c:pt idx="46">
                  <c:v>2609.57</c:v>
                </c:pt>
                <c:pt idx="47">
                  <c:v>568.828</c:v>
                </c:pt>
                <c:pt idx="48">
                  <c:v>2398.93</c:v>
                </c:pt>
                <c:pt idx="49">
                  <c:v>1642.13</c:v>
                </c:pt>
                <c:pt idx="50">
                  <c:v>2031.62</c:v>
                </c:pt>
                <c:pt idx="51">
                  <c:v>1168.65</c:v>
                </c:pt>
                <c:pt idx="52">
                  <c:v>885.371</c:v>
                </c:pt>
                <c:pt idx="53">
                  <c:v>0</c:v>
                </c:pt>
                <c:pt idx="54">
                  <c:v>469.341</c:v>
                </c:pt>
                <c:pt idx="55">
                  <c:v>608.942</c:v>
                </c:pt>
                <c:pt idx="56">
                  <c:v>563.951</c:v>
                </c:pt>
                <c:pt idx="57">
                  <c:v>796.865</c:v>
                </c:pt>
                <c:pt idx="58">
                  <c:v>1007.93</c:v>
                </c:pt>
                <c:pt idx="59">
                  <c:v>635.609</c:v>
                </c:pt>
                <c:pt idx="60">
                  <c:v>0</c:v>
                </c:pt>
                <c:pt idx="61">
                  <c:v>781.89</c:v>
                </c:pt>
                <c:pt idx="62">
                  <c:v>2371.82</c:v>
                </c:pt>
                <c:pt idx="63">
                  <c:v>1821.21</c:v>
                </c:pt>
                <c:pt idx="64">
                  <c:v>1630.43</c:v>
                </c:pt>
                <c:pt idx="65">
                  <c:v>0</c:v>
                </c:pt>
                <c:pt idx="66">
                  <c:v>695.781</c:v>
                </c:pt>
                <c:pt idx="67">
                  <c:v>1696.49</c:v>
                </c:pt>
                <c:pt idx="68">
                  <c:v>606.343</c:v>
                </c:pt>
                <c:pt idx="69">
                  <c:v>954.205</c:v>
                </c:pt>
                <c:pt idx="70">
                  <c:v>423.257</c:v>
                </c:pt>
                <c:pt idx="71">
                  <c:v>569.831</c:v>
                </c:pt>
                <c:pt idx="72">
                  <c:v>1134.33</c:v>
                </c:pt>
                <c:pt idx="73">
                  <c:v>2552.15</c:v>
                </c:pt>
                <c:pt idx="74">
                  <c:v>1943.66</c:v>
                </c:pt>
                <c:pt idx="75">
                  <c:v>371.02</c:v>
                </c:pt>
                <c:pt idx="76">
                  <c:v>1675.41</c:v>
                </c:pt>
                <c:pt idx="77">
                  <c:v>539.212</c:v>
                </c:pt>
                <c:pt idx="78">
                  <c:v>831.808</c:v>
                </c:pt>
                <c:pt idx="79">
                  <c:v>2061.03</c:v>
                </c:pt>
                <c:pt idx="80">
                  <c:v>1884.87</c:v>
                </c:pt>
                <c:pt idx="81">
                  <c:v>492.811</c:v>
                </c:pt>
                <c:pt idx="82">
                  <c:v>917.059</c:v>
                </c:pt>
                <c:pt idx="83">
                  <c:v>249.498</c:v>
                </c:pt>
                <c:pt idx="84">
                  <c:v>2117.36</c:v>
                </c:pt>
                <c:pt idx="85">
                  <c:v>3613.74</c:v>
                </c:pt>
                <c:pt idx="86">
                  <c:v>2022.22</c:v>
                </c:pt>
                <c:pt idx="87">
                  <c:v>2769.29</c:v>
                </c:pt>
                <c:pt idx="88">
                  <c:v>2068.16</c:v>
                </c:pt>
                <c:pt idx="89">
                  <c:v>1079.15</c:v>
                </c:pt>
                <c:pt idx="90">
                  <c:v>1444.86</c:v>
                </c:pt>
                <c:pt idx="91">
                  <c:v>350.505</c:v>
                </c:pt>
                <c:pt idx="92">
                  <c:v>1953.94</c:v>
                </c:pt>
                <c:pt idx="93">
                  <c:v>780.005</c:v>
                </c:pt>
                <c:pt idx="94">
                  <c:v>1906.44</c:v>
                </c:pt>
                <c:pt idx="95">
                  <c:v>2676.71</c:v>
                </c:pt>
                <c:pt idx="96">
                  <c:v>740.859</c:v>
                </c:pt>
                <c:pt idx="97">
                  <c:v>527.802</c:v>
                </c:pt>
                <c:pt idx="98">
                  <c:v>1522.76</c:v>
                </c:pt>
                <c:pt idx="99">
                  <c:v>465.173</c:v>
                </c:pt>
                <c:pt idx="100">
                  <c:v>0</c:v>
                </c:pt>
                <c:pt idx="101">
                  <c:v>0</c:v>
                </c:pt>
                <c:pt idx="102">
                  <c:v>762.952</c:v>
                </c:pt>
                <c:pt idx="103">
                  <c:v>0</c:v>
                </c:pt>
                <c:pt idx="104">
                  <c:v>3296.16</c:v>
                </c:pt>
                <c:pt idx="105">
                  <c:v>1393.89</c:v>
                </c:pt>
                <c:pt idx="106">
                  <c:v>144.09</c:v>
                </c:pt>
                <c:pt idx="107">
                  <c:v>1695.22</c:v>
                </c:pt>
                <c:pt idx="108">
                  <c:v>1331.4</c:v>
                </c:pt>
                <c:pt idx="109">
                  <c:v>496.303</c:v>
                </c:pt>
                <c:pt idx="110">
                  <c:v>435.067</c:v>
                </c:pt>
                <c:pt idx="111">
                  <c:v>2916.02</c:v>
                </c:pt>
                <c:pt idx="112">
                  <c:v>1371.88</c:v>
                </c:pt>
                <c:pt idx="113">
                  <c:v>527.818</c:v>
                </c:pt>
                <c:pt idx="114">
                  <c:v>0</c:v>
                </c:pt>
                <c:pt idx="115">
                  <c:v>0</c:v>
                </c:pt>
                <c:pt idx="116">
                  <c:v>381.159</c:v>
                </c:pt>
                <c:pt idx="117">
                  <c:v>417.302</c:v>
                </c:pt>
                <c:pt idx="118">
                  <c:v>1512.66</c:v>
                </c:pt>
                <c:pt idx="119">
                  <c:v>2608.35</c:v>
                </c:pt>
                <c:pt idx="120">
                  <c:v>2351.98</c:v>
                </c:pt>
                <c:pt idx="121">
                  <c:v>2478.78</c:v>
                </c:pt>
                <c:pt idx="122">
                  <c:v>2646</c:v>
                </c:pt>
                <c:pt idx="123">
                  <c:v>545.932</c:v>
                </c:pt>
                <c:pt idx="124">
                  <c:v>0</c:v>
                </c:pt>
                <c:pt idx="125">
                  <c:v>594.949</c:v>
                </c:pt>
                <c:pt idx="126">
                  <c:v>0</c:v>
                </c:pt>
                <c:pt idx="127">
                  <c:v>1105.24</c:v>
                </c:pt>
                <c:pt idx="128">
                  <c:v>512.733</c:v>
                </c:pt>
                <c:pt idx="129">
                  <c:v>609.926</c:v>
                </c:pt>
                <c:pt idx="130">
                  <c:v>0</c:v>
                </c:pt>
                <c:pt idx="131">
                  <c:v>3453</c:v>
                </c:pt>
                <c:pt idx="132">
                  <c:v>1109.01</c:v>
                </c:pt>
                <c:pt idx="133">
                  <c:v>0</c:v>
                </c:pt>
                <c:pt idx="134">
                  <c:v>0</c:v>
                </c:pt>
                <c:pt idx="135">
                  <c:v>246.694</c:v>
                </c:pt>
                <c:pt idx="136">
                  <c:v>1677.82</c:v>
                </c:pt>
                <c:pt idx="137">
                  <c:v>1447.48</c:v>
                </c:pt>
                <c:pt idx="138">
                  <c:v>320.302</c:v>
                </c:pt>
                <c:pt idx="139">
                  <c:v>855.37</c:v>
                </c:pt>
                <c:pt idx="140">
                  <c:v>3282.31</c:v>
                </c:pt>
                <c:pt idx="141">
                  <c:v>1527.42</c:v>
                </c:pt>
                <c:pt idx="142">
                  <c:v>495.388</c:v>
                </c:pt>
                <c:pt idx="143">
                  <c:v>977.523</c:v>
                </c:pt>
                <c:pt idx="144">
                  <c:v>597.937</c:v>
                </c:pt>
                <c:pt idx="145">
                  <c:v>0</c:v>
                </c:pt>
                <c:pt idx="146">
                  <c:v>1734.34</c:v>
                </c:pt>
                <c:pt idx="147">
                  <c:v>1876.59</c:v>
                </c:pt>
                <c:pt idx="148">
                  <c:v>1439.3</c:v>
                </c:pt>
                <c:pt idx="149">
                  <c:v>505.572</c:v>
                </c:pt>
                <c:pt idx="150">
                  <c:v>522.32</c:v>
                </c:pt>
                <c:pt idx="151">
                  <c:v>184.259</c:v>
                </c:pt>
                <c:pt idx="152">
                  <c:v>0</c:v>
                </c:pt>
                <c:pt idx="153">
                  <c:v>1975.96</c:v>
                </c:pt>
                <c:pt idx="154">
                  <c:v>1442.8</c:v>
                </c:pt>
                <c:pt idx="155">
                  <c:v>2944.33</c:v>
                </c:pt>
                <c:pt idx="156">
                  <c:v>694.5</c:v>
                </c:pt>
                <c:pt idx="157">
                  <c:v>0</c:v>
                </c:pt>
                <c:pt idx="158">
                  <c:v>256.961</c:v>
                </c:pt>
                <c:pt idx="159">
                  <c:v>1242.32</c:v>
                </c:pt>
                <c:pt idx="160">
                  <c:v>278.462</c:v>
                </c:pt>
                <c:pt idx="161">
                  <c:v>1792.48</c:v>
                </c:pt>
                <c:pt idx="162">
                  <c:v>3015.8</c:v>
                </c:pt>
                <c:pt idx="163">
                  <c:v>3701.13</c:v>
                </c:pt>
                <c:pt idx="164">
                  <c:v>1786.13</c:v>
                </c:pt>
                <c:pt idx="165">
                  <c:v>4078.37</c:v>
                </c:pt>
                <c:pt idx="166">
                  <c:v>420.551</c:v>
                </c:pt>
                <c:pt idx="167">
                  <c:v>967.204</c:v>
                </c:pt>
                <c:pt idx="168">
                  <c:v>550.682</c:v>
                </c:pt>
                <c:pt idx="169">
                  <c:v>1619.1</c:v>
                </c:pt>
                <c:pt idx="170">
                  <c:v>3871.6</c:v>
                </c:pt>
                <c:pt idx="171">
                  <c:v>573.642</c:v>
                </c:pt>
                <c:pt idx="172">
                  <c:v>2279.51</c:v>
                </c:pt>
                <c:pt idx="173">
                  <c:v>485.841</c:v>
                </c:pt>
                <c:pt idx="174">
                  <c:v>1869.84</c:v>
                </c:pt>
                <c:pt idx="175">
                  <c:v>2612.77</c:v>
                </c:pt>
                <c:pt idx="176">
                  <c:v>709.56</c:v>
                </c:pt>
                <c:pt idx="177">
                  <c:v>426.241</c:v>
                </c:pt>
                <c:pt idx="178">
                  <c:v>552.567</c:v>
                </c:pt>
                <c:pt idx="179">
                  <c:v>2231.58</c:v>
                </c:pt>
                <c:pt idx="180">
                  <c:v>0</c:v>
                </c:pt>
                <c:pt idx="181">
                  <c:v>997.26</c:v>
                </c:pt>
                <c:pt idx="182">
                  <c:v>294.04</c:v>
                </c:pt>
                <c:pt idx="183">
                  <c:v>0</c:v>
                </c:pt>
                <c:pt idx="184">
                  <c:v>95.2905</c:v>
                </c:pt>
                <c:pt idx="185">
                  <c:v>2789.93</c:v>
                </c:pt>
                <c:pt idx="186">
                  <c:v>334.414</c:v>
                </c:pt>
                <c:pt idx="187">
                  <c:v>1463.44</c:v>
                </c:pt>
                <c:pt idx="188">
                  <c:v>403.738</c:v>
                </c:pt>
                <c:pt idx="189">
                  <c:v>2782.5</c:v>
                </c:pt>
                <c:pt idx="190">
                  <c:v>224.357</c:v>
                </c:pt>
                <c:pt idx="191">
                  <c:v>0</c:v>
                </c:pt>
                <c:pt idx="192">
                  <c:v>1132.04</c:v>
                </c:pt>
                <c:pt idx="193">
                  <c:v>2011.65</c:v>
                </c:pt>
                <c:pt idx="194">
                  <c:v>508.464</c:v>
                </c:pt>
                <c:pt idx="195">
                  <c:v>2049.74</c:v>
                </c:pt>
                <c:pt idx="196">
                  <c:v>2055.94</c:v>
                </c:pt>
                <c:pt idx="197">
                  <c:v>4502.96</c:v>
                </c:pt>
                <c:pt idx="198">
                  <c:v>1090.34</c:v>
                </c:pt>
                <c:pt idx="199">
                  <c:v>1629.78</c:v>
                </c:pt>
                <c:pt idx="200">
                  <c:v>4232.98</c:v>
                </c:pt>
                <c:pt idx="201">
                  <c:v>2160.98</c:v>
                </c:pt>
                <c:pt idx="202">
                  <c:v>877.291</c:v>
                </c:pt>
                <c:pt idx="203">
                  <c:v>0</c:v>
                </c:pt>
                <c:pt idx="204">
                  <c:v>0</c:v>
                </c:pt>
                <c:pt idx="205">
                  <c:v>3030.22</c:v>
                </c:pt>
                <c:pt idx="206">
                  <c:v>3748.72</c:v>
                </c:pt>
                <c:pt idx="207">
                  <c:v>0</c:v>
                </c:pt>
                <c:pt idx="208">
                  <c:v>2061.46</c:v>
                </c:pt>
                <c:pt idx="209">
                  <c:v>2248.26</c:v>
                </c:pt>
                <c:pt idx="210">
                  <c:v>1428.11</c:v>
                </c:pt>
                <c:pt idx="211">
                  <c:v>486.421</c:v>
                </c:pt>
                <c:pt idx="212">
                  <c:v>1617.07</c:v>
                </c:pt>
                <c:pt idx="213">
                  <c:v>2072.42</c:v>
                </c:pt>
                <c:pt idx="214">
                  <c:v>1445.9</c:v>
                </c:pt>
                <c:pt idx="215">
                  <c:v>3824.31</c:v>
                </c:pt>
                <c:pt idx="216">
                  <c:v>1417.84</c:v>
                </c:pt>
                <c:pt idx="217">
                  <c:v>1998.98</c:v>
                </c:pt>
                <c:pt idx="218">
                  <c:v>0</c:v>
                </c:pt>
                <c:pt idx="219">
                  <c:v>0</c:v>
                </c:pt>
                <c:pt idx="220">
                  <c:v>1334.81</c:v>
                </c:pt>
                <c:pt idx="221">
                  <c:v>262.825</c:v>
                </c:pt>
                <c:pt idx="222">
                  <c:v>1255.03</c:v>
                </c:pt>
                <c:pt idx="223">
                  <c:v>0</c:v>
                </c:pt>
                <c:pt idx="224">
                  <c:v>2414.16</c:v>
                </c:pt>
                <c:pt idx="225">
                  <c:v>639.585</c:v>
                </c:pt>
                <c:pt idx="226">
                  <c:v>1609.42</c:v>
                </c:pt>
                <c:pt idx="227">
                  <c:v>433.06</c:v>
                </c:pt>
                <c:pt idx="228">
                  <c:v>4788.47</c:v>
                </c:pt>
                <c:pt idx="229">
                  <c:v>636.557</c:v>
                </c:pt>
                <c:pt idx="230">
                  <c:v>494.351</c:v>
                </c:pt>
                <c:pt idx="231">
                  <c:v>3247.44</c:v>
                </c:pt>
                <c:pt idx="232">
                  <c:v>0</c:v>
                </c:pt>
                <c:pt idx="233">
                  <c:v>2037.11</c:v>
                </c:pt>
                <c:pt idx="234">
                  <c:v>2352.94</c:v>
                </c:pt>
                <c:pt idx="235">
                  <c:v>1347.74</c:v>
                </c:pt>
                <c:pt idx="236">
                  <c:v>1176.2</c:v>
                </c:pt>
                <c:pt idx="237">
                  <c:v>1539.84</c:v>
                </c:pt>
                <c:pt idx="238">
                  <c:v>256.629</c:v>
                </c:pt>
                <c:pt idx="239">
                  <c:v>886.195</c:v>
                </c:pt>
                <c:pt idx="240">
                  <c:v>2084.58</c:v>
                </c:pt>
                <c:pt idx="241">
                  <c:v>1170.94</c:v>
                </c:pt>
                <c:pt idx="242">
                  <c:v>0</c:v>
                </c:pt>
                <c:pt idx="243">
                  <c:v>718.001</c:v>
                </c:pt>
                <c:pt idx="244">
                  <c:v>0</c:v>
                </c:pt>
                <c:pt idx="245">
                  <c:v>0</c:v>
                </c:pt>
                <c:pt idx="246">
                  <c:v>1571.97</c:v>
                </c:pt>
                <c:pt idx="247">
                  <c:v>532.44</c:v>
                </c:pt>
                <c:pt idx="248">
                  <c:v>1277.73</c:v>
                </c:pt>
                <c:pt idx="249">
                  <c:v>1014.14</c:v>
                </c:pt>
                <c:pt idx="250">
                  <c:v>1019.88</c:v>
                </c:pt>
                <c:pt idx="251">
                  <c:v>890.338</c:v>
                </c:pt>
                <c:pt idx="252">
                  <c:v>1764.27</c:v>
                </c:pt>
                <c:pt idx="253">
                  <c:v>0</c:v>
                </c:pt>
                <c:pt idx="254">
                  <c:v>441.02</c:v>
                </c:pt>
                <c:pt idx="255">
                  <c:v>1809.63</c:v>
                </c:pt>
                <c:pt idx="256">
                  <c:v>0</c:v>
                </c:pt>
                <c:pt idx="257">
                  <c:v>579.643</c:v>
                </c:pt>
                <c:pt idx="258">
                  <c:v>252.133</c:v>
                </c:pt>
                <c:pt idx="259">
                  <c:v>0</c:v>
                </c:pt>
                <c:pt idx="260">
                  <c:v>2772.55</c:v>
                </c:pt>
                <c:pt idx="261">
                  <c:v>765.783</c:v>
                </c:pt>
                <c:pt idx="262">
                  <c:v>0</c:v>
                </c:pt>
                <c:pt idx="263">
                  <c:v>2640.77</c:v>
                </c:pt>
                <c:pt idx="264">
                  <c:v>0</c:v>
                </c:pt>
                <c:pt idx="265">
                  <c:v>1807</c:v>
                </c:pt>
                <c:pt idx="266">
                  <c:v>1064.88</c:v>
                </c:pt>
                <c:pt idx="267">
                  <c:v>3617.24</c:v>
                </c:pt>
                <c:pt idx="268">
                  <c:v>1812.47</c:v>
                </c:pt>
                <c:pt idx="269">
                  <c:v>3645.63</c:v>
                </c:pt>
                <c:pt idx="270">
                  <c:v>0</c:v>
                </c:pt>
                <c:pt idx="271">
                  <c:v>1019.33</c:v>
                </c:pt>
                <c:pt idx="272">
                  <c:v>1727.54</c:v>
                </c:pt>
                <c:pt idx="273">
                  <c:v>265.155</c:v>
                </c:pt>
                <c:pt idx="274">
                  <c:v>0</c:v>
                </c:pt>
                <c:pt idx="275">
                  <c:v>723.534</c:v>
                </c:pt>
                <c:pt idx="276">
                  <c:v>0</c:v>
                </c:pt>
                <c:pt idx="277">
                  <c:v>1142.54</c:v>
                </c:pt>
                <c:pt idx="278">
                  <c:v>928.009</c:v>
                </c:pt>
                <c:pt idx="279">
                  <c:v>1394.5</c:v>
                </c:pt>
                <c:pt idx="280">
                  <c:v>327.064</c:v>
                </c:pt>
                <c:pt idx="281">
                  <c:v>439.178</c:v>
                </c:pt>
                <c:pt idx="282">
                  <c:v>759.198</c:v>
                </c:pt>
                <c:pt idx="283">
                  <c:v>966.904</c:v>
                </c:pt>
                <c:pt idx="284">
                  <c:v>5172.97</c:v>
                </c:pt>
                <c:pt idx="285">
                  <c:v>2323.19</c:v>
                </c:pt>
                <c:pt idx="286">
                  <c:v>725.062</c:v>
                </c:pt>
                <c:pt idx="287">
                  <c:v>3436.94</c:v>
                </c:pt>
                <c:pt idx="288">
                  <c:v>1075.53</c:v>
                </c:pt>
                <c:pt idx="289">
                  <c:v>257.809</c:v>
                </c:pt>
                <c:pt idx="290">
                  <c:v>1293.26</c:v>
                </c:pt>
                <c:pt idx="291">
                  <c:v>134.096</c:v>
                </c:pt>
                <c:pt idx="292">
                  <c:v>1554.98</c:v>
                </c:pt>
                <c:pt idx="293">
                  <c:v>3530.9</c:v>
                </c:pt>
                <c:pt idx="294">
                  <c:v>2701.8</c:v>
                </c:pt>
                <c:pt idx="295">
                  <c:v>0</c:v>
                </c:pt>
                <c:pt idx="296">
                  <c:v>178.199</c:v>
                </c:pt>
                <c:pt idx="297">
                  <c:v>393.774</c:v>
                </c:pt>
                <c:pt idx="298">
                  <c:v>970.31</c:v>
                </c:pt>
                <c:pt idx="299">
                  <c:v>1660.22</c:v>
                </c:pt>
                <c:pt idx="300">
                  <c:v>0</c:v>
                </c:pt>
                <c:pt idx="301">
                  <c:v>2234.95</c:v>
                </c:pt>
                <c:pt idx="302">
                  <c:v>0</c:v>
                </c:pt>
                <c:pt idx="303">
                  <c:v>1021.16</c:v>
                </c:pt>
                <c:pt idx="304">
                  <c:v>83.8054</c:v>
                </c:pt>
                <c:pt idx="305">
                  <c:v>819.095</c:v>
                </c:pt>
                <c:pt idx="306">
                  <c:v>762.382</c:v>
                </c:pt>
                <c:pt idx="307">
                  <c:v>2605.28</c:v>
                </c:pt>
                <c:pt idx="308">
                  <c:v>1024.2</c:v>
                </c:pt>
                <c:pt idx="309">
                  <c:v>1031.87</c:v>
                </c:pt>
                <c:pt idx="310">
                  <c:v>4393.62</c:v>
                </c:pt>
                <c:pt idx="311">
                  <c:v>0</c:v>
                </c:pt>
                <c:pt idx="312">
                  <c:v>771.152</c:v>
                </c:pt>
                <c:pt idx="313">
                  <c:v>1005.6</c:v>
                </c:pt>
                <c:pt idx="314">
                  <c:v>549.25</c:v>
                </c:pt>
                <c:pt idx="315">
                  <c:v>437.397</c:v>
                </c:pt>
                <c:pt idx="316">
                  <c:v>0</c:v>
                </c:pt>
                <c:pt idx="317">
                  <c:v>5737</c:v>
                </c:pt>
                <c:pt idx="318">
                  <c:v>1973.11</c:v>
                </c:pt>
                <c:pt idx="319">
                  <c:v>320.112</c:v>
                </c:pt>
                <c:pt idx="320">
                  <c:v>508.268</c:v>
                </c:pt>
                <c:pt idx="321">
                  <c:v>0</c:v>
                </c:pt>
                <c:pt idx="322">
                  <c:v>1076.83</c:v>
                </c:pt>
                <c:pt idx="323">
                  <c:v>379.568</c:v>
                </c:pt>
                <c:pt idx="324">
                  <c:v>2163.48</c:v>
                </c:pt>
                <c:pt idx="325">
                  <c:v>921.195</c:v>
                </c:pt>
                <c:pt idx="326">
                  <c:v>2111.12</c:v>
                </c:pt>
                <c:pt idx="327">
                  <c:v>1409.49</c:v>
                </c:pt>
                <c:pt idx="328">
                  <c:v>2917.86</c:v>
                </c:pt>
                <c:pt idx="329">
                  <c:v>278.51</c:v>
                </c:pt>
                <c:pt idx="330">
                  <c:v>0</c:v>
                </c:pt>
                <c:pt idx="331">
                  <c:v>4729.69</c:v>
                </c:pt>
                <c:pt idx="332">
                  <c:v>4368.3</c:v>
                </c:pt>
                <c:pt idx="333">
                  <c:v>1348.86</c:v>
                </c:pt>
                <c:pt idx="334">
                  <c:v>1319.2</c:v>
                </c:pt>
                <c:pt idx="335">
                  <c:v>546.574</c:v>
                </c:pt>
                <c:pt idx="336">
                  <c:v>1990.05</c:v>
                </c:pt>
                <c:pt idx="337">
                  <c:v>1368.83</c:v>
                </c:pt>
                <c:pt idx="338">
                  <c:v>0</c:v>
                </c:pt>
                <c:pt idx="339">
                  <c:v>2466.88</c:v>
                </c:pt>
                <c:pt idx="340">
                  <c:v>485.476</c:v>
                </c:pt>
                <c:pt idx="341">
                  <c:v>3283.03</c:v>
                </c:pt>
                <c:pt idx="342">
                  <c:v>4254.04</c:v>
                </c:pt>
                <c:pt idx="343">
                  <c:v>1959.13</c:v>
                </c:pt>
                <c:pt idx="344">
                  <c:v>359.307</c:v>
                </c:pt>
                <c:pt idx="345">
                  <c:v>3091.21</c:v>
                </c:pt>
                <c:pt idx="346">
                  <c:v>1996.52</c:v>
                </c:pt>
                <c:pt idx="347">
                  <c:v>1108.85</c:v>
                </c:pt>
                <c:pt idx="348">
                  <c:v>2720.81</c:v>
                </c:pt>
                <c:pt idx="349">
                  <c:v>1279.81</c:v>
                </c:pt>
                <c:pt idx="350">
                  <c:v>1614.99</c:v>
                </c:pt>
                <c:pt idx="351">
                  <c:v>1301.95</c:v>
                </c:pt>
                <c:pt idx="352">
                  <c:v>0</c:v>
                </c:pt>
                <c:pt idx="353">
                  <c:v>726.335</c:v>
                </c:pt>
                <c:pt idx="354">
                  <c:v>691.446</c:v>
                </c:pt>
                <c:pt idx="355">
                  <c:v>1273.76</c:v>
                </c:pt>
                <c:pt idx="356">
                  <c:v>3786.57</c:v>
                </c:pt>
                <c:pt idx="357">
                  <c:v>1435.75</c:v>
                </c:pt>
                <c:pt idx="358">
                  <c:v>0</c:v>
                </c:pt>
                <c:pt idx="359">
                  <c:v>527.505</c:v>
                </c:pt>
                <c:pt idx="360">
                  <c:v>2614.92</c:v>
                </c:pt>
                <c:pt idx="361">
                  <c:v>1896.96</c:v>
                </c:pt>
                <c:pt idx="362">
                  <c:v>0</c:v>
                </c:pt>
                <c:pt idx="363">
                  <c:v>2712.69</c:v>
                </c:pt>
                <c:pt idx="364">
                  <c:v>0</c:v>
                </c:pt>
                <c:pt idx="365">
                  <c:v>850.397</c:v>
                </c:pt>
                <c:pt idx="366">
                  <c:v>780.471</c:v>
                </c:pt>
                <c:pt idx="367">
                  <c:v>1405.01</c:v>
                </c:pt>
                <c:pt idx="368">
                  <c:v>707.651</c:v>
                </c:pt>
                <c:pt idx="369">
                  <c:v>1197.39</c:v>
                </c:pt>
                <c:pt idx="370">
                  <c:v>772.734</c:v>
                </c:pt>
                <c:pt idx="371">
                  <c:v>0</c:v>
                </c:pt>
                <c:pt idx="372">
                  <c:v>1640.96</c:v>
                </c:pt>
                <c:pt idx="373">
                  <c:v>0</c:v>
                </c:pt>
                <c:pt idx="374">
                  <c:v>1543.53</c:v>
                </c:pt>
                <c:pt idx="375">
                  <c:v>1681.17</c:v>
                </c:pt>
                <c:pt idx="376">
                  <c:v>1035.16</c:v>
                </c:pt>
                <c:pt idx="377">
                  <c:v>262.141</c:v>
                </c:pt>
                <c:pt idx="378">
                  <c:v>2335.99</c:v>
                </c:pt>
                <c:pt idx="379">
                  <c:v>2750.17</c:v>
                </c:pt>
                <c:pt idx="380">
                  <c:v>0</c:v>
                </c:pt>
                <c:pt idx="381">
                  <c:v>2238.66</c:v>
                </c:pt>
                <c:pt idx="382">
                  <c:v>1661.47</c:v>
                </c:pt>
                <c:pt idx="383">
                  <c:v>1141.22</c:v>
                </c:pt>
                <c:pt idx="384">
                  <c:v>1794.59</c:v>
                </c:pt>
                <c:pt idx="385">
                  <c:v>4830.79</c:v>
                </c:pt>
                <c:pt idx="386">
                  <c:v>1113.94</c:v>
                </c:pt>
                <c:pt idx="387">
                  <c:v>1000.55</c:v>
                </c:pt>
                <c:pt idx="388">
                  <c:v>542.742</c:v>
                </c:pt>
                <c:pt idx="389">
                  <c:v>1361.82</c:v>
                </c:pt>
                <c:pt idx="390">
                  <c:v>2509.71</c:v>
                </c:pt>
                <c:pt idx="391">
                  <c:v>3069.79</c:v>
                </c:pt>
                <c:pt idx="392">
                  <c:v>311.02</c:v>
                </c:pt>
                <c:pt idx="393">
                  <c:v>4764.07</c:v>
                </c:pt>
                <c:pt idx="394">
                  <c:v>1753.36</c:v>
                </c:pt>
                <c:pt idx="395">
                  <c:v>1686.76</c:v>
                </c:pt>
                <c:pt idx="396">
                  <c:v>0</c:v>
                </c:pt>
                <c:pt idx="397">
                  <c:v>628.996</c:v>
                </c:pt>
                <c:pt idx="398">
                  <c:v>2671.92</c:v>
                </c:pt>
                <c:pt idx="399">
                  <c:v>1510.06</c:v>
                </c:pt>
                <c:pt idx="400">
                  <c:v>2553.43</c:v>
                </c:pt>
                <c:pt idx="401">
                  <c:v>385.016</c:v>
                </c:pt>
                <c:pt idx="402">
                  <c:v>796.112</c:v>
                </c:pt>
                <c:pt idx="403">
                  <c:v>688.489</c:v>
                </c:pt>
                <c:pt idx="404">
                  <c:v>2151.05</c:v>
                </c:pt>
                <c:pt idx="405">
                  <c:v>0</c:v>
                </c:pt>
                <c:pt idx="406">
                  <c:v>447.024</c:v>
                </c:pt>
                <c:pt idx="407">
                  <c:v>665.708</c:v>
                </c:pt>
                <c:pt idx="408">
                  <c:v>3271.64</c:v>
                </c:pt>
                <c:pt idx="409">
                  <c:v>3352.39</c:v>
                </c:pt>
                <c:pt idx="410">
                  <c:v>0</c:v>
                </c:pt>
                <c:pt idx="411">
                  <c:v>0</c:v>
                </c:pt>
                <c:pt idx="412">
                  <c:v>1459.74</c:v>
                </c:pt>
                <c:pt idx="413">
                  <c:v>1723.03</c:v>
                </c:pt>
                <c:pt idx="414">
                  <c:v>2275.42</c:v>
                </c:pt>
                <c:pt idx="415">
                  <c:v>468.829</c:v>
                </c:pt>
                <c:pt idx="416">
                  <c:v>1808.61</c:v>
                </c:pt>
                <c:pt idx="417">
                  <c:v>1683.16</c:v>
                </c:pt>
                <c:pt idx="418">
                  <c:v>149.037</c:v>
                </c:pt>
                <c:pt idx="419">
                  <c:v>211.859</c:v>
                </c:pt>
                <c:pt idx="420">
                  <c:v>1752.83</c:v>
                </c:pt>
                <c:pt idx="421">
                  <c:v>1803.42</c:v>
                </c:pt>
                <c:pt idx="422">
                  <c:v>2474.46</c:v>
                </c:pt>
                <c:pt idx="423">
                  <c:v>1714.2</c:v>
                </c:pt>
                <c:pt idx="424">
                  <c:v>955.354</c:v>
                </c:pt>
                <c:pt idx="425">
                  <c:v>760.57</c:v>
                </c:pt>
                <c:pt idx="426">
                  <c:v>2430.62</c:v>
                </c:pt>
                <c:pt idx="427">
                  <c:v>1293.53</c:v>
                </c:pt>
                <c:pt idx="428">
                  <c:v>0</c:v>
                </c:pt>
                <c:pt idx="429">
                  <c:v>439.291</c:v>
                </c:pt>
                <c:pt idx="430">
                  <c:v>0</c:v>
                </c:pt>
                <c:pt idx="431">
                  <c:v>0</c:v>
                </c:pt>
                <c:pt idx="432">
                  <c:v>446.806</c:v>
                </c:pt>
                <c:pt idx="433">
                  <c:v>323.577</c:v>
                </c:pt>
                <c:pt idx="434">
                  <c:v>1721.06</c:v>
                </c:pt>
                <c:pt idx="435">
                  <c:v>697.671</c:v>
                </c:pt>
                <c:pt idx="436">
                  <c:v>0</c:v>
                </c:pt>
                <c:pt idx="437">
                  <c:v>729.539</c:v>
                </c:pt>
                <c:pt idx="438">
                  <c:v>557.976</c:v>
                </c:pt>
                <c:pt idx="439">
                  <c:v>375.407</c:v>
                </c:pt>
                <c:pt idx="440">
                  <c:v>2341.47</c:v>
                </c:pt>
                <c:pt idx="441">
                  <c:v>0</c:v>
                </c:pt>
                <c:pt idx="442">
                  <c:v>1472.72</c:v>
                </c:pt>
                <c:pt idx="443">
                  <c:v>0</c:v>
                </c:pt>
                <c:pt idx="444">
                  <c:v>2350.74</c:v>
                </c:pt>
                <c:pt idx="445">
                  <c:v>366.717</c:v>
                </c:pt>
                <c:pt idx="446">
                  <c:v>337.351</c:v>
                </c:pt>
                <c:pt idx="447">
                  <c:v>2502.84</c:v>
                </c:pt>
                <c:pt idx="448">
                  <c:v>0</c:v>
                </c:pt>
                <c:pt idx="449">
                  <c:v>965.69</c:v>
                </c:pt>
                <c:pt idx="450">
                  <c:v>1698.26</c:v>
                </c:pt>
                <c:pt idx="451">
                  <c:v>454.67</c:v>
                </c:pt>
                <c:pt idx="452">
                  <c:v>0</c:v>
                </c:pt>
                <c:pt idx="453">
                  <c:v>0</c:v>
                </c:pt>
                <c:pt idx="454">
                  <c:v>0</c:v>
                </c:pt>
                <c:pt idx="455">
                  <c:v>1606.55</c:v>
                </c:pt>
                <c:pt idx="456">
                  <c:v>1139.36</c:v>
                </c:pt>
                <c:pt idx="457">
                  <c:v>3137.61</c:v>
                </c:pt>
                <c:pt idx="458">
                  <c:v>595.258</c:v>
                </c:pt>
                <c:pt idx="459">
                  <c:v>1620.88</c:v>
                </c:pt>
                <c:pt idx="460">
                  <c:v>1642.33</c:v>
                </c:pt>
                <c:pt idx="461">
                  <c:v>0</c:v>
                </c:pt>
                <c:pt idx="462">
                  <c:v>0</c:v>
                </c:pt>
                <c:pt idx="463">
                  <c:v>569.409</c:v>
                </c:pt>
                <c:pt idx="464">
                  <c:v>1683.36</c:v>
                </c:pt>
                <c:pt idx="465">
                  <c:v>785.834</c:v>
                </c:pt>
                <c:pt idx="466">
                  <c:v>1863.88</c:v>
                </c:pt>
                <c:pt idx="467">
                  <c:v>1567.33</c:v>
                </c:pt>
                <c:pt idx="468">
                  <c:v>978.277</c:v>
                </c:pt>
                <c:pt idx="469">
                  <c:v>1712.15</c:v>
                </c:pt>
                <c:pt idx="470">
                  <c:v>0</c:v>
                </c:pt>
                <c:pt idx="471">
                  <c:v>1646.02</c:v>
                </c:pt>
                <c:pt idx="472">
                  <c:v>210.151</c:v>
                </c:pt>
                <c:pt idx="473">
                  <c:v>363.149</c:v>
                </c:pt>
                <c:pt idx="474">
                  <c:v>851.388</c:v>
                </c:pt>
                <c:pt idx="475">
                  <c:v>246.951</c:v>
                </c:pt>
                <c:pt idx="476">
                  <c:v>1267.78</c:v>
                </c:pt>
                <c:pt idx="477">
                  <c:v>510.387</c:v>
                </c:pt>
                <c:pt idx="478">
                  <c:v>1306.7</c:v>
                </c:pt>
                <c:pt idx="479">
                  <c:v>2360.27</c:v>
                </c:pt>
                <c:pt idx="480">
                  <c:v>2074.35</c:v>
                </c:pt>
                <c:pt idx="481">
                  <c:v>1547.92</c:v>
                </c:pt>
                <c:pt idx="482">
                  <c:v>736.354</c:v>
                </c:pt>
                <c:pt idx="483">
                  <c:v>1016.22</c:v>
                </c:pt>
                <c:pt idx="484">
                  <c:v>3730.15</c:v>
                </c:pt>
                <c:pt idx="485">
                  <c:v>1145.95</c:v>
                </c:pt>
                <c:pt idx="486">
                  <c:v>934.408</c:v>
                </c:pt>
                <c:pt idx="487">
                  <c:v>791.435</c:v>
                </c:pt>
                <c:pt idx="488">
                  <c:v>0</c:v>
                </c:pt>
                <c:pt idx="489">
                  <c:v>2274.84</c:v>
                </c:pt>
                <c:pt idx="490">
                  <c:v>0</c:v>
                </c:pt>
                <c:pt idx="491">
                  <c:v>1558.04</c:v>
                </c:pt>
                <c:pt idx="492">
                  <c:v>2396.52</c:v>
                </c:pt>
                <c:pt idx="493">
                  <c:v>2364.92</c:v>
                </c:pt>
                <c:pt idx="494">
                  <c:v>2962.88</c:v>
                </c:pt>
                <c:pt idx="495">
                  <c:v>2303.48</c:v>
                </c:pt>
                <c:pt idx="496">
                  <c:v>1021.14</c:v>
                </c:pt>
                <c:pt idx="497">
                  <c:v>0</c:v>
                </c:pt>
                <c:pt idx="498">
                  <c:v>0</c:v>
                </c:pt>
                <c:pt idx="499">
                  <c:v>2254.56</c:v>
                </c:pt>
                <c:pt idx="500">
                  <c:v>472.661</c:v>
                </c:pt>
                <c:pt idx="501">
                  <c:v>1781.5</c:v>
                </c:pt>
                <c:pt idx="502">
                  <c:v>988.008</c:v>
                </c:pt>
                <c:pt idx="503">
                  <c:v>914.712</c:v>
                </c:pt>
                <c:pt idx="504">
                  <c:v>0</c:v>
                </c:pt>
                <c:pt idx="505">
                  <c:v>349.792</c:v>
                </c:pt>
                <c:pt idx="506">
                  <c:v>195.762</c:v>
                </c:pt>
                <c:pt idx="507">
                  <c:v>489.625</c:v>
                </c:pt>
                <c:pt idx="508">
                  <c:v>0</c:v>
                </c:pt>
                <c:pt idx="509">
                  <c:v>501.612</c:v>
                </c:pt>
                <c:pt idx="510">
                  <c:v>1065.39</c:v>
                </c:pt>
                <c:pt idx="511">
                  <c:v>2803.9</c:v>
                </c:pt>
                <c:pt idx="512">
                  <c:v>845.64</c:v>
                </c:pt>
                <c:pt idx="513">
                  <c:v>1188.2</c:v>
                </c:pt>
                <c:pt idx="514">
                  <c:v>1636.69</c:v>
                </c:pt>
                <c:pt idx="515">
                  <c:v>589.372</c:v>
                </c:pt>
                <c:pt idx="516">
                  <c:v>1353.01</c:v>
                </c:pt>
                <c:pt idx="517">
                  <c:v>0</c:v>
                </c:pt>
                <c:pt idx="518">
                  <c:v>401.03</c:v>
                </c:pt>
                <c:pt idx="519">
                  <c:v>552.741</c:v>
                </c:pt>
                <c:pt idx="520">
                  <c:v>2321.59</c:v>
                </c:pt>
                <c:pt idx="521">
                  <c:v>3631.71</c:v>
                </c:pt>
                <c:pt idx="522">
                  <c:v>661.023</c:v>
                </c:pt>
                <c:pt idx="523">
                  <c:v>0</c:v>
                </c:pt>
                <c:pt idx="524">
                  <c:v>2170.52</c:v>
                </c:pt>
                <c:pt idx="525">
                  <c:v>1434.24</c:v>
                </c:pt>
                <c:pt idx="526">
                  <c:v>3361.34</c:v>
                </c:pt>
                <c:pt idx="527">
                  <c:v>1678.06</c:v>
                </c:pt>
                <c:pt idx="528">
                  <c:v>1550.89</c:v>
                </c:pt>
                <c:pt idx="529">
                  <c:v>881.121</c:v>
                </c:pt>
                <c:pt idx="530">
                  <c:v>1302.55</c:v>
                </c:pt>
                <c:pt idx="531">
                  <c:v>283.963</c:v>
                </c:pt>
                <c:pt idx="532">
                  <c:v>1750.81</c:v>
                </c:pt>
                <c:pt idx="533">
                  <c:v>367.273</c:v>
                </c:pt>
                <c:pt idx="534">
                  <c:v>0</c:v>
                </c:pt>
                <c:pt idx="535">
                  <c:v>356.574</c:v>
                </c:pt>
                <c:pt idx="536">
                  <c:v>1909.57</c:v>
                </c:pt>
                <c:pt idx="537">
                  <c:v>2517.24</c:v>
                </c:pt>
                <c:pt idx="538">
                  <c:v>0</c:v>
                </c:pt>
                <c:pt idx="539">
                  <c:v>2542.56</c:v>
                </c:pt>
                <c:pt idx="540">
                  <c:v>1349.85</c:v>
                </c:pt>
                <c:pt idx="541">
                  <c:v>612.757</c:v>
                </c:pt>
                <c:pt idx="542">
                  <c:v>1623.85</c:v>
                </c:pt>
                <c:pt idx="543">
                  <c:v>750.605</c:v>
                </c:pt>
                <c:pt idx="544">
                  <c:v>3023.99</c:v>
                </c:pt>
                <c:pt idx="545">
                  <c:v>0</c:v>
                </c:pt>
                <c:pt idx="546">
                  <c:v>1371.18</c:v>
                </c:pt>
                <c:pt idx="547">
                  <c:v>380.351</c:v>
                </c:pt>
                <c:pt idx="548">
                  <c:v>438.637</c:v>
                </c:pt>
                <c:pt idx="549">
                  <c:v>1330.34</c:v>
                </c:pt>
                <c:pt idx="550">
                  <c:v>2273.31</c:v>
                </c:pt>
                <c:pt idx="551">
                  <c:v>1755.19</c:v>
                </c:pt>
                <c:pt idx="552">
                  <c:v>682.337</c:v>
                </c:pt>
                <c:pt idx="553">
                  <c:v>1303.83</c:v>
                </c:pt>
                <c:pt idx="554">
                  <c:v>1254.63</c:v>
                </c:pt>
                <c:pt idx="555">
                  <c:v>1857.73</c:v>
                </c:pt>
                <c:pt idx="556">
                  <c:v>0</c:v>
                </c:pt>
                <c:pt idx="557">
                  <c:v>1479.68</c:v>
                </c:pt>
                <c:pt idx="558">
                  <c:v>1374.26</c:v>
                </c:pt>
                <c:pt idx="559">
                  <c:v>721.035</c:v>
                </c:pt>
                <c:pt idx="560">
                  <c:v>493.924</c:v>
                </c:pt>
                <c:pt idx="561">
                  <c:v>909.941</c:v>
                </c:pt>
                <c:pt idx="562">
                  <c:v>1676.15</c:v>
                </c:pt>
                <c:pt idx="563">
                  <c:v>1865.6</c:v>
                </c:pt>
                <c:pt idx="564">
                  <c:v>623.479</c:v>
                </c:pt>
                <c:pt idx="565">
                  <c:v>391.531</c:v>
                </c:pt>
                <c:pt idx="566">
                  <c:v>790.035</c:v>
                </c:pt>
                <c:pt idx="567">
                  <c:v>1352.15</c:v>
                </c:pt>
                <c:pt idx="568">
                  <c:v>573.704</c:v>
                </c:pt>
                <c:pt idx="569">
                  <c:v>2106.82</c:v>
                </c:pt>
                <c:pt idx="570">
                  <c:v>981.073</c:v>
                </c:pt>
                <c:pt idx="571">
                  <c:v>1911.25</c:v>
                </c:pt>
                <c:pt idx="572">
                  <c:v>1841.57</c:v>
                </c:pt>
                <c:pt idx="573">
                  <c:v>2943.87</c:v>
                </c:pt>
                <c:pt idx="574">
                  <c:v>765.482</c:v>
                </c:pt>
                <c:pt idx="575">
                  <c:v>1654.59</c:v>
                </c:pt>
                <c:pt idx="576">
                  <c:v>1536.56</c:v>
                </c:pt>
                <c:pt idx="577">
                  <c:v>0</c:v>
                </c:pt>
                <c:pt idx="578">
                  <c:v>3750.66</c:v>
                </c:pt>
                <c:pt idx="579">
                  <c:v>977.987</c:v>
                </c:pt>
                <c:pt idx="580">
                  <c:v>251.407</c:v>
                </c:pt>
                <c:pt idx="581">
                  <c:v>2623.96</c:v>
                </c:pt>
                <c:pt idx="582">
                  <c:v>1587.32</c:v>
                </c:pt>
                <c:pt idx="583">
                  <c:v>582.667</c:v>
                </c:pt>
                <c:pt idx="584">
                  <c:v>1786.13</c:v>
                </c:pt>
                <c:pt idx="585">
                  <c:v>1056.54</c:v>
                </c:pt>
                <c:pt idx="586">
                  <c:v>721.382</c:v>
                </c:pt>
                <c:pt idx="587">
                  <c:v>3146.38</c:v>
                </c:pt>
                <c:pt idx="588">
                  <c:v>2312.29</c:v>
                </c:pt>
                <c:pt idx="589">
                  <c:v>648.04</c:v>
                </c:pt>
                <c:pt idx="590">
                  <c:v>1619.08</c:v>
                </c:pt>
                <c:pt idx="591">
                  <c:v>1298.27</c:v>
                </c:pt>
                <c:pt idx="592">
                  <c:v>1395.26</c:v>
                </c:pt>
                <c:pt idx="593">
                  <c:v>3985.35</c:v>
                </c:pt>
                <c:pt idx="594">
                  <c:v>1641.23</c:v>
                </c:pt>
                <c:pt idx="595">
                  <c:v>424.154</c:v>
                </c:pt>
                <c:pt idx="596">
                  <c:v>2185.42</c:v>
                </c:pt>
                <c:pt idx="597">
                  <c:v>168.587</c:v>
                </c:pt>
                <c:pt idx="598">
                  <c:v>626.635</c:v>
                </c:pt>
                <c:pt idx="599">
                  <c:v>3363.78</c:v>
                </c:pt>
                <c:pt idx="600">
                  <c:v>2567.63</c:v>
                </c:pt>
                <c:pt idx="601">
                  <c:v>825.812</c:v>
                </c:pt>
                <c:pt idx="602">
                  <c:v>649.284</c:v>
                </c:pt>
                <c:pt idx="603">
                  <c:v>1682.06</c:v>
                </c:pt>
                <c:pt idx="604">
                  <c:v>375.269</c:v>
                </c:pt>
                <c:pt idx="605">
                  <c:v>0</c:v>
                </c:pt>
                <c:pt idx="606">
                  <c:v>1463.57</c:v>
                </c:pt>
                <c:pt idx="607">
                  <c:v>2808.75</c:v>
                </c:pt>
                <c:pt idx="608">
                  <c:v>4229.57</c:v>
                </c:pt>
                <c:pt idx="609">
                  <c:v>584.023</c:v>
                </c:pt>
                <c:pt idx="610">
                  <c:v>372.007</c:v>
                </c:pt>
                <c:pt idx="611">
                  <c:v>823.275</c:v>
                </c:pt>
                <c:pt idx="612">
                  <c:v>0</c:v>
                </c:pt>
                <c:pt idx="613">
                  <c:v>325.921</c:v>
                </c:pt>
                <c:pt idx="614">
                  <c:v>2426.31</c:v>
                </c:pt>
                <c:pt idx="615">
                  <c:v>0</c:v>
                </c:pt>
                <c:pt idx="616">
                  <c:v>2690.72</c:v>
                </c:pt>
                <c:pt idx="617">
                  <c:v>1034.76</c:v>
                </c:pt>
                <c:pt idx="618">
                  <c:v>1716.46</c:v>
                </c:pt>
                <c:pt idx="619">
                  <c:v>2494.95</c:v>
                </c:pt>
                <c:pt idx="620">
                  <c:v>0</c:v>
                </c:pt>
                <c:pt idx="621">
                  <c:v>1967.56</c:v>
                </c:pt>
                <c:pt idx="622">
                  <c:v>1765.57</c:v>
                </c:pt>
                <c:pt idx="623">
                  <c:v>1112.92</c:v>
                </c:pt>
                <c:pt idx="624">
                  <c:v>1122.99</c:v>
                </c:pt>
                <c:pt idx="625">
                  <c:v>2997.95</c:v>
                </c:pt>
                <c:pt idx="626">
                  <c:v>1966.39</c:v>
                </c:pt>
                <c:pt idx="627">
                  <c:v>1115.15</c:v>
                </c:pt>
                <c:pt idx="628">
                  <c:v>0</c:v>
                </c:pt>
                <c:pt idx="629">
                  <c:v>241.495</c:v>
                </c:pt>
                <c:pt idx="630">
                  <c:v>0</c:v>
                </c:pt>
                <c:pt idx="631">
                  <c:v>397.113</c:v>
                </c:pt>
                <c:pt idx="632">
                  <c:v>3211.3</c:v>
                </c:pt>
                <c:pt idx="633">
                  <c:v>0</c:v>
                </c:pt>
                <c:pt idx="634">
                  <c:v>1204.35</c:v>
                </c:pt>
                <c:pt idx="635">
                  <c:v>547.773</c:v>
                </c:pt>
                <c:pt idx="636">
                  <c:v>4506.73</c:v>
                </c:pt>
                <c:pt idx="637">
                  <c:v>1407.96</c:v>
                </c:pt>
                <c:pt idx="638">
                  <c:v>1971.24</c:v>
                </c:pt>
                <c:pt idx="639">
                  <c:v>2527.25</c:v>
                </c:pt>
                <c:pt idx="640">
                  <c:v>0</c:v>
                </c:pt>
                <c:pt idx="641">
                  <c:v>1107.49</c:v>
                </c:pt>
                <c:pt idx="642">
                  <c:v>4996.41</c:v>
                </c:pt>
                <c:pt idx="643">
                  <c:v>823.864</c:v>
                </c:pt>
                <c:pt idx="644">
                  <c:v>0</c:v>
                </c:pt>
                <c:pt idx="645">
                  <c:v>0</c:v>
                </c:pt>
                <c:pt idx="646">
                  <c:v>960.372</c:v>
                </c:pt>
                <c:pt idx="647">
                  <c:v>1680.59</c:v>
                </c:pt>
                <c:pt idx="648">
                  <c:v>1450.1</c:v>
                </c:pt>
                <c:pt idx="649">
                  <c:v>1753.69</c:v>
                </c:pt>
                <c:pt idx="650">
                  <c:v>3026.49</c:v>
                </c:pt>
                <c:pt idx="651">
                  <c:v>2799.35</c:v>
                </c:pt>
                <c:pt idx="652">
                  <c:v>2522.59</c:v>
                </c:pt>
                <c:pt idx="653">
                  <c:v>810.735</c:v>
                </c:pt>
                <c:pt idx="654">
                  <c:v>1385.79</c:v>
                </c:pt>
                <c:pt idx="655">
                  <c:v>0</c:v>
                </c:pt>
                <c:pt idx="656">
                  <c:v>1017</c:v>
                </c:pt>
                <c:pt idx="657">
                  <c:v>1295.14</c:v>
                </c:pt>
                <c:pt idx="658">
                  <c:v>1893.13</c:v>
                </c:pt>
                <c:pt idx="659">
                  <c:v>3496.86</c:v>
                </c:pt>
                <c:pt idx="660">
                  <c:v>1446.52</c:v>
                </c:pt>
                <c:pt idx="661">
                  <c:v>0</c:v>
                </c:pt>
                <c:pt idx="662">
                  <c:v>0</c:v>
                </c:pt>
                <c:pt idx="663">
                  <c:v>2819.83</c:v>
                </c:pt>
                <c:pt idx="664">
                  <c:v>119.206</c:v>
                </c:pt>
                <c:pt idx="665">
                  <c:v>810.351</c:v>
                </c:pt>
                <c:pt idx="666">
                  <c:v>215.439</c:v>
                </c:pt>
                <c:pt idx="667">
                  <c:v>523.587</c:v>
                </c:pt>
                <c:pt idx="668">
                  <c:v>1654.33</c:v>
                </c:pt>
                <c:pt idx="669">
                  <c:v>1093.26</c:v>
                </c:pt>
                <c:pt idx="670">
                  <c:v>798.68</c:v>
                </c:pt>
                <c:pt idx="671">
                  <c:v>1373.57</c:v>
                </c:pt>
                <c:pt idx="672">
                  <c:v>1571.04</c:v>
                </c:pt>
                <c:pt idx="673">
                  <c:v>580.418</c:v>
                </c:pt>
                <c:pt idx="674">
                  <c:v>2635.04</c:v>
                </c:pt>
                <c:pt idx="675">
                  <c:v>693.039</c:v>
                </c:pt>
                <c:pt idx="676">
                  <c:v>2232.36</c:v>
                </c:pt>
                <c:pt idx="677">
                  <c:v>912.558</c:v>
                </c:pt>
                <c:pt idx="678">
                  <c:v>266.99</c:v>
                </c:pt>
                <c:pt idx="679">
                  <c:v>1019.54</c:v>
                </c:pt>
                <c:pt idx="680">
                  <c:v>385.618</c:v>
                </c:pt>
                <c:pt idx="681">
                  <c:v>473.272</c:v>
                </c:pt>
                <c:pt idx="682">
                  <c:v>2401.03</c:v>
                </c:pt>
                <c:pt idx="683">
                  <c:v>398.973</c:v>
                </c:pt>
                <c:pt idx="684">
                  <c:v>1381.04</c:v>
                </c:pt>
                <c:pt idx="685">
                  <c:v>297.176</c:v>
                </c:pt>
                <c:pt idx="686">
                  <c:v>2088.78</c:v>
                </c:pt>
                <c:pt idx="687">
                  <c:v>405.056</c:v>
                </c:pt>
                <c:pt idx="688">
                  <c:v>852.276</c:v>
                </c:pt>
                <c:pt idx="689">
                  <c:v>597.274</c:v>
                </c:pt>
                <c:pt idx="690">
                  <c:v>1132.32</c:v>
                </c:pt>
                <c:pt idx="691">
                  <c:v>350.969</c:v>
                </c:pt>
                <c:pt idx="692">
                  <c:v>2908.52</c:v>
                </c:pt>
                <c:pt idx="693">
                  <c:v>4721.18</c:v>
                </c:pt>
                <c:pt idx="694">
                  <c:v>293.64</c:v>
                </c:pt>
                <c:pt idx="695">
                  <c:v>604.235</c:v>
                </c:pt>
                <c:pt idx="696">
                  <c:v>578.956</c:v>
                </c:pt>
                <c:pt idx="697">
                  <c:v>465.181</c:v>
                </c:pt>
                <c:pt idx="698">
                  <c:v>168.032</c:v>
                </c:pt>
                <c:pt idx="699">
                  <c:v>374.831</c:v>
                </c:pt>
                <c:pt idx="700">
                  <c:v>7061.42</c:v>
                </c:pt>
                <c:pt idx="701">
                  <c:v>7043.44</c:v>
                </c:pt>
                <c:pt idx="702">
                  <c:v>6786.58</c:v>
                </c:pt>
                <c:pt idx="703">
                  <c:v>6628.79</c:v>
                </c:pt>
                <c:pt idx="704">
                  <c:v>6405.57</c:v>
                </c:pt>
                <c:pt idx="705">
                  <c:v>6931.17</c:v>
                </c:pt>
                <c:pt idx="706">
                  <c:v>6442.53</c:v>
                </c:pt>
                <c:pt idx="707">
                  <c:v>6179.32</c:v>
                </c:pt>
                <c:pt idx="708">
                  <c:v>6105.88</c:v>
                </c:pt>
                <c:pt idx="709">
                  <c:v>6088.87</c:v>
                </c:pt>
                <c:pt idx="710">
                  <c:v>5644.76</c:v>
                </c:pt>
                <c:pt idx="711">
                  <c:v>8318.18</c:v>
                </c:pt>
                <c:pt idx="712">
                  <c:v>8054.44</c:v>
                </c:pt>
              </c:numCache>
            </c:numRef>
          </c:xVal>
          <c:yVal>
            <c:numRef>
              <c:f>Sheet1!$C$2:$C$714</c:f>
              <c:numCache>
                <c:formatCode>General</c:formatCode>
                <c:ptCount val="713"/>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
                </c:pt>
                <c:pt idx="361">
                  <c:v/>
                </c:pt>
                <c:pt idx="362">
                  <c:v/>
                </c:pt>
                <c:pt idx="363">
                  <c:v/>
                </c:pt>
                <c:pt idx="364">
                  <c:v/>
                </c:pt>
                <c:pt idx="365">
                  <c:v/>
                </c:pt>
                <c:pt idx="366">
                  <c:v/>
                </c:pt>
                <c:pt idx="367">
                  <c:v/>
                </c:pt>
                <c:pt idx="368">
                  <c:v/>
                </c:pt>
                <c:pt idx="369">
                  <c:v/>
                </c:pt>
                <c:pt idx="370">
                  <c:v/>
                </c:pt>
                <c:pt idx="371">
                  <c:v/>
                </c:pt>
                <c:pt idx="372">
                  <c:v/>
                </c:pt>
                <c:pt idx="373">
                  <c:v/>
                </c:pt>
                <c:pt idx="374">
                  <c:v/>
                </c:pt>
                <c:pt idx="375">
                  <c:v/>
                </c:pt>
                <c:pt idx="376">
                  <c:v/>
                </c:pt>
                <c:pt idx="377">
                  <c:v/>
                </c:pt>
                <c:pt idx="378">
                  <c:v/>
                </c:pt>
                <c:pt idx="379">
                  <c:v/>
                </c:pt>
                <c:pt idx="380">
                  <c:v/>
                </c:pt>
                <c:pt idx="381">
                  <c:v/>
                </c:pt>
                <c:pt idx="382">
                  <c:v/>
                </c:pt>
                <c:pt idx="383">
                  <c:v/>
                </c:pt>
                <c:pt idx="384">
                  <c:v/>
                </c:pt>
                <c:pt idx="385">
                  <c:v/>
                </c:pt>
                <c:pt idx="386">
                  <c:v/>
                </c:pt>
                <c:pt idx="387">
                  <c:v/>
                </c:pt>
                <c:pt idx="388">
                  <c:v/>
                </c:pt>
                <c:pt idx="389">
                  <c:v/>
                </c:pt>
                <c:pt idx="390">
                  <c:v/>
                </c:pt>
                <c:pt idx="391">
                  <c:v/>
                </c:pt>
                <c:pt idx="392">
                  <c:v/>
                </c:pt>
                <c:pt idx="393">
                  <c:v/>
                </c:pt>
                <c:pt idx="394">
                  <c:v/>
                </c:pt>
                <c:pt idx="395">
                  <c:v/>
                </c:pt>
                <c:pt idx="396">
                  <c:v/>
                </c:pt>
                <c:pt idx="397">
                  <c:v/>
                </c:pt>
                <c:pt idx="398">
                  <c:v/>
                </c:pt>
                <c:pt idx="399">
                  <c:v/>
                </c:pt>
                <c:pt idx="400">
                  <c:v/>
                </c:pt>
                <c:pt idx="401">
                  <c:v/>
                </c:pt>
                <c:pt idx="402">
                  <c:v/>
                </c:pt>
                <c:pt idx="403">
                  <c:v/>
                </c:pt>
                <c:pt idx="404">
                  <c:v/>
                </c:pt>
                <c:pt idx="405">
                  <c:v/>
                </c:pt>
                <c:pt idx="406">
                  <c:v/>
                </c:pt>
                <c:pt idx="407">
                  <c:v/>
                </c:pt>
                <c:pt idx="408">
                  <c:v/>
                </c:pt>
                <c:pt idx="409">
                  <c:v/>
                </c:pt>
                <c:pt idx="410">
                  <c:v/>
                </c:pt>
                <c:pt idx="411">
                  <c:v/>
                </c:pt>
                <c:pt idx="412">
                  <c:v/>
                </c:pt>
                <c:pt idx="413">
                  <c:v/>
                </c:pt>
                <c:pt idx="414">
                  <c:v/>
                </c:pt>
                <c:pt idx="415">
                  <c:v/>
                </c:pt>
                <c:pt idx="416">
                  <c:v/>
                </c:pt>
                <c:pt idx="417">
                  <c:v/>
                </c:pt>
                <c:pt idx="418">
                  <c:v/>
                </c:pt>
                <c:pt idx="419">
                  <c:v/>
                </c:pt>
                <c:pt idx="420">
                  <c:v/>
                </c:pt>
                <c:pt idx="421">
                  <c:v/>
                </c:pt>
                <c:pt idx="422">
                  <c:v/>
                </c:pt>
                <c:pt idx="423">
                  <c:v/>
                </c:pt>
                <c:pt idx="424">
                  <c:v/>
                </c:pt>
                <c:pt idx="425">
                  <c:v/>
                </c:pt>
                <c:pt idx="426">
                  <c:v/>
                </c:pt>
                <c:pt idx="427">
                  <c:v/>
                </c:pt>
                <c:pt idx="428">
                  <c:v/>
                </c:pt>
                <c:pt idx="429">
                  <c:v/>
                </c:pt>
                <c:pt idx="430">
                  <c:v/>
                </c:pt>
                <c:pt idx="431">
                  <c:v/>
                </c:pt>
                <c:pt idx="432">
                  <c:v/>
                </c:pt>
                <c:pt idx="433">
                  <c:v/>
                </c:pt>
                <c:pt idx="434">
                  <c:v/>
                </c:pt>
                <c:pt idx="435">
                  <c:v/>
                </c:pt>
                <c:pt idx="436">
                  <c:v/>
                </c:pt>
                <c:pt idx="437">
                  <c:v/>
                </c:pt>
                <c:pt idx="438">
                  <c:v/>
                </c:pt>
                <c:pt idx="439">
                  <c:v/>
                </c:pt>
                <c:pt idx="440">
                  <c:v/>
                </c:pt>
                <c:pt idx="441">
                  <c:v/>
                </c:pt>
                <c:pt idx="442">
                  <c:v/>
                </c:pt>
                <c:pt idx="443">
                  <c:v/>
                </c:pt>
                <c:pt idx="444">
                  <c:v/>
                </c:pt>
                <c:pt idx="445">
                  <c:v/>
                </c:pt>
                <c:pt idx="446">
                  <c:v/>
                </c:pt>
                <c:pt idx="447">
                  <c:v/>
                </c:pt>
                <c:pt idx="448">
                  <c:v/>
                </c:pt>
                <c:pt idx="449">
                  <c:v/>
                </c:pt>
                <c:pt idx="450">
                  <c:v/>
                </c:pt>
                <c:pt idx="451">
                  <c:v/>
                </c:pt>
                <c:pt idx="452">
                  <c:v/>
                </c:pt>
                <c:pt idx="453">
                  <c:v/>
                </c:pt>
                <c:pt idx="454">
                  <c:v/>
                </c:pt>
                <c:pt idx="455">
                  <c:v/>
                </c:pt>
                <c:pt idx="456">
                  <c:v/>
                </c:pt>
                <c:pt idx="457">
                  <c:v/>
                </c:pt>
                <c:pt idx="458">
                  <c:v/>
                </c:pt>
                <c:pt idx="459">
                  <c:v/>
                </c:pt>
                <c:pt idx="460">
                  <c:v/>
                </c:pt>
                <c:pt idx="461">
                  <c:v/>
                </c:pt>
                <c:pt idx="462">
                  <c:v/>
                </c:pt>
                <c:pt idx="463">
                  <c:v/>
                </c:pt>
                <c:pt idx="464">
                  <c:v/>
                </c:pt>
                <c:pt idx="465">
                  <c:v/>
                </c:pt>
                <c:pt idx="466">
                  <c:v/>
                </c:pt>
                <c:pt idx="467">
                  <c:v/>
                </c:pt>
                <c:pt idx="468">
                  <c:v/>
                </c:pt>
                <c:pt idx="469">
                  <c:v/>
                </c:pt>
                <c:pt idx="470">
                  <c:v/>
                </c:pt>
                <c:pt idx="471">
                  <c:v/>
                </c:pt>
                <c:pt idx="472">
                  <c:v/>
                </c:pt>
                <c:pt idx="473">
                  <c:v/>
                </c:pt>
                <c:pt idx="474">
                  <c:v/>
                </c:pt>
                <c:pt idx="475">
                  <c:v/>
                </c:pt>
                <c:pt idx="476">
                  <c:v/>
                </c:pt>
                <c:pt idx="477">
                  <c:v/>
                </c:pt>
                <c:pt idx="478">
                  <c:v/>
                </c:pt>
                <c:pt idx="479">
                  <c:v/>
                </c:pt>
                <c:pt idx="480">
                  <c:v/>
                </c:pt>
                <c:pt idx="481">
                  <c:v/>
                </c:pt>
                <c:pt idx="482">
                  <c:v/>
                </c:pt>
                <c:pt idx="483">
                  <c:v/>
                </c:pt>
                <c:pt idx="484">
                  <c:v/>
                </c:pt>
                <c:pt idx="485">
                  <c:v/>
                </c:pt>
                <c:pt idx="486">
                  <c:v/>
                </c:pt>
                <c:pt idx="487">
                  <c:v/>
                </c:pt>
                <c:pt idx="488">
                  <c:v/>
                </c:pt>
                <c:pt idx="489">
                  <c:v/>
                </c:pt>
                <c:pt idx="490">
                  <c:v/>
                </c:pt>
                <c:pt idx="491">
                  <c:v/>
                </c:pt>
                <c:pt idx="492">
                  <c:v/>
                </c:pt>
                <c:pt idx="493">
                  <c:v/>
                </c:pt>
                <c:pt idx="494">
                  <c:v/>
                </c:pt>
                <c:pt idx="495">
                  <c:v/>
                </c:pt>
                <c:pt idx="496">
                  <c:v/>
                </c:pt>
                <c:pt idx="497">
                  <c:v/>
                </c:pt>
                <c:pt idx="498">
                  <c:v/>
                </c:pt>
                <c:pt idx="499">
                  <c:v/>
                </c:pt>
                <c:pt idx="500">
                  <c:v/>
                </c:pt>
                <c:pt idx="501">
                  <c:v/>
                </c:pt>
                <c:pt idx="502">
                  <c:v/>
                </c:pt>
                <c:pt idx="503">
                  <c:v/>
                </c:pt>
                <c:pt idx="504">
                  <c:v/>
                </c:pt>
                <c:pt idx="505">
                  <c:v/>
                </c:pt>
                <c:pt idx="506">
                  <c:v/>
                </c:pt>
                <c:pt idx="507">
                  <c:v/>
                </c:pt>
                <c:pt idx="508">
                  <c:v/>
                </c:pt>
                <c:pt idx="509">
                  <c:v/>
                </c:pt>
                <c:pt idx="510">
                  <c:v/>
                </c:pt>
                <c:pt idx="511">
                  <c:v/>
                </c:pt>
                <c:pt idx="512">
                  <c:v/>
                </c:pt>
                <c:pt idx="513">
                  <c:v/>
                </c:pt>
                <c:pt idx="514">
                  <c:v/>
                </c:pt>
                <c:pt idx="515">
                  <c:v/>
                </c:pt>
                <c:pt idx="516">
                  <c:v/>
                </c:pt>
                <c:pt idx="517">
                  <c:v/>
                </c:pt>
                <c:pt idx="518">
                  <c:v/>
                </c:pt>
                <c:pt idx="519">
                  <c:v/>
                </c:pt>
                <c:pt idx="520">
                  <c:v/>
                </c:pt>
                <c:pt idx="521">
                  <c:v/>
                </c:pt>
                <c:pt idx="522">
                  <c:v/>
                </c:pt>
                <c:pt idx="523">
                  <c:v/>
                </c:pt>
                <c:pt idx="524">
                  <c:v/>
                </c:pt>
                <c:pt idx="525">
                  <c:v/>
                </c:pt>
                <c:pt idx="526">
                  <c:v/>
                </c:pt>
                <c:pt idx="527">
                  <c:v/>
                </c:pt>
                <c:pt idx="528">
                  <c:v/>
                </c:pt>
                <c:pt idx="529">
                  <c:v/>
                </c:pt>
                <c:pt idx="530">
                  <c:v/>
                </c:pt>
                <c:pt idx="531">
                  <c:v/>
                </c:pt>
                <c:pt idx="532">
                  <c:v/>
                </c:pt>
                <c:pt idx="533">
                  <c:v/>
                </c:pt>
                <c:pt idx="534">
                  <c:v/>
                </c:pt>
                <c:pt idx="535">
                  <c:v/>
                </c:pt>
                <c:pt idx="536">
                  <c:v/>
                </c:pt>
                <c:pt idx="537">
                  <c:v/>
                </c:pt>
                <c:pt idx="538">
                  <c:v/>
                </c:pt>
                <c:pt idx="539">
                  <c:v/>
                </c:pt>
                <c:pt idx="540">
                  <c:v/>
                </c:pt>
                <c:pt idx="541">
                  <c:v/>
                </c:pt>
                <c:pt idx="542">
                  <c:v/>
                </c:pt>
                <c:pt idx="543">
                  <c:v/>
                </c:pt>
                <c:pt idx="544">
                  <c:v/>
                </c:pt>
                <c:pt idx="545">
                  <c:v/>
                </c:pt>
                <c:pt idx="546">
                  <c:v/>
                </c:pt>
                <c:pt idx="547">
                  <c:v/>
                </c:pt>
                <c:pt idx="548">
                  <c:v/>
                </c:pt>
                <c:pt idx="549">
                  <c:v/>
                </c:pt>
                <c:pt idx="550">
                  <c:v/>
                </c:pt>
                <c:pt idx="551">
                  <c:v/>
                </c:pt>
                <c:pt idx="552">
                  <c:v/>
                </c:pt>
                <c:pt idx="553">
                  <c:v/>
                </c:pt>
                <c:pt idx="554">
                  <c:v/>
                </c:pt>
                <c:pt idx="555">
                  <c:v/>
                </c:pt>
                <c:pt idx="556">
                  <c:v/>
                </c:pt>
                <c:pt idx="557">
                  <c:v/>
                </c:pt>
                <c:pt idx="558">
                  <c:v/>
                </c:pt>
                <c:pt idx="559">
                  <c:v/>
                </c:pt>
                <c:pt idx="560">
                  <c:v/>
                </c:pt>
                <c:pt idx="561">
                  <c:v/>
                </c:pt>
                <c:pt idx="562">
                  <c:v/>
                </c:pt>
                <c:pt idx="563">
                  <c:v/>
                </c:pt>
                <c:pt idx="564">
                  <c:v/>
                </c:pt>
                <c:pt idx="565">
                  <c:v/>
                </c:pt>
                <c:pt idx="566">
                  <c:v/>
                </c:pt>
                <c:pt idx="567">
                  <c:v/>
                </c:pt>
                <c:pt idx="568">
                  <c:v/>
                </c:pt>
                <c:pt idx="569">
                  <c:v/>
                </c:pt>
                <c:pt idx="570">
                  <c:v/>
                </c:pt>
                <c:pt idx="571">
                  <c:v/>
                </c:pt>
                <c:pt idx="572">
                  <c:v/>
                </c:pt>
                <c:pt idx="573">
                  <c:v/>
                </c:pt>
                <c:pt idx="574">
                  <c:v/>
                </c:pt>
                <c:pt idx="575">
                  <c:v/>
                </c:pt>
                <c:pt idx="576">
                  <c:v/>
                </c:pt>
                <c:pt idx="577">
                  <c:v/>
                </c:pt>
                <c:pt idx="578">
                  <c:v/>
                </c:pt>
                <c:pt idx="579">
                  <c:v/>
                </c:pt>
                <c:pt idx="580">
                  <c:v/>
                </c:pt>
                <c:pt idx="581">
                  <c:v/>
                </c:pt>
                <c:pt idx="582">
                  <c:v/>
                </c:pt>
                <c:pt idx="583">
                  <c:v/>
                </c:pt>
                <c:pt idx="584">
                  <c:v/>
                </c:pt>
                <c:pt idx="585">
                  <c:v/>
                </c:pt>
                <c:pt idx="586">
                  <c:v/>
                </c:pt>
                <c:pt idx="587">
                  <c:v/>
                </c:pt>
                <c:pt idx="588">
                  <c:v/>
                </c:pt>
                <c:pt idx="589">
                  <c:v/>
                </c:pt>
                <c:pt idx="590">
                  <c:v/>
                </c:pt>
                <c:pt idx="591">
                  <c:v/>
                </c:pt>
                <c:pt idx="592">
                  <c:v/>
                </c:pt>
                <c:pt idx="593">
                  <c:v/>
                </c:pt>
                <c:pt idx="594">
                  <c:v/>
                </c:pt>
                <c:pt idx="595">
                  <c:v/>
                </c:pt>
                <c:pt idx="596">
                  <c:v/>
                </c:pt>
                <c:pt idx="597">
                  <c:v/>
                </c:pt>
                <c:pt idx="598">
                  <c:v/>
                </c:pt>
                <c:pt idx="599">
                  <c:v/>
                </c:pt>
                <c:pt idx="600">
                  <c:v/>
                </c:pt>
                <c:pt idx="601">
                  <c:v/>
                </c:pt>
                <c:pt idx="602">
                  <c:v/>
                </c:pt>
                <c:pt idx="603">
                  <c:v/>
                </c:pt>
                <c:pt idx="604">
                  <c:v/>
                </c:pt>
                <c:pt idx="605">
                  <c:v/>
                </c:pt>
                <c:pt idx="606">
                  <c:v/>
                </c:pt>
                <c:pt idx="607">
                  <c:v/>
                </c:pt>
                <c:pt idx="608">
                  <c:v/>
                </c:pt>
                <c:pt idx="609">
                  <c:v/>
                </c:pt>
                <c:pt idx="610">
                  <c:v/>
                </c:pt>
                <c:pt idx="611">
                  <c:v/>
                </c:pt>
                <c:pt idx="612">
                  <c:v/>
                </c:pt>
                <c:pt idx="613">
                  <c:v/>
                </c:pt>
                <c:pt idx="614">
                  <c:v/>
                </c:pt>
                <c:pt idx="615">
                  <c:v/>
                </c:pt>
                <c:pt idx="616">
                  <c:v/>
                </c:pt>
                <c:pt idx="617">
                  <c:v/>
                </c:pt>
                <c:pt idx="618">
                  <c:v/>
                </c:pt>
                <c:pt idx="619">
                  <c:v/>
                </c:pt>
                <c:pt idx="620">
                  <c:v/>
                </c:pt>
                <c:pt idx="621">
                  <c:v/>
                </c:pt>
                <c:pt idx="622">
                  <c:v/>
                </c:pt>
                <c:pt idx="623">
                  <c:v/>
                </c:pt>
                <c:pt idx="624">
                  <c:v/>
                </c:pt>
                <c:pt idx="625">
                  <c:v/>
                </c:pt>
                <c:pt idx="626">
                  <c:v/>
                </c:pt>
                <c:pt idx="627">
                  <c:v/>
                </c:pt>
                <c:pt idx="628">
                  <c:v/>
                </c:pt>
                <c:pt idx="629">
                  <c:v/>
                </c:pt>
                <c:pt idx="630">
                  <c:v/>
                </c:pt>
                <c:pt idx="631">
                  <c:v/>
                </c:pt>
                <c:pt idx="632">
                  <c:v/>
                </c:pt>
                <c:pt idx="633">
                  <c:v/>
                </c:pt>
                <c:pt idx="634">
                  <c:v/>
                </c:pt>
                <c:pt idx="635">
                  <c:v/>
                </c:pt>
                <c:pt idx="636">
                  <c:v/>
                </c:pt>
                <c:pt idx="637">
                  <c:v/>
                </c:pt>
                <c:pt idx="638">
                  <c:v/>
                </c:pt>
                <c:pt idx="639">
                  <c:v/>
                </c:pt>
                <c:pt idx="640">
                  <c:v/>
                </c:pt>
                <c:pt idx="641">
                  <c:v/>
                </c:pt>
                <c:pt idx="642">
                  <c:v/>
                </c:pt>
                <c:pt idx="643">
                  <c:v/>
                </c:pt>
                <c:pt idx="644">
                  <c:v/>
                </c:pt>
                <c:pt idx="645">
                  <c:v/>
                </c:pt>
                <c:pt idx="646">
                  <c:v/>
                </c:pt>
                <c:pt idx="647">
                  <c:v/>
                </c:pt>
                <c:pt idx="648">
                  <c:v/>
                </c:pt>
                <c:pt idx="649">
                  <c:v/>
                </c:pt>
                <c:pt idx="650">
                  <c:v/>
                </c:pt>
                <c:pt idx="651">
                  <c:v/>
                </c:pt>
                <c:pt idx="652">
                  <c:v/>
                </c:pt>
                <c:pt idx="653">
                  <c:v/>
                </c:pt>
                <c:pt idx="654">
                  <c:v/>
                </c:pt>
                <c:pt idx="655">
                  <c:v/>
                </c:pt>
                <c:pt idx="656">
                  <c:v/>
                </c:pt>
                <c:pt idx="657">
                  <c:v/>
                </c:pt>
                <c:pt idx="658">
                  <c:v/>
                </c:pt>
                <c:pt idx="659">
                  <c:v/>
                </c:pt>
                <c:pt idx="660">
                  <c:v/>
                </c:pt>
                <c:pt idx="661">
                  <c:v/>
                </c:pt>
                <c:pt idx="662">
                  <c:v/>
                </c:pt>
                <c:pt idx="663">
                  <c:v/>
                </c:pt>
                <c:pt idx="664">
                  <c:v/>
                </c:pt>
                <c:pt idx="665">
                  <c:v/>
                </c:pt>
                <c:pt idx="666">
                  <c:v/>
                </c:pt>
                <c:pt idx="667">
                  <c:v/>
                </c:pt>
                <c:pt idx="668">
                  <c:v/>
                </c:pt>
                <c:pt idx="669">
                  <c:v/>
                </c:pt>
                <c:pt idx="670">
                  <c:v/>
                </c:pt>
                <c:pt idx="671">
                  <c:v/>
                </c:pt>
                <c:pt idx="672">
                  <c:v/>
                </c:pt>
                <c:pt idx="673">
                  <c:v/>
                </c:pt>
                <c:pt idx="674">
                  <c:v/>
                </c:pt>
                <c:pt idx="675">
                  <c:v/>
                </c:pt>
                <c:pt idx="676">
                  <c:v/>
                </c:pt>
                <c:pt idx="677">
                  <c:v/>
                </c:pt>
                <c:pt idx="678">
                  <c:v/>
                </c:pt>
                <c:pt idx="679">
                  <c:v/>
                </c:pt>
                <c:pt idx="680">
                  <c:v/>
                </c:pt>
                <c:pt idx="681">
                  <c:v/>
                </c:pt>
                <c:pt idx="682">
                  <c:v/>
                </c:pt>
                <c:pt idx="683">
                  <c:v/>
                </c:pt>
                <c:pt idx="684">
                  <c:v/>
                </c:pt>
                <c:pt idx="685">
                  <c:v/>
                </c:pt>
                <c:pt idx="686">
                  <c:v/>
                </c:pt>
                <c:pt idx="687">
                  <c:v/>
                </c:pt>
                <c:pt idx="688">
                  <c:v/>
                </c:pt>
                <c:pt idx="689">
                  <c:v/>
                </c:pt>
                <c:pt idx="690">
                  <c:v/>
                </c:pt>
                <c:pt idx="691">
                  <c:v/>
                </c:pt>
                <c:pt idx="692">
                  <c:v/>
                </c:pt>
                <c:pt idx="693">
                  <c:v/>
                </c:pt>
                <c:pt idx="694">
                  <c:v/>
                </c:pt>
                <c:pt idx="695">
                  <c:v/>
                </c:pt>
                <c:pt idx="696">
                  <c:v/>
                </c:pt>
                <c:pt idx="697">
                  <c:v/>
                </c:pt>
                <c:pt idx="698">
                  <c:v/>
                </c:pt>
                <c:pt idx="699">
                  <c:v/>
                </c:pt>
                <c:pt idx="700">
                  <c:v>0.7762</c:v>
                </c:pt>
                <c:pt idx="701">
                  <c:v>0.8306</c:v>
                </c:pt>
                <c:pt idx="702">
                  <c:v>0.8498</c:v>
                </c:pt>
                <c:pt idx="703">
                  <c:v>0.9182</c:v>
                </c:pt>
                <c:pt idx="704">
                  <c:v>0.9392</c:v>
                </c:pt>
                <c:pt idx="705">
                  <c:v>0.7822</c:v>
                </c:pt>
                <c:pt idx="706">
                  <c:v>0.9124</c:v>
                </c:pt>
                <c:pt idx="707">
                  <c:v>0.9154</c:v>
                </c:pt>
                <c:pt idx="708">
                  <c:v>0.9292</c:v>
                </c:pt>
                <c:pt idx="709">
                  <c:v>0.9304</c:v>
                </c:pt>
                <c:pt idx="710">
                  <c:v>0.9382</c:v>
                </c:pt>
                <c:pt idx="711">
                  <c:v/>
                </c:pt>
                <c:pt idx="712">
                  <c:v/>
                </c:pt>
              </c:numCache>
            </c:numRef>
          </c:yVal>
          <c:smooth val="0"/>
        </c:ser>
        <c:ser>
          <c:idx val="2"/>
          <c:order val="2"/>
          <c:tx>
            <c:strRef>
              <c:f>Sheet1!$D$1</c:f>
              <c:strCache>
                <c:ptCount val="1"/>
                <c:pt idx="0">
                  <c:v>Front 1 (recommended)</c:v>
                </c:pt>
              </c:strCache>
            </c:strRef>
          </c:tx>
          <c:spPr>
            <a:solidFill>
              <a:srgbClr val="C00000"/>
            </a:solidFill>
            <a:ln>
              <a:noFill/>
            </a:ln>
            <a:effectLst/>
          </c:spPr>
          <c:marker>
            <c:symbol val="circle"/>
            <c:size val="6"/>
            <c:spPr>
              <a:solidFill>
                <a:srgbClr val="C00000"/>
              </a:solidFill>
              <a:ln w="9525" cap="flat">
                <a:solidFill>
                  <a:srgbClr val="C00000"/>
                </a:solidFill>
                <a:prstDash val="solid"/>
                <a:round/>
              </a:ln>
              <a:effectLst/>
            </c:spPr>
          </c:marker>
          <c:xVal>
            <c:numRef>
              <c:f>Sheet1!$A$2:$A$714</c:f>
              <c:numCache>
                <c:formatCode>General</c:formatCode>
                <c:ptCount val="713"/>
                <c:pt idx="0">
                  <c:v>545.82</c:v>
                </c:pt>
                <c:pt idx="1">
                  <c:v>0</c:v>
                </c:pt>
                <c:pt idx="2">
                  <c:v>4172.71</c:v>
                </c:pt>
                <c:pt idx="3">
                  <c:v>2713.58</c:v>
                </c:pt>
                <c:pt idx="4">
                  <c:v>506.618</c:v>
                </c:pt>
                <c:pt idx="5">
                  <c:v>2068.99</c:v>
                </c:pt>
                <c:pt idx="6">
                  <c:v>1271.94</c:v>
                </c:pt>
                <c:pt idx="7">
                  <c:v>0</c:v>
                </c:pt>
                <c:pt idx="8">
                  <c:v>453.821</c:v>
                </c:pt>
                <c:pt idx="9">
                  <c:v>572.359</c:v>
                </c:pt>
                <c:pt idx="10">
                  <c:v>1693.37</c:v>
                </c:pt>
                <c:pt idx="11">
                  <c:v>416.31</c:v>
                </c:pt>
                <c:pt idx="12">
                  <c:v>0</c:v>
                </c:pt>
                <c:pt idx="13">
                  <c:v>259.461</c:v>
                </c:pt>
                <c:pt idx="14">
                  <c:v>242.09</c:v>
                </c:pt>
                <c:pt idx="15">
                  <c:v>1349.38</c:v>
                </c:pt>
                <c:pt idx="16">
                  <c:v>916.008</c:v>
                </c:pt>
                <c:pt idx="17">
                  <c:v>1525.26</c:v>
                </c:pt>
                <c:pt idx="18">
                  <c:v>764.667</c:v>
                </c:pt>
                <c:pt idx="19">
                  <c:v>763.156</c:v>
                </c:pt>
                <c:pt idx="20">
                  <c:v>0</c:v>
                </c:pt>
                <c:pt idx="21">
                  <c:v>1180.25</c:v>
                </c:pt>
                <c:pt idx="22">
                  <c:v>1200.36</c:v>
                </c:pt>
                <c:pt idx="23">
                  <c:v>669.362</c:v>
                </c:pt>
                <c:pt idx="24">
                  <c:v>534.065</c:v>
                </c:pt>
                <c:pt idx="25">
                  <c:v>4456.97</c:v>
                </c:pt>
                <c:pt idx="26">
                  <c:v>1944.66</c:v>
                </c:pt>
                <c:pt idx="27">
                  <c:v>0</c:v>
                </c:pt>
                <c:pt idx="28">
                  <c:v>729.746</c:v>
                </c:pt>
                <c:pt idx="29">
                  <c:v>1731.28</c:v>
                </c:pt>
                <c:pt idx="30">
                  <c:v>0</c:v>
                </c:pt>
                <c:pt idx="31">
                  <c:v>2126.83</c:v>
                </c:pt>
                <c:pt idx="32">
                  <c:v>5633.74</c:v>
                </c:pt>
                <c:pt idx="33">
                  <c:v>1609.79</c:v>
                </c:pt>
                <c:pt idx="34">
                  <c:v>2332.52</c:v>
                </c:pt>
                <c:pt idx="35">
                  <c:v>4087.73</c:v>
                </c:pt>
                <c:pt idx="36">
                  <c:v>1169.08</c:v>
                </c:pt>
                <c:pt idx="37">
                  <c:v>2806.02</c:v>
                </c:pt>
                <c:pt idx="38">
                  <c:v>0</c:v>
                </c:pt>
                <c:pt idx="39">
                  <c:v>0</c:v>
                </c:pt>
                <c:pt idx="40">
                  <c:v>0</c:v>
                </c:pt>
                <c:pt idx="41">
                  <c:v>1134.17</c:v>
                </c:pt>
                <c:pt idx="42">
                  <c:v>1593</c:v>
                </c:pt>
                <c:pt idx="43">
                  <c:v>765.906</c:v>
                </c:pt>
                <c:pt idx="44">
                  <c:v>1240.98</c:v>
                </c:pt>
                <c:pt idx="45">
                  <c:v>1300.59</c:v>
                </c:pt>
                <c:pt idx="46">
                  <c:v>2609.57</c:v>
                </c:pt>
                <c:pt idx="47">
                  <c:v>568.828</c:v>
                </c:pt>
                <c:pt idx="48">
                  <c:v>2398.93</c:v>
                </c:pt>
                <c:pt idx="49">
                  <c:v>1642.13</c:v>
                </c:pt>
                <c:pt idx="50">
                  <c:v>2031.62</c:v>
                </c:pt>
                <c:pt idx="51">
                  <c:v>1168.65</c:v>
                </c:pt>
                <c:pt idx="52">
                  <c:v>885.371</c:v>
                </c:pt>
                <c:pt idx="53">
                  <c:v>0</c:v>
                </c:pt>
                <c:pt idx="54">
                  <c:v>469.341</c:v>
                </c:pt>
                <c:pt idx="55">
                  <c:v>608.942</c:v>
                </c:pt>
                <c:pt idx="56">
                  <c:v>563.951</c:v>
                </c:pt>
                <c:pt idx="57">
                  <c:v>796.865</c:v>
                </c:pt>
                <c:pt idx="58">
                  <c:v>1007.93</c:v>
                </c:pt>
                <c:pt idx="59">
                  <c:v>635.609</c:v>
                </c:pt>
                <c:pt idx="60">
                  <c:v>0</c:v>
                </c:pt>
                <c:pt idx="61">
                  <c:v>781.89</c:v>
                </c:pt>
                <c:pt idx="62">
                  <c:v>2371.82</c:v>
                </c:pt>
                <c:pt idx="63">
                  <c:v>1821.21</c:v>
                </c:pt>
                <c:pt idx="64">
                  <c:v>1630.43</c:v>
                </c:pt>
                <c:pt idx="65">
                  <c:v>0</c:v>
                </c:pt>
                <c:pt idx="66">
                  <c:v>695.781</c:v>
                </c:pt>
                <c:pt idx="67">
                  <c:v>1696.49</c:v>
                </c:pt>
                <c:pt idx="68">
                  <c:v>606.343</c:v>
                </c:pt>
                <c:pt idx="69">
                  <c:v>954.205</c:v>
                </c:pt>
                <c:pt idx="70">
                  <c:v>423.257</c:v>
                </c:pt>
                <c:pt idx="71">
                  <c:v>569.831</c:v>
                </c:pt>
                <c:pt idx="72">
                  <c:v>1134.33</c:v>
                </c:pt>
                <c:pt idx="73">
                  <c:v>2552.15</c:v>
                </c:pt>
                <c:pt idx="74">
                  <c:v>1943.66</c:v>
                </c:pt>
                <c:pt idx="75">
                  <c:v>371.02</c:v>
                </c:pt>
                <c:pt idx="76">
                  <c:v>1675.41</c:v>
                </c:pt>
                <c:pt idx="77">
                  <c:v>539.212</c:v>
                </c:pt>
                <c:pt idx="78">
                  <c:v>831.808</c:v>
                </c:pt>
                <c:pt idx="79">
                  <c:v>2061.03</c:v>
                </c:pt>
                <c:pt idx="80">
                  <c:v>1884.87</c:v>
                </c:pt>
                <c:pt idx="81">
                  <c:v>492.811</c:v>
                </c:pt>
                <c:pt idx="82">
                  <c:v>917.059</c:v>
                </c:pt>
                <c:pt idx="83">
                  <c:v>249.498</c:v>
                </c:pt>
                <c:pt idx="84">
                  <c:v>2117.36</c:v>
                </c:pt>
                <c:pt idx="85">
                  <c:v>3613.74</c:v>
                </c:pt>
                <c:pt idx="86">
                  <c:v>2022.22</c:v>
                </c:pt>
                <c:pt idx="87">
                  <c:v>2769.29</c:v>
                </c:pt>
                <c:pt idx="88">
                  <c:v>2068.16</c:v>
                </c:pt>
                <c:pt idx="89">
                  <c:v>1079.15</c:v>
                </c:pt>
                <c:pt idx="90">
                  <c:v>1444.86</c:v>
                </c:pt>
                <c:pt idx="91">
                  <c:v>350.505</c:v>
                </c:pt>
                <c:pt idx="92">
                  <c:v>1953.94</c:v>
                </c:pt>
                <c:pt idx="93">
                  <c:v>780.005</c:v>
                </c:pt>
                <c:pt idx="94">
                  <c:v>1906.44</c:v>
                </c:pt>
                <c:pt idx="95">
                  <c:v>2676.71</c:v>
                </c:pt>
                <c:pt idx="96">
                  <c:v>740.859</c:v>
                </c:pt>
                <c:pt idx="97">
                  <c:v>527.802</c:v>
                </c:pt>
                <c:pt idx="98">
                  <c:v>1522.76</c:v>
                </c:pt>
                <c:pt idx="99">
                  <c:v>465.173</c:v>
                </c:pt>
                <c:pt idx="100">
                  <c:v>0</c:v>
                </c:pt>
                <c:pt idx="101">
                  <c:v>0</c:v>
                </c:pt>
                <c:pt idx="102">
                  <c:v>762.952</c:v>
                </c:pt>
                <c:pt idx="103">
                  <c:v>0</c:v>
                </c:pt>
                <c:pt idx="104">
                  <c:v>3296.16</c:v>
                </c:pt>
                <c:pt idx="105">
                  <c:v>1393.89</c:v>
                </c:pt>
                <c:pt idx="106">
                  <c:v>144.09</c:v>
                </c:pt>
                <c:pt idx="107">
                  <c:v>1695.22</c:v>
                </c:pt>
                <c:pt idx="108">
                  <c:v>1331.4</c:v>
                </c:pt>
                <c:pt idx="109">
                  <c:v>496.303</c:v>
                </c:pt>
                <c:pt idx="110">
                  <c:v>435.067</c:v>
                </c:pt>
                <c:pt idx="111">
                  <c:v>2916.02</c:v>
                </c:pt>
                <c:pt idx="112">
                  <c:v>1371.88</c:v>
                </c:pt>
                <c:pt idx="113">
                  <c:v>527.818</c:v>
                </c:pt>
                <c:pt idx="114">
                  <c:v>0</c:v>
                </c:pt>
                <c:pt idx="115">
                  <c:v>0</c:v>
                </c:pt>
                <c:pt idx="116">
                  <c:v>381.159</c:v>
                </c:pt>
                <c:pt idx="117">
                  <c:v>417.302</c:v>
                </c:pt>
                <c:pt idx="118">
                  <c:v>1512.66</c:v>
                </c:pt>
                <c:pt idx="119">
                  <c:v>2608.35</c:v>
                </c:pt>
                <c:pt idx="120">
                  <c:v>2351.98</c:v>
                </c:pt>
                <c:pt idx="121">
                  <c:v>2478.78</c:v>
                </c:pt>
                <c:pt idx="122">
                  <c:v>2646</c:v>
                </c:pt>
                <c:pt idx="123">
                  <c:v>545.932</c:v>
                </c:pt>
                <c:pt idx="124">
                  <c:v>0</c:v>
                </c:pt>
                <c:pt idx="125">
                  <c:v>594.949</c:v>
                </c:pt>
                <c:pt idx="126">
                  <c:v>0</c:v>
                </c:pt>
                <c:pt idx="127">
                  <c:v>1105.24</c:v>
                </c:pt>
                <c:pt idx="128">
                  <c:v>512.733</c:v>
                </c:pt>
                <c:pt idx="129">
                  <c:v>609.926</c:v>
                </c:pt>
                <c:pt idx="130">
                  <c:v>0</c:v>
                </c:pt>
                <c:pt idx="131">
                  <c:v>3453</c:v>
                </c:pt>
                <c:pt idx="132">
                  <c:v>1109.01</c:v>
                </c:pt>
                <c:pt idx="133">
                  <c:v>0</c:v>
                </c:pt>
                <c:pt idx="134">
                  <c:v>0</c:v>
                </c:pt>
                <c:pt idx="135">
                  <c:v>246.694</c:v>
                </c:pt>
                <c:pt idx="136">
                  <c:v>1677.82</c:v>
                </c:pt>
                <c:pt idx="137">
                  <c:v>1447.48</c:v>
                </c:pt>
                <c:pt idx="138">
                  <c:v>320.302</c:v>
                </c:pt>
                <c:pt idx="139">
                  <c:v>855.37</c:v>
                </c:pt>
                <c:pt idx="140">
                  <c:v>3282.31</c:v>
                </c:pt>
                <c:pt idx="141">
                  <c:v>1527.42</c:v>
                </c:pt>
                <c:pt idx="142">
                  <c:v>495.388</c:v>
                </c:pt>
                <c:pt idx="143">
                  <c:v>977.523</c:v>
                </c:pt>
                <c:pt idx="144">
                  <c:v>597.937</c:v>
                </c:pt>
                <c:pt idx="145">
                  <c:v>0</c:v>
                </c:pt>
                <c:pt idx="146">
                  <c:v>1734.34</c:v>
                </c:pt>
                <c:pt idx="147">
                  <c:v>1876.59</c:v>
                </c:pt>
                <c:pt idx="148">
                  <c:v>1439.3</c:v>
                </c:pt>
                <c:pt idx="149">
                  <c:v>505.572</c:v>
                </c:pt>
                <c:pt idx="150">
                  <c:v>522.32</c:v>
                </c:pt>
                <c:pt idx="151">
                  <c:v>184.259</c:v>
                </c:pt>
                <c:pt idx="152">
                  <c:v>0</c:v>
                </c:pt>
                <c:pt idx="153">
                  <c:v>1975.96</c:v>
                </c:pt>
                <c:pt idx="154">
                  <c:v>1442.8</c:v>
                </c:pt>
                <c:pt idx="155">
                  <c:v>2944.33</c:v>
                </c:pt>
                <c:pt idx="156">
                  <c:v>694.5</c:v>
                </c:pt>
                <c:pt idx="157">
                  <c:v>0</c:v>
                </c:pt>
                <c:pt idx="158">
                  <c:v>256.961</c:v>
                </c:pt>
                <c:pt idx="159">
                  <c:v>1242.32</c:v>
                </c:pt>
                <c:pt idx="160">
                  <c:v>278.462</c:v>
                </c:pt>
                <c:pt idx="161">
                  <c:v>1792.48</c:v>
                </c:pt>
                <c:pt idx="162">
                  <c:v>3015.8</c:v>
                </c:pt>
                <c:pt idx="163">
                  <c:v>3701.13</c:v>
                </c:pt>
                <c:pt idx="164">
                  <c:v>1786.13</c:v>
                </c:pt>
                <c:pt idx="165">
                  <c:v>4078.37</c:v>
                </c:pt>
                <c:pt idx="166">
                  <c:v>420.551</c:v>
                </c:pt>
                <c:pt idx="167">
                  <c:v>967.204</c:v>
                </c:pt>
                <c:pt idx="168">
                  <c:v>550.682</c:v>
                </c:pt>
                <c:pt idx="169">
                  <c:v>1619.1</c:v>
                </c:pt>
                <c:pt idx="170">
                  <c:v>3871.6</c:v>
                </c:pt>
                <c:pt idx="171">
                  <c:v>573.642</c:v>
                </c:pt>
                <c:pt idx="172">
                  <c:v>2279.51</c:v>
                </c:pt>
                <c:pt idx="173">
                  <c:v>485.841</c:v>
                </c:pt>
                <c:pt idx="174">
                  <c:v>1869.84</c:v>
                </c:pt>
                <c:pt idx="175">
                  <c:v>2612.77</c:v>
                </c:pt>
                <c:pt idx="176">
                  <c:v>709.56</c:v>
                </c:pt>
                <c:pt idx="177">
                  <c:v>426.241</c:v>
                </c:pt>
                <c:pt idx="178">
                  <c:v>552.567</c:v>
                </c:pt>
                <c:pt idx="179">
                  <c:v>2231.58</c:v>
                </c:pt>
                <c:pt idx="180">
                  <c:v>0</c:v>
                </c:pt>
                <c:pt idx="181">
                  <c:v>997.26</c:v>
                </c:pt>
                <c:pt idx="182">
                  <c:v>294.04</c:v>
                </c:pt>
                <c:pt idx="183">
                  <c:v>0</c:v>
                </c:pt>
                <c:pt idx="184">
                  <c:v>95.2905</c:v>
                </c:pt>
                <c:pt idx="185">
                  <c:v>2789.93</c:v>
                </c:pt>
                <c:pt idx="186">
                  <c:v>334.414</c:v>
                </c:pt>
                <c:pt idx="187">
                  <c:v>1463.44</c:v>
                </c:pt>
                <c:pt idx="188">
                  <c:v>403.738</c:v>
                </c:pt>
                <c:pt idx="189">
                  <c:v>2782.5</c:v>
                </c:pt>
                <c:pt idx="190">
                  <c:v>224.357</c:v>
                </c:pt>
                <c:pt idx="191">
                  <c:v>0</c:v>
                </c:pt>
                <c:pt idx="192">
                  <c:v>1132.04</c:v>
                </c:pt>
                <c:pt idx="193">
                  <c:v>2011.65</c:v>
                </c:pt>
                <c:pt idx="194">
                  <c:v>508.464</c:v>
                </c:pt>
                <c:pt idx="195">
                  <c:v>2049.74</c:v>
                </c:pt>
                <c:pt idx="196">
                  <c:v>2055.94</c:v>
                </c:pt>
                <c:pt idx="197">
                  <c:v>4502.96</c:v>
                </c:pt>
                <c:pt idx="198">
                  <c:v>1090.34</c:v>
                </c:pt>
                <c:pt idx="199">
                  <c:v>1629.78</c:v>
                </c:pt>
                <c:pt idx="200">
                  <c:v>4232.98</c:v>
                </c:pt>
                <c:pt idx="201">
                  <c:v>2160.98</c:v>
                </c:pt>
                <c:pt idx="202">
                  <c:v>877.291</c:v>
                </c:pt>
                <c:pt idx="203">
                  <c:v>0</c:v>
                </c:pt>
                <c:pt idx="204">
                  <c:v>0</c:v>
                </c:pt>
                <c:pt idx="205">
                  <c:v>3030.22</c:v>
                </c:pt>
                <c:pt idx="206">
                  <c:v>3748.72</c:v>
                </c:pt>
                <c:pt idx="207">
                  <c:v>0</c:v>
                </c:pt>
                <c:pt idx="208">
                  <c:v>2061.46</c:v>
                </c:pt>
                <c:pt idx="209">
                  <c:v>2248.26</c:v>
                </c:pt>
                <c:pt idx="210">
                  <c:v>1428.11</c:v>
                </c:pt>
                <c:pt idx="211">
                  <c:v>486.421</c:v>
                </c:pt>
                <c:pt idx="212">
                  <c:v>1617.07</c:v>
                </c:pt>
                <c:pt idx="213">
                  <c:v>2072.42</c:v>
                </c:pt>
                <c:pt idx="214">
                  <c:v>1445.9</c:v>
                </c:pt>
                <c:pt idx="215">
                  <c:v>3824.31</c:v>
                </c:pt>
                <c:pt idx="216">
                  <c:v>1417.84</c:v>
                </c:pt>
                <c:pt idx="217">
                  <c:v>1998.98</c:v>
                </c:pt>
                <c:pt idx="218">
                  <c:v>0</c:v>
                </c:pt>
                <c:pt idx="219">
                  <c:v>0</c:v>
                </c:pt>
                <c:pt idx="220">
                  <c:v>1334.81</c:v>
                </c:pt>
                <c:pt idx="221">
                  <c:v>262.825</c:v>
                </c:pt>
                <c:pt idx="222">
                  <c:v>1255.03</c:v>
                </c:pt>
                <c:pt idx="223">
                  <c:v>0</c:v>
                </c:pt>
                <c:pt idx="224">
                  <c:v>2414.16</c:v>
                </c:pt>
                <c:pt idx="225">
                  <c:v>639.585</c:v>
                </c:pt>
                <c:pt idx="226">
                  <c:v>1609.42</c:v>
                </c:pt>
                <c:pt idx="227">
                  <c:v>433.06</c:v>
                </c:pt>
                <c:pt idx="228">
                  <c:v>4788.47</c:v>
                </c:pt>
                <c:pt idx="229">
                  <c:v>636.557</c:v>
                </c:pt>
                <c:pt idx="230">
                  <c:v>494.351</c:v>
                </c:pt>
                <c:pt idx="231">
                  <c:v>3247.44</c:v>
                </c:pt>
                <c:pt idx="232">
                  <c:v>0</c:v>
                </c:pt>
                <c:pt idx="233">
                  <c:v>2037.11</c:v>
                </c:pt>
                <c:pt idx="234">
                  <c:v>2352.94</c:v>
                </c:pt>
                <c:pt idx="235">
                  <c:v>1347.74</c:v>
                </c:pt>
                <c:pt idx="236">
                  <c:v>1176.2</c:v>
                </c:pt>
                <c:pt idx="237">
                  <c:v>1539.84</c:v>
                </c:pt>
                <c:pt idx="238">
                  <c:v>256.629</c:v>
                </c:pt>
                <c:pt idx="239">
                  <c:v>886.195</c:v>
                </c:pt>
                <c:pt idx="240">
                  <c:v>2084.58</c:v>
                </c:pt>
                <c:pt idx="241">
                  <c:v>1170.94</c:v>
                </c:pt>
                <c:pt idx="242">
                  <c:v>0</c:v>
                </c:pt>
                <c:pt idx="243">
                  <c:v>718.001</c:v>
                </c:pt>
                <c:pt idx="244">
                  <c:v>0</c:v>
                </c:pt>
                <c:pt idx="245">
                  <c:v>0</c:v>
                </c:pt>
                <c:pt idx="246">
                  <c:v>1571.97</c:v>
                </c:pt>
                <c:pt idx="247">
                  <c:v>532.44</c:v>
                </c:pt>
                <c:pt idx="248">
                  <c:v>1277.73</c:v>
                </c:pt>
                <c:pt idx="249">
                  <c:v>1014.14</c:v>
                </c:pt>
                <c:pt idx="250">
                  <c:v>1019.88</c:v>
                </c:pt>
                <c:pt idx="251">
                  <c:v>890.338</c:v>
                </c:pt>
                <c:pt idx="252">
                  <c:v>1764.27</c:v>
                </c:pt>
                <c:pt idx="253">
                  <c:v>0</c:v>
                </c:pt>
                <c:pt idx="254">
                  <c:v>441.02</c:v>
                </c:pt>
                <c:pt idx="255">
                  <c:v>1809.63</c:v>
                </c:pt>
                <c:pt idx="256">
                  <c:v>0</c:v>
                </c:pt>
                <c:pt idx="257">
                  <c:v>579.643</c:v>
                </c:pt>
                <c:pt idx="258">
                  <c:v>252.133</c:v>
                </c:pt>
                <c:pt idx="259">
                  <c:v>0</c:v>
                </c:pt>
                <c:pt idx="260">
                  <c:v>2772.55</c:v>
                </c:pt>
                <c:pt idx="261">
                  <c:v>765.783</c:v>
                </c:pt>
                <c:pt idx="262">
                  <c:v>0</c:v>
                </c:pt>
                <c:pt idx="263">
                  <c:v>2640.77</c:v>
                </c:pt>
                <c:pt idx="264">
                  <c:v>0</c:v>
                </c:pt>
                <c:pt idx="265">
                  <c:v>1807</c:v>
                </c:pt>
                <c:pt idx="266">
                  <c:v>1064.88</c:v>
                </c:pt>
                <c:pt idx="267">
                  <c:v>3617.24</c:v>
                </c:pt>
                <c:pt idx="268">
                  <c:v>1812.47</c:v>
                </c:pt>
                <c:pt idx="269">
                  <c:v>3645.63</c:v>
                </c:pt>
                <c:pt idx="270">
                  <c:v>0</c:v>
                </c:pt>
                <c:pt idx="271">
                  <c:v>1019.33</c:v>
                </c:pt>
                <c:pt idx="272">
                  <c:v>1727.54</c:v>
                </c:pt>
                <c:pt idx="273">
                  <c:v>265.155</c:v>
                </c:pt>
                <c:pt idx="274">
                  <c:v>0</c:v>
                </c:pt>
                <c:pt idx="275">
                  <c:v>723.534</c:v>
                </c:pt>
                <c:pt idx="276">
                  <c:v>0</c:v>
                </c:pt>
                <c:pt idx="277">
                  <c:v>1142.54</c:v>
                </c:pt>
                <c:pt idx="278">
                  <c:v>928.009</c:v>
                </c:pt>
                <c:pt idx="279">
                  <c:v>1394.5</c:v>
                </c:pt>
                <c:pt idx="280">
                  <c:v>327.064</c:v>
                </c:pt>
                <c:pt idx="281">
                  <c:v>439.178</c:v>
                </c:pt>
                <c:pt idx="282">
                  <c:v>759.198</c:v>
                </c:pt>
                <c:pt idx="283">
                  <c:v>966.904</c:v>
                </c:pt>
                <c:pt idx="284">
                  <c:v>5172.97</c:v>
                </c:pt>
                <c:pt idx="285">
                  <c:v>2323.19</c:v>
                </c:pt>
                <c:pt idx="286">
                  <c:v>725.062</c:v>
                </c:pt>
                <c:pt idx="287">
                  <c:v>3436.94</c:v>
                </c:pt>
                <c:pt idx="288">
                  <c:v>1075.53</c:v>
                </c:pt>
                <c:pt idx="289">
                  <c:v>257.809</c:v>
                </c:pt>
                <c:pt idx="290">
                  <c:v>1293.26</c:v>
                </c:pt>
                <c:pt idx="291">
                  <c:v>134.096</c:v>
                </c:pt>
                <c:pt idx="292">
                  <c:v>1554.98</c:v>
                </c:pt>
                <c:pt idx="293">
                  <c:v>3530.9</c:v>
                </c:pt>
                <c:pt idx="294">
                  <c:v>2701.8</c:v>
                </c:pt>
                <c:pt idx="295">
                  <c:v>0</c:v>
                </c:pt>
                <c:pt idx="296">
                  <c:v>178.199</c:v>
                </c:pt>
                <c:pt idx="297">
                  <c:v>393.774</c:v>
                </c:pt>
                <c:pt idx="298">
                  <c:v>970.31</c:v>
                </c:pt>
                <c:pt idx="299">
                  <c:v>1660.22</c:v>
                </c:pt>
                <c:pt idx="300">
                  <c:v>0</c:v>
                </c:pt>
                <c:pt idx="301">
                  <c:v>2234.95</c:v>
                </c:pt>
                <c:pt idx="302">
                  <c:v>0</c:v>
                </c:pt>
                <c:pt idx="303">
                  <c:v>1021.16</c:v>
                </c:pt>
                <c:pt idx="304">
                  <c:v>83.8054</c:v>
                </c:pt>
                <c:pt idx="305">
                  <c:v>819.095</c:v>
                </c:pt>
                <c:pt idx="306">
                  <c:v>762.382</c:v>
                </c:pt>
                <c:pt idx="307">
                  <c:v>2605.28</c:v>
                </c:pt>
                <c:pt idx="308">
                  <c:v>1024.2</c:v>
                </c:pt>
                <c:pt idx="309">
                  <c:v>1031.87</c:v>
                </c:pt>
                <c:pt idx="310">
                  <c:v>4393.62</c:v>
                </c:pt>
                <c:pt idx="311">
                  <c:v>0</c:v>
                </c:pt>
                <c:pt idx="312">
                  <c:v>771.152</c:v>
                </c:pt>
                <c:pt idx="313">
                  <c:v>1005.6</c:v>
                </c:pt>
                <c:pt idx="314">
                  <c:v>549.25</c:v>
                </c:pt>
                <c:pt idx="315">
                  <c:v>437.397</c:v>
                </c:pt>
                <c:pt idx="316">
                  <c:v>0</c:v>
                </c:pt>
                <c:pt idx="317">
                  <c:v>5737</c:v>
                </c:pt>
                <c:pt idx="318">
                  <c:v>1973.11</c:v>
                </c:pt>
                <c:pt idx="319">
                  <c:v>320.112</c:v>
                </c:pt>
                <c:pt idx="320">
                  <c:v>508.268</c:v>
                </c:pt>
                <c:pt idx="321">
                  <c:v>0</c:v>
                </c:pt>
                <c:pt idx="322">
                  <c:v>1076.83</c:v>
                </c:pt>
                <c:pt idx="323">
                  <c:v>379.568</c:v>
                </c:pt>
                <c:pt idx="324">
                  <c:v>2163.48</c:v>
                </c:pt>
                <c:pt idx="325">
                  <c:v>921.195</c:v>
                </c:pt>
                <c:pt idx="326">
                  <c:v>2111.12</c:v>
                </c:pt>
                <c:pt idx="327">
                  <c:v>1409.49</c:v>
                </c:pt>
                <c:pt idx="328">
                  <c:v>2917.86</c:v>
                </c:pt>
                <c:pt idx="329">
                  <c:v>278.51</c:v>
                </c:pt>
                <c:pt idx="330">
                  <c:v>0</c:v>
                </c:pt>
                <c:pt idx="331">
                  <c:v>4729.69</c:v>
                </c:pt>
                <c:pt idx="332">
                  <c:v>4368.3</c:v>
                </c:pt>
                <c:pt idx="333">
                  <c:v>1348.86</c:v>
                </c:pt>
                <c:pt idx="334">
                  <c:v>1319.2</c:v>
                </c:pt>
                <c:pt idx="335">
                  <c:v>546.574</c:v>
                </c:pt>
                <c:pt idx="336">
                  <c:v>1990.05</c:v>
                </c:pt>
                <c:pt idx="337">
                  <c:v>1368.83</c:v>
                </c:pt>
                <c:pt idx="338">
                  <c:v>0</c:v>
                </c:pt>
                <c:pt idx="339">
                  <c:v>2466.88</c:v>
                </c:pt>
                <c:pt idx="340">
                  <c:v>485.476</c:v>
                </c:pt>
                <c:pt idx="341">
                  <c:v>3283.03</c:v>
                </c:pt>
                <c:pt idx="342">
                  <c:v>4254.04</c:v>
                </c:pt>
                <c:pt idx="343">
                  <c:v>1959.13</c:v>
                </c:pt>
                <c:pt idx="344">
                  <c:v>359.307</c:v>
                </c:pt>
                <c:pt idx="345">
                  <c:v>3091.21</c:v>
                </c:pt>
                <c:pt idx="346">
                  <c:v>1996.52</c:v>
                </c:pt>
                <c:pt idx="347">
                  <c:v>1108.85</c:v>
                </c:pt>
                <c:pt idx="348">
                  <c:v>2720.81</c:v>
                </c:pt>
                <c:pt idx="349">
                  <c:v>1279.81</c:v>
                </c:pt>
                <c:pt idx="350">
                  <c:v>1614.99</c:v>
                </c:pt>
                <c:pt idx="351">
                  <c:v>1301.95</c:v>
                </c:pt>
                <c:pt idx="352">
                  <c:v>0</c:v>
                </c:pt>
                <c:pt idx="353">
                  <c:v>726.335</c:v>
                </c:pt>
                <c:pt idx="354">
                  <c:v>691.446</c:v>
                </c:pt>
                <c:pt idx="355">
                  <c:v>1273.76</c:v>
                </c:pt>
                <c:pt idx="356">
                  <c:v>3786.57</c:v>
                </c:pt>
                <c:pt idx="357">
                  <c:v>1435.75</c:v>
                </c:pt>
                <c:pt idx="358">
                  <c:v>0</c:v>
                </c:pt>
                <c:pt idx="359">
                  <c:v>527.505</c:v>
                </c:pt>
                <c:pt idx="360">
                  <c:v>2614.92</c:v>
                </c:pt>
                <c:pt idx="361">
                  <c:v>1896.96</c:v>
                </c:pt>
                <c:pt idx="362">
                  <c:v>0</c:v>
                </c:pt>
                <c:pt idx="363">
                  <c:v>2712.69</c:v>
                </c:pt>
                <c:pt idx="364">
                  <c:v>0</c:v>
                </c:pt>
                <c:pt idx="365">
                  <c:v>850.397</c:v>
                </c:pt>
                <c:pt idx="366">
                  <c:v>780.471</c:v>
                </c:pt>
                <c:pt idx="367">
                  <c:v>1405.01</c:v>
                </c:pt>
                <c:pt idx="368">
                  <c:v>707.651</c:v>
                </c:pt>
                <c:pt idx="369">
                  <c:v>1197.39</c:v>
                </c:pt>
                <c:pt idx="370">
                  <c:v>772.734</c:v>
                </c:pt>
                <c:pt idx="371">
                  <c:v>0</c:v>
                </c:pt>
                <c:pt idx="372">
                  <c:v>1640.96</c:v>
                </c:pt>
                <c:pt idx="373">
                  <c:v>0</c:v>
                </c:pt>
                <c:pt idx="374">
                  <c:v>1543.53</c:v>
                </c:pt>
                <c:pt idx="375">
                  <c:v>1681.17</c:v>
                </c:pt>
                <c:pt idx="376">
                  <c:v>1035.16</c:v>
                </c:pt>
                <c:pt idx="377">
                  <c:v>262.141</c:v>
                </c:pt>
                <c:pt idx="378">
                  <c:v>2335.99</c:v>
                </c:pt>
                <c:pt idx="379">
                  <c:v>2750.17</c:v>
                </c:pt>
                <c:pt idx="380">
                  <c:v>0</c:v>
                </c:pt>
                <c:pt idx="381">
                  <c:v>2238.66</c:v>
                </c:pt>
                <c:pt idx="382">
                  <c:v>1661.47</c:v>
                </c:pt>
                <c:pt idx="383">
                  <c:v>1141.22</c:v>
                </c:pt>
                <c:pt idx="384">
                  <c:v>1794.59</c:v>
                </c:pt>
                <c:pt idx="385">
                  <c:v>4830.79</c:v>
                </c:pt>
                <c:pt idx="386">
                  <c:v>1113.94</c:v>
                </c:pt>
                <c:pt idx="387">
                  <c:v>1000.55</c:v>
                </c:pt>
                <c:pt idx="388">
                  <c:v>542.742</c:v>
                </c:pt>
                <c:pt idx="389">
                  <c:v>1361.82</c:v>
                </c:pt>
                <c:pt idx="390">
                  <c:v>2509.71</c:v>
                </c:pt>
                <c:pt idx="391">
                  <c:v>3069.79</c:v>
                </c:pt>
                <c:pt idx="392">
                  <c:v>311.02</c:v>
                </c:pt>
                <c:pt idx="393">
                  <c:v>4764.07</c:v>
                </c:pt>
                <c:pt idx="394">
                  <c:v>1753.36</c:v>
                </c:pt>
                <c:pt idx="395">
                  <c:v>1686.76</c:v>
                </c:pt>
                <c:pt idx="396">
                  <c:v>0</c:v>
                </c:pt>
                <c:pt idx="397">
                  <c:v>628.996</c:v>
                </c:pt>
                <c:pt idx="398">
                  <c:v>2671.92</c:v>
                </c:pt>
                <c:pt idx="399">
                  <c:v>1510.06</c:v>
                </c:pt>
                <c:pt idx="400">
                  <c:v>2553.43</c:v>
                </c:pt>
                <c:pt idx="401">
                  <c:v>385.016</c:v>
                </c:pt>
                <c:pt idx="402">
                  <c:v>796.112</c:v>
                </c:pt>
                <c:pt idx="403">
                  <c:v>688.489</c:v>
                </c:pt>
                <c:pt idx="404">
                  <c:v>2151.05</c:v>
                </c:pt>
                <c:pt idx="405">
                  <c:v>0</c:v>
                </c:pt>
                <c:pt idx="406">
                  <c:v>447.024</c:v>
                </c:pt>
                <c:pt idx="407">
                  <c:v>665.708</c:v>
                </c:pt>
                <c:pt idx="408">
                  <c:v>3271.64</c:v>
                </c:pt>
                <c:pt idx="409">
                  <c:v>3352.39</c:v>
                </c:pt>
                <c:pt idx="410">
                  <c:v>0</c:v>
                </c:pt>
                <c:pt idx="411">
                  <c:v>0</c:v>
                </c:pt>
                <c:pt idx="412">
                  <c:v>1459.74</c:v>
                </c:pt>
                <c:pt idx="413">
                  <c:v>1723.03</c:v>
                </c:pt>
                <c:pt idx="414">
                  <c:v>2275.42</c:v>
                </c:pt>
                <c:pt idx="415">
                  <c:v>468.829</c:v>
                </c:pt>
                <c:pt idx="416">
                  <c:v>1808.61</c:v>
                </c:pt>
                <c:pt idx="417">
                  <c:v>1683.16</c:v>
                </c:pt>
                <c:pt idx="418">
                  <c:v>149.037</c:v>
                </c:pt>
                <c:pt idx="419">
                  <c:v>211.859</c:v>
                </c:pt>
                <c:pt idx="420">
                  <c:v>1752.83</c:v>
                </c:pt>
                <c:pt idx="421">
                  <c:v>1803.42</c:v>
                </c:pt>
                <c:pt idx="422">
                  <c:v>2474.46</c:v>
                </c:pt>
                <c:pt idx="423">
                  <c:v>1714.2</c:v>
                </c:pt>
                <c:pt idx="424">
                  <c:v>955.354</c:v>
                </c:pt>
                <c:pt idx="425">
                  <c:v>760.57</c:v>
                </c:pt>
                <c:pt idx="426">
                  <c:v>2430.62</c:v>
                </c:pt>
                <c:pt idx="427">
                  <c:v>1293.53</c:v>
                </c:pt>
                <c:pt idx="428">
                  <c:v>0</c:v>
                </c:pt>
                <c:pt idx="429">
                  <c:v>439.291</c:v>
                </c:pt>
                <c:pt idx="430">
                  <c:v>0</c:v>
                </c:pt>
                <c:pt idx="431">
                  <c:v>0</c:v>
                </c:pt>
                <c:pt idx="432">
                  <c:v>446.806</c:v>
                </c:pt>
                <c:pt idx="433">
                  <c:v>323.577</c:v>
                </c:pt>
                <c:pt idx="434">
                  <c:v>1721.06</c:v>
                </c:pt>
                <c:pt idx="435">
                  <c:v>697.671</c:v>
                </c:pt>
                <c:pt idx="436">
                  <c:v>0</c:v>
                </c:pt>
                <c:pt idx="437">
                  <c:v>729.539</c:v>
                </c:pt>
                <c:pt idx="438">
                  <c:v>557.976</c:v>
                </c:pt>
                <c:pt idx="439">
                  <c:v>375.407</c:v>
                </c:pt>
                <c:pt idx="440">
                  <c:v>2341.47</c:v>
                </c:pt>
                <c:pt idx="441">
                  <c:v>0</c:v>
                </c:pt>
                <c:pt idx="442">
                  <c:v>1472.72</c:v>
                </c:pt>
                <c:pt idx="443">
                  <c:v>0</c:v>
                </c:pt>
                <c:pt idx="444">
                  <c:v>2350.74</c:v>
                </c:pt>
                <c:pt idx="445">
                  <c:v>366.717</c:v>
                </c:pt>
                <c:pt idx="446">
                  <c:v>337.351</c:v>
                </c:pt>
                <c:pt idx="447">
                  <c:v>2502.84</c:v>
                </c:pt>
                <c:pt idx="448">
                  <c:v>0</c:v>
                </c:pt>
                <c:pt idx="449">
                  <c:v>965.69</c:v>
                </c:pt>
                <c:pt idx="450">
                  <c:v>1698.26</c:v>
                </c:pt>
                <c:pt idx="451">
                  <c:v>454.67</c:v>
                </c:pt>
                <c:pt idx="452">
                  <c:v>0</c:v>
                </c:pt>
                <c:pt idx="453">
                  <c:v>0</c:v>
                </c:pt>
                <c:pt idx="454">
                  <c:v>0</c:v>
                </c:pt>
                <c:pt idx="455">
                  <c:v>1606.55</c:v>
                </c:pt>
                <c:pt idx="456">
                  <c:v>1139.36</c:v>
                </c:pt>
                <c:pt idx="457">
                  <c:v>3137.61</c:v>
                </c:pt>
                <c:pt idx="458">
                  <c:v>595.258</c:v>
                </c:pt>
                <c:pt idx="459">
                  <c:v>1620.88</c:v>
                </c:pt>
                <c:pt idx="460">
                  <c:v>1642.33</c:v>
                </c:pt>
                <c:pt idx="461">
                  <c:v>0</c:v>
                </c:pt>
                <c:pt idx="462">
                  <c:v>0</c:v>
                </c:pt>
                <c:pt idx="463">
                  <c:v>569.409</c:v>
                </c:pt>
                <c:pt idx="464">
                  <c:v>1683.36</c:v>
                </c:pt>
                <c:pt idx="465">
                  <c:v>785.834</c:v>
                </c:pt>
                <c:pt idx="466">
                  <c:v>1863.88</c:v>
                </c:pt>
                <c:pt idx="467">
                  <c:v>1567.33</c:v>
                </c:pt>
                <c:pt idx="468">
                  <c:v>978.277</c:v>
                </c:pt>
                <c:pt idx="469">
                  <c:v>1712.15</c:v>
                </c:pt>
                <c:pt idx="470">
                  <c:v>0</c:v>
                </c:pt>
                <c:pt idx="471">
                  <c:v>1646.02</c:v>
                </c:pt>
                <c:pt idx="472">
                  <c:v>210.151</c:v>
                </c:pt>
                <c:pt idx="473">
                  <c:v>363.149</c:v>
                </c:pt>
                <c:pt idx="474">
                  <c:v>851.388</c:v>
                </c:pt>
                <c:pt idx="475">
                  <c:v>246.951</c:v>
                </c:pt>
                <c:pt idx="476">
                  <c:v>1267.78</c:v>
                </c:pt>
                <c:pt idx="477">
                  <c:v>510.387</c:v>
                </c:pt>
                <c:pt idx="478">
                  <c:v>1306.7</c:v>
                </c:pt>
                <c:pt idx="479">
                  <c:v>2360.27</c:v>
                </c:pt>
                <c:pt idx="480">
                  <c:v>2074.35</c:v>
                </c:pt>
                <c:pt idx="481">
                  <c:v>1547.92</c:v>
                </c:pt>
                <c:pt idx="482">
                  <c:v>736.354</c:v>
                </c:pt>
                <c:pt idx="483">
                  <c:v>1016.22</c:v>
                </c:pt>
                <c:pt idx="484">
                  <c:v>3730.15</c:v>
                </c:pt>
                <c:pt idx="485">
                  <c:v>1145.95</c:v>
                </c:pt>
                <c:pt idx="486">
                  <c:v>934.408</c:v>
                </c:pt>
                <c:pt idx="487">
                  <c:v>791.435</c:v>
                </c:pt>
                <c:pt idx="488">
                  <c:v>0</c:v>
                </c:pt>
                <c:pt idx="489">
                  <c:v>2274.84</c:v>
                </c:pt>
                <c:pt idx="490">
                  <c:v>0</c:v>
                </c:pt>
                <c:pt idx="491">
                  <c:v>1558.04</c:v>
                </c:pt>
                <c:pt idx="492">
                  <c:v>2396.52</c:v>
                </c:pt>
                <c:pt idx="493">
                  <c:v>2364.92</c:v>
                </c:pt>
                <c:pt idx="494">
                  <c:v>2962.88</c:v>
                </c:pt>
                <c:pt idx="495">
                  <c:v>2303.48</c:v>
                </c:pt>
                <c:pt idx="496">
                  <c:v>1021.14</c:v>
                </c:pt>
                <c:pt idx="497">
                  <c:v>0</c:v>
                </c:pt>
                <c:pt idx="498">
                  <c:v>0</c:v>
                </c:pt>
                <c:pt idx="499">
                  <c:v>2254.56</c:v>
                </c:pt>
                <c:pt idx="500">
                  <c:v>472.661</c:v>
                </c:pt>
                <c:pt idx="501">
                  <c:v>1781.5</c:v>
                </c:pt>
                <c:pt idx="502">
                  <c:v>988.008</c:v>
                </c:pt>
                <c:pt idx="503">
                  <c:v>914.712</c:v>
                </c:pt>
                <c:pt idx="504">
                  <c:v>0</c:v>
                </c:pt>
                <c:pt idx="505">
                  <c:v>349.792</c:v>
                </c:pt>
                <c:pt idx="506">
                  <c:v>195.762</c:v>
                </c:pt>
                <c:pt idx="507">
                  <c:v>489.625</c:v>
                </c:pt>
                <c:pt idx="508">
                  <c:v>0</c:v>
                </c:pt>
                <c:pt idx="509">
                  <c:v>501.612</c:v>
                </c:pt>
                <c:pt idx="510">
                  <c:v>1065.39</c:v>
                </c:pt>
                <c:pt idx="511">
                  <c:v>2803.9</c:v>
                </c:pt>
                <c:pt idx="512">
                  <c:v>845.64</c:v>
                </c:pt>
                <c:pt idx="513">
                  <c:v>1188.2</c:v>
                </c:pt>
                <c:pt idx="514">
                  <c:v>1636.69</c:v>
                </c:pt>
                <c:pt idx="515">
                  <c:v>589.372</c:v>
                </c:pt>
                <c:pt idx="516">
                  <c:v>1353.01</c:v>
                </c:pt>
                <c:pt idx="517">
                  <c:v>0</c:v>
                </c:pt>
                <c:pt idx="518">
                  <c:v>401.03</c:v>
                </c:pt>
                <c:pt idx="519">
                  <c:v>552.741</c:v>
                </c:pt>
                <c:pt idx="520">
                  <c:v>2321.59</c:v>
                </c:pt>
                <c:pt idx="521">
                  <c:v>3631.71</c:v>
                </c:pt>
                <c:pt idx="522">
                  <c:v>661.023</c:v>
                </c:pt>
                <c:pt idx="523">
                  <c:v>0</c:v>
                </c:pt>
                <c:pt idx="524">
                  <c:v>2170.52</c:v>
                </c:pt>
                <c:pt idx="525">
                  <c:v>1434.24</c:v>
                </c:pt>
                <c:pt idx="526">
                  <c:v>3361.34</c:v>
                </c:pt>
                <c:pt idx="527">
                  <c:v>1678.06</c:v>
                </c:pt>
                <c:pt idx="528">
                  <c:v>1550.89</c:v>
                </c:pt>
                <c:pt idx="529">
                  <c:v>881.121</c:v>
                </c:pt>
                <c:pt idx="530">
                  <c:v>1302.55</c:v>
                </c:pt>
                <c:pt idx="531">
                  <c:v>283.963</c:v>
                </c:pt>
                <c:pt idx="532">
                  <c:v>1750.81</c:v>
                </c:pt>
                <c:pt idx="533">
                  <c:v>367.273</c:v>
                </c:pt>
                <c:pt idx="534">
                  <c:v>0</c:v>
                </c:pt>
                <c:pt idx="535">
                  <c:v>356.574</c:v>
                </c:pt>
                <c:pt idx="536">
                  <c:v>1909.57</c:v>
                </c:pt>
                <c:pt idx="537">
                  <c:v>2517.24</c:v>
                </c:pt>
                <c:pt idx="538">
                  <c:v>0</c:v>
                </c:pt>
                <c:pt idx="539">
                  <c:v>2542.56</c:v>
                </c:pt>
                <c:pt idx="540">
                  <c:v>1349.85</c:v>
                </c:pt>
                <c:pt idx="541">
                  <c:v>612.757</c:v>
                </c:pt>
                <c:pt idx="542">
                  <c:v>1623.85</c:v>
                </c:pt>
                <c:pt idx="543">
                  <c:v>750.605</c:v>
                </c:pt>
                <c:pt idx="544">
                  <c:v>3023.99</c:v>
                </c:pt>
                <c:pt idx="545">
                  <c:v>0</c:v>
                </c:pt>
                <c:pt idx="546">
                  <c:v>1371.18</c:v>
                </c:pt>
                <c:pt idx="547">
                  <c:v>380.351</c:v>
                </c:pt>
                <c:pt idx="548">
                  <c:v>438.637</c:v>
                </c:pt>
                <c:pt idx="549">
                  <c:v>1330.34</c:v>
                </c:pt>
                <c:pt idx="550">
                  <c:v>2273.31</c:v>
                </c:pt>
                <c:pt idx="551">
                  <c:v>1755.19</c:v>
                </c:pt>
                <c:pt idx="552">
                  <c:v>682.337</c:v>
                </c:pt>
                <c:pt idx="553">
                  <c:v>1303.83</c:v>
                </c:pt>
                <c:pt idx="554">
                  <c:v>1254.63</c:v>
                </c:pt>
                <c:pt idx="555">
                  <c:v>1857.73</c:v>
                </c:pt>
                <c:pt idx="556">
                  <c:v>0</c:v>
                </c:pt>
                <c:pt idx="557">
                  <c:v>1479.68</c:v>
                </c:pt>
                <c:pt idx="558">
                  <c:v>1374.26</c:v>
                </c:pt>
                <c:pt idx="559">
                  <c:v>721.035</c:v>
                </c:pt>
                <c:pt idx="560">
                  <c:v>493.924</c:v>
                </c:pt>
                <c:pt idx="561">
                  <c:v>909.941</c:v>
                </c:pt>
                <c:pt idx="562">
                  <c:v>1676.15</c:v>
                </c:pt>
                <c:pt idx="563">
                  <c:v>1865.6</c:v>
                </c:pt>
                <c:pt idx="564">
                  <c:v>623.479</c:v>
                </c:pt>
                <c:pt idx="565">
                  <c:v>391.531</c:v>
                </c:pt>
                <c:pt idx="566">
                  <c:v>790.035</c:v>
                </c:pt>
                <c:pt idx="567">
                  <c:v>1352.15</c:v>
                </c:pt>
                <c:pt idx="568">
                  <c:v>573.704</c:v>
                </c:pt>
                <c:pt idx="569">
                  <c:v>2106.82</c:v>
                </c:pt>
                <c:pt idx="570">
                  <c:v>981.073</c:v>
                </c:pt>
                <c:pt idx="571">
                  <c:v>1911.25</c:v>
                </c:pt>
                <c:pt idx="572">
                  <c:v>1841.57</c:v>
                </c:pt>
                <c:pt idx="573">
                  <c:v>2943.87</c:v>
                </c:pt>
                <c:pt idx="574">
                  <c:v>765.482</c:v>
                </c:pt>
                <c:pt idx="575">
                  <c:v>1654.59</c:v>
                </c:pt>
                <c:pt idx="576">
                  <c:v>1536.56</c:v>
                </c:pt>
                <c:pt idx="577">
                  <c:v>0</c:v>
                </c:pt>
                <c:pt idx="578">
                  <c:v>3750.66</c:v>
                </c:pt>
                <c:pt idx="579">
                  <c:v>977.987</c:v>
                </c:pt>
                <c:pt idx="580">
                  <c:v>251.407</c:v>
                </c:pt>
                <c:pt idx="581">
                  <c:v>2623.96</c:v>
                </c:pt>
                <c:pt idx="582">
                  <c:v>1587.32</c:v>
                </c:pt>
                <c:pt idx="583">
                  <c:v>582.667</c:v>
                </c:pt>
                <c:pt idx="584">
                  <c:v>1786.13</c:v>
                </c:pt>
                <c:pt idx="585">
                  <c:v>1056.54</c:v>
                </c:pt>
                <c:pt idx="586">
                  <c:v>721.382</c:v>
                </c:pt>
                <c:pt idx="587">
                  <c:v>3146.38</c:v>
                </c:pt>
                <c:pt idx="588">
                  <c:v>2312.29</c:v>
                </c:pt>
                <c:pt idx="589">
                  <c:v>648.04</c:v>
                </c:pt>
                <c:pt idx="590">
                  <c:v>1619.08</c:v>
                </c:pt>
                <c:pt idx="591">
                  <c:v>1298.27</c:v>
                </c:pt>
                <c:pt idx="592">
                  <c:v>1395.26</c:v>
                </c:pt>
                <c:pt idx="593">
                  <c:v>3985.35</c:v>
                </c:pt>
                <c:pt idx="594">
                  <c:v>1641.23</c:v>
                </c:pt>
                <c:pt idx="595">
                  <c:v>424.154</c:v>
                </c:pt>
                <c:pt idx="596">
                  <c:v>2185.42</c:v>
                </c:pt>
                <c:pt idx="597">
                  <c:v>168.587</c:v>
                </c:pt>
                <c:pt idx="598">
                  <c:v>626.635</c:v>
                </c:pt>
                <c:pt idx="599">
                  <c:v>3363.78</c:v>
                </c:pt>
                <c:pt idx="600">
                  <c:v>2567.63</c:v>
                </c:pt>
                <c:pt idx="601">
                  <c:v>825.812</c:v>
                </c:pt>
                <c:pt idx="602">
                  <c:v>649.284</c:v>
                </c:pt>
                <c:pt idx="603">
                  <c:v>1682.06</c:v>
                </c:pt>
                <c:pt idx="604">
                  <c:v>375.269</c:v>
                </c:pt>
                <c:pt idx="605">
                  <c:v>0</c:v>
                </c:pt>
                <c:pt idx="606">
                  <c:v>1463.57</c:v>
                </c:pt>
                <c:pt idx="607">
                  <c:v>2808.75</c:v>
                </c:pt>
                <c:pt idx="608">
                  <c:v>4229.57</c:v>
                </c:pt>
                <c:pt idx="609">
                  <c:v>584.023</c:v>
                </c:pt>
                <c:pt idx="610">
                  <c:v>372.007</c:v>
                </c:pt>
                <c:pt idx="611">
                  <c:v>823.275</c:v>
                </c:pt>
                <c:pt idx="612">
                  <c:v>0</c:v>
                </c:pt>
                <c:pt idx="613">
                  <c:v>325.921</c:v>
                </c:pt>
                <c:pt idx="614">
                  <c:v>2426.31</c:v>
                </c:pt>
                <c:pt idx="615">
                  <c:v>0</c:v>
                </c:pt>
                <c:pt idx="616">
                  <c:v>2690.72</c:v>
                </c:pt>
                <c:pt idx="617">
                  <c:v>1034.76</c:v>
                </c:pt>
                <c:pt idx="618">
                  <c:v>1716.46</c:v>
                </c:pt>
                <c:pt idx="619">
                  <c:v>2494.95</c:v>
                </c:pt>
                <c:pt idx="620">
                  <c:v>0</c:v>
                </c:pt>
                <c:pt idx="621">
                  <c:v>1967.56</c:v>
                </c:pt>
                <c:pt idx="622">
                  <c:v>1765.57</c:v>
                </c:pt>
                <c:pt idx="623">
                  <c:v>1112.92</c:v>
                </c:pt>
                <c:pt idx="624">
                  <c:v>1122.99</c:v>
                </c:pt>
                <c:pt idx="625">
                  <c:v>2997.95</c:v>
                </c:pt>
                <c:pt idx="626">
                  <c:v>1966.39</c:v>
                </c:pt>
                <c:pt idx="627">
                  <c:v>1115.15</c:v>
                </c:pt>
                <c:pt idx="628">
                  <c:v>0</c:v>
                </c:pt>
                <c:pt idx="629">
                  <c:v>241.495</c:v>
                </c:pt>
                <c:pt idx="630">
                  <c:v>0</c:v>
                </c:pt>
                <c:pt idx="631">
                  <c:v>397.113</c:v>
                </c:pt>
                <c:pt idx="632">
                  <c:v>3211.3</c:v>
                </c:pt>
                <c:pt idx="633">
                  <c:v>0</c:v>
                </c:pt>
                <c:pt idx="634">
                  <c:v>1204.35</c:v>
                </c:pt>
                <c:pt idx="635">
                  <c:v>547.773</c:v>
                </c:pt>
                <c:pt idx="636">
                  <c:v>4506.73</c:v>
                </c:pt>
                <c:pt idx="637">
                  <c:v>1407.96</c:v>
                </c:pt>
                <c:pt idx="638">
                  <c:v>1971.24</c:v>
                </c:pt>
                <c:pt idx="639">
                  <c:v>2527.25</c:v>
                </c:pt>
                <c:pt idx="640">
                  <c:v>0</c:v>
                </c:pt>
                <c:pt idx="641">
                  <c:v>1107.49</c:v>
                </c:pt>
                <c:pt idx="642">
                  <c:v>4996.41</c:v>
                </c:pt>
                <c:pt idx="643">
                  <c:v>823.864</c:v>
                </c:pt>
                <c:pt idx="644">
                  <c:v>0</c:v>
                </c:pt>
                <c:pt idx="645">
                  <c:v>0</c:v>
                </c:pt>
                <c:pt idx="646">
                  <c:v>960.372</c:v>
                </c:pt>
                <c:pt idx="647">
                  <c:v>1680.59</c:v>
                </c:pt>
                <c:pt idx="648">
                  <c:v>1450.1</c:v>
                </c:pt>
                <c:pt idx="649">
                  <c:v>1753.69</c:v>
                </c:pt>
                <c:pt idx="650">
                  <c:v>3026.49</c:v>
                </c:pt>
                <c:pt idx="651">
                  <c:v>2799.35</c:v>
                </c:pt>
                <c:pt idx="652">
                  <c:v>2522.59</c:v>
                </c:pt>
                <c:pt idx="653">
                  <c:v>810.735</c:v>
                </c:pt>
                <c:pt idx="654">
                  <c:v>1385.79</c:v>
                </c:pt>
                <c:pt idx="655">
                  <c:v>0</c:v>
                </c:pt>
                <c:pt idx="656">
                  <c:v>1017</c:v>
                </c:pt>
                <c:pt idx="657">
                  <c:v>1295.14</c:v>
                </c:pt>
                <c:pt idx="658">
                  <c:v>1893.13</c:v>
                </c:pt>
                <c:pt idx="659">
                  <c:v>3496.86</c:v>
                </c:pt>
                <c:pt idx="660">
                  <c:v>1446.52</c:v>
                </c:pt>
                <c:pt idx="661">
                  <c:v>0</c:v>
                </c:pt>
                <c:pt idx="662">
                  <c:v>0</c:v>
                </c:pt>
                <c:pt idx="663">
                  <c:v>2819.83</c:v>
                </c:pt>
                <c:pt idx="664">
                  <c:v>119.206</c:v>
                </c:pt>
                <c:pt idx="665">
                  <c:v>810.351</c:v>
                </c:pt>
                <c:pt idx="666">
                  <c:v>215.439</c:v>
                </c:pt>
                <c:pt idx="667">
                  <c:v>523.587</c:v>
                </c:pt>
                <c:pt idx="668">
                  <c:v>1654.33</c:v>
                </c:pt>
                <c:pt idx="669">
                  <c:v>1093.26</c:v>
                </c:pt>
                <c:pt idx="670">
                  <c:v>798.68</c:v>
                </c:pt>
                <c:pt idx="671">
                  <c:v>1373.57</c:v>
                </c:pt>
                <c:pt idx="672">
                  <c:v>1571.04</c:v>
                </c:pt>
                <c:pt idx="673">
                  <c:v>580.418</c:v>
                </c:pt>
                <c:pt idx="674">
                  <c:v>2635.04</c:v>
                </c:pt>
                <c:pt idx="675">
                  <c:v>693.039</c:v>
                </c:pt>
                <c:pt idx="676">
                  <c:v>2232.36</c:v>
                </c:pt>
                <c:pt idx="677">
                  <c:v>912.558</c:v>
                </c:pt>
                <c:pt idx="678">
                  <c:v>266.99</c:v>
                </c:pt>
                <c:pt idx="679">
                  <c:v>1019.54</c:v>
                </c:pt>
                <c:pt idx="680">
                  <c:v>385.618</c:v>
                </c:pt>
                <c:pt idx="681">
                  <c:v>473.272</c:v>
                </c:pt>
                <c:pt idx="682">
                  <c:v>2401.03</c:v>
                </c:pt>
                <c:pt idx="683">
                  <c:v>398.973</c:v>
                </c:pt>
                <c:pt idx="684">
                  <c:v>1381.04</c:v>
                </c:pt>
                <c:pt idx="685">
                  <c:v>297.176</c:v>
                </c:pt>
                <c:pt idx="686">
                  <c:v>2088.78</c:v>
                </c:pt>
                <c:pt idx="687">
                  <c:v>405.056</c:v>
                </c:pt>
                <c:pt idx="688">
                  <c:v>852.276</c:v>
                </c:pt>
                <c:pt idx="689">
                  <c:v>597.274</c:v>
                </c:pt>
                <c:pt idx="690">
                  <c:v>1132.32</c:v>
                </c:pt>
                <c:pt idx="691">
                  <c:v>350.969</c:v>
                </c:pt>
                <c:pt idx="692">
                  <c:v>2908.52</c:v>
                </c:pt>
                <c:pt idx="693">
                  <c:v>4721.18</c:v>
                </c:pt>
                <c:pt idx="694">
                  <c:v>293.64</c:v>
                </c:pt>
                <c:pt idx="695">
                  <c:v>604.235</c:v>
                </c:pt>
                <c:pt idx="696">
                  <c:v>578.956</c:v>
                </c:pt>
                <c:pt idx="697">
                  <c:v>465.181</c:v>
                </c:pt>
                <c:pt idx="698">
                  <c:v>168.032</c:v>
                </c:pt>
                <c:pt idx="699">
                  <c:v>374.831</c:v>
                </c:pt>
                <c:pt idx="700">
                  <c:v>7061.42</c:v>
                </c:pt>
                <c:pt idx="701">
                  <c:v>7043.44</c:v>
                </c:pt>
                <c:pt idx="702">
                  <c:v>6786.58</c:v>
                </c:pt>
                <c:pt idx="703">
                  <c:v>6628.79</c:v>
                </c:pt>
                <c:pt idx="704">
                  <c:v>6405.57</c:v>
                </c:pt>
                <c:pt idx="705">
                  <c:v>6931.17</c:v>
                </c:pt>
                <c:pt idx="706">
                  <c:v>6442.53</c:v>
                </c:pt>
                <c:pt idx="707">
                  <c:v>6179.32</c:v>
                </c:pt>
                <c:pt idx="708">
                  <c:v>6105.88</c:v>
                </c:pt>
                <c:pt idx="709">
                  <c:v>6088.87</c:v>
                </c:pt>
                <c:pt idx="710">
                  <c:v>5644.76</c:v>
                </c:pt>
                <c:pt idx="711">
                  <c:v>8318.18</c:v>
                </c:pt>
                <c:pt idx="712">
                  <c:v>8054.44</c:v>
                </c:pt>
              </c:numCache>
            </c:numRef>
          </c:xVal>
          <c:yVal>
            <c:numRef>
              <c:f>Sheet1!$D$2:$D$714</c:f>
              <c:numCache>
                <c:formatCode>General</c:formatCode>
                <c:ptCount val="713"/>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
                </c:pt>
                <c:pt idx="361">
                  <c:v/>
                </c:pt>
                <c:pt idx="362">
                  <c:v/>
                </c:pt>
                <c:pt idx="363">
                  <c:v/>
                </c:pt>
                <c:pt idx="364">
                  <c:v/>
                </c:pt>
                <c:pt idx="365">
                  <c:v/>
                </c:pt>
                <c:pt idx="366">
                  <c:v/>
                </c:pt>
                <c:pt idx="367">
                  <c:v/>
                </c:pt>
                <c:pt idx="368">
                  <c:v/>
                </c:pt>
                <c:pt idx="369">
                  <c:v/>
                </c:pt>
                <c:pt idx="370">
                  <c:v/>
                </c:pt>
                <c:pt idx="371">
                  <c:v/>
                </c:pt>
                <c:pt idx="372">
                  <c:v/>
                </c:pt>
                <c:pt idx="373">
                  <c:v/>
                </c:pt>
                <c:pt idx="374">
                  <c:v/>
                </c:pt>
                <c:pt idx="375">
                  <c:v/>
                </c:pt>
                <c:pt idx="376">
                  <c:v/>
                </c:pt>
                <c:pt idx="377">
                  <c:v/>
                </c:pt>
                <c:pt idx="378">
                  <c:v/>
                </c:pt>
                <c:pt idx="379">
                  <c:v/>
                </c:pt>
                <c:pt idx="380">
                  <c:v/>
                </c:pt>
                <c:pt idx="381">
                  <c:v/>
                </c:pt>
                <c:pt idx="382">
                  <c:v/>
                </c:pt>
                <c:pt idx="383">
                  <c:v/>
                </c:pt>
                <c:pt idx="384">
                  <c:v/>
                </c:pt>
                <c:pt idx="385">
                  <c:v/>
                </c:pt>
                <c:pt idx="386">
                  <c:v/>
                </c:pt>
                <c:pt idx="387">
                  <c:v/>
                </c:pt>
                <c:pt idx="388">
                  <c:v/>
                </c:pt>
                <c:pt idx="389">
                  <c:v/>
                </c:pt>
                <c:pt idx="390">
                  <c:v/>
                </c:pt>
                <c:pt idx="391">
                  <c:v/>
                </c:pt>
                <c:pt idx="392">
                  <c:v/>
                </c:pt>
                <c:pt idx="393">
                  <c:v/>
                </c:pt>
                <c:pt idx="394">
                  <c:v/>
                </c:pt>
                <c:pt idx="395">
                  <c:v/>
                </c:pt>
                <c:pt idx="396">
                  <c:v/>
                </c:pt>
                <c:pt idx="397">
                  <c:v/>
                </c:pt>
                <c:pt idx="398">
                  <c:v/>
                </c:pt>
                <c:pt idx="399">
                  <c:v/>
                </c:pt>
                <c:pt idx="400">
                  <c:v/>
                </c:pt>
                <c:pt idx="401">
                  <c:v/>
                </c:pt>
                <c:pt idx="402">
                  <c:v/>
                </c:pt>
                <c:pt idx="403">
                  <c:v/>
                </c:pt>
                <c:pt idx="404">
                  <c:v/>
                </c:pt>
                <c:pt idx="405">
                  <c:v/>
                </c:pt>
                <c:pt idx="406">
                  <c:v/>
                </c:pt>
                <c:pt idx="407">
                  <c:v/>
                </c:pt>
                <c:pt idx="408">
                  <c:v/>
                </c:pt>
                <c:pt idx="409">
                  <c:v/>
                </c:pt>
                <c:pt idx="410">
                  <c:v/>
                </c:pt>
                <c:pt idx="411">
                  <c:v/>
                </c:pt>
                <c:pt idx="412">
                  <c:v/>
                </c:pt>
                <c:pt idx="413">
                  <c:v/>
                </c:pt>
                <c:pt idx="414">
                  <c:v/>
                </c:pt>
                <c:pt idx="415">
                  <c:v/>
                </c:pt>
                <c:pt idx="416">
                  <c:v/>
                </c:pt>
                <c:pt idx="417">
                  <c:v/>
                </c:pt>
                <c:pt idx="418">
                  <c:v/>
                </c:pt>
                <c:pt idx="419">
                  <c:v/>
                </c:pt>
                <c:pt idx="420">
                  <c:v/>
                </c:pt>
                <c:pt idx="421">
                  <c:v/>
                </c:pt>
                <c:pt idx="422">
                  <c:v/>
                </c:pt>
                <c:pt idx="423">
                  <c:v/>
                </c:pt>
                <c:pt idx="424">
                  <c:v/>
                </c:pt>
                <c:pt idx="425">
                  <c:v/>
                </c:pt>
                <c:pt idx="426">
                  <c:v/>
                </c:pt>
                <c:pt idx="427">
                  <c:v/>
                </c:pt>
                <c:pt idx="428">
                  <c:v/>
                </c:pt>
                <c:pt idx="429">
                  <c:v/>
                </c:pt>
                <c:pt idx="430">
                  <c:v/>
                </c:pt>
                <c:pt idx="431">
                  <c:v/>
                </c:pt>
                <c:pt idx="432">
                  <c:v/>
                </c:pt>
                <c:pt idx="433">
                  <c:v/>
                </c:pt>
                <c:pt idx="434">
                  <c:v/>
                </c:pt>
                <c:pt idx="435">
                  <c:v/>
                </c:pt>
                <c:pt idx="436">
                  <c:v/>
                </c:pt>
                <c:pt idx="437">
                  <c:v/>
                </c:pt>
                <c:pt idx="438">
                  <c:v/>
                </c:pt>
                <c:pt idx="439">
                  <c:v/>
                </c:pt>
                <c:pt idx="440">
                  <c:v/>
                </c:pt>
                <c:pt idx="441">
                  <c:v/>
                </c:pt>
                <c:pt idx="442">
                  <c:v/>
                </c:pt>
                <c:pt idx="443">
                  <c:v/>
                </c:pt>
                <c:pt idx="444">
                  <c:v/>
                </c:pt>
                <c:pt idx="445">
                  <c:v/>
                </c:pt>
                <c:pt idx="446">
                  <c:v/>
                </c:pt>
                <c:pt idx="447">
                  <c:v/>
                </c:pt>
                <c:pt idx="448">
                  <c:v/>
                </c:pt>
                <c:pt idx="449">
                  <c:v/>
                </c:pt>
                <c:pt idx="450">
                  <c:v/>
                </c:pt>
                <c:pt idx="451">
                  <c:v/>
                </c:pt>
                <c:pt idx="452">
                  <c:v/>
                </c:pt>
                <c:pt idx="453">
                  <c:v/>
                </c:pt>
                <c:pt idx="454">
                  <c:v/>
                </c:pt>
                <c:pt idx="455">
                  <c:v/>
                </c:pt>
                <c:pt idx="456">
                  <c:v/>
                </c:pt>
                <c:pt idx="457">
                  <c:v/>
                </c:pt>
                <c:pt idx="458">
                  <c:v/>
                </c:pt>
                <c:pt idx="459">
                  <c:v/>
                </c:pt>
                <c:pt idx="460">
                  <c:v/>
                </c:pt>
                <c:pt idx="461">
                  <c:v/>
                </c:pt>
                <c:pt idx="462">
                  <c:v/>
                </c:pt>
                <c:pt idx="463">
                  <c:v/>
                </c:pt>
                <c:pt idx="464">
                  <c:v/>
                </c:pt>
                <c:pt idx="465">
                  <c:v/>
                </c:pt>
                <c:pt idx="466">
                  <c:v/>
                </c:pt>
                <c:pt idx="467">
                  <c:v/>
                </c:pt>
                <c:pt idx="468">
                  <c:v/>
                </c:pt>
                <c:pt idx="469">
                  <c:v/>
                </c:pt>
                <c:pt idx="470">
                  <c:v/>
                </c:pt>
                <c:pt idx="471">
                  <c:v/>
                </c:pt>
                <c:pt idx="472">
                  <c:v/>
                </c:pt>
                <c:pt idx="473">
                  <c:v/>
                </c:pt>
                <c:pt idx="474">
                  <c:v/>
                </c:pt>
                <c:pt idx="475">
                  <c:v/>
                </c:pt>
                <c:pt idx="476">
                  <c:v/>
                </c:pt>
                <c:pt idx="477">
                  <c:v/>
                </c:pt>
                <c:pt idx="478">
                  <c:v/>
                </c:pt>
                <c:pt idx="479">
                  <c:v/>
                </c:pt>
                <c:pt idx="480">
                  <c:v/>
                </c:pt>
                <c:pt idx="481">
                  <c:v/>
                </c:pt>
                <c:pt idx="482">
                  <c:v/>
                </c:pt>
                <c:pt idx="483">
                  <c:v/>
                </c:pt>
                <c:pt idx="484">
                  <c:v/>
                </c:pt>
                <c:pt idx="485">
                  <c:v/>
                </c:pt>
                <c:pt idx="486">
                  <c:v/>
                </c:pt>
                <c:pt idx="487">
                  <c:v/>
                </c:pt>
                <c:pt idx="488">
                  <c:v/>
                </c:pt>
                <c:pt idx="489">
                  <c:v/>
                </c:pt>
                <c:pt idx="490">
                  <c:v/>
                </c:pt>
                <c:pt idx="491">
                  <c:v/>
                </c:pt>
                <c:pt idx="492">
                  <c:v/>
                </c:pt>
                <c:pt idx="493">
                  <c:v/>
                </c:pt>
                <c:pt idx="494">
                  <c:v/>
                </c:pt>
                <c:pt idx="495">
                  <c:v/>
                </c:pt>
                <c:pt idx="496">
                  <c:v/>
                </c:pt>
                <c:pt idx="497">
                  <c:v/>
                </c:pt>
                <c:pt idx="498">
                  <c:v/>
                </c:pt>
                <c:pt idx="499">
                  <c:v/>
                </c:pt>
                <c:pt idx="500">
                  <c:v/>
                </c:pt>
                <c:pt idx="501">
                  <c:v/>
                </c:pt>
                <c:pt idx="502">
                  <c:v/>
                </c:pt>
                <c:pt idx="503">
                  <c:v/>
                </c:pt>
                <c:pt idx="504">
                  <c:v/>
                </c:pt>
                <c:pt idx="505">
                  <c:v/>
                </c:pt>
                <c:pt idx="506">
                  <c:v/>
                </c:pt>
                <c:pt idx="507">
                  <c:v/>
                </c:pt>
                <c:pt idx="508">
                  <c:v/>
                </c:pt>
                <c:pt idx="509">
                  <c:v/>
                </c:pt>
                <c:pt idx="510">
                  <c:v/>
                </c:pt>
                <c:pt idx="511">
                  <c:v/>
                </c:pt>
                <c:pt idx="512">
                  <c:v/>
                </c:pt>
                <c:pt idx="513">
                  <c:v/>
                </c:pt>
                <c:pt idx="514">
                  <c:v/>
                </c:pt>
                <c:pt idx="515">
                  <c:v/>
                </c:pt>
                <c:pt idx="516">
                  <c:v/>
                </c:pt>
                <c:pt idx="517">
                  <c:v/>
                </c:pt>
                <c:pt idx="518">
                  <c:v/>
                </c:pt>
                <c:pt idx="519">
                  <c:v/>
                </c:pt>
                <c:pt idx="520">
                  <c:v/>
                </c:pt>
                <c:pt idx="521">
                  <c:v/>
                </c:pt>
                <c:pt idx="522">
                  <c:v/>
                </c:pt>
                <c:pt idx="523">
                  <c:v/>
                </c:pt>
                <c:pt idx="524">
                  <c:v/>
                </c:pt>
                <c:pt idx="525">
                  <c:v/>
                </c:pt>
                <c:pt idx="526">
                  <c:v/>
                </c:pt>
                <c:pt idx="527">
                  <c:v/>
                </c:pt>
                <c:pt idx="528">
                  <c:v/>
                </c:pt>
                <c:pt idx="529">
                  <c:v/>
                </c:pt>
                <c:pt idx="530">
                  <c:v/>
                </c:pt>
                <c:pt idx="531">
                  <c:v/>
                </c:pt>
                <c:pt idx="532">
                  <c:v/>
                </c:pt>
                <c:pt idx="533">
                  <c:v/>
                </c:pt>
                <c:pt idx="534">
                  <c:v/>
                </c:pt>
                <c:pt idx="535">
                  <c:v/>
                </c:pt>
                <c:pt idx="536">
                  <c:v/>
                </c:pt>
                <c:pt idx="537">
                  <c:v/>
                </c:pt>
                <c:pt idx="538">
                  <c:v/>
                </c:pt>
                <c:pt idx="539">
                  <c:v/>
                </c:pt>
                <c:pt idx="540">
                  <c:v/>
                </c:pt>
                <c:pt idx="541">
                  <c:v/>
                </c:pt>
                <c:pt idx="542">
                  <c:v/>
                </c:pt>
                <c:pt idx="543">
                  <c:v/>
                </c:pt>
                <c:pt idx="544">
                  <c:v/>
                </c:pt>
                <c:pt idx="545">
                  <c:v/>
                </c:pt>
                <c:pt idx="546">
                  <c:v/>
                </c:pt>
                <c:pt idx="547">
                  <c:v/>
                </c:pt>
                <c:pt idx="548">
                  <c:v/>
                </c:pt>
                <c:pt idx="549">
                  <c:v/>
                </c:pt>
                <c:pt idx="550">
                  <c:v/>
                </c:pt>
                <c:pt idx="551">
                  <c:v/>
                </c:pt>
                <c:pt idx="552">
                  <c:v/>
                </c:pt>
                <c:pt idx="553">
                  <c:v/>
                </c:pt>
                <c:pt idx="554">
                  <c:v/>
                </c:pt>
                <c:pt idx="555">
                  <c:v/>
                </c:pt>
                <c:pt idx="556">
                  <c:v/>
                </c:pt>
                <c:pt idx="557">
                  <c:v/>
                </c:pt>
                <c:pt idx="558">
                  <c:v/>
                </c:pt>
                <c:pt idx="559">
                  <c:v/>
                </c:pt>
                <c:pt idx="560">
                  <c:v/>
                </c:pt>
                <c:pt idx="561">
                  <c:v/>
                </c:pt>
                <c:pt idx="562">
                  <c:v/>
                </c:pt>
                <c:pt idx="563">
                  <c:v/>
                </c:pt>
                <c:pt idx="564">
                  <c:v/>
                </c:pt>
                <c:pt idx="565">
                  <c:v/>
                </c:pt>
                <c:pt idx="566">
                  <c:v/>
                </c:pt>
                <c:pt idx="567">
                  <c:v/>
                </c:pt>
                <c:pt idx="568">
                  <c:v/>
                </c:pt>
                <c:pt idx="569">
                  <c:v/>
                </c:pt>
                <c:pt idx="570">
                  <c:v/>
                </c:pt>
                <c:pt idx="571">
                  <c:v/>
                </c:pt>
                <c:pt idx="572">
                  <c:v/>
                </c:pt>
                <c:pt idx="573">
                  <c:v/>
                </c:pt>
                <c:pt idx="574">
                  <c:v/>
                </c:pt>
                <c:pt idx="575">
                  <c:v/>
                </c:pt>
                <c:pt idx="576">
                  <c:v/>
                </c:pt>
                <c:pt idx="577">
                  <c:v/>
                </c:pt>
                <c:pt idx="578">
                  <c:v/>
                </c:pt>
                <c:pt idx="579">
                  <c:v/>
                </c:pt>
                <c:pt idx="580">
                  <c:v/>
                </c:pt>
                <c:pt idx="581">
                  <c:v/>
                </c:pt>
                <c:pt idx="582">
                  <c:v/>
                </c:pt>
                <c:pt idx="583">
                  <c:v/>
                </c:pt>
                <c:pt idx="584">
                  <c:v/>
                </c:pt>
                <c:pt idx="585">
                  <c:v/>
                </c:pt>
                <c:pt idx="586">
                  <c:v/>
                </c:pt>
                <c:pt idx="587">
                  <c:v/>
                </c:pt>
                <c:pt idx="588">
                  <c:v/>
                </c:pt>
                <c:pt idx="589">
                  <c:v/>
                </c:pt>
                <c:pt idx="590">
                  <c:v/>
                </c:pt>
                <c:pt idx="591">
                  <c:v/>
                </c:pt>
                <c:pt idx="592">
                  <c:v/>
                </c:pt>
                <c:pt idx="593">
                  <c:v/>
                </c:pt>
                <c:pt idx="594">
                  <c:v/>
                </c:pt>
                <c:pt idx="595">
                  <c:v/>
                </c:pt>
                <c:pt idx="596">
                  <c:v/>
                </c:pt>
                <c:pt idx="597">
                  <c:v/>
                </c:pt>
                <c:pt idx="598">
                  <c:v/>
                </c:pt>
                <c:pt idx="599">
                  <c:v/>
                </c:pt>
                <c:pt idx="600">
                  <c:v/>
                </c:pt>
                <c:pt idx="601">
                  <c:v/>
                </c:pt>
                <c:pt idx="602">
                  <c:v/>
                </c:pt>
                <c:pt idx="603">
                  <c:v/>
                </c:pt>
                <c:pt idx="604">
                  <c:v/>
                </c:pt>
                <c:pt idx="605">
                  <c:v/>
                </c:pt>
                <c:pt idx="606">
                  <c:v/>
                </c:pt>
                <c:pt idx="607">
                  <c:v/>
                </c:pt>
                <c:pt idx="608">
                  <c:v/>
                </c:pt>
                <c:pt idx="609">
                  <c:v/>
                </c:pt>
                <c:pt idx="610">
                  <c:v/>
                </c:pt>
                <c:pt idx="611">
                  <c:v/>
                </c:pt>
                <c:pt idx="612">
                  <c:v/>
                </c:pt>
                <c:pt idx="613">
                  <c:v/>
                </c:pt>
                <c:pt idx="614">
                  <c:v/>
                </c:pt>
                <c:pt idx="615">
                  <c:v/>
                </c:pt>
                <c:pt idx="616">
                  <c:v/>
                </c:pt>
                <c:pt idx="617">
                  <c:v/>
                </c:pt>
                <c:pt idx="618">
                  <c:v/>
                </c:pt>
                <c:pt idx="619">
                  <c:v/>
                </c:pt>
                <c:pt idx="620">
                  <c:v/>
                </c:pt>
                <c:pt idx="621">
                  <c:v/>
                </c:pt>
                <c:pt idx="622">
                  <c:v/>
                </c:pt>
                <c:pt idx="623">
                  <c:v/>
                </c:pt>
                <c:pt idx="624">
                  <c:v/>
                </c:pt>
                <c:pt idx="625">
                  <c:v/>
                </c:pt>
                <c:pt idx="626">
                  <c:v/>
                </c:pt>
                <c:pt idx="627">
                  <c:v/>
                </c:pt>
                <c:pt idx="628">
                  <c:v/>
                </c:pt>
                <c:pt idx="629">
                  <c:v/>
                </c:pt>
                <c:pt idx="630">
                  <c:v/>
                </c:pt>
                <c:pt idx="631">
                  <c:v/>
                </c:pt>
                <c:pt idx="632">
                  <c:v/>
                </c:pt>
                <c:pt idx="633">
                  <c:v/>
                </c:pt>
                <c:pt idx="634">
                  <c:v/>
                </c:pt>
                <c:pt idx="635">
                  <c:v/>
                </c:pt>
                <c:pt idx="636">
                  <c:v/>
                </c:pt>
                <c:pt idx="637">
                  <c:v/>
                </c:pt>
                <c:pt idx="638">
                  <c:v/>
                </c:pt>
                <c:pt idx="639">
                  <c:v/>
                </c:pt>
                <c:pt idx="640">
                  <c:v/>
                </c:pt>
                <c:pt idx="641">
                  <c:v/>
                </c:pt>
                <c:pt idx="642">
                  <c:v/>
                </c:pt>
                <c:pt idx="643">
                  <c:v/>
                </c:pt>
                <c:pt idx="644">
                  <c:v/>
                </c:pt>
                <c:pt idx="645">
                  <c:v/>
                </c:pt>
                <c:pt idx="646">
                  <c:v/>
                </c:pt>
                <c:pt idx="647">
                  <c:v/>
                </c:pt>
                <c:pt idx="648">
                  <c:v/>
                </c:pt>
                <c:pt idx="649">
                  <c:v/>
                </c:pt>
                <c:pt idx="650">
                  <c:v/>
                </c:pt>
                <c:pt idx="651">
                  <c:v/>
                </c:pt>
                <c:pt idx="652">
                  <c:v/>
                </c:pt>
                <c:pt idx="653">
                  <c:v/>
                </c:pt>
                <c:pt idx="654">
                  <c:v/>
                </c:pt>
                <c:pt idx="655">
                  <c:v/>
                </c:pt>
                <c:pt idx="656">
                  <c:v/>
                </c:pt>
                <c:pt idx="657">
                  <c:v/>
                </c:pt>
                <c:pt idx="658">
                  <c:v/>
                </c:pt>
                <c:pt idx="659">
                  <c:v/>
                </c:pt>
                <c:pt idx="660">
                  <c:v/>
                </c:pt>
                <c:pt idx="661">
                  <c:v/>
                </c:pt>
                <c:pt idx="662">
                  <c:v/>
                </c:pt>
                <c:pt idx="663">
                  <c:v/>
                </c:pt>
                <c:pt idx="664">
                  <c:v/>
                </c:pt>
                <c:pt idx="665">
                  <c:v/>
                </c:pt>
                <c:pt idx="666">
                  <c:v/>
                </c:pt>
                <c:pt idx="667">
                  <c:v/>
                </c:pt>
                <c:pt idx="668">
                  <c:v/>
                </c:pt>
                <c:pt idx="669">
                  <c:v/>
                </c:pt>
                <c:pt idx="670">
                  <c:v/>
                </c:pt>
                <c:pt idx="671">
                  <c:v/>
                </c:pt>
                <c:pt idx="672">
                  <c:v/>
                </c:pt>
                <c:pt idx="673">
                  <c:v/>
                </c:pt>
                <c:pt idx="674">
                  <c:v/>
                </c:pt>
                <c:pt idx="675">
                  <c:v/>
                </c:pt>
                <c:pt idx="676">
                  <c:v/>
                </c:pt>
                <c:pt idx="677">
                  <c:v/>
                </c:pt>
                <c:pt idx="678">
                  <c:v/>
                </c:pt>
                <c:pt idx="679">
                  <c:v/>
                </c:pt>
                <c:pt idx="680">
                  <c:v/>
                </c:pt>
                <c:pt idx="681">
                  <c:v/>
                </c:pt>
                <c:pt idx="682">
                  <c:v/>
                </c:pt>
                <c:pt idx="683">
                  <c:v/>
                </c:pt>
                <c:pt idx="684">
                  <c:v/>
                </c:pt>
                <c:pt idx="685">
                  <c:v/>
                </c:pt>
                <c:pt idx="686">
                  <c:v/>
                </c:pt>
                <c:pt idx="687">
                  <c:v/>
                </c:pt>
                <c:pt idx="688">
                  <c:v/>
                </c:pt>
                <c:pt idx="689">
                  <c:v/>
                </c:pt>
                <c:pt idx="690">
                  <c:v/>
                </c:pt>
                <c:pt idx="691">
                  <c:v/>
                </c:pt>
                <c:pt idx="692">
                  <c:v/>
                </c:pt>
                <c:pt idx="693">
                  <c:v/>
                </c:pt>
                <c:pt idx="694">
                  <c:v/>
                </c:pt>
                <c:pt idx="695">
                  <c:v/>
                </c:pt>
                <c:pt idx="696">
                  <c:v/>
                </c:pt>
                <c:pt idx="697">
                  <c:v/>
                </c:pt>
                <c:pt idx="698">
                  <c:v/>
                </c:pt>
                <c:pt idx="699">
                  <c:v/>
                </c:pt>
                <c:pt idx="700">
                  <c:v/>
                </c:pt>
                <c:pt idx="701">
                  <c:v/>
                </c:pt>
                <c:pt idx="702">
                  <c:v/>
                </c:pt>
                <c:pt idx="703">
                  <c:v/>
                </c:pt>
                <c:pt idx="704">
                  <c:v/>
                </c:pt>
                <c:pt idx="705">
                  <c:v/>
                </c:pt>
                <c:pt idx="706">
                  <c:v/>
                </c:pt>
                <c:pt idx="707">
                  <c:v/>
                </c:pt>
                <c:pt idx="708">
                  <c:v/>
                </c:pt>
                <c:pt idx="709">
                  <c:v/>
                </c:pt>
                <c:pt idx="710">
                  <c:v/>
                </c:pt>
                <c:pt idx="711">
                  <c:v>0.969</c:v>
                </c:pt>
                <c:pt idx="712">
                  <c:v>0.9694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9000"/>
          <c:min val="0"/>
        </c:scaling>
        <c:delete val="0"/>
        <c:axPos val="b"/>
        <c:title>
          <c:tx>
            <c:rich>
              <a:bodyPr/>
              <a:lstStyle/>
              <a:p>
                <a:pPr>
                  <a:defRPr sz="1200" b="0" i="0" u="none" strike="noStrike">
                    <a:solidFill>
                      <a:srgbClr val="000000"/>
                    </a:solidFill>
                    <a:latin typeface="Arial"/>
                  </a:defRPr>
                </a:pPr>
                <a:r>
                  <a:rPr sz="1200" b="0" i="0" u="none" strike="noStrike">
                    <a:solidFill>
                      <a:srgbClr val="000000"/>
                    </a:solidFill>
                    <a:latin typeface="Arial"/>
                  </a:rPr>
                  <a:t>Surface area (m²/g)</a:t>
                </a:r>
              </a:p>
            </c:rich>
          </c:tx>
          <c:layout/>
          <c:overlay val="0"/>
        </c:title>
        <c:numFmt formatCode="0.0"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valAx>
      <c:valAx>
        <c:axId val="2094734552"/>
        <c:scaling>
          <c:orientation val="minMax"/>
          <c:max val="1"/>
          <c:min val="0"/>
        </c:scaling>
        <c:delete val="0"/>
        <c:axPos val="l"/>
        <c:majorGridlines>
          <c:spPr>
            <a:ln w="6350" cap="flat">
              <a:solidFill>
                <a:srgbClr val="E0E0E0"/>
              </a:solidFill>
              <a:prstDash val="solid"/>
              <a:round/>
            </a:ln>
          </c:spPr>
        </c:majorGridlines>
        <c:title>
          <c:tx>
            <c:rich>
              <a:bodyPr/>
              <a:lstStyle/>
              <a:p>
                <a:pPr>
                  <a:defRPr sz="1200" b="0" i="0" u="none" strike="noStrike">
                    <a:solidFill>
                      <a:srgbClr val="000000"/>
                    </a:solidFill>
                    <a:latin typeface="Arial"/>
                  </a:defRPr>
                </a:pPr>
                <a:r>
                  <a:rPr sz="1200" b="0" i="0" u="none" strike="noStrike">
                    <a:solidFill>
                      <a:srgbClr val="000000"/>
                    </a:solidFill>
                    <a:latin typeface="Arial"/>
                  </a:rPr>
                  <a:t>Void fraction</a:t>
                </a:r>
              </a:p>
            </c:rich>
          </c:tx>
          <c:layout/>
          <c:overlay val="0"/>
        </c:title>
        <c:numFmt formatCode="0.0"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legend>
      <c:legendPos val="b"/>
      <c:overlay val="0"/>
      <c:txPr>
        <a:bodyPr/>
        <a:lstStyle/>
        <a:p>
          <a:pPr>
            <a:defRPr sz="12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Exact answer match (%), Gemini 3.1 Flash-Lite</a:t>
            </a:r>
          </a:p>
        </c:rich>
      </c:tx>
      <c:layout/>
      <c:overlay val="0"/>
    </c:title>
    <c:autoTitleDeleted val="0"/>
    <c:plotArea>
      <c:layout/>
      <c:barChart>
        <c:barDir val="col"/>
        <c:grouping val="clustered"/>
        <c:varyColors val="0"/>
        <c:ser>
          <c:idx val="0"/>
          <c:order val="0"/>
          <c:tx>
            <c:strRef>
              <c:f>Sheet1!$B$1</c:f>
              <c:strCache>
                <c:ptCount val="1"/>
                <c:pt idx="0">
                  <c:v>Development (64)</c:v>
                </c:pt>
              </c:strCache>
            </c:strRef>
          </c:tx>
          <c:spPr>
            <a:solidFill>
              <a:srgbClr val="A6A6A6"/>
            </a:solidFill>
            <a:effectLst/>
          </c:spPr>
          <c:invertIfNegative val="0"/>
          <c:dLbls>
            <c:numFmt formatCode="General&quot;%&quot;"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Review-1 two-tower</c:v>
                  </c:pt>
                  <c:pt idx="1">
                    <c:v>Rules only</c:v>
                  </c:pt>
                  <c:pt idx="2">
                    <c:v>LLM single shot</c:v>
                  </c:pt>
                  <c:pt idx="3">
                    <c:v>LLM + validator</c:v>
                  </c:pt>
                  <c:pt idx="4">
                    <c:v>Hybrid (default)</c:v>
                  </c:pt>
                </c:lvl>
              </c:multiLvlStrCache>
            </c:multiLvlStrRef>
          </c:cat>
          <c:val>
            <c:numRef>
              <c:f>Sheet1!$B$2:$B$6</c:f>
              <c:numCache>
                <c:formatCode>General</c:formatCode>
                <c:ptCount val="5"/>
                <c:pt idx="0">
                  <c:v>9.4</c:v>
                </c:pt>
                <c:pt idx="1">
                  <c:v>100</c:v>
                </c:pt>
                <c:pt idx="2">
                  <c:v>100</c:v>
                </c:pt>
                <c:pt idx="3">
                  <c:v>100</c:v>
                </c:pt>
                <c:pt idx="4">
                  <c:v>100</c:v>
                </c:pt>
              </c:numCache>
            </c:numRef>
          </c:val>
        </c:ser>
        <c:ser>
          <c:idx val="1"/>
          <c:order val="1"/>
          <c:tx>
            <c:strRef>
              <c:f>Sheet1!$C$1</c:f>
              <c:strCache>
                <c:ptCount val="1"/>
                <c:pt idx="0">
                  <c:v>Held-out (20)</c:v>
                </c:pt>
              </c:strCache>
            </c:strRef>
          </c:tx>
          <c:spPr>
            <a:solidFill>
              <a:srgbClr val="4F81BD"/>
            </a:solidFill>
            <a:effectLst/>
          </c:spPr>
          <c:invertIfNegative val="0"/>
          <c:dLbls>
            <c:numFmt formatCode="General&quot;%&quot;"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Review-1 two-tower</c:v>
                  </c:pt>
                  <c:pt idx="1">
                    <c:v>Rules only</c:v>
                  </c:pt>
                  <c:pt idx="2">
                    <c:v>LLM single shot</c:v>
                  </c:pt>
                  <c:pt idx="3">
                    <c:v>LLM + validator</c:v>
                  </c:pt>
                  <c:pt idx="4">
                    <c:v>Hybrid (default)</c:v>
                  </c:pt>
                </c:lvl>
              </c:multiLvlStrCache>
            </c:multiLvlStrRef>
          </c:cat>
          <c:val>
            <c:numRef>
              <c:f>Sheet1!$C$2:$C$6</c:f>
              <c:numCache>
                <c:formatCode>General</c:formatCode>
                <c:ptCount val="5"/>
                <c:pt idx="0">
                  <c:v>5</c:v>
                </c:pt>
                <c:pt idx="1">
                  <c:v>80</c:v>
                </c:pt>
                <c:pt idx="2">
                  <c:v>100</c:v>
                </c:pt>
                <c:pt idx="3">
                  <c:v>100</c:v>
                </c:pt>
                <c:pt idx="4">
                  <c:v>100</c:v>
                </c:pt>
              </c:numCache>
            </c:numRef>
          </c:val>
        </c:ser>
        <c:dLbls>
          <c:numFmt formatCode="General&quot;%&quot;"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Ablation with offline Llama 3 8B</a:t>
            </a:r>
          </a:p>
        </c:rich>
      </c:tx>
      <c:layout/>
      <c:overlay val="0"/>
    </c:title>
    <c:autoTitleDeleted val="0"/>
    <c:plotArea>
      <c:layout/>
      <c:barChart>
        <c:barDir val="col"/>
        <c:grouping val="clustered"/>
        <c:varyColors val="0"/>
        <c:ser>
          <c:idx val="0"/>
          <c:order val="0"/>
          <c:tx>
            <c:strRef>
              <c:f>Sheet1!$B$1</c:f>
              <c:strCache>
                <c:ptCount val="1"/>
                <c:pt idx="0">
                  <c:v>Held-out</c:v>
                </c:pt>
              </c:strCache>
            </c:strRef>
          </c:tx>
          <c:spPr>
            <a:solidFill>
              <a:srgbClr val="C00000"/>
            </a:solidFill>
            <a:effectLst/>
          </c:spPr>
          <c:invertIfNegative val="0"/>
          <c:dLbls>
            <c:numFmt formatCode="General&quot;%&quot;"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Alone</c:v>
                  </c:pt>
                  <c:pt idx="1">
                    <c:v>+ validator</c:v>
                  </c:pt>
                  <c:pt idx="2">
                    <c:v>+ hybrid</c:v>
                  </c:pt>
                </c:lvl>
              </c:multiLvlStrCache>
            </c:multiLvlStrRef>
          </c:cat>
          <c:val>
            <c:numRef>
              <c:f>Sheet1!$B$2:$B$4</c:f>
              <c:numCache>
                <c:formatCode>General</c:formatCode>
                <c:ptCount val="3"/>
                <c:pt idx="0">
                  <c:v>65</c:v>
                </c:pt>
                <c:pt idx="1">
                  <c:v>70</c:v>
                </c:pt>
                <c:pt idx="2">
                  <c:v>80</c:v>
                </c:pt>
              </c:numCache>
            </c:numRef>
          </c:val>
        </c:ser>
        <c:ser>
          <c:idx val="1"/>
          <c:order val="1"/>
          <c:tx>
            <c:strRef>
              <c:f>Sheet1!$C$1</c:f>
              <c:strCache>
                <c:ptCount val="1"/>
                <c:pt idx="0">
                  <c:v>Development</c:v>
                </c:pt>
              </c:strCache>
            </c:strRef>
          </c:tx>
          <c:spPr>
            <a:solidFill>
              <a:srgbClr val="A6A6A6"/>
            </a:solidFill>
            <a:effectLst/>
          </c:spPr>
          <c:invertIfNegative val="0"/>
          <c:dLbls>
            <c:numFmt formatCode="General&quot;%&quot;"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Alone</c:v>
                  </c:pt>
                  <c:pt idx="1">
                    <c:v>+ validator</c:v>
                  </c:pt>
                  <c:pt idx="2">
                    <c:v>+ hybrid</c:v>
                  </c:pt>
                </c:lvl>
              </c:multiLvlStrCache>
            </c:multiLvlStrRef>
          </c:cat>
          <c:val>
            <c:numRef>
              <c:f>Sheet1!$C$2:$C$4</c:f>
              <c:numCache>
                <c:formatCode>General</c:formatCode>
                <c:ptCount val="3"/>
                <c:pt idx="0">
                  <c:v>85.9</c:v>
                </c:pt>
                <c:pt idx="1">
                  <c:v>93.8</c:v>
                </c:pt>
                <c:pt idx="2">
                  <c:v>100</c:v>
                </c:pt>
              </c:numCache>
            </c:numRef>
          </c:val>
        </c:ser>
        <c:dLbls>
          <c:numFmt formatCode="General&quot;%&quot;"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Test R² (held-out 10 %)</a:t>
            </a:r>
          </a:p>
        </c:rich>
      </c:tx>
      <c:layout/>
      <c:overlay val="0"/>
    </c:title>
    <c:autoTitleDeleted val="0"/>
    <c:plotArea>
      <c:layout/>
      <c:barChart>
        <c:barDir val="bar"/>
        <c:grouping val="clustered"/>
        <c:varyColors val="0"/>
        <c:ser>
          <c:idx val="0"/>
          <c:order val="0"/>
          <c:tx>
            <c:strRef>
              <c:f>Sheet1!$B$1</c:f>
              <c:strCache>
                <c:ptCount val="1"/>
                <c:pt idx="0">
                  <c:v>Surface area</c:v>
                </c:pt>
              </c:strCache>
            </c:strRef>
          </c:tx>
          <c:spPr>
            <a:solidFill>
              <a:srgbClr val="4F81BD"/>
            </a:solidFill>
            <a:effectLst/>
          </c:spPr>
          <c:invertIfNegative val="0"/>
          <c:dLbls>
            <c:numFmt formatCode="0.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Mean baseline</c:v>
                  </c:pt>
                  <c:pt idx="1">
                    <c:v>Ridge</c:v>
                  </c:pt>
                  <c:pt idx="2">
                    <c:v>Gaussian Process</c:v>
                  </c:pt>
                  <c:pt idx="3">
                    <c:v>XGBoost</c:v>
                  </c:pt>
                  <c:pt idx="4">
                    <c:v>FT-Transformer</c:v>
                  </c:pt>
                </c:lvl>
              </c:multiLvlStrCache>
            </c:multiLvlStrRef>
          </c:cat>
          <c:val>
            <c:numRef>
              <c:f>Sheet1!$B$2:$B$6</c:f>
              <c:numCache>
                <c:formatCode>General</c:formatCode>
                <c:ptCount val="5"/>
                <c:pt idx="0">
                  <c:v>0.3429401038942318</c:v>
                </c:pt>
                <c:pt idx="1">
                  <c:v>0.9465812693839827</c:v>
                </c:pt>
                <c:pt idx="2">
                  <c:v>0.9771118504548323</c:v>
                </c:pt>
                <c:pt idx="3">
                  <c:v>0.9818070365210869</c:v>
                </c:pt>
                <c:pt idx="4">
                  <c:v>0.9814795009501559</c:v>
                </c:pt>
              </c:numCache>
            </c:numRef>
          </c:val>
        </c:ser>
        <c:ser>
          <c:idx val="1"/>
          <c:order val="1"/>
          <c:tx>
            <c:strRef>
              <c:f>Sheet1!$C$1</c:f>
              <c:strCache>
                <c:ptCount val="1"/>
                <c:pt idx="0">
                  <c:v>Void fraction</c:v>
                </c:pt>
              </c:strCache>
            </c:strRef>
          </c:tx>
          <c:spPr>
            <a:solidFill>
              <a:srgbClr val="A6A6A6"/>
            </a:solidFill>
            <a:effectLst/>
          </c:spPr>
          <c:invertIfNegative val="0"/>
          <c:dLbls>
            <c:numFmt formatCode="0.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Mean baseline</c:v>
                  </c:pt>
                  <c:pt idx="1">
                    <c:v>Ridge</c:v>
                  </c:pt>
                  <c:pt idx="2">
                    <c:v>Gaussian Process</c:v>
                  </c:pt>
                  <c:pt idx="3">
                    <c:v>XGBoost</c:v>
                  </c:pt>
                  <c:pt idx="4">
                    <c:v>FT-Transformer</c:v>
                  </c:pt>
                </c:lvl>
              </c:multiLvlStrCache>
            </c:multiLvlStrRef>
          </c:cat>
          <c:val>
            <c:numRef>
              <c:f>Sheet1!$C$2:$C$6</c:f>
              <c:numCache>
                <c:formatCode>General</c:formatCode>
                <c:ptCount val="5"/>
                <c:pt idx="0">
                  <c:v>0</c:v>
                </c:pt>
                <c:pt idx="1">
                  <c:v>0.7796466499939512</c:v>
                </c:pt>
                <c:pt idx="2">
                  <c:v>0.7964104532100046</c:v>
                </c:pt>
                <c:pt idx="3">
                  <c:v>0.8276796987050584</c:v>
                </c:pt>
                <c:pt idx="4">
                  <c:v>0.8225057960638358</c:v>
                </c:pt>
              </c:numCache>
            </c:numRef>
          </c:val>
        </c:ser>
        <c:dLbls>
          <c:numFmt formatCode="0.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EMPLATE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8600" y="201168"/>
            <a:ext cx="10232136" cy="566928"/>
          </a:xfrm>
          <a:prstGeom prst="rect">
            <a:avLst/>
          </a:prstGeom>
          <a:solidFill>
            <a:srgbClr val="B8CCE4"/>
          </a:solidFill>
          <a:ln w="12700">
            <a:solidFill>
              <a:srgbClr val="B8CCE4"/>
            </a:solidFill>
            <a:prstDash val="solid"/>
          </a:ln>
        </p:spPr>
      </p:sp>
      <p:sp>
        <p:nvSpPr>
          <p:cNvPr id="3" name="Text 1"/>
          <p:cNvSpPr/>
          <p:nvPr>
            <p:ph idx="101" type="title" hasCustomPrompt="1"/>
          </p:nvPr>
        </p:nvSpPr>
        <p:spPr>
          <a:xfrm>
            <a:off x="365760" y="201168"/>
            <a:ext cx="9966960" cy="566928"/>
          </a:xfrm>
          <a:prstGeom prst="rect">
            <a:avLst/>
          </a:prstGeom>
          <a:noFill/>
          <a:ln/>
        </p:spPr>
        <p:txBody>
          <a:bodyPr wrap="square" rtlCol="0"/>
          <a:lstStyle>
            <a:lvl1pPr algn="l" indent="0" marL="0">
              <a:buNone/>
              <a:defRPr lang="en-US" sz="2400" b="1" dirty="0">
                <a:solidFill>
                  <a:schemeClr val="tx1"/>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EMPLATE_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nature.com/articles/s41467-024-48998-4" TargetMode="Externa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25-1.png"/><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2.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2.xml"/><Relationship Id="rId5"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mrita_logo.png">    </p:cNvPr>
          <p:cNvPicPr>
            <a:picLocks noChangeAspect="1"/>
          </p:cNvPicPr>
          <p:nvPr/>
        </p:nvPicPr>
        <p:blipFill>
          <a:blip r:embed="rId1"/>
          <a:stretch>
            <a:fillRect/>
          </a:stretch>
        </p:blipFill>
        <p:spPr>
          <a:xfrm>
            <a:off x="2889504" y="822960"/>
            <a:ext cx="4937760" cy="1382573"/>
          </a:xfrm>
          <a:prstGeom prst="rect">
            <a:avLst/>
          </a:prstGeom>
        </p:spPr>
      </p:pic>
      <p:sp>
        <p:nvSpPr>
          <p:cNvPr id="3" name="Shape 0"/>
          <p:cNvSpPr/>
          <p:nvPr/>
        </p:nvSpPr>
        <p:spPr>
          <a:xfrm>
            <a:off x="1188720" y="2423160"/>
            <a:ext cx="8321040" cy="1417320"/>
          </a:xfrm>
          <a:prstGeom prst="rect">
            <a:avLst/>
          </a:prstGeom>
          <a:solidFill>
            <a:srgbClr val="E6B9B8"/>
          </a:solidFill>
          <a:ln w="12700">
            <a:solidFill>
              <a:srgbClr val="E6B9B8"/>
            </a:solidFill>
            <a:prstDash val="solid"/>
          </a:ln>
        </p:spPr>
      </p:sp>
      <p:sp>
        <p:nvSpPr>
          <p:cNvPr id="4" name="Text 1"/>
          <p:cNvSpPr txBox="1"/>
          <p:nvPr/>
        </p:nvSpPr>
        <p:spPr>
          <a:xfrm>
            <a:off x="1371600" y="2423160"/>
            <a:ext cx="7955280" cy="1417320"/>
          </a:xfrm>
          <a:prstGeom prst="rect">
            <a:avLst/>
          </a:prstGeom>
          <a:noFill/>
          <a:ln/>
        </p:spPr>
        <p:txBody>
          <a:bodyPr wrap="square" lIns="0" tIns="0" rIns="0" bIns="0" rtlCol="0" anchor="ctr"/>
          <a:lstStyle/>
          <a:p>
            <a:pPr algn="ctr" indent="0" marL="0">
              <a:buNone/>
            </a:pPr>
            <a:r>
              <a:rPr lang="en-US" sz="2100" dirty="0">
                <a:solidFill>
                  <a:schemeClr val="tx1"/>
                </a:solidFill>
                <a:latin typeface="Arial Black" pitchFamily="34" charset="0"/>
                <a:ea typeface="Arial Black" pitchFamily="34" charset="-122"/>
                <a:cs typeface="Arial Black" pitchFamily="34" charset="-120"/>
              </a:rPr>
              <a:t>MOFChat: Explainable, Data-Grounded MOF Recommendation with Validated LLM Planning, Multi-Objective Optimisation and Deep-Learning Surrogates</a:t>
            </a:r>
            <a:endParaRPr lang="en-US" sz="2100" dirty="0"/>
          </a:p>
        </p:txBody>
      </p:sp>
      <p:sp>
        <p:nvSpPr>
          <p:cNvPr id="5" name="Text 2"/>
          <p:cNvSpPr txBox="1"/>
          <p:nvPr/>
        </p:nvSpPr>
        <p:spPr>
          <a:xfrm>
            <a:off x="1188720" y="4023360"/>
            <a:ext cx="8321040" cy="274320"/>
          </a:xfrm>
          <a:prstGeom prst="rect">
            <a:avLst/>
          </a:prstGeom>
          <a:noFill/>
          <a:ln/>
        </p:spPr>
        <p:txBody>
          <a:bodyPr wrap="square" lIns="0" tIns="0" rIns="0" bIns="0" rtlCol="0" anchor="t"/>
          <a:lstStyle/>
          <a:p>
            <a:pPr algn="ctr" indent="0" marL="0">
              <a:buNone/>
            </a:pPr>
            <a:r>
              <a:rPr lang="en-US" sz="1200" dirty="0">
                <a:solidFill>
                  <a:srgbClr val="808080"/>
                </a:solidFill>
                <a:latin typeface="Arial" pitchFamily="34" charset="0"/>
                <a:ea typeface="Arial" pitchFamily="34" charset="-122"/>
                <a:cs typeface="Arial" pitchFamily="34" charset="-120"/>
              </a:rPr>
              <a:t>22AIE452 - Data Driven Material Modeling and Simulation  |  Final Review</a:t>
            </a:r>
            <a:endParaRPr lang="en-US" sz="1200" dirty="0"/>
          </a:p>
        </p:txBody>
      </p:sp>
      <p:sp>
        <p:nvSpPr>
          <p:cNvPr id="6" name="Text 3"/>
          <p:cNvSpPr txBox="1"/>
          <p:nvPr/>
        </p:nvSpPr>
        <p:spPr>
          <a:xfrm>
            <a:off x="1188720" y="4526280"/>
            <a:ext cx="8321040" cy="274320"/>
          </a:xfrm>
          <a:prstGeom prst="rect">
            <a:avLst/>
          </a:prstGeom>
          <a:noFill/>
          <a:ln/>
        </p:spPr>
        <p:txBody>
          <a:bodyPr wrap="square" lIns="0" tIns="0" rIns="0" bIns="0" rtlCol="0" anchor="t"/>
          <a:lstStyle/>
          <a:p>
            <a:pPr algn="ctr" indent="0" marL="0">
              <a:buNone/>
            </a:pPr>
            <a:r>
              <a:rPr lang="en-US" sz="1200" b="1" dirty="0">
                <a:solidFill>
                  <a:schemeClr val="tx1"/>
                </a:solidFill>
                <a:latin typeface="Arial" pitchFamily="34" charset="0"/>
                <a:ea typeface="Arial" pitchFamily="34" charset="-122"/>
                <a:cs typeface="Arial" pitchFamily="34" charset="-120"/>
              </a:rPr>
              <a:t>Team_14</a:t>
            </a:r>
            <a:endParaRPr lang="en-US" sz="1200" dirty="0"/>
          </a:p>
        </p:txBody>
      </p:sp>
      <p:sp>
        <p:nvSpPr>
          <p:cNvPr id="7" name="Text 4"/>
          <p:cNvSpPr txBox="1"/>
          <p:nvPr/>
        </p:nvSpPr>
        <p:spPr>
          <a:xfrm>
            <a:off x="3520440" y="4892040"/>
            <a:ext cx="3657600" cy="1463040"/>
          </a:xfrm>
          <a:prstGeom prst="rect">
            <a:avLst/>
          </a:prstGeom>
          <a:noFill/>
          <a:ln/>
        </p:spPr>
        <p:txBody>
          <a:bodyPr wrap="square" lIns="0" tIns="0" rIns="0" bIns="0" rtlCol="0" anchor="t"/>
          <a:lstStyle/>
          <a:p>
            <a:pPr algn="ctr" indent="0" marL="0">
              <a:spcAft>
                <a:spcPts val="400"/>
              </a:spcAft>
              <a:buNone/>
            </a:pPr>
            <a:r>
              <a:rPr lang="en-US" sz="1200" dirty="0">
                <a:solidFill>
                  <a:schemeClr val="tx1"/>
                </a:solidFill>
                <a:latin typeface="Arial" pitchFamily="34" charset="0"/>
                <a:ea typeface="Arial" pitchFamily="34" charset="-122"/>
                <a:cs typeface="Arial" pitchFamily="34" charset="-120"/>
              </a:rPr>
              <a:t>Amrutha T - 24255</a:t>
            </a:r>
            <a:endParaRPr lang="en-US" sz="1200" dirty="0"/>
          </a:p>
          <a:p>
            <a:pPr algn="ctr" indent="0" marL="0">
              <a:spcAft>
                <a:spcPts val="400"/>
              </a:spcAft>
              <a:buNone/>
            </a:pPr>
            <a:r>
              <a:rPr lang="en-US" sz="1200" dirty="0">
                <a:solidFill>
                  <a:schemeClr val="tx1"/>
                </a:solidFill>
                <a:latin typeface="Arial" pitchFamily="34" charset="0"/>
                <a:ea typeface="Arial" pitchFamily="34" charset="-122"/>
                <a:cs typeface="Arial" pitchFamily="34" charset="-120"/>
              </a:rPr>
              <a:t>Charan Tej Reddy Y - 24259</a:t>
            </a:r>
            <a:endParaRPr lang="en-US" sz="1200" dirty="0"/>
          </a:p>
          <a:p>
            <a:pPr algn="ctr" indent="0" marL="0">
              <a:spcAft>
                <a:spcPts val="400"/>
              </a:spcAft>
              <a:buNone/>
            </a:pPr>
            <a:r>
              <a:rPr lang="en-US" sz="1200" dirty="0">
                <a:solidFill>
                  <a:schemeClr val="tx1"/>
                </a:solidFill>
                <a:latin typeface="Arial" pitchFamily="34" charset="0"/>
                <a:ea typeface="Arial" pitchFamily="34" charset="-122"/>
                <a:cs typeface="Arial" pitchFamily="34" charset="-120"/>
              </a:rPr>
              <a:t>Poojitha D - 24263</a:t>
            </a:r>
            <a:endParaRPr lang="en-US" sz="1200" dirty="0"/>
          </a:p>
          <a:p>
            <a:pPr algn="ctr" indent="0" marL="0">
              <a:spcAft>
                <a:spcPts val="400"/>
              </a:spcAft>
              <a:buNone/>
            </a:pPr>
            <a:r>
              <a:rPr lang="en-US" sz="1200" dirty="0">
                <a:solidFill>
                  <a:schemeClr val="tx1"/>
                </a:solidFill>
                <a:latin typeface="Arial" pitchFamily="34" charset="0"/>
                <a:ea typeface="Arial" pitchFamily="34" charset="-122"/>
                <a:cs typeface="Arial" pitchFamily="34" charset="-120"/>
              </a:rPr>
              <a:t>Enku Sai Mohith - 24316</a:t>
            </a:r>
            <a:endParaRPr lang="en-US" sz="1200" dirty="0"/>
          </a:p>
          <a:p>
            <a:pPr algn="ctr" indent="0" marL="0">
              <a:spcAft>
                <a:spcPts val="400"/>
              </a:spcAft>
              <a:buNone/>
            </a:pPr>
            <a:r>
              <a:rPr lang="en-US" sz="1200" dirty="0">
                <a:solidFill>
                  <a:schemeClr val="tx1"/>
                </a:solidFill>
                <a:latin typeface="Arial" pitchFamily="34" charset="0"/>
                <a:ea typeface="Arial" pitchFamily="34" charset="-122"/>
                <a:cs typeface="Arial" pitchFamily="34" charset="-120"/>
              </a:rPr>
              <a:t>Ramu Jahna Bindu - 24249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Outline</a:t>
            </a:r>
            <a:endParaRPr lang="en-US" sz="2400" dirty="0"/>
          </a:p>
        </p:txBody>
      </p:sp>
      <p:sp>
        <p:nvSpPr>
          <p:cNvPr id="3" name="Shape 1"/>
          <p:cNvSpPr/>
          <p:nvPr/>
        </p:nvSpPr>
        <p:spPr>
          <a:xfrm>
            <a:off x="731520" y="1143000"/>
            <a:ext cx="457200" cy="457200"/>
          </a:xfrm>
          <a:prstGeom prst="ellipse">
            <a:avLst/>
          </a:prstGeom>
          <a:solidFill>
            <a:srgbClr val="4F81BD"/>
          </a:solidFill>
          <a:ln w="12700">
            <a:solidFill>
              <a:srgbClr val="4F81BD"/>
            </a:solidFill>
            <a:prstDash val="solid"/>
          </a:ln>
        </p:spPr>
      </p:sp>
      <p:sp>
        <p:nvSpPr>
          <p:cNvPr id="4" name="Text 2"/>
          <p:cNvSpPr txBox="1"/>
          <p:nvPr/>
        </p:nvSpPr>
        <p:spPr>
          <a:xfrm>
            <a:off x="731520" y="11430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5" name="Text 3"/>
          <p:cNvSpPr txBox="1"/>
          <p:nvPr/>
        </p:nvSpPr>
        <p:spPr>
          <a:xfrm>
            <a:off x="1417320" y="1124712"/>
            <a:ext cx="8229600" cy="54864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Introduction</a:t>
            </a:r>
            <a:endParaRPr lang="en-US" sz="1200" dirty="0"/>
          </a:p>
          <a:p>
            <a:pPr indent="0" marL="0">
              <a:buNone/>
            </a:pPr>
            <a:r>
              <a:rPr lang="en-US" sz="1200" dirty="0">
                <a:solidFill>
                  <a:srgbClr val="595959"/>
                </a:solidFill>
                <a:latin typeface="Arial" pitchFamily="34" charset="0"/>
                <a:ea typeface="Arial" pitchFamily="34" charset="-122"/>
                <a:cs typeface="Arial" pitchFamily="34" charset="-120"/>
              </a:rPr>
              <a:t>MOFs, problem statement, base paper (ChatMOF)</a:t>
            </a:r>
            <a:endParaRPr lang="en-US" sz="1200" dirty="0"/>
          </a:p>
        </p:txBody>
      </p:sp>
      <p:sp>
        <p:nvSpPr>
          <p:cNvPr id="6" name="Shape 4"/>
          <p:cNvSpPr/>
          <p:nvPr/>
        </p:nvSpPr>
        <p:spPr>
          <a:xfrm>
            <a:off x="731520" y="1947672"/>
            <a:ext cx="457200" cy="457200"/>
          </a:xfrm>
          <a:prstGeom prst="ellipse">
            <a:avLst/>
          </a:prstGeom>
          <a:solidFill>
            <a:srgbClr val="4F81BD"/>
          </a:solidFill>
          <a:ln w="12700">
            <a:solidFill>
              <a:srgbClr val="4F81BD"/>
            </a:solidFill>
            <a:prstDash val="solid"/>
          </a:ln>
        </p:spPr>
      </p:sp>
      <p:sp>
        <p:nvSpPr>
          <p:cNvPr id="7" name="Text 5"/>
          <p:cNvSpPr txBox="1"/>
          <p:nvPr/>
        </p:nvSpPr>
        <p:spPr>
          <a:xfrm>
            <a:off x="731520" y="19476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8" name="Text 6"/>
          <p:cNvSpPr txBox="1"/>
          <p:nvPr/>
        </p:nvSpPr>
        <p:spPr>
          <a:xfrm>
            <a:off x="1417320" y="1929384"/>
            <a:ext cx="8229600" cy="54864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Objectives and Novelty</a:t>
            </a:r>
            <a:endParaRPr lang="en-US" sz="1200" dirty="0"/>
          </a:p>
          <a:p>
            <a:pPr indent="0" marL="0">
              <a:buNone/>
            </a:pPr>
            <a:r>
              <a:rPr lang="en-US" sz="1200" dirty="0">
                <a:solidFill>
                  <a:srgbClr val="595959"/>
                </a:solidFill>
                <a:latin typeface="Arial" pitchFamily="34" charset="0"/>
                <a:ea typeface="Arial" pitchFamily="34" charset="-122"/>
                <a:cs typeface="Arial" pitchFamily="34" charset="-120"/>
              </a:rPr>
              <a:t>What we set out to do and how we improve on ChatMOF</a:t>
            </a:r>
            <a:endParaRPr lang="en-US" sz="1200" dirty="0"/>
          </a:p>
        </p:txBody>
      </p:sp>
      <p:sp>
        <p:nvSpPr>
          <p:cNvPr id="9" name="Shape 7"/>
          <p:cNvSpPr/>
          <p:nvPr/>
        </p:nvSpPr>
        <p:spPr>
          <a:xfrm>
            <a:off x="731520" y="2752344"/>
            <a:ext cx="457200" cy="457200"/>
          </a:xfrm>
          <a:prstGeom prst="ellipse">
            <a:avLst/>
          </a:prstGeom>
          <a:solidFill>
            <a:srgbClr val="4F81BD"/>
          </a:solidFill>
          <a:ln w="12700">
            <a:solidFill>
              <a:srgbClr val="4F81BD"/>
            </a:solidFill>
            <a:prstDash val="solid"/>
          </a:ln>
        </p:spPr>
      </p:sp>
      <p:sp>
        <p:nvSpPr>
          <p:cNvPr id="10" name="Text 8"/>
          <p:cNvSpPr txBox="1"/>
          <p:nvPr/>
        </p:nvSpPr>
        <p:spPr>
          <a:xfrm>
            <a:off x="731520" y="27523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1" name="Text 9"/>
          <p:cNvSpPr txBox="1"/>
          <p:nvPr/>
        </p:nvSpPr>
        <p:spPr>
          <a:xfrm>
            <a:off x="1417320" y="2734056"/>
            <a:ext cx="8229600" cy="54864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Literature Review</a:t>
            </a:r>
            <a:endParaRPr lang="en-US" sz="1200" dirty="0"/>
          </a:p>
          <a:p>
            <a:pPr indent="0" marL="0">
              <a:buNone/>
            </a:pPr>
            <a:r>
              <a:rPr lang="en-US" sz="1200" dirty="0">
                <a:solidFill>
                  <a:srgbClr val="595959"/>
                </a:solidFill>
                <a:latin typeface="Arial" pitchFamily="34" charset="0"/>
                <a:ea typeface="Arial" pitchFamily="34" charset="-122"/>
                <a:cs typeface="Arial" pitchFamily="34" charset="-120"/>
              </a:rPr>
              <a:t>18 papers from 2024 to 2026 and the research gap</a:t>
            </a:r>
            <a:endParaRPr lang="en-US" sz="1200" dirty="0"/>
          </a:p>
        </p:txBody>
      </p:sp>
      <p:sp>
        <p:nvSpPr>
          <p:cNvPr id="12" name="Shape 10"/>
          <p:cNvSpPr/>
          <p:nvPr/>
        </p:nvSpPr>
        <p:spPr>
          <a:xfrm>
            <a:off x="731520" y="3557016"/>
            <a:ext cx="457200" cy="457200"/>
          </a:xfrm>
          <a:prstGeom prst="ellipse">
            <a:avLst/>
          </a:prstGeom>
          <a:solidFill>
            <a:srgbClr val="4F81BD"/>
          </a:solidFill>
          <a:ln w="12700">
            <a:solidFill>
              <a:srgbClr val="4F81BD"/>
            </a:solidFill>
            <a:prstDash val="solid"/>
          </a:ln>
        </p:spPr>
      </p:sp>
      <p:sp>
        <p:nvSpPr>
          <p:cNvPr id="13" name="Text 11"/>
          <p:cNvSpPr txBox="1"/>
          <p:nvPr/>
        </p:nvSpPr>
        <p:spPr>
          <a:xfrm>
            <a:off x="731520" y="35570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14" name="Text 12"/>
          <p:cNvSpPr txBox="1"/>
          <p:nvPr/>
        </p:nvSpPr>
        <p:spPr>
          <a:xfrm>
            <a:off x="1417320" y="3538728"/>
            <a:ext cx="8229600" cy="54864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Dataset and Feature Extraction</a:t>
            </a:r>
            <a:endParaRPr lang="en-US" sz="1200" dirty="0"/>
          </a:p>
          <a:p>
            <a:pPr indent="0" marL="0">
              <a:buNone/>
            </a:pPr>
            <a:r>
              <a:rPr lang="en-US" sz="1200" dirty="0">
                <a:solidFill>
                  <a:srgbClr val="595959"/>
                </a:solidFill>
                <a:latin typeface="Arial" pitchFamily="34" charset="0"/>
                <a:ea typeface="Arial" pitchFamily="34" charset="-122"/>
                <a:cs typeface="Arial" pitchFamily="34" charset="-120"/>
              </a:rPr>
              <a:t>CoRE MOF 2019, preprocessing, descriptor and embedding analysis</a:t>
            </a:r>
            <a:endParaRPr lang="en-US" sz="1200" dirty="0"/>
          </a:p>
        </p:txBody>
      </p:sp>
      <p:sp>
        <p:nvSpPr>
          <p:cNvPr id="15" name="Shape 13"/>
          <p:cNvSpPr/>
          <p:nvPr/>
        </p:nvSpPr>
        <p:spPr>
          <a:xfrm>
            <a:off x="731520" y="4361688"/>
            <a:ext cx="457200" cy="457200"/>
          </a:xfrm>
          <a:prstGeom prst="ellipse">
            <a:avLst/>
          </a:prstGeom>
          <a:solidFill>
            <a:srgbClr val="4F81BD"/>
          </a:solidFill>
          <a:ln w="12700">
            <a:solidFill>
              <a:srgbClr val="4F81BD"/>
            </a:solidFill>
            <a:prstDash val="solid"/>
          </a:ln>
        </p:spPr>
      </p:sp>
      <p:sp>
        <p:nvSpPr>
          <p:cNvPr id="16" name="Text 14"/>
          <p:cNvSpPr txBox="1"/>
          <p:nvPr/>
        </p:nvSpPr>
        <p:spPr>
          <a:xfrm>
            <a:off x="731520" y="436168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17" name="Text 15"/>
          <p:cNvSpPr txBox="1"/>
          <p:nvPr/>
        </p:nvSpPr>
        <p:spPr>
          <a:xfrm>
            <a:off x="1417320" y="4343400"/>
            <a:ext cx="8229600" cy="54864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Pipeline and Architecture</a:t>
            </a:r>
            <a:endParaRPr lang="en-US" sz="1200" dirty="0"/>
          </a:p>
          <a:p>
            <a:pPr indent="0" marL="0">
              <a:buNone/>
            </a:pPr>
            <a:r>
              <a:rPr lang="en-US" sz="1200" dirty="0">
                <a:solidFill>
                  <a:srgbClr val="595959"/>
                </a:solidFill>
                <a:latin typeface="Arial" pitchFamily="34" charset="0"/>
                <a:ea typeface="Arial" pitchFamily="34" charset="-122"/>
                <a:cs typeface="Arial" pitchFamily="34" charset="-120"/>
              </a:rPr>
              <a:t>Dashboard-to-backend pipeline, models used, FT-Transformer architecture</a:t>
            </a:r>
            <a:endParaRPr lang="en-US" sz="1200" dirty="0"/>
          </a:p>
        </p:txBody>
      </p:sp>
      <p:sp>
        <p:nvSpPr>
          <p:cNvPr id="18" name="Shape 16"/>
          <p:cNvSpPr/>
          <p:nvPr/>
        </p:nvSpPr>
        <p:spPr>
          <a:xfrm>
            <a:off x="731520" y="5166360"/>
            <a:ext cx="457200" cy="457200"/>
          </a:xfrm>
          <a:prstGeom prst="ellipse">
            <a:avLst/>
          </a:prstGeom>
          <a:solidFill>
            <a:srgbClr val="4F81BD"/>
          </a:solidFill>
          <a:ln w="12700">
            <a:solidFill>
              <a:srgbClr val="4F81BD"/>
            </a:solidFill>
            <a:prstDash val="solid"/>
          </a:ln>
        </p:spPr>
      </p:sp>
      <p:sp>
        <p:nvSpPr>
          <p:cNvPr id="19" name="Text 17"/>
          <p:cNvSpPr txBox="1"/>
          <p:nvPr/>
        </p:nvSpPr>
        <p:spPr>
          <a:xfrm>
            <a:off x="731520" y="516636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20" name="Text 18"/>
          <p:cNvSpPr txBox="1"/>
          <p:nvPr/>
        </p:nvSpPr>
        <p:spPr>
          <a:xfrm>
            <a:off x="1417320" y="5148072"/>
            <a:ext cx="8229600" cy="54864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Results</a:t>
            </a:r>
            <a:endParaRPr lang="en-US" sz="1200" dirty="0"/>
          </a:p>
          <a:p>
            <a:pPr indent="0" marL="0">
              <a:buNone/>
            </a:pPr>
            <a:r>
              <a:rPr lang="en-US" sz="1200" dirty="0">
                <a:solidFill>
                  <a:srgbClr val="595959"/>
                </a:solidFill>
                <a:latin typeface="Arial" pitchFamily="34" charset="0"/>
                <a:ea typeface="Arial" pitchFamily="34" charset="-122"/>
                <a:cs typeface="Arial" pitchFamily="34" charset="-120"/>
              </a:rPr>
              <a:t>Retrieval benchmark, classification (accuracy, ROC, confusion matrices), regression, learning curves</a:t>
            </a:r>
            <a:endParaRPr lang="en-US" sz="1200" dirty="0"/>
          </a:p>
        </p:txBody>
      </p:sp>
      <p:sp>
        <p:nvSpPr>
          <p:cNvPr id="21" name="Shape 19"/>
          <p:cNvSpPr/>
          <p:nvPr/>
        </p:nvSpPr>
        <p:spPr>
          <a:xfrm>
            <a:off x="731520" y="5971032"/>
            <a:ext cx="457200" cy="457200"/>
          </a:xfrm>
          <a:prstGeom prst="ellipse">
            <a:avLst/>
          </a:prstGeom>
          <a:solidFill>
            <a:srgbClr val="4F81BD"/>
          </a:solidFill>
          <a:ln w="12700">
            <a:solidFill>
              <a:srgbClr val="4F81BD"/>
            </a:solidFill>
            <a:prstDash val="solid"/>
          </a:ln>
        </p:spPr>
      </p:sp>
      <p:sp>
        <p:nvSpPr>
          <p:cNvPr id="22" name="Text 20"/>
          <p:cNvSpPr txBox="1"/>
          <p:nvPr/>
        </p:nvSpPr>
        <p:spPr>
          <a:xfrm>
            <a:off x="731520" y="597103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23" name="Text 21"/>
          <p:cNvSpPr txBox="1"/>
          <p:nvPr/>
        </p:nvSpPr>
        <p:spPr>
          <a:xfrm>
            <a:off x="1417320" y="5952744"/>
            <a:ext cx="8229600" cy="54864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Application, Conclusion and Future Work</a:t>
            </a:r>
            <a:endParaRPr lang="en-US" sz="1200" dirty="0"/>
          </a:p>
          <a:p>
            <a:pPr indent="0" marL="0">
              <a:buNone/>
            </a:pPr>
            <a:r>
              <a:rPr lang="en-US" sz="1200" dirty="0">
                <a:solidFill>
                  <a:srgbClr val="595959"/>
                </a:solidFill>
                <a:latin typeface="Arial" pitchFamily="34" charset="0"/>
                <a:ea typeface="Arial" pitchFamily="34" charset="-122"/>
                <a:cs typeface="Arial" pitchFamily="34" charset="-120"/>
              </a:rPr>
              <a:t>Streamlit application, limitations, references</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Introduction</a:t>
            </a:r>
            <a:endParaRPr lang="en-US" sz="2400" dirty="0"/>
          </a:p>
        </p:txBody>
      </p:sp>
      <p:sp>
        <p:nvSpPr>
          <p:cNvPr id="3" name="Text 1"/>
          <p:cNvSpPr txBox="1"/>
          <p:nvPr/>
        </p:nvSpPr>
        <p:spPr>
          <a:xfrm>
            <a:off x="365760" y="1005840"/>
            <a:ext cx="6400800" cy="82296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Metal-Organic Frameworks (MOFs) are crystalline porous materials made by linking metal ions with organic molecules, creating microscopic cages. Their tunable pores make them candidates for </a:t>
            </a:r>
            <a:pPr indent="0" marL="0">
              <a:buNone/>
            </a:pPr>
            <a:r>
              <a:rPr lang="en-US" sz="1200" b="1" dirty="0">
                <a:solidFill>
                  <a:schemeClr val="tx1"/>
                </a:solidFill>
                <a:latin typeface="Arial" pitchFamily="34" charset="0"/>
                <a:ea typeface="Arial" pitchFamily="34" charset="-122"/>
                <a:cs typeface="Arial" pitchFamily="34" charset="-120"/>
              </a:rPr>
              <a:t>carbon capture, hydrogen and methane storage, gas separation and catalysis</a:t>
            </a:r>
            <a:pPr indent="0" marL="0">
              <a:buNone/>
            </a:pPr>
            <a:r>
              <a:rPr lang="en-US" sz="1200" dirty="0">
                <a:solidFill>
                  <a:schemeClr val="tx1"/>
                </a:solidFill>
                <a:latin typeface="Arial" pitchFamily="34" charset="0"/>
                <a:ea typeface="Arial" pitchFamily="34" charset="-122"/>
                <a:cs typeface="Arial" pitchFamily="34" charset="-120"/>
              </a:rPr>
              <a:t>.</a:t>
            </a:r>
            <a:endParaRPr lang="en-US" sz="1200" dirty="0"/>
          </a:p>
        </p:txBody>
      </p:sp>
      <p:sp>
        <p:nvSpPr>
          <p:cNvPr id="4" name="Text 2"/>
          <p:cNvSpPr txBox="1"/>
          <p:nvPr/>
        </p:nvSpPr>
        <p:spPr>
          <a:xfrm>
            <a:off x="365760" y="1920240"/>
            <a:ext cx="6400800" cy="82296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Selecting the right MOF is difficult: the CoRE-MOF database alone has </a:t>
            </a:r>
            <a:pPr indent="0" marL="0">
              <a:buNone/>
            </a:pPr>
            <a:r>
              <a:rPr lang="en-US" sz="1200" b="1" dirty="0">
                <a:solidFill>
                  <a:schemeClr val="tx1"/>
                </a:solidFill>
                <a:latin typeface="Arial" pitchFamily="34" charset="0"/>
                <a:ea typeface="Arial" pitchFamily="34" charset="-122"/>
                <a:cs typeface="Arial" pitchFamily="34" charset="-120"/>
              </a:rPr>
              <a:t>12,020 MOFs</a:t>
            </a:r>
            <a:pPr indent="0" marL="0">
              <a:buNone/>
            </a:pPr>
            <a:r>
              <a:rPr lang="en-US" sz="1200" dirty="0">
                <a:solidFill>
                  <a:schemeClr val="tx1"/>
                </a:solidFill>
                <a:latin typeface="Arial" pitchFamily="34" charset="0"/>
                <a:ea typeface="Arial" pitchFamily="34" charset="-122"/>
                <a:cs typeface="Arial" pitchFamily="34" charset="-120"/>
              </a:rPr>
              <a:t>, and a good choice has to balance several properties (surface area, pore size, density, metal sites) and needs domain knowledge.</a:t>
            </a:r>
            <a:endParaRPr lang="en-US" sz="1200" dirty="0"/>
          </a:p>
        </p:txBody>
      </p:sp>
      <p:sp>
        <p:nvSpPr>
          <p:cNvPr id="5" name="Text 3"/>
          <p:cNvSpPr txBox="1"/>
          <p:nvPr/>
        </p:nvSpPr>
        <p:spPr>
          <a:xfrm>
            <a:off x="365760" y="2926080"/>
            <a:ext cx="6400800" cy="274320"/>
          </a:xfrm>
          <a:prstGeom prst="rect">
            <a:avLst/>
          </a:prstGeom>
          <a:noFill/>
          <a:ln/>
        </p:spPr>
        <p:txBody>
          <a:bodyPr wrap="square" lIns="0" tIns="0" rIns="0" bIns="0" rtlCol="0" anchor="t"/>
          <a:lstStyle/>
          <a:p>
            <a:pPr indent="0" marL="0">
              <a:buNone/>
            </a:pPr>
            <a:r>
              <a:rPr lang="en-US" sz="1200" b="1" dirty="0">
                <a:solidFill>
                  <a:srgbClr val="C00000"/>
                </a:solidFill>
                <a:latin typeface="Arial" pitchFamily="34" charset="0"/>
                <a:ea typeface="Arial" pitchFamily="34" charset="-122"/>
                <a:cs typeface="Arial" pitchFamily="34" charset="-120"/>
              </a:rPr>
              <a:t>Problem statement</a:t>
            </a:r>
            <a:endParaRPr lang="en-US" sz="1200" dirty="0"/>
          </a:p>
        </p:txBody>
      </p:sp>
      <p:sp>
        <p:nvSpPr>
          <p:cNvPr id="6" name="Text 4"/>
          <p:cNvSpPr txBox="1"/>
          <p:nvPr/>
        </p:nvSpPr>
        <p:spPr>
          <a:xfrm>
            <a:off x="365760" y="3246120"/>
            <a:ext cx="6400800" cy="82296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Existing LLM agents such as ChatMOF make MOF search conversational, but they generate code that can fail, depend on paid models, run into token limits and return numbers that are never checked against the data.</a:t>
            </a:r>
            <a:endParaRPr lang="en-US" sz="1200" dirty="0"/>
          </a:p>
        </p:txBody>
      </p:sp>
      <p:sp>
        <p:nvSpPr>
          <p:cNvPr id="7" name="Text 5"/>
          <p:cNvSpPr txBox="1"/>
          <p:nvPr/>
        </p:nvSpPr>
        <p:spPr>
          <a:xfrm>
            <a:off x="365760" y="4251960"/>
            <a:ext cx="6400800" cy="274320"/>
          </a:xfrm>
          <a:prstGeom prst="rect">
            <a:avLst/>
          </a:prstGeom>
          <a:noFill/>
          <a:ln/>
        </p:spPr>
        <p:txBody>
          <a:bodyPr wrap="square" lIns="0" tIns="0" rIns="0" bIns="0" rtlCol="0" anchor="t"/>
          <a:lstStyle/>
          <a:p>
            <a:pPr indent="0" marL="0">
              <a:buNone/>
            </a:pPr>
            <a:r>
              <a:rPr lang="en-US" sz="1200" b="1" dirty="0">
                <a:solidFill>
                  <a:srgbClr val="C00000"/>
                </a:solidFill>
                <a:latin typeface="Arial" pitchFamily="34" charset="0"/>
                <a:ea typeface="Arial" pitchFamily="34" charset="-122"/>
                <a:cs typeface="Arial" pitchFamily="34" charset="-120"/>
              </a:rPr>
              <a:t>Aim</a:t>
            </a:r>
            <a:endParaRPr lang="en-US" sz="1200" dirty="0"/>
          </a:p>
        </p:txBody>
      </p:sp>
      <p:sp>
        <p:nvSpPr>
          <p:cNvPr id="8" name="Text 6"/>
          <p:cNvSpPr txBox="1"/>
          <p:nvPr/>
        </p:nvSpPr>
        <p:spPr>
          <a:xfrm>
            <a:off x="365760" y="4572000"/>
            <a:ext cx="6400800" cy="82296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A conversational assistant that answers MOF questions exactly from the full database, ranks trade-offs between properties, predicts properties with uncertainty and explanations, runs on free or offline models, and verifies its own answers.</a:t>
            </a:r>
            <a:endParaRPr lang="en-US" sz="1200" dirty="0"/>
          </a:p>
        </p:txBody>
      </p:sp>
      <p:pic>
        <p:nvPicPr>
          <p:cNvPr id="9" name="Image 0" descr="mof_structure.jpg">    </p:cNvPr>
          <p:cNvPicPr>
            <a:picLocks noChangeAspect="1"/>
          </p:cNvPicPr>
          <p:nvPr/>
        </p:nvPicPr>
        <p:blipFill>
          <a:blip r:embed="rId1"/>
          <a:stretch>
            <a:fillRect/>
          </a:stretch>
        </p:blipFill>
        <p:spPr>
          <a:xfrm>
            <a:off x="7315200" y="1097280"/>
            <a:ext cx="2743200" cy="2951389"/>
          </a:xfrm>
          <a:prstGeom prst="rect">
            <a:avLst/>
          </a:prstGeom>
        </p:spPr>
      </p:pic>
      <p:sp>
        <p:nvSpPr>
          <p:cNvPr id="10" name="Text 7"/>
          <p:cNvSpPr txBox="1"/>
          <p:nvPr/>
        </p:nvSpPr>
        <p:spPr>
          <a:xfrm>
            <a:off x="6949440" y="4114800"/>
            <a:ext cx="3474720" cy="274320"/>
          </a:xfrm>
          <a:prstGeom prst="rect">
            <a:avLst/>
          </a:prstGeom>
          <a:noFill/>
          <a:ln/>
        </p:spPr>
        <p:txBody>
          <a:bodyPr wrap="square" lIns="0" tIns="0" rIns="0" bIns="0" rtlCol="0" anchor="t"/>
          <a:lstStyle/>
          <a:p>
            <a:pPr algn="ctr" indent="0" marL="0">
              <a:buNone/>
            </a:pPr>
            <a:r>
              <a:rPr lang="en-US" sz="1200" i="1" dirty="0">
                <a:solidFill>
                  <a:srgbClr val="595959"/>
                </a:solidFill>
                <a:latin typeface="Arial" pitchFamily="34" charset="0"/>
                <a:ea typeface="Arial" pitchFamily="34" charset="-122"/>
                <a:cs typeface="Arial" pitchFamily="34" charset="-120"/>
              </a:rPr>
              <a:t>MOF framework: metal nodes joined by organic linkers</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949440" y="4617720"/>
          <a:ext cx="3474720" cy="914400"/>
        </p:xfrm>
        <a:graphic>
          <a:graphicData uri="http://schemas.openxmlformats.org/drawingml/2006/table">
            <a:tbl>
              <a:tblPr/>
              <a:tblGrid>
                <a:gridCol w="2560320"/>
                <a:gridCol w="914400"/>
              </a:tblGrid>
              <a:tr h="329184">
                <a:tc>
                  <a:txBody>
                    <a:bodyPr/>
                    <a:lstStyle/>
                    <a:p>
                      <a:pPr indent="0" marL="0">
                        <a:buNone/>
                      </a:pPr>
                      <a:r>
                        <a:rPr lang="en-US" sz="1200" b="1" dirty="0">
                          <a:solidFill>
                            <a:srgbClr val="FFFFFF"/>
                          </a:solidFill>
                          <a:latin typeface="Arial" pitchFamily="34" charset="0"/>
                          <a:ea typeface="Arial" pitchFamily="34" charset="-122"/>
                          <a:cs typeface="Arial" pitchFamily="34" charset="-120"/>
                        </a:rPr>
                        <a:t>Dataset at a glance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Value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MOFs in CoRE MOF 2019</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12,020</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Different metals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65</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MOFs with zero accessible surface area</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27 %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bl>
          </a:graphicData>
        </a:graphic>
      </p:graphicFrame>
      <p:sp>
        <p:nvSpPr>
          <p:cNvPr id="12" name="Text 8"/>
          <p:cNvSpPr txBox="1"/>
          <p:nvPr/>
        </p:nvSpPr>
        <p:spPr>
          <a:xfrm>
            <a:off x="365760" y="5669280"/>
            <a:ext cx="6400800" cy="118872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MOF = metal-organic framework. LLM = large language model (AI that reads and writes text, e.g. GPT-4, Gemini). CoRE MOF = Computation-Ready, Experimental MOF database. Domain knowledge = chemistry facts such as which pore sizes let which gases through.</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Base Paper: ChatMOF (Kang and Kim, 2024)</a:t>
            </a:r>
            <a:endParaRPr lang="en-US" sz="2400" dirty="0"/>
          </a:p>
        </p:txBody>
      </p:sp>
      <p:sp>
        <p:nvSpPr>
          <p:cNvPr id="3" name="Text 1"/>
          <p:cNvSpPr txBox="1"/>
          <p:nvPr/>
        </p:nvSpPr>
        <p:spPr>
          <a:xfrm>
            <a:off x="365760" y="960120"/>
            <a:ext cx="4937760" cy="274320"/>
          </a:xfrm>
          <a:prstGeom prst="rect">
            <a:avLst/>
          </a:prstGeom>
          <a:noFill/>
          <a:ln/>
        </p:spPr>
        <p:txBody>
          <a:bodyPr wrap="square" lIns="0" tIns="0" rIns="0" bIns="0" rtlCol="0" anchor="t"/>
          <a:lstStyle/>
          <a:p>
            <a:pPr indent="0" marL="0">
              <a:buNone/>
            </a:pPr>
            <a:r>
              <a:rPr lang="en-US" sz="1200" b="1" dirty="0">
                <a:solidFill>
                  <a:srgbClr val="C00000"/>
                </a:solidFill>
                <a:latin typeface="Arial" pitchFamily="34" charset="0"/>
                <a:ea typeface="Arial" pitchFamily="34" charset="-122"/>
                <a:cs typeface="Arial" pitchFamily="34" charset="-120"/>
              </a:rPr>
              <a:t>What the base paper did</a:t>
            </a:r>
            <a:endParaRPr lang="en-US" sz="1200" dirty="0"/>
          </a:p>
        </p:txBody>
      </p:sp>
      <p:sp>
        <p:nvSpPr>
          <p:cNvPr id="4" name="Text 2"/>
          <p:cNvSpPr txBox="1"/>
          <p:nvPr/>
        </p:nvSpPr>
        <p:spPr>
          <a:xfrm>
            <a:off x="365760" y="1280160"/>
            <a:ext cx="4937760" cy="137160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GPT-4 agent that plans tool calls (ReAct)</a:t>
            </a:r>
            <a:endParaRPr lang="en-US" sz="1200" dirty="0"/>
          </a:p>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Search: the LLM writes pandas code over the CoRE-MOF table</a:t>
            </a:r>
            <a:endParaRPr lang="en-US" sz="1200" dirty="0"/>
          </a:p>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Prediction: MOFTransformer (one fine-tuned model per property)</a:t>
            </a:r>
            <a:endParaRPr lang="en-US" sz="1200" dirty="0"/>
          </a:p>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Generation: genetic algorithm with PORMAKE</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2834640"/>
          <a:ext cx="3291840" cy="914400"/>
        </p:xfrm>
        <a:graphic>
          <a:graphicData uri="http://schemas.openxmlformats.org/drawingml/2006/table">
            <a:tbl>
              <a:tblPr/>
              <a:tblGrid>
                <a:gridCol w="1645920"/>
                <a:gridCol w="1645920"/>
              </a:tblGrid>
              <a:tr h="329184">
                <a:tc>
                  <a:txBody>
                    <a:bodyPr/>
                    <a:lstStyle/>
                    <a:p>
                      <a:pPr indent="0" marL="0">
                        <a:buNone/>
                      </a:pPr>
                      <a:r>
                        <a:rPr lang="en-US" sz="1200" b="1" dirty="0">
                          <a:solidFill>
                            <a:srgbClr val="FFFFFF"/>
                          </a:solidFill>
                          <a:latin typeface="Arial" pitchFamily="34" charset="0"/>
                          <a:ea typeface="Arial" pitchFamily="34" charset="-122"/>
                          <a:cs typeface="Arial" pitchFamily="34" charset="-120"/>
                        </a:rPr>
                        <a:t>Task</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Reported accuracy</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Search</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96.9 %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Prediction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95.7 %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Generation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87.5 %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bl>
          </a:graphicData>
        </a:graphic>
      </p:graphicFrame>
      <p:sp>
        <p:nvSpPr>
          <p:cNvPr id="6" name="Text 3">
            <a:hlinkClick r:id="rId1" tooltip=""/>
          </p:cNvPr>
          <p:cNvSpPr txBox="1"/>
          <p:nvPr/>
        </p:nvSpPr>
        <p:spPr>
          <a:xfrm>
            <a:off x="365760" y="4343400"/>
            <a:ext cx="4937760" cy="274320"/>
          </a:xfrm>
          <a:prstGeom prst="rect">
            <a:avLst/>
          </a:prstGeom>
          <a:noFill/>
          <a:ln/>
        </p:spPr>
        <p:txBody>
          <a:bodyPr wrap="square" lIns="0" tIns="0" rIns="0" bIns="0" rtlCol="0" anchor="t"/>
          <a:lstStyle/>
          <a:p>
            <a:pPr indent="0" marL="0">
              <a:buNone/>
            </a:pPr>
            <a:r>
              <a:rPr lang="en-US" sz="1200" u="sng" dirty="0">
                <a:solidFill>
                  <a:srgbClr val="0000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https://www.nature.com/articles/s41467-024-48998-4</a:t>
            </a:r>
            <a:endParaRPr lang="en-US" sz="1200" dirty="0"/>
          </a:p>
        </p:txBody>
      </p:sp>
      <p:sp>
        <p:nvSpPr>
          <p:cNvPr id="7" name="Text 4"/>
          <p:cNvSpPr txBox="1"/>
          <p:nvPr/>
        </p:nvSpPr>
        <p:spPr>
          <a:xfrm>
            <a:off x="5577840" y="960120"/>
            <a:ext cx="4846320" cy="274320"/>
          </a:xfrm>
          <a:prstGeom prst="rect">
            <a:avLst/>
          </a:prstGeom>
          <a:noFill/>
          <a:ln/>
        </p:spPr>
        <p:txBody>
          <a:bodyPr wrap="square" lIns="0" tIns="0" rIns="0" bIns="0" rtlCol="0" anchor="t"/>
          <a:lstStyle/>
          <a:p>
            <a:pPr indent="0" marL="0">
              <a:buNone/>
            </a:pPr>
            <a:r>
              <a:rPr lang="en-US" sz="1200" b="1" dirty="0">
                <a:solidFill>
                  <a:srgbClr val="C00000"/>
                </a:solidFill>
                <a:latin typeface="Arial" pitchFamily="34" charset="0"/>
                <a:ea typeface="Arial" pitchFamily="34" charset="-122"/>
                <a:cs typeface="Arial" pitchFamily="34" charset="-120"/>
              </a:rPr>
              <a:t>Drawbacks reported in the base paper</a:t>
            </a:r>
            <a:endParaRPr lang="en-US" sz="1200" dirty="0"/>
          </a:p>
        </p:txBody>
      </p:sp>
      <p:sp>
        <p:nvSpPr>
          <p:cNvPr id="8" name="Text 5"/>
          <p:cNvSpPr txBox="1"/>
          <p:nvPr/>
        </p:nvSpPr>
        <p:spPr>
          <a:xfrm>
            <a:off x="5577840" y="1325880"/>
            <a:ext cx="4846320" cy="457200"/>
          </a:xfrm>
          <a:prstGeom prst="rect">
            <a:avLst/>
          </a:prstGeom>
          <a:noFill/>
          <a:ln/>
        </p:spPr>
        <p:txBody>
          <a:bodyPr wrap="square" lIns="0" tIns="0" rIns="0" bIns="0" rtlCol="0" anchor="t"/>
          <a:lstStyle/>
          <a:p>
            <a:pPr indent="0" marL="0">
              <a:buNone/>
            </a:pPr>
            <a:r>
              <a:rPr lang="en-US" sz="1200" b="1" dirty="0">
                <a:solidFill>
                  <a:srgbClr val="C00000"/>
                </a:solidFill>
                <a:latin typeface="Arial" pitchFamily="34" charset="0"/>
                <a:ea typeface="Arial" pitchFamily="34" charset="-122"/>
                <a:cs typeface="Arial" pitchFamily="34" charset="-120"/>
              </a:rPr>
              <a:t>L1  </a:t>
            </a:r>
            <a:pPr indent="0" marL="0">
              <a:buNone/>
            </a:pPr>
            <a:r>
              <a:rPr lang="en-US" sz="1200" dirty="0">
                <a:solidFill>
                  <a:schemeClr val="tx1"/>
                </a:solidFill>
                <a:latin typeface="Arial" pitchFamily="34" charset="0"/>
                <a:ea typeface="Arial" pitchFamily="34" charset="-122"/>
                <a:cs typeface="Arial" pitchFamily="34" charset="-120"/>
              </a:rPr>
              <a:t>No intrinsic materials knowledge (the LLM only plans tools)</a:t>
            </a:r>
            <a:endParaRPr lang="en-US" sz="1200" dirty="0"/>
          </a:p>
        </p:txBody>
      </p:sp>
      <p:sp>
        <p:nvSpPr>
          <p:cNvPr id="9" name="Text 6"/>
          <p:cNvSpPr txBox="1"/>
          <p:nvPr/>
        </p:nvSpPr>
        <p:spPr>
          <a:xfrm>
            <a:off x="5577840" y="1828800"/>
            <a:ext cx="4846320" cy="457200"/>
          </a:xfrm>
          <a:prstGeom prst="rect">
            <a:avLst/>
          </a:prstGeom>
          <a:noFill/>
          <a:ln/>
        </p:spPr>
        <p:txBody>
          <a:bodyPr wrap="square" lIns="0" tIns="0" rIns="0" bIns="0" rtlCol="0" anchor="t"/>
          <a:lstStyle/>
          <a:p>
            <a:pPr indent="0" marL="0">
              <a:buNone/>
            </a:pPr>
            <a:r>
              <a:rPr lang="en-US" sz="1200" b="1" dirty="0">
                <a:solidFill>
                  <a:srgbClr val="C00000"/>
                </a:solidFill>
                <a:latin typeface="Arial" pitchFamily="34" charset="0"/>
                <a:ea typeface="Arial" pitchFamily="34" charset="-122"/>
                <a:cs typeface="Arial" pitchFamily="34" charset="-120"/>
              </a:rPr>
              <a:t>L2  </a:t>
            </a:r>
            <a:pPr indent="0" marL="0">
              <a:buNone/>
            </a:pPr>
            <a:r>
              <a:rPr lang="en-US" sz="1200" dirty="0">
                <a:solidFill>
                  <a:schemeClr val="tx1"/>
                </a:solidFill>
                <a:latin typeface="Arial" pitchFamily="34" charset="0"/>
                <a:ea typeface="Arial" pitchFamily="34" charset="-122"/>
                <a:cs typeface="Arial" pitchFamily="34" charset="-120"/>
              </a:rPr>
              <a:t>Token-context limits: 4 % of search tasks failed</a:t>
            </a:r>
            <a:endParaRPr lang="en-US" sz="1200" dirty="0"/>
          </a:p>
        </p:txBody>
      </p:sp>
      <p:sp>
        <p:nvSpPr>
          <p:cNvPr id="10" name="Text 7"/>
          <p:cNvSpPr txBox="1"/>
          <p:nvPr/>
        </p:nvSpPr>
        <p:spPr>
          <a:xfrm>
            <a:off x="5577840" y="2331720"/>
            <a:ext cx="4846320" cy="457200"/>
          </a:xfrm>
          <a:prstGeom prst="rect">
            <a:avLst/>
          </a:prstGeom>
          <a:noFill/>
          <a:ln/>
        </p:spPr>
        <p:txBody>
          <a:bodyPr wrap="square" lIns="0" tIns="0" rIns="0" bIns="0" rtlCol="0" anchor="t"/>
          <a:lstStyle/>
          <a:p>
            <a:pPr indent="0" marL="0">
              <a:buNone/>
            </a:pPr>
            <a:r>
              <a:rPr lang="en-US" sz="1200" b="1" dirty="0">
                <a:solidFill>
                  <a:srgbClr val="C00000"/>
                </a:solidFill>
                <a:latin typeface="Arial" pitchFamily="34" charset="0"/>
                <a:ea typeface="Arial" pitchFamily="34" charset="-122"/>
                <a:cs typeface="Arial" pitchFamily="34" charset="-120"/>
              </a:rPr>
              <a:t>L3  </a:t>
            </a:r>
            <a:pPr indent="0" marL="0">
              <a:buNone/>
            </a:pPr>
            <a:r>
              <a:rPr lang="en-US" sz="1200" dirty="0">
                <a:solidFill>
                  <a:schemeClr val="tx1"/>
                </a:solidFill>
                <a:latin typeface="Arial" pitchFamily="34" charset="0"/>
                <a:ea typeface="Arial" pitchFamily="34" charset="-122"/>
                <a:cs typeface="Arial" pitchFamily="34" charset="-120"/>
              </a:rPr>
              <a:t>Reasoning and logic errors in generated code</a:t>
            </a:r>
            <a:endParaRPr lang="en-US" sz="1200" dirty="0"/>
          </a:p>
        </p:txBody>
      </p:sp>
      <p:sp>
        <p:nvSpPr>
          <p:cNvPr id="11" name="Text 8"/>
          <p:cNvSpPr txBox="1"/>
          <p:nvPr/>
        </p:nvSpPr>
        <p:spPr>
          <a:xfrm>
            <a:off x="5577840" y="2834640"/>
            <a:ext cx="4846320" cy="457200"/>
          </a:xfrm>
          <a:prstGeom prst="rect">
            <a:avLst/>
          </a:prstGeom>
          <a:noFill/>
          <a:ln/>
        </p:spPr>
        <p:txBody>
          <a:bodyPr wrap="square" lIns="0" tIns="0" rIns="0" bIns="0" rtlCol="0" anchor="t"/>
          <a:lstStyle/>
          <a:p>
            <a:pPr indent="0" marL="0">
              <a:buNone/>
            </a:pPr>
            <a:r>
              <a:rPr lang="en-US" sz="1200" b="1" dirty="0">
                <a:solidFill>
                  <a:srgbClr val="C00000"/>
                </a:solidFill>
                <a:latin typeface="Arial" pitchFamily="34" charset="0"/>
                <a:ea typeface="Arial" pitchFamily="34" charset="-122"/>
                <a:cs typeface="Arial" pitchFamily="34" charset="-120"/>
              </a:rPr>
              <a:t>L4  </a:t>
            </a:r>
            <a:pPr indent="0" marL="0">
              <a:buNone/>
            </a:pPr>
            <a:r>
              <a:rPr lang="en-US" sz="1200" dirty="0">
                <a:solidFill>
                  <a:schemeClr val="tx1"/>
                </a:solidFill>
                <a:latin typeface="Arial" pitchFamily="34" charset="0"/>
                <a:ea typeface="Arial" pitchFamily="34" charset="-122"/>
                <a:cs typeface="Arial" pitchFamily="34" charset="-120"/>
              </a:rPr>
              <a:t>Restricted search space (about 100 parent structures)</a:t>
            </a:r>
            <a:endParaRPr lang="en-US" sz="1200" dirty="0"/>
          </a:p>
        </p:txBody>
      </p:sp>
      <p:sp>
        <p:nvSpPr>
          <p:cNvPr id="12" name="Text 9"/>
          <p:cNvSpPr txBox="1"/>
          <p:nvPr/>
        </p:nvSpPr>
        <p:spPr>
          <a:xfrm>
            <a:off x="5577840" y="3337560"/>
            <a:ext cx="4846320" cy="457200"/>
          </a:xfrm>
          <a:prstGeom prst="rect">
            <a:avLst/>
          </a:prstGeom>
          <a:noFill/>
          <a:ln/>
        </p:spPr>
        <p:txBody>
          <a:bodyPr wrap="square" lIns="0" tIns="0" rIns="0" bIns="0" rtlCol="0" anchor="t"/>
          <a:lstStyle/>
          <a:p>
            <a:pPr indent="0" marL="0">
              <a:buNone/>
            </a:pPr>
            <a:r>
              <a:rPr lang="en-US" sz="1200" b="1" dirty="0">
                <a:solidFill>
                  <a:srgbClr val="C00000"/>
                </a:solidFill>
                <a:latin typeface="Arial" pitchFamily="34" charset="0"/>
                <a:ea typeface="Arial" pitchFamily="34" charset="-122"/>
                <a:cs typeface="Arial" pitchFamily="34" charset="-120"/>
              </a:rPr>
              <a:t>L5  </a:t>
            </a:r>
            <a:pPr indent="0" marL="0">
              <a:buNone/>
            </a:pPr>
            <a:r>
              <a:rPr lang="en-US" sz="1200" dirty="0">
                <a:solidFill>
                  <a:schemeClr val="tx1"/>
                </a:solidFill>
                <a:latin typeface="Arial" pitchFamily="34" charset="0"/>
                <a:ea typeface="Arial" pitchFamily="34" charset="-122"/>
                <a:cs typeface="Arial" pitchFamily="34" charset="-120"/>
              </a:rPr>
              <a:t>Narrow topology coverage (9 topologies)</a:t>
            </a:r>
            <a:endParaRPr lang="en-US" sz="1200" dirty="0"/>
          </a:p>
        </p:txBody>
      </p:sp>
      <p:sp>
        <p:nvSpPr>
          <p:cNvPr id="13" name="Text 10"/>
          <p:cNvSpPr txBox="1"/>
          <p:nvPr/>
        </p:nvSpPr>
        <p:spPr>
          <a:xfrm>
            <a:off x="5577840" y="3840480"/>
            <a:ext cx="4846320" cy="457200"/>
          </a:xfrm>
          <a:prstGeom prst="rect">
            <a:avLst/>
          </a:prstGeom>
          <a:noFill/>
          <a:ln/>
        </p:spPr>
        <p:txBody>
          <a:bodyPr wrap="square" lIns="0" tIns="0" rIns="0" bIns="0" rtlCol="0" anchor="t"/>
          <a:lstStyle/>
          <a:p>
            <a:pPr indent="0" marL="0">
              <a:buNone/>
            </a:pPr>
            <a:r>
              <a:rPr lang="en-US" sz="1200" b="1" dirty="0">
                <a:solidFill>
                  <a:srgbClr val="C00000"/>
                </a:solidFill>
                <a:latin typeface="Arial" pitchFamily="34" charset="0"/>
                <a:ea typeface="Arial" pitchFamily="34" charset="-122"/>
                <a:cs typeface="Arial" pitchFamily="34" charset="-120"/>
              </a:rPr>
              <a:t>L6  </a:t>
            </a:r>
            <a:pPr indent="0" marL="0">
              <a:buNone/>
            </a:pPr>
            <a:r>
              <a:rPr lang="en-US" sz="1200" dirty="0">
                <a:solidFill>
                  <a:schemeClr val="tx1"/>
                </a:solidFill>
                <a:latin typeface="Arial" pitchFamily="34" charset="0"/>
                <a:ea typeface="Arial" pitchFamily="34" charset="-122"/>
                <a:cs typeface="Arial" pitchFamily="34" charset="-120"/>
              </a:rPr>
              <a:t>One pretrained model needed per property</a:t>
            </a:r>
            <a:endParaRPr lang="en-US" sz="1200" dirty="0"/>
          </a:p>
        </p:txBody>
      </p:sp>
      <p:sp>
        <p:nvSpPr>
          <p:cNvPr id="14" name="Text 11"/>
          <p:cNvSpPr txBox="1"/>
          <p:nvPr/>
        </p:nvSpPr>
        <p:spPr>
          <a:xfrm>
            <a:off x="5577840" y="4343400"/>
            <a:ext cx="4846320" cy="457200"/>
          </a:xfrm>
          <a:prstGeom prst="rect">
            <a:avLst/>
          </a:prstGeom>
          <a:noFill/>
          <a:ln/>
        </p:spPr>
        <p:txBody>
          <a:bodyPr wrap="square" lIns="0" tIns="0" rIns="0" bIns="0" rtlCol="0" anchor="t"/>
          <a:lstStyle/>
          <a:p>
            <a:pPr indent="0" marL="0">
              <a:buNone/>
            </a:pPr>
            <a:r>
              <a:rPr lang="en-US" sz="1200" b="1" dirty="0">
                <a:solidFill>
                  <a:srgbClr val="C00000"/>
                </a:solidFill>
                <a:latin typeface="Arial" pitchFamily="34" charset="0"/>
                <a:ea typeface="Arial" pitchFamily="34" charset="-122"/>
                <a:cs typeface="Arial" pitchFamily="34" charset="-120"/>
              </a:rPr>
              <a:t>L7  </a:t>
            </a:r>
            <a:pPr indent="0" marL="0">
              <a:buNone/>
            </a:pPr>
            <a:r>
              <a:rPr lang="en-US" sz="1200" dirty="0">
                <a:solidFill>
                  <a:schemeClr val="tx1"/>
                </a:solidFill>
                <a:latin typeface="Arial" pitchFamily="34" charset="0"/>
                <a:ea typeface="Arial" pitchFamily="34" charset="-122"/>
                <a:cs typeface="Arial" pitchFamily="34" charset="-120"/>
              </a:rPr>
              <a:t>General, non-fine-tuned LLM (GPT-4)</a:t>
            </a:r>
            <a:endParaRPr lang="en-US" sz="1200" dirty="0"/>
          </a:p>
        </p:txBody>
      </p:sp>
      <p:sp>
        <p:nvSpPr>
          <p:cNvPr id="15" name="Text 12"/>
          <p:cNvSpPr txBox="1"/>
          <p:nvPr/>
        </p:nvSpPr>
        <p:spPr>
          <a:xfrm>
            <a:off x="5577840" y="4846320"/>
            <a:ext cx="4846320" cy="457200"/>
          </a:xfrm>
          <a:prstGeom prst="rect">
            <a:avLst/>
          </a:prstGeom>
          <a:noFill/>
          <a:ln/>
        </p:spPr>
        <p:txBody>
          <a:bodyPr wrap="square" lIns="0" tIns="0" rIns="0" bIns="0" rtlCol="0" anchor="t"/>
          <a:lstStyle/>
          <a:p>
            <a:pPr indent="0" marL="0">
              <a:buNone/>
            </a:pPr>
            <a:r>
              <a:rPr lang="en-US" sz="1200" b="1" dirty="0">
                <a:solidFill>
                  <a:srgbClr val="C00000"/>
                </a:solidFill>
                <a:latin typeface="Arial" pitchFamily="34" charset="0"/>
                <a:ea typeface="Arial" pitchFamily="34" charset="-122"/>
                <a:cs typeface="Arial" pitchFamily="34" charset="-120"/>
              </a:rPr>
              <a:t>L8  </a:t>
            </a:r>
            <a:pPr indent="0" marL="0">
              <a:buNone/>
            </a:pPr>
            <a:r>
              <a:rPr lang="en-US" sz="1200" dirty="0">
                <a:solidFill>
                  <a:schemeClr val="tx1"/>
                </a:solidFill>
                <a:latin typeface="Arial" pitchFamily="34" charset="0"/>
                <a:ea typeface="Arial" pitchFamily="34" charset="-122"/>
                <a:cs typeface="Arial" pitchFamily="34" charset="-120"/>
              </a:rPr>
              <a:t>High compute cost (GA and simulations)</a:t>
            </a:r>
            <a:endParaRPr lang="en-US" sz="1200" dirty="0"/>
          </a:p>
        </p:txBody>
      </p:sp>
      <p:sp>
        <p:nvSpPr>
          <p:cNvPr id="16" name="Text 13"/>
          <p:cNvSpPr txBox="1"/>
          <p:nvPr/>
        </p:nvSpPr>
        <p:spPr>
          <a:xfrm>
            <a:off x="5577840" y="5349240"/>
            <a:ext cx="4846320" cy="457200"/>
          </a:xfrm>
          <a:prstGeom prst="rect">
            <a:avLst/>
          </a:prstGeom>
          <a:noFill/>
          <a:ln/>
        </p:spPr>
        <p:txBody>
          <a:bodyPr wrap="square" lIns="0" tIns="0" rIns="0" bIns="0" rtlCol="0" anchor="t"/>
          <a:lstStyle/>
          <a:p>
            <a:pPr indent="0" marL="0">
              <a:buNone/>
            </a:pPr>
            <a:r>
              <a:rPr lang="en-US" sz="1200" b="1" dirty="0">
                <a:solidFill>
                  <a:srgbClr val="C00000"/>
                </a:solidFill>
                <a:latin typeface="Arial" pitchFamily="34" charset="0"/>
                <a:ea typeface="Arial" pitchFamily="34" charset="-122"/>
                <a:cs typeface="Arial" pitchFamily="34" charset="-120"/>
              </a:rPr>
              <a:t>L9  </a:t>
            </a:r>
            <a:pPr indent="0" marL="0">
              <a:buNone/>
            </a:pPr>
            <a:r>
              <a:rPr lang="en-US" sz="1200" dirty="0">
                <a:solidFill>
                  <a:schemeClr val="tx1"/>
                </a:solidFill>
                <a:latin typeface="Arial" pitchFamily="34" charset="0"/>
                <a:ea typeface="Arial" pitchFamily="34" charset="-122"/>
                <a:cs typeface="Arial" pitchFamily="34" charset="-120"/>
              </a:rPr>
              <a:t>Results are not validated against the data</a:t>
            </a:r>
            <a:endParaRPr lang="en-US" sz="1200" dirty="0"/>
          </a:p>
        </p:txBody>
      </p:sp>
      <p:sp>
        <p:nvSpPr>
          <p:cNvPr id="17" name="Text 14"/>
          <p:cNvSpPr txBox="1"/>
          <p:nvPr/>
        </p:nvSpPr>
        <p:spPr>
          <a:xfrm>
            <a:off x="365760" y="5897880"/>
            <a:ext cx="9966960" cy="118872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ReAct = an agent loop where the LLM reasons, calls a tool, reads the result and repeats. pandas = Python library for tables. MOFTransformer = pretrained Transformer that predicts MOF properties from the 3-D structure. GA = genetic algorithm (evolves candidates by mutation and selection). PORMAKE = tool that builds MOF structures from building blocks. Topology = the connection pattern of metal nodes and linkers. Token limit = maximum amount of text an LLM can read at once.</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Objectives and Our Novelty</a:t>
            </a:r>
            <a:endParaRPr lang="en-US" sz="2400" dirty="0"/>
          </a:p>
        </p:txBody>
      </p:sp>
      <p:sp>
        <p:nvSpPr>
          <p:cNvPr id="3" name="Text 1"/>
          <p:cNvSpPr txBox="1"/>
          <p:nvPr/>
        </p:nvSpPr>
        <p:spPr>
          <a:xfrm>
            <a:off x="365760" y="960120"/>
            <a:ext cx="3840480" cy="274320"/>
          </a:xfrm>
          <a:prstGeom prst="rect">
            <a:avLst/>
          </a:prstGeom>
          <a:noFill/>
          <a:ln/>
        </p:spPr>
        <p:txBody>
          <a:bodyPr wrap="square" lIns="0" tIns="0" rIns="0" bIns="0" rtlCol="0" anchor="t"/>
          <a:lstStyle/>
          <a:p>
            <a:pPr indent="0" marL="0">
              <a:buNone/>
            </a:pPr>
            <a:r>
              <a:rPr lang="en-US" sz="1200" b="1" dirty="0">
                <a:solidFill>
                  <a:srgbClr val="C00000"/>
                </a:solidFill>
                <a:latin typeface="Arial" pitchFamily="34" charset="0"/>
                <a:ea typeface="Arial" pitchFamily="34" charset="-122"/>
                <a:cs typeface="Arial" pitchFamily="34" charset="-120"/>
              </a:rPr>
              <a:t>Objectives</a:t>
            </a:r>
            <a:endParaRPr lang="en-US" sz="1200" dirty="0"/>
          </a:p>
        </p:txBody>
      </p:sp>
      <p:sp>
        <p:nvSpPr>
          <p:cNvPr id="4" name="Text 2"/>
          <p:cNvSpPr txBox="1"/>
          <p:nvPr/>
        </p:nvSpPr>
        <p:spPr>
          <a:xfrm>
            <a:off x="365760" y="1325880"/>
            <a:ext cx="3840480" cy="64008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1. </a:t>
            </a:r>
            <a:pPr indent="0" marL="0">
              <a:buNone/>
            </a:pPr>
            <a:r>
              <a:rPr lang="en-US" sz="1200" dirty="0">
                <a:solidFill>
                  <a:schemeClr val="tx1"/>
                </a:solidFill>
                <a:latin typeface="Arial" pitchFamily="34" charset="0"/>
                <a:ea typeface="Arial" pitchFamily="34" charset="-122"/>
                <a:cs typeface="Arial" pitchFamily="34" charset="-120"/>
              </a:rPr>
              <a:t>Exact answers over all 12,020 MOFs using free or local LLMs</a:t>
            </a:r>
            <a:endParaRPr lang="en-US" sz="1200" dirty="0"/>
          </a:p>
        </p:txBody>
      </p:sp>
      <p:sp>
        <p:nvSpPr>
          <p:cNvPr id="5" name="Text 3"/>
          <p:cNvSpPr txBox="1"/>
          <p:nvPr/>
        </p:nvSpPr>
        <p:spPr>
          <a:xfrm>
            <a:off x="365760" y="2011680"/>
            <a:ext cx="3840480" cy="64008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2. </a:t>
            </a:r>
            <a:pPr indent="0" marL="0">
              <a:buNone/>
            </a:pPr>
            <a:r>
              <a:rPr lang="en-US" sz="1200" dirty="0">
                <a:solidFill>
                  <a:schemeClr val="tx1"/>
                </a:solidFill>
                <a:latin typeface="Arial" pitchFamily="34" charset="0"/>
                <a:ea typeface="Arial" pitchFamily="34" charset="-122"/>
                <a:cs typeface="Arial" pitchFamily="34" charset="-120"/>
              </a:rPr>
              <a:t>Safe LLM planning with validation, self-correction and fallback</a:t>
            </a:r>
            <a:endParaRPr lang="en-US" sz="1200" dirty="0"/>
          </a:p>
        </p:txBody>
      </p:sp>
      <p:sp>
        <p:nvSpPr>
          <p:cNvPr id="6" name="Text 4"/>
          <p:cNvSpPr txBox="1"/>
          <p:nvPr/>
        </p:nvSpPr>
        <p:spPr>
          <a:xfrm>
            <a:off x="365760" y="2697480"/>
            <a:ext cx="3840480" cy="64008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3. </a:t>
            </a:r>
            <a:pPr indent="0" marL="0">
              <a:buNone/>
            </a:pPr>
            <a:r>
              <a:rPr lang="en-US" sz="1200" dirty="0">
                <a:solidFill>
                  <a:schemeClr val="tx1"/>
                </a:solidFill>
                <a:latin typeface="Arial" pitchFamily="34" charset="0"/>
                <a:ea typeface="Arial" pitchFamily="34" charset="-122"/>
                <a:cs typeface="Arial" pitchFamily="34" charset="-120"/>
              </a:rPr>
              <a:t>Multi-objective ranking with NSGA-II</a:t>
            </a:r>
            <a:endParaRPr lang="en-US" sz="1200" dirty="0"/>
          </a:p>
        </p:txBody>
      </p:sp>
      <p:sp>
        <p:nvSpPr>
          <p:cNvPr id="7" name="Text 5"/>
          <p:cNvSpPr txBox="1"/>
          <p:nvPr/>
        </p:nvSpPr>
        <p:spPr>
          <a:xfrm>
            <a:off x="365760" y="3383280"/>
            <a:ext cx="3840480" cy="64008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4. </a:t>
            </a:r>
            <a:pPr indent="0" marL="0">
              <a:buNone/>
            </a:pPr>
            <a:r>
              <a:rPr lang="en-US" sz="1200" dirty="0">
                <a:solidFill>
                  <a:schemeClr val="tx1"/>
                </a:solidFill>
                <a:latin typeface="Arial" pitchFamily="34" charset="0"/>
                <a:ea typeface="Arial" pitchFamily="34" charset="-122"/>
                <a:cs typeface="Arial" pitchFamily="34" charset="-120"/>
              </a:rPr>
              <a:t>Deep-learning and ML surrogate models with uncertainty and SHAP</a:t>
            </a:r>
            <a:endParaRPr lang="en-US" sz="1200" dirty="0"/>
          </a:p>
        </p:txBody>
      </p:sp>
      <p:sp>
        <p:nvSpPr>
          <p:cNvPr id="8" name="Text 6"/>
          <p:cNvSpPr txBox="1"/>
          <p:nvPr/>
        </p:nvSpPr>
        <p:spPr>
          <a:xfrm>
            <a:off x="365760" y="4069080"/>
            <a:ext cx="3840480" cy="64008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5. </a:t>
            </a:r>
            <a:pPr indent="0" marL="0">
              <a:buNone/>
            </a:pPr>
            <a:r>
              <a:rPr lang="en-US" sz="1200" dirty="0">
                <a:solidFill>
                  <a:schemeClr val="tx1"/>
                </a:solidFill>
                <a:latin typeface="Arial" pitchFamily="34" charset="0"/>
                <a:ea typeface="Arial" pitchFamily="34" charset="-122"/>
                <a:cs typeface="Arial" pitchFamily="34" charset="-120"/>
              </a:rPr>
              <a:t>Knowledge grounding by retrieval (RAG)</a:t>
            </a:r>
            <a:endParaRPr lang="en-US" sz="1200" dirty="0"/>
          </a:p>
        </p:txBody>
      </p:sp>
      <p:sp>
        <p:nvSpPr>
          <p:cNvPr id="9" name="Text 7"/>
          <p:cNvSpPr txBox="1"/>
          <p:nvPr/>
        </p:nvSpPr>
        <p:spPr>
          <a:xfrm>
            <a:off x="365760" y="4754880"/>
            <a:ext cx="3840480" cy="64008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6. </a:t>
            </a:r>
            <a:pPr indent="0" marL="0">
              <a:buNone/>
            </a:pPr>
            <a:r>
              <a:rPr lang="en-US" sz="1200" dirty="0">
                <a:solidFill>
                  <a:schemeClr val="tx1"/>
                </a:solidFill>
                <a:latin typeface="Arial" pitchFamily="34" charset="0"/>
                <a:ea typeface="Arial" pitchFamily="34" charset="-122"/>
                <a:cs typeface="Arial" pitchFamily="34" charset="-120"/>
              </a:rPr>
              <a:t>Measured results: benchmark, held-out set, classification and regression metrics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434840" y="1005840"/>
          <a:ext cx="5989320" cy="914400"/>
        </p:xfrm>
        <a:graphic>
          <a:graphicData uri="http://schemas.openxmlformats.org/drawingml/2006/table">
            <a:tbl>
              <a:tblPr/>
              <a:tblGrid>
                <a:gridCol w="2103120"/>
                <a:gridCol w="3886200"/>
              </a:tblGrid>
              <a:tr h="457200">
                <a:tc>
                  <a:txBody>
                    <a:bodyPr/>
                    <a:lstStyle/>
                    <a:p>
                      <a:pPr indent="0" marL="0">
                        <a:buNone/>
                      </a:pPr>
                      <a:r>
                        <a:rPr lang="en-US" sz="1200" b="1" dirty="0">
                          <a:solidFill>
                            <a:srgbClr val="FFFFFF"/>
                          </a:solidFill>
                          <a:latin typeface="Arial" pitchFamily="34" charset="0"/>
                          <a:ea typeface="Arial" pitchFamily="34" charset="-122"/>
                          <a:cs typeface="Arial" pitchFamily="34" charset="-120"/>
                        </a:rPr>
                        <a:t>Base-paper limitation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MOFChat novelty</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r>
              <a:tr h="457200">
                <a:tc>
                  <a:txBody>
                    <a:bodyPr/>
                    <a:lstStyle/>
                    <a:p>
                      <a:pPr indent="0" marL="0">
                        <a:buNone/>
                      </a:pPr>
                      <a:r>
                        <a:rPr lang="en-US" sz="1200" dirty="0">
                          <a:solidFill>
                            <a:srgbClr val="000000"/>
                          </a:solidFill>
                          <a:latin typeface="Arial" pitchFamily="34" charset="0"/>
                          <a:ea typeface="Arial" pitchFamily="34" charset="-122"/>
                          <a:cs typeface="Arial" pitchFamily="34" charset="-120"/>
                        </a:rPr>
                        <a:t>No materials knowledge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RAG over curated notes and the ChatMOF paper</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457200">
                <a:tc>
                  <a:txBody>
                    <a:bodyPr/>
                    <a:lstStyle/>
                    <a:p>
                      <a:pPr indent="0" marL="0">
                        <a:buNone/>
                      </a:pPr>
                      <a:r>
                        <a:rPr lang="en-US" sz="1200" dirty="0">
                          <a:solidFill>
                            <a:srgbClr val="000000"/>
                          </a:solidFill>
                          <a:latin typeface="Arial" pitchFamily="34" charset="0"/>
                          <a:ea typeface="Arial" pitchFamily="34" charset="-122"/>
                          <a:cs typeface="Arial" pitchFamily="34" charset="-120"/>
                        </a:rPr>
                        <a:t>Token limits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SQL filters first; the LLM sees at most 10 verified rows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00000"/>
                          </a:solidFill>
                          <a:latin typeface="Arial" pitchFamily="34" charset="0"/>
                          <a:ea typeface="Arial" pitchFamily="34" charset="-122"/>
                          <a:cs typeface="Arial" pitchFamily="34" charset="-120"/>
                        </a:rPr>
                        <a:t>Logic errors in code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The LLM writes a JSON plan; a validator checks and repairs it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457200">
                <a:tc>
                  <a:txBody>
                    <a:bodyPr/>
                    <a:lstStyle/>
                    <a:p>
                      <a:pPr indent="0" marL="0">
                        <a:buNone/>
                      </a:pPr>
                      <a:r>
                        <a:rPr lang="en-US" sz="1200" dirty="0">
                          <a:solidFill>
                            <a:srgbClr val="000000"/>
                          </a:solidFill>
                          <a:latin typeface="Arial" pitchFamily="34" charset="0"/>
                          <a:ea typeface="Arial" pitchFamily="34" charset="-122"/>
                          <a:cs typeface="Arial" pitchFamily="34" charset="-120"/>
                        </a:rPr>
                        <a:t>Small search space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All 12,020 MOFs searched and ranked (NSGA-II)</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00000"/>
                          </a:solidFill>
                          <a:latin typeface="Arial" pitchFamily="34" charset="0"/>
                          <a:ea typeface="Arial" pitchFamily="34" charset="-122"/>
                          <a:cs typeface="Arial" pitchFamily="34" charset="-120"/>
                        </a:rPr>
                        <a:t>Only 9 topologies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Every CoRE-MOF structure, 65 metals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457200">
                <a:tc>
                  <a:txBody>
                    <a:bodyPr/>
                    <a:lstStyle/>
                    <a:p>
                      <a:pPr indent="0" marL="0">
                        <a:buNone/>
                      </a:pPr>
                      <a:r>
                        <a:rPr lang="en-US" sz="1200" dirty="0">
                          <a:solidFill>
                            <a:srgbClr val="000000"/>
                          </a:solidFill>
                          <a:latin typeface="Arial" pitchFamily="34" charset="0"/>
                          <a:ea typeface="Arial" pitchFamily="34" charset="-122"/>
                          <a:cs typeface="Arial" pitchFamily="34" charset="-120"/>
                        </a:rPr>
                        <a:t>One model per property</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Our own XGBoost and FT-Transformer surrogates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00000"/>
                          </a:solidFill>
                          <a:latin typeface="Arial" pitchFamily="34" charset="0"/>
                          <a:ea typeface="Arial" pitchFamily="34" charset="-122"/>
                          <a:cs typeface="Arial" pitchFamily="34" charset="-120"/>
                        </a:rPr>
                        <a:t>Proprietary GPT-4</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14 free or local LLMs with automatic fallback</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457200">
                <a:tc>
                  <a:txBody>
                    <a:bodyPr/>
                    <a:lstStyle/>
                    <a:p>
                      <a:pPr indent="0" marL="0">
                        <a:buNone/>
                      </a:pPr>
                      <a:r>
                        <a:rPr lang="en-US" sz="1200" dirty="0">
                          <a:solidFill>
                            <a:srgbClr val="000000"/>
                          </a:solidFill>
                          <a:latin typeface="Arial" pitchFamily="34" charset="0"/>
                          <a:ea typeface="Arial" pitchFamily="34" charset="-122"/>
                          <a:cs typeface="Arial" pitchFamily="34" charset="-120"/>
                        </a:rPr>
                        <a:t>High computation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Millisecond surrogate models instead of simulations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00000"/>
                          </a:solidFill>
                          <a:latin typeface="Arial" pitchFamily="34" charset="0"/>
                          <a:ea typeface="Arial" pitchFamily="34" charset="-122"/>
                          <a:cs typeface="Arial" pitchFamily="34" charset="-120"/>
                        </a:rPr>
                        <a:t>No validation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Answer validator, conformal intervals, SHAP and a benchmark</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bl>
          </a:graphicData>
        </a:graphic>
      </p:graphicFrame>
      <p:sp>
        <p:nvSpPr>
          <p:cNvPr id="11" name="Text 8"/>
          <p:cNvSpPr txBox="1"/>
          <p:nvPr/>
        </p:nvSpPr>
        <p:spPr>
          <a:xfrm>
            <a:off x="365760" y="5897880"/>
            <a:ext cx="9966960" cy="118872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NSGA-II = Non-dominated Sorting Genetic Algorithm II (ranks options with several goals). SHAP = SHapley Additive exPlanations (how much each input pushed a prediction). RAG = retrieval-augmented generation (look up documents, then answer). SQL = database query language. JSON plan = structured text that says what to search. Surrogate = fast ML model that replaces a slow calculation. Held-out set = test questions never used while building.</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Literature Review (2024-2026), part 1 of 3</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28600" y="914400"/>
          <a:ext cx="10232136" cy="914400"/>
        </p:xfrm>
        <a:graphic>
          <a:graphicData uri="http://schemas.openxmlformats.org/drawingml/2006/table">
            <a:tbl>
              <a:tblPr/>
              <a:tblGrid>
                <a:gridCol w="320040"/>
                <a:gridCol w="1783080"/>
                <a:gridCol w="1051560"/>
                <a:gridCol w="1143000"/>
                <a:gridCol w="1554480"/>
                <a:gridCol w="1463040"/>
                <a:gridCol w="1325880"/>
                <a:gridCol w="1591056"/>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Paper</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Authors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Year, venue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Method</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Contribution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Limitation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Use in MOFChat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b="1" dirty="0">
                          <a:solidFill>
                            <a:srgbClr val="000000"/>
                          </a:solidFill>
                          <a:latin typeface="Arial" pitchFamily="34" charset="0"/>
                          <a:ea typeface="Arial" pitchFamily="34" charset="-122"/>
                          <a:cs typeface="Arial" pitchFamily="34" charset="-120"/>
                        </a:rPr>
                        <a:t>ChatMOF: an AI system for predicting and generating MOFs using LLMs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Kang, Kim</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2024, Nat. Commun.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GPT-4 agent writes pandas code; MOFTransformer; genetic algorithm</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96.9 / 95.7 / 87.5 % on search / prediction / generation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Token limits, code errors, answers not checked</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1F497D"/>
                          </a:solidFill>
                          <a:latin typeface="Arial" pitchFamily="34" charset="0"/>
                          <a:ea typeface="Arial" pitchFamily="34" charset="-122"/>
                          <a:cs typeface="Arial" pitchFamily="34" charset="-120"/>
                        </a:rPr>
                        <a:t>Base paper; we use validated JSON plans and SQL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b="1" dirty="0">
                          <a:solidFill>
                            <a:srgbClr val="000000"/>
                          </a:solidFill>
                          <a:latin typeface="Arial" pitchFamily="34" charset="0"/>
                          <a:ea typeface="Arial" pitchFamily="34" charset="-122"/>
                          <a:cs typeface="Arial" pitchFamily="34" charset="-120"/>
                        </a:rPr>
                        <a:t>Augmenting LLMs with chemistry tools (ChemCrow)</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Bran et al.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2024, Nat. Mach. Intell.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GPT-4 with 18 expert tools in a reason-act loop</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Planned real syntheses; found a new chromophore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Needs GPT-4; tool outputs not cross-checked</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1F497D"/>
                          </a:solidFill>
                          <a:latin typeface="Arial" pitchFamily="34" charset="0"/>
                          <a:ea typeface="Arial" pitchFamily="34" charset="-122"/>
                          <a:cs typeface="Arial" pitchFamily="34" charset="-120"/>
                        </a:rPr>
                        <a:t>Tool calling; our tools are deterministic and tested</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b="1" dirty="0">
                          <a:solidFill>
                            <a:srgbClr val="000000"/>
                          </a:solidFill>
                          <a:latin typeface="Arial" pitchFamily="34" charset="0"/>
                          <a:ea typeface="Arial" pitchFamily="34" charset="-122"/>
                          <a:cs typeface="Arial" pitchFamily="34" charset="-120"/>
                        </a:rPr>
                        <a:t>MOFDiff: coarse-grained diffusion for MOF design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Fu, Xie, Rosen et al.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2024, ICLR</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Equivariant diffusion over building blocks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Valid, novel MOFs for CO2 capture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Needs simulation to validate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1F497D"/>
                          </a:solidFill>
                          <a:latin typeface="Arial" pitchFamily="34" charset="0"/>
                          <a:ea typeface="Arial" pitchFamily="34" charset="-122"/>
                          <a:cs typeface="Arial" pitchFamily="34" charset="-120"/>
                        </a:rPr>
                        <a:t>Generation is future work</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b="1" dirty="0">
                          <a:solidFill>
                            <a:srgbClr val="000000"/>
                          </a:solidFill>
                          <a:latin typeface="Arial" pitchFamily="34" charset="0"/>
                          <a:ea typeface="Arial" pitchFamily="34" charset="-122"/>
                          <a:cs typeface="Arial" pitchFamily="34" charset="-120"/>
                        </a:rPr>
                        <a:t>TableRAG: million-token table understanding</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Chen et al.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2024, NeurIPS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Schema and cell retrieval before the LLM</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Table QA on very large tables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Numeric filters still judged by the LLM</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1F497D"/>
                          </a:solidFill>
                          <a:latin typeface="Arial" pitchFamily="34" charset="0"/>
                          <a:ea typeface="Arial" pitchFamily="34" charset="-122"/>
                          <a:cs typeface="Arial" pitchFamily="34" charset="-120"/>
                        </a:rPr>
                        <a:t>We filter with SQL first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b="1" dirty="0">
                          <a:solidFill>
                            <a:srgbClr val="000000"/>
                          </a:solidFill>
                          <a:latin typeface="Arial" pitchFamily="34" charset="0"/>
                          <a:ea typeface="Arial" pitchFamily="34" charset="-122"/>
                          <a:cs typeface="Arial" pitchFamily="34" charset="-120"/>
                        </a:rPr>
                        <a:t>Chain-of-Table: evolving tables in the reasoning chain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Wang et al.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2024, ICLR</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LLM plans table operations step by step</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Best results on WikiTQ and TabFact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No domain validation of operations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1F497D"/>
                          </a:solidFill>
                          <a:latin typeface="Arial" pitchFamily="34" charset="0"/>
                          <a:ea typeface="Arial" pitchFamily="34" charset="-122"/>
                          <a:cs typeface="Arial" pitchFamily="34" charset="-120"/>
                        </a:rPr>
                        <a:t>We validate every planned operation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b="1" dirty="0">
                          <a:solidFill>
                            <a:srgbClr val="000000"/>
                          </a:solidFill>
                          <a:latin typeface="Arial" pitchFamily="34" charset="0"/>
                          <a:ea typeface="Arial" pitchFamily="34" charset="-122"/>
                          <a:cs typeface="Arial" pitchFamily="34" charset="-120"/>
                        </a:rPr>
                        <a:t>Detecting hallucinations in LLMs using semantic entropy</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Farquhar, Kossen, Kuhn, Gal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2024, Nature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Entropy over the meanings of sampled answers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Detects confabulations without task data</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Misses consistent errors; needs many samples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1F497D"/>
                          </a:solidFill>
                          <a:latin typeface="Arial" pitchFamily="34" charset="0"/>
                          <a:ea typeface="Arial" pitchFamily="34" charset="-122"/>
                          <a:cs typeface="Arial" pitchFamily="34" charset="-120"/>
                        </a:rPr>
                        <a:t>We check answers against the data instead</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228600" y="6355080"/>
            <a:ext cx="9509760" cy="77724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QA = question answering. WikiTQ / TabFact = public table question-answering benchmarks. Confabulation = a confident but made-up LLM answer. Equivariant diffusion = generative model that respects rotations of a structure. CO2 capture = trapping carbon dioxide from gas mixtures.</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Literature Review (2024-2026), part 2 of 3</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28600" y="914400"/>
          <a:ext cx="10232136" cy="914400"/>
        </p:xfrm>
        <a:graphic>
          <a:graphicData uri="http://schemas.openxmlformats.org/drawingml/2006/table">
            <a:tbl>
              <a:tblPr/>
              <a:tblGrid>
                <a:gridCol w="320040"/>
                <a:gridCol w="1783080"/>
                <a:gridCol w="1051560"/>
                <a:gridCol w="1143000"/>
                <a:gridCol w="1554480"/>
                <a:gridCol w="1463040"/>
                <a:gridCol w="1325880"/>
                <a:gridCol w="1591056"/>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Paper</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Authors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Year, venue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Method</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Contribution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Limitation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Use in MOFChat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b="1" dirty="0">
                          <a:solidFill>
                            <a:srgbClr val="000000"/>
                          </a:solidFill>
                          <a:latin typeface="Arial" pitchFamily="34" charset="0"/>
                          <a:ea typeface="Arial" pitchFamily="34" charset="-122"/>
                          <a:cs typeface="Arial" pitchFamily="34" charset="-120"/>
                        </a:rPr>
                        <a:t>Harnessing LLMs to collect and analyze MOF property data (L2M3)</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Lee, Kang, Bae, Kim</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2025, JACS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LLM text mining of over 40,000 articles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Experimental MOF database and synthesis recommender</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Extraction errors from text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1F497D"/>
                          </a:solidFill>
                          <a:latin typeface="Arial" pitchFamily="34" charset="0"/>
                          <a:ea typeface="Arial" pitchFamily="34" charset="-122"/>
                          <a:cs typeface="Arial" pitchFamily="34" charset="-120"/>
                        </a:rPr>
                        <a:t>Source of real labels for future uptake models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b="1" dirty="0">
                          <a:solidFill>
                            <a:srgbClr val="000000"/>
                          </a:solidFill>
                          <a:latin typeface="Arial" pitchFamily="34" charset="0"/>
                          <a:ea typeface="Arial" pitchFamily="34" charset="-122"/>
                          <a:cs typeface="Arial" pitchFamily="34" charset="-120"/>
                        </a:rPr>
                        <a:t>MOF-ChemUnity: literature-informed LLMs for MOF research</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Pruyn et al.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2025, JACS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Multi-agent LLM links literature names to CSD structures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Literature-grounded answers via a knowledge graph</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Large infrastructure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1F497D"/>
                          </a:solidFill>
                          <a:latin typeface="Arial" pitchFamily="34" charset="0"/>
                          <a:ea typeface="Arial" pitchFamily="34" charset="-122"/>
                          <a:cs typeface="Arial" pitchFamily="34" charset="-120"/>
                        </a:rPr>
                        <a:t>Our RAG grounds answers in notes and papers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b="1" dirty="0">
                          <a:solidFill>
                            <a:srgbClr val="000000"/>
                          </a:solidFill>
                          <a:latin typeface="Arial" pitchFamily="34" charset="0"/>
                          <a:ea typeface="Arial" pitchFamily="34" charset="-122"/>
                          <a:cs typeface="Arial" pitchFamily="34" charset="-120"/>
                        </a:rPr>
                        <a:t>Accurate predictions on small data with a tabular foundation model (TabPFN)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Hollmann et al.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2025, Nature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Transformer pretrained on synthetic tables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Beats tuned GBDT on small tables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About 10k rows / 500 features at most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1F497D"/>
                          </a:solidFill>
                          <a:latin typeface="Arial" pitchFamily="34" charset="0"/>
                          <a:ea typeface="Arial" pitchFamily="34" charset="-122"/>
                          <a:cs typeface="Arial" pitchFamily="34" charset="-120"/>
                        </a:rPr>
                        <a:t>Possible surrogate for our 8k-row tables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b="1" dirty="0">
                          <a:solidFill>
                            <a:srgbClr val="000000"/>
                          </a:solidFill>
                          <a:latin typeface="Arial" pitchFamily="34" charset="0"/>
                          <a:ea typeface="Arial" pitchFamily="34" charset="-122"/>
                          <a:cs typeface="Arial" pitchFamily="34" charset="-120"/>
                        </a:rPr>
                        <a:t>TabM: tabular deep learning with parameter-efficient ensembling</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Gorishniy, Kotelnikov, Babenko</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2025, ICLR</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MLP with BatchEnsemble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Beats attention-based tabular models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Generic benchmarks only</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1F497D"/>
                          </a:solidFill>
                          <a:latin typeface="Arial" pitchFamily="34" charset="0"/>
                          <a:ea typeface="Arial" pitchFamily="34" charset="-122"/>
                          <a:cs typeface="Arial" pitchFamily="34" charset="-120"/>
                        </a:rPr>
                        <a:t>Matches our finding: DL close to trees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11</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b="1" dirty="0">
                          <a:solidFill>
                            <a:srgbClr val="000000"/>
                          </a:solidFill>
                          <a:latin typeface="Arial" pitchFamily="34" charset="0"/>
                          <a:ea typeface="Arial" pitchFamily="34" charset="-122"/>
                          <a:cs typeface="Arial" pitchFamily="34" charset="-120"/>
                        </a:rPr>
                        <a:t>LLaMP: LLM for high-fidelity materials knowledge retrieval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Chiang et al.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2025, EMNLP</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Hierarchical ReAct agents over Materials Project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Grounded answers with a confidence metric</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Needs the Materials Project API</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1F497D"/>
                          </a:solidFill>
                          <a:latin typeface="Arial" pitchFamily="34" charset="0"/>
                          <a:ea typeface="Arial" pitchFamily="34" charset="-122"/>
                          <a:cs typeface="Arial" pitchFamily="34" charset="-120"/>
                        </a:rPr>
                        <a:t>Same grounding idea with a local MOF database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b="1" dirty="0">
                          <a:solidFill>
                            <a:srgbClr val="000000"/>
                          </a:solidFill>
                          <a:latin typeface="Arial" pitchFamily="34" charset="0"/>
                          <a:ea typeface="Arial" pitchFamily="34" charset="-122"/>
                          <a:cs typeface="Arial" pitchFamily="34" charset="-120"/>
                        </a:rPr>
                        <a:t>System of agentic AI for the discovery of MOFs (MOFGen)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Inizan et al.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2025, arXiv</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LLM proposes compositions; diffusion and quantum-chemistry agents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Synthesizable MOF candidates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Heavy compute; preprint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1F497D"/>
                          </a:solidFill>
                          <a:latin typeface="Arial" pitchFamily="34" charset="0"/>
                          <a:ea typeface="Arial" pitchFamily="34" charset="-122"/>
                          <a:cs typeface="Arial" pitchFamily="34" charset="-120"/>
                        </a:rPr>
                        <a:t>We verify answers against the database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228600" y="6355080"/>
            <a:ext cx="9509760" cy="77724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JACS = Journal of the American Chemical Society. CSD = Cambridge Structural Database of crystal structures. Knowledge graph = facts stored as linked entities. GBDT = gradient-boosted decision trees (e.g. XGBoost). BatchEnsemble = cheap way to train many networks that share weights. Materials Project = public database of inorganic materials.</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Literature Review (2024-2026), part 3 of 3</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28600" y="914400"/>
          <a:ext cx="10232136" cy="914400"/>
        </p:xfrm>
        <a:graphic>
          <a:graphicData uri="http://schemas.openxmlformats.org/drawingml/2006/table">
            <a:tbl>
              <a:tblPr/>
              <a:tblGrid>
                <a:gridCol w="320040"/>
                <a:gridCol w="1783080"/>
                <a:gridCol w="1051560"/>
                <a:gridCol w="1143000"/>
                <a:gridCol w="1554480"/>
                <a:gridCol w="1463040"/>
                <a:gridCol w="1325880"/>
                <a:gridCol w="1591056"/>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Paper</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Authors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Year, venue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Method</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Contribution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Limitation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Use in MOFChat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13</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b="1" dirty="0">
                          <a:solidFill>
                            <a:srgbClr val="000000"/>
                          </a:solidFill>
                          <a:latin typeface="Arial" pitchFamily="34" charset="0"/>
                          <a:ea typeface="Arial" pitchFamily="34" charset="-122"/>
                          <a:cs typeface="Arial" pitchFamily="34" charset="-120"/>
                        </a:rPr>
                        <a:t>L2M3OF: a large language multimodal model for MOFs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Cui et al.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2025, arXiv</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Crystal encoder projected into an LLM</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Better than text-only LLMs on properties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Needs structure files and fine-tuning</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1F497D"/>
                          </a:solidFill>
                          <a:latin typeface="Arial" pitchFamily="34" charset="0"/>
                          <a:ea typeface="Arial" pitchFamily="34" charset="-122"/>
                          <a:cs typeface="Arial" pitchFamily="34" charset="-120"/>
                        </a:rPr>
                        <a:t>Multimodal input is future work</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14</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b="1" dirty="0">
                          <a:solidFill>
                            <a:srgbClr val="000000"/>
                          </a:solidFill>
                          <a:latin typeface="Arial" pitchFamily="34" charset="0"/>
                          <a:ea typeface="Arial" pitchFamily="34" charset="-122"/>
                          <a:cs typeface="Arial" pitchFamily="34" charset="-120"/>
                        </a:rPr>
                        <a:t>Conversational LLM agent for synthesis of MOF catalysts (MOFsyn Agent)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Lin et al.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2025, ACS Nano</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RAG and ML agent guiding synthesis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Faster Ni@UiO-66(Ce) catalyst optimisation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Single reaction system</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1F497D"/>
                          </a:solidFill>
                          <a:latin typeface="Arial" pitchFamily="34" charset="0"/>
                          <a:ea typeface="Arial" pitchFamily="34" charset="-122"/>
                          <a:cs typeface="Arial" pitchFamily="34" charset="-120"/>
                        </a:rPr>
                        <a:t>RAG and ML combined, as in MOFChat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b="1" dirty="0">
                          <a:solidFill>
                            <a:srgbClr val="000000"/>
                          </a:solidFill>
                          <a:latin typeface="Arial" pitchFamily="34" charset="0"/>
                          <a:ea typeface="Arial" pitchFamily="34" charset="-122"/>
                          <a:cs typeface="Arial" pitchFamily="34" charset="-120"/>
                        </a:rPr>
                        <a:t>The rise of generative AI for MOF design and synthesis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Duan et al.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2025, arXiv (perspective)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Review of VAEs, diffusion models and LLM agents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Roadmap to closed-loop discovery</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Feasibility and data gaps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1F497D"/>
                          </a:solidFill>
                          <a:latin typeface="Arial" pitchFamily="34" charset="0"/>
                          <a:ea typeface="Arial" pitchFamily="34" charset="-122"/>
                          <a:cs typeface="Arial" pitchFamily="34" charset="-120"/>
                        </a:rPr>
                        <a:t>MOFChat sits at the screening stage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16</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b="1" dirty="0">
                          <a:solidFill>
                            <a:srgbClr val="000000"/>
                          </a:solidFill>
                          <a:latin typeface="Arial" pitchFamily="34" charset="0"/>
                          <a:ea typeface="Arial" pitchFamily="34" charset="-122"/>
                          <a:cs typeface="Arial" pitchFamily="34" charset="-120"/>
                        </a:rPr>
                        <a:t>LitMOF: LLM multi-agent for literature-validated MOF database correction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Kim, Kim, Kim</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2025, arXiv</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Agents check CSD structures against papers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189,567 structures; 9,227 entries repaired</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Preprint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1F497D"/>
                          </a:solidFill>
                          <a:latin typeface="Arial" pitchFamily="34" charset="0"/>
                          <a:ea typeface="Arial" pitchFamily="34" charset="-122"/>
                          <a:cs typeface="Arial" pitchFamily="34" charset="-120"/>
                        </a:rPr>
                        <a:t>We also audit the data (ETL checks)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17</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b="1" dirty="0">
                          <a:solidFill>
                            <a:srgbClr val="000000"/>
                          </a:solidFill>
                          <a:latin typeface="Arial" pitchFamily="34" charset="0"/>
                          <a:ea typeface="Arial" pitchFamily="34" charset="-122"/>
                          <a:cs typeface="Arial" pitchFamily="34" charset="-120"/>
                        </a:rPr>
                        <a:t>Enhancing spatial reasoning in LLMs for MOF structure prediction (MOF-LLM)</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Pan et al.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2026, arXiv</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Qwen-3 8B with spatial pretraining, SFT and RL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35.78 % match rate, 0.04 s per structure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Low match rate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1F497D"/>
                          </a:solidFill>
                          <a:latin typeface="Arial" pitchFamily="34" charset="0"/>
                          <a:ea typeface="Arial" pitchFamily="34" charset="-122"/>
                          <a:cs typeface="Arial" pitchFamily="34" charset="-120"/>
                        </a:rPr>
                        <a:t>Small open LLMs can be specialised</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18</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b="1" dirty="0">
                          <a:solidFill>
                            <a:srgbClr val="000000"/>
                          </a:solidFill>
                          <a:latin typeface="Arial" pitchFamily="34" charset="0"/>
                          <a:ea typeface="Arial" pitchFamily="34" charset="-122"/>
                          <a:cs typeface="Arial" pitchFamily="34" charset="-120"/>
                        </a:rPr>
                        <a:t>An LLM agent for end-to-end computational materials discovery (MAESTRO)</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Chen et al.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2026, arXiv</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Agent mines papers, builds a database, screens MOFs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Finds wet-flue-gas separation candidates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Preprint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1F497D"/>
                          </a:solidFill>
                          <a:latin typeface="Arial" pitchFamily="34" charset="0"/>
                          <a:ea typeface="Arial" pitchFamily="34" charset="-122"/>
                          <a:cs typeface="Arial" pitchFamily="34" charset="-120"/>
                        </a:rPr>
                        <a:t>MOFChat is a verified query layer</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228600" y="6355080"/>
            <a:ext cx="9509760" cy="77724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Multimodal = uses more than one kind of input (crystal structure and text). VAE = variational autoencoder (generative model). SFT = supervised fine-tuning. RL = reinforcement learning. Preprint = paper not yet peer-reviewed (arXiv). Closed-loop discovery = AI proposes, lab tests, results feed back.</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Research Gap from the Literature</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9966960" cy="914400"/>
        </p:xfrm>
        <a:graphic>
          <a:graphicData uri="http://schemas.openxmlformats.org/drawingml/2006/table">
            <a:tbl>
              <a:tblPr/>
              <a:tblGrid>
                <a:gridCol w="2468880"/>
                <a:gridCol w="3566160"/>
                <a:gridCol w="3931920"/>
              </a:tblGrid>
              <a:tr h="914400">
                <a:tc>
                  <a:txBody>
                    <a:bodyPr/>
                    <a:lstStyle/>
                    <a:p>
                      <a:pPr indent="0" marL="0">
                        <a:buNone/>
                      </a:pPr>
                      <a:r>
                        <a:rPr lang="en-US" sz="1200" b="1" dirty="0">
                          <a:solidFill>
                            <a:srgbClr val="FFFFFF"/>
                          </a:solidFill>
                          <a:latin typeface="Arial" pitchFamily="34" charset="0"/>
                          <a:ea typeface="Arial" pitchFamily="34" charset="-122"/>
                          <a:cs typeface="Arial" pitchFamily="34" charset="-120"/>
                        </a:rPr>
                        <a:t>Gap</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Evidence in 2024-2026 work</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What MOFChat does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r>
              <a:tr h="914400">
                <a:tc>
                  <a:txBody>
                    <a:bodyPr/>
                    <a:lstStyle/>
                    <a:p>
                      <a:pPr indent="0" marL="0">
                        <a:buNone/>
                      </a:pPr>
                      <a:r>
                        <a:rPr lang="en-US" sz="1200" b="1" dirty="0">
                          <a:solidFill>
                            <a:srgbClr val="000000"/>
                          </a:solidFill>
                          <a:latin typeface="Arial" pitchFamily="34" charset="0"/>
                          <a:ea typeface="Arial" pitchFamily="34" charset="-122"/>
                          <a:cs typeface="Arial" pitchFamily="34" charset="-120"/>
                        </a:rPr>
                        <a:t>Answers are rarely verified against data</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ChatMOF, ChemCrow and LLaMP trust the LLM's final text; semantic entropy needs many samples.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A deterministic answer validator checks IDs, numbers and comparison claims against the database.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914400">
                <a:tc>
                  <a:txBody>
                    <a:bodyPr/>
                    <a:lstStyle/>
                    <a:p>
                      <a:pPr indent="0" marL="0">
                        <a:buNone/>
                      </a:pPr>
                      <a:r>
                        <a:rPr lang="en-US" sz="1200" b="1" dirty="0">
                          <a:solidFill>
                            <a:srgbClr val="000000"/>
                          </a:solidFill>
                          <a:latin typeface="Arial" pitchFamily="34" charset="0"/>
                          <a:ea typeface="Arial" pitchFamily="34" charset="-122"/>
                          <a:cs typeface="Arial" pitchFamily="34" charset="-120"/>
                        </a:rPr>
                        <a:t>Dependence on proprietary LLMs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Most agents use GPT-4.</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14 free or local models with fallback; works fully offline with Llama 3.</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914400">
                <a:tc>
                  <a:txBody>
                    <a:bodyPr/>
                    <a:lstStyle/>
                    <a:p>
                      <a:pPr indent="0" marL="0">
                        <a:buNone/>
                      </a:pPr>
                      <a:r>
                        <a:rPr lang="en-US" sz="1200" b="1" dirty="0">
                          <a:solidFill>
                            <a:srgbClr val="000000"/>
                          </a:solidFill>
                          <a:latin typeface="Arial" pitchFamily="34" charset="0"/>
                          <a:ea typeface="Arial" pitchFamily="34" charset="-122"/>
                          <a:cs typeface="Arial" pitchFamily="34" charset="-120"/>
                        </a:rPr>
                        <a:t>Few benchmarks for query planning</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Accuracy is reported on the authors' own question sets.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64-question development set, 20 held-out questions, model comparison and ablation.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914400">
                <a:tc>
                  <a:txBody>
                    <a:bodyPr/>
                    <a:lstStyle/>
                    <a:p>
                      <a:pPr indent="0" marL="0">
                        <a:buNone/>
                      </a:pPr>
                      <a:r>
                        <a:rPr lang="en-US" sz="1200" b="1" dirty="0">
                          <a:solidFill>
                            <a:srgbClr val="000000"/>
                          </a:solidFill>
                          <a:latin typeface="Arial" pitchFamily="34" charset="0"/>
                          <a:ea typeface="Arial" pitchFamily="34" charset="-122"/>
                          <a:cs typeface="Arial" pitchFamily="34" charset="-120"/>
                        </a:rPr>
                        <a:t>Tabular DL vs trees on MOF descriptors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TabPFN, TabM and Grinsztajn et al. compare on generic data.</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FT-Transformer, MLP, XGBoost and GP compared on MOF regression and classification.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365760" y="6172200"/>
            <a:ext cx="9966960" cy="82296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Deterministic = always gives the same output for the same input (normal code, not an LLM). Proprietary = paid, closed model. Ablation = removing one part to measure what it adds. Tabular DL = deep learning on tables. MLP = multilayer perceptron (simple neural network). GP = Gaussian process.</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Dataset: CoRE MOF 2019 and Preprocessing</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4937760" cy="914400"/>
        </p:xfrm>
        <a:graphic>
          <a:graphicData uri="http://schemas.openxmlformats.org/drawingml/2006/table">
            <a:tbl>
              <a:tblPr/>
              <a:tblGrid>
                <a:gridCol w="1371600"/>
                <a:gridCol w="3566160"/>
              </a:tblGrid>
              <a:tr h="329184">
                <a:tc>
                  <a:txBody>
                    <a:bodyPr/>
                    <a:lstStyle/>
                    <a:p>
                      <a:pPr indent="0" marL="0">
                        <a:buNone/>
                      </a:pPr>
                      <a:r>
                        <a:rPr lang="en-US" sz="1200" b="1" dirty="0">
                          <a:solidFill>
                            <a:srgbClr val="FFFFFF"/>
                          </a:solidFill>
                          <a:latin typeface="Arial" pitchFamily="34" charset="0"/>
                          <a:ea typeface="Arial" pitchFamily="34" charset="-122"/>
                          <a:cs typeface="Arial" pitchFamily="34" charset="-120"/>
                        </a:rPr>
                        <a:t>Category</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Attributes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Identification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MOF_ID (CSD refcode)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Pore geometry</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LCD, PLD, LFPD (Å)</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Density</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Density (g/cm³)</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Surface area</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Accessible (m²/g, m²/cm³), non-accessible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Porosity</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Void fraction, pore volume, non-accessible volume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Chemistry</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Metal type, open metal site, OMS type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365760" y="3520440"/>
            <a:ext cx="4937760" cy="45720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12,020 experimental MOFs and 17 columns, computed with Zeo++ using a 3.31 Å (N2) probe.</a:t>
            </a:r>
            <a:endParaRPr lang="en-US" sz="1200" dirty="0"/>
          </a:p>
        </p:txBody>
      </p:sp>
      <p:sp>
        <p:nvSpPr>
          <p:cNvPr id="5" name="Text 2"/>
          <p:cNvSpPr txBox="1"/>
          <p:nvPr/>
        </p:nvSpPr>
        <p:spPr>
          <a:xfrm>
            <a:off x="5486400" y="960120"/>
            <a:ext cx="4937760" cy="274320"/>
          </a:xfrm>
          <a:prstGeom prst="rect">
            <a:avLst/>
          </a:prstGeom>
          <a:noFill/>
          <a:ln/>
        </p:spPr>
        <p:txBody>
          <a:bodyPr wrap="square" lIns="0" tIns="0" rIns="0" bIns="0" rtlCol="0" anchor="t"/>
          <a:lstStyle/>
          <a:p>
            <a:pPr indent="0" marL="0">
              <a:buNone/>
            </a:pPr>
            <a:r>
              <a:rPr lang="en-US" sz="1200" b="1" dirty="0">
                <a:solidFill>
                  <a:srgbClr val="C00000"/>
                </a:solidFill>
                <a:latin typeface="Arial" pitchFamily="34" charset="0"/>
                <a:ea typeface="Arial" pitchFamily="34" charset="-122"/>
                <a:cs typeface="Arial" pitchFamily="34" charset="-120"/>
              </a:rPr>
              <a:t>Preprocessing (ETL) findings</a:t>
            </a:r>
            <a:endParaRPr lang="en-US" sz="12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5486400" y="1280160"/>
          <a:ext cx="4937760" cy="914400"/>
        </p:xfrm>
        <a:graphic>
          <a:graphicData uri="http://schemas.openxmlformats.org/drawingml/2006/table">
            <a:tbl>
              <a:tblPr/>
              <a:tblGrid>
                <a:gridCol w="2377440"/>
                <a:gridCol w="2560320"/>
              </a:tblGrid>
              <a:tr h="329184">
                <a:tc>
                  <a:txBody>
                    <a:bodyPr/>
                    <a:lstStyle/>
                    <a:p>
                      <a:pPr indent="0" marL="0">
                        <a:buNone/>
                      </a:pPr>
                      <a:r>
                        <a:rPr lang="en-US" sz="1200" b="1" dirty="0">
                          <a:solidFill>
                            <a:srgbClr val="FFFFFF"/>
                          </a:solidFill>
                          <a:latin typeface="Arial" pitchFamily="34" charset="0"/>
                          <a:ea typeface="Arial" pitchFamily="34" charset="-122"/>
                          <a:cs typeface="Arial" pitchFamily="34" charset="-120"/>
                        </a:rPr>
                        <a:t>Check</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Finding and action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Missing values, duplicates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None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Two column pairs identical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Duplicates dropped</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Pore volume = void fraction / density</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Derived column; documented</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Zero surface area (3,252 MOFs)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All have PLD &lt; 3.31 Å; physics rule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Density header said cm³/g</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Values are g/cm³; label fixed</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2,087 multi-metal MOFs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Separate mof_metals table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Feature scaling</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log1p and z-score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bl>
          </a:graphicData>
        </a:graphic>
      </p:graphicFrame>
      <p:pic>
        <p:nvPicPr>
          <p:cNvPr id="7" name="Image 0" descr="feat_metals.png">    </p:cNvPr>
          <p:cNvPicPr>
            <a:picLocks noChangeAspect="1"/>
          </p:cNvPicPr>
          <p:nvPr/>
        </p:nvPicPr>
        <p:blipFill>
          <a:blip r:embed="rId1"/>
          <a:stretch>
            <a:fillRect/>
          </a:stretch>
        </p:blipFill>
        <p:spPr>
          <a:xfrm>
            <a:off x="365760" y="4206240"/>
            <a:ext cx="5802086" cy="1874520"/>
          </a:xfrm>
          <a:prstGeom prst="rect">
            <a:avLst/>
          </a:prstGeom>
        </p:spPr>
      </p:pic>
      <p:sp>
        <p:nvSpPr>
          <p:cNvPr id="8" name="Text 3"/>
          <p:cNvSpPr txBox="1"/>
          <p:nvPr/>
        </p:nvSpPr>
        <p:spPr>
          <a:xfrm>
            <a:off x="365760" y="6172200"/>
            <a:ext cx="9966960" cy="100584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LCD = largest cavity diameter (biggest sphere that fits in a cage). PLD = pore limiting diameter (narrowest window a molecule must pass). LFPD = largest free pore diameter (biggest sphere that can travel through). OMS = open metal site. CSD refcode = MOF ID in the Cambridge Structural Database. Zeo++ = software that computes pore geometry. ETL = extract, transform, load. log1p = log(1 + x). z-score = (value - mean) / standard deviation.</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Feature Extraction: Descriptor Distributions and Correlations</a:t>
            </a:r>
            <a:endParaRPr lang="en-US" sz="2400" dirty="0"/>
          </a:p>
        </p:txBody>
      </p:sp>
      <p:pic>
        <p:nvPicPr>
          <p:cNvPr id="3" name="Image 0" descr="feat_distributions.png">    </p:cNvPr>
          <p:cNvPicPr>
            <a:picLocks noChangeAspect="1"/>
          </p:cNvPicPr>
          <p:nvPr/>
        </p:nvPicPr>
        <p:blipFill>
          <a:blip r:embed="rId1"/>
          <a:stretch>
            <a:fillRect/>
          </a:stretch>
        </p:blipFill>
        <p:spPr>
          <a:xfrm>
            <a:off x="274320" y="914400"/>
            <a:ext cx="6400800" cy="2409713"/>
          </a:xfrm>
          <a:prstGeom prst="rect">
            <a:avLst/>
          </a:prstGeom>
        </p:spPr>
      </p:pic>
      <p:pic>
        <p:nvPicPr>
          <p:cNvPr id="4" name="Image 1" descr="feat_correlation.png">    </p:cNvPr>
          <p:cNvPicPr>
            <a:picLocks noChangeAspect="1"/>
          </p:cNvPicPr>
          <p:nvPr/>
        </p:nvPicPr>
        <p:blipFill>
          <a:blip r:embed="rId2"/>
          <a:stretch>
            <a:fillRect/>
          </a:stretch>
        </p:blipFill>
        <p:spPr>
          <a:xfrm>
            <a:off x="6812280" y="914400"/>
            <a:ext cx="3657600" cy="3033132"/>
          </a:xfrm>
          <a:prstGeom prst="rect">
            <a:avLst/>
          </a:prstGeom>
        </p:spPr>
      </p:pic>
      <p:sp>
        <p:nvSpPr>
          <p:cNvPr id="5" name="Text 1"/>
          <p:cNvSpPr txBox="1"/>
          <p:nvPr/>
        </p:nvSpPr>
        <p:spPr>
          <a:xfrm>
            <a:off x="6812280" y="4069080"/>
            <a:ext cx="3657600" cy="274320"/>
          </a:xfrm>
          <a:prstGeom prst="rect">
            <a:avLst/>
          </a:prstGeom>
          <a:noFill/>
          <a:ln/>
        </p:spPr>
        <p:txBody>
          <a:bodyPr wrap="square" lIns="0" tIns="0" rIns="0" bIns="0" rtlCol="0" anchor="t"/>
          <a:lstStyle/>
          <a:p>
            <a:pPr algn="ctr" indent="0" marL="0">
              <a:buNone/>
            </a:pPr>
            <a:r>
              <a:rPr lang="en-US" sz="1200" i="1" dirty="0">
                <a:solidFill>
                  <a:srgbClr val="595959"/>
                </a:solidFill>
                <a:latin typeface="Arial" pitchFamily="34" charset="0"/>
                <a:ea typeface="Arial" pitchFamily="34" charset="-122"/>
                <a:cs typeface="Arial" pitchFamily="34" charset="-120"/>
              </a:rPr>
              <a:t>Pearson correlation of the ten descriptors</a:t>
            </a:r>
            <a:endParaRPr lang="en-US" sz="1200" dirty="0"/>
          </a:p>
        </p:txBody>
      </p:sp>
      <p:sp>
        <p:nvSpPr>
          <p:cNvPr id="6" name="Text 2"/>
          <p:cNvSpPr txBox="1"/>
          <p:nvPr/>
        </p:nvSpPr>
        <p:spPr>
          <a:xfrm>
            <a:off x="365760" y="3657600"/>
            <a:ext cx="6217920" cy="274320"/>
          </a:xfrm>
          <a:prstGeom prst="rect">
            <a:avLst/>
          </a:prstGeom>
          <a:noFill/>
          <a:ln/>
        </p:spPr>
        <p:txBody>
          <a:bodyPr wrap="square" lIns="0" tIns="0" rIns="0" bIns="0" rtlCol="0" anchor="t"/>
          <a:lstStyle/>
          <a:p>
            <a:pPr indent="0" marL="0">
              <a:buNone/>
            </a:pPr>
            <a:r>
              <a:rPr lang="en-US" sz="1200" b="1" dirty="0">
                <a:solidFill>
                  <a:srgbClr val="C00000"/>
                </a:solidFill>
                <a:latin typeface="Arial" pitchFamily="34" charset="0"/>
                <a:ea typeface="Arial" pitchFamily="34" charset="-122"/>
                <a:cs typeface="Arial" pitchFamily="34" charset="-120"/>
              </a:rPr>
              <a:t>Observations</a:t>
            </a:r>
            <a:endParaRPr lang="en-US" sz="1200" dirty="0"/>
          </a:p>
        </p:txBody>
      </p:sp>
      <p:sp>
        <p:nvSpPr>
          <p:cNvPr id="7" name="Text 3"/>
          <p:cNvSpPr txBox="1"/>
          <p:nvPr/>
        </p:nvSpPr>
        <p:spPr>
          <a:xfrm>
            <a:off x="365760" y="3977640"/>
            <a:ext cx="6309360" cy="256032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Most descriptors are right-skewed, so they are log-transformed and standardised before the FT-Transformer</a:t>
            </a:r>
            <a:endParaRPr lang="en-US" sz="1200" dirty="0"/>
          </a:p>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27 % of MOFs have exactly zero accessible surface area (the spike at 0)</a:t>
            </a:r>
            <a:endParaRPr lang="en-US" sz="1200" dirty="0"/>
          </a:p>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Strongest correlations: LCD and LFPD (+0.99), Surface_Area and Void_Fraction (+0.88), Surface_Area and ASA_vol (+0.86), PLD and LFPD (+0.83)</a:t>
            </a:r>
            <a:endParaRPr lang="en-US" sz="1200" dirty="0"/>
          </a:p>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Pore volume is derived from void fraction and density, so it is left out when predicting void fraction</a:t>
            </a:r>
            <a:endParaRPr lang="en-US" sz="1200" dirty="0"/>
          </a:p>
        </p:txBody>
      </p:sp>
      <p:sp>
        <p:nvSpPr>
          <p:cNvPr id="8" name="Text 4"/>
          <p:cNvSpPr txBox="1"/>
          <p:nvPr/>
        </p:nvSpPr>
        <p:spPr>
          <a:xfrm>
            <a:off x="6812280" y="4389120"/>
            <a:ext cx="3566160" cy="27432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a:t>
            </a:r>
            <a:endParaRPr lang="en-US" sz="1200" dirty="0"/>
          </a:p>
        </p:txBody>
      </p:sp>
      <p:sp>
        <p:nvSpPr>
          <p:cNvPr id="9" name="Text 5"/>
          <p:cNvSpPr txBox="1"/>
          <p:nvPr/>
        </p:nvSpPr>
        <p:spPr>
          <a:xfrm>
            <a:off x="6812280" y="4681728"/>
            <a:ext cx="3611880" cy="2468880"/>
          </a:xfrm>
          <a:prstGeom prst="rect">
            <a:avLst/>
          </a:prstGeom>
          <a:noFill/>
          <a:ln/>
        </p:spPr>
        <p:txBody>
          <a:bodyPr wrap="square" lIns="0" tIns="0" rIns="0" bIns="0" rtlCol="0" anchor="t"/>
          <a:lstStyle/>
          <a:p>
            <a:pPr marL="177800" indent="-177800">
              <a:spcAft>
                <a:spcPts val="500"/>
              </a:spcAft>
              <a:buSzPct val="100000"/>
              <a:buChar char="•"/>
            </a:pPr>
            <a:r>
              <a:rPr lang="en-US" sz="1200" b="1" dirty="0">
                <a:solidFill>
                  <a:schemeClr val="tx1"/>
                </a:solidFill>
                <a:latin typeface="Arial" pitchFamily="34" charset="0"/>
                <a:ea typeface="Arial" pitchFamily="34" charset="-122"/>
                <a:cs typeface="Arial" pitchFamily="34" charset="-120"/>
              </a:rPr>
              <a:t>LCD: </a:t>
            </a:r>
            <a:pPr indent="0" marL="0">
              <a:spcAft>
                <a:spcPts val="200"/>
              </a:spcAft>
              <a:buNone/>
            </a:pPr>
            <a:r>
              <a:rPr lang="en-US" sz="1200" dirty="0">
                <a:solidFill>
                  <a:schemeClr val="tx1"/>
                </a:solidFill>
                <a:latin typeface="Arial" pitchFamily="34" charset="0"/>
                <a:ea typeface="Arial" pitchFamily="34" charset="-122"/>
                <a:cs typeface="Arial" pitchFamily="34" charset="-120"/>
              </a:rPr>
              <a:t>largest cavity diameter</a:t>
            </a:r>
            <a:endParaRPr lang="en-US" sz="1200" dirty="0"/>
          </a:p>
          <a:p>
            <a:pPr marL="177800" indent="-177800">
              <a:spcAft>
                <a:spcPts val="500"/>
              </a:spcAft>
              <a:buSzPct val="100000"/>
              <a:buChar char="•"/>
            </a:pPr>
            <a:r>
              <a:rPr lang="en-US" sz="1200" b="1" dirty="0">
                <a:solidFill>
                  <a:schemeClr val="tx1"/>
                </a:solidFill>
                <a:latin typeface="Arial" pitchFamily="34" charset="0"/>
                <a:ea typeface="Arial" pitchFamily="34" charset="-122"/>
                <a:cs typeface="Arial" pitchFamily="34" charset="-120"/>
              </a:rPr>
              <a:t>PLD: </a:t>
            </a:r>
            <a:pPr indent="0" marL="0">
              <a:spcAft>
                <a:spcPts val="200"/>
              </a:spcAft>
              <a:buNone/>
            </a:pPr>
            <a:r>
              <a:rPr lang="en-US" sz="1200" dirty="0">
                <a:solidFill>
                  <a:schemeClr val="tx1"/>
                </a:solidFill>
                <a:latin typeface="Arial" pitchFamily="34" charset="0"/>
                <a:ea typeface="Arial" pitchFamily="34" charset="-122"/>
                <a:cs typeface="Arial" pitchFamily="34" charset="-120"/>
              </a:rPr>
              <a:t>pore limiting diameter (narrowest window)</a:t>
            </a:r>
            <a:endParaRPr lang="en-US" sz="1200" dirty="0"/>
          </a:p>
          <a:p>
            <a:pPr marL="177800" indent="-177800">
              <a:spcAft>
                <a:spcPts val="500"/>
              </a:spcAft>
              <a:buSzPct val="100000"/>
              <a:buChar char="•"/>
            </a:pPr>
            <a:r>
              <a:rPr lang="en-US" sz="1200" b="1" dirty="0">
                <a:solidFill>
                  <a:schemeClr val="tx1"/>
                </a:solidFill>
                <a:latin typeface="Arial" pitchFamily="34" charset="0"/>
                <a:ea typeface="Arial" pitchFamily="34" charset="-122"/>
                <a:cs typeface="Arial" pitchFamily="34" charset="-120"/>
              </a:rPr>
              <a:t>LFPD: </a:t>
            </a:r>
            <a:pPr indent="0" marL="0">
              <a:spcAft>
                <a:spcPts val="200"/>
              </a:spcAft>
              <a:buNone/>
            </a:pPr>
            <a:r>
              <a:rPr lang="en-US" sz="1200" dirty="0">
                <a:solidFill>
                  <a:schemeClr val="tx1"/>
                </a:solidFill>
                <a:latin typeface="Arial" pitchFamily="34" charset="0"/>
                <a:ea typeface="Arial" pitchFamily="34" charset="-122"/>
                <a:cs typeface="Arial" pitchFamily="34" charset="-120"/>
              </a:rPr>
              <a:t>largest free pore diameter along a path</a:t>
            </a:r>
            <a:endParaRPr lang="en-US" sz="1200" dirty="0"/>
          </a:p>
          <a:p>
            <a:pPr marL="177800" indent="-177800">
              <a:spcAft>
                <a:spcPts val="500"/>
              </a:spcAft>
              <a:buSzPct val="100000"/>
              <a:buChar char="•"/>
            </a:pPr>
            <a:r>
              <a:rPr lang="en-US" sz="1200" b="1" dirty="0">
                <a:solidFill>
                  <a:schemeClr val="tx1"/>
                </a:solidFill>
                <a:latin typeface="Arial" pitchFamily="34" charset="0"/>
                <a:ea typeface="Arial" pitchFamily="34" charset="-122"/>
                <a:cs typeface="Arial" pitchFamily="34" charset="-120"/>
              </a:rPr>
              <a:t>ASA / ASA_vol: </a:t>
            </a:r>
            <a:pPr indent="0" marL="0">
              <a:spcAft>
                <a:spcPts val="200"/>
              </a:spcAft>
              <a:buNone/>
            </a:pPr>
            <a:r>
              <a:rPr lang="en-US" sz="1200" dirty="0">
                <a:solidFill>
                  <a:schemeClr val="tx1"/>
                </a:solidFill>
                <a:latin typeface="Arial" pitchFamily="34" charset="0"/>
                <a:ea typeface="Arial" pitchFamily="34" charset="-122"/>
                <a:cs typeface="Arial" pitchFamily="34" charset="-120"/>
              </a:rPr>
              <a:t>accessible surface area per gram / per cm³</a:t>
            </a:r>
            <a:endParaRPr lang="en-US" sz="1200" dirty="0"/>
          </a:p>
          <a:p>
            <a:pPr marL="177800" indent="-177800">
              <a:spcAft>
                <a:spcPts val="500"/>
              </a:spcAft>
              <a:buSzPct val="100000"/>
              <a:buChar char="•"/>
            </a:pPr>
            <a:r>
              <a:rPr lang="en-US" sz="1200" b="1" dirty="0">
                <a:solidFill>
                  <a:schemeClr val="tx1"/>
                </a:solidFill>
                <a:latin typeface="Arial" pitchFamily="34" charset="0"/>
                <a:ea typeface="Arial" pitchFamily="34" charset="-122"/>
                <a:cs typeface="Arial" pitchFamily="34" charset="-120"/>
              </a:rPr>
              <a:t>Void fraction: </a:t>
            </a:r>
            <a:pPr indent="0" marL="0">
              <a:spcAft>
                <a:spcPts val="200"/>
              </a:spcAft>
              <a:buNone/>
            </a:pPr>
            <a:r>
              <a:rPr lang="en-US" sz="1200" dirty="0">
                <a:solidFill>
                  <a:schemeClr val="tx1"/>
                </a:solidFill>
                <a:latin typeface="Arial" pitchFamily="34" charset="0"/>
                <a:ea typeface="Arial" pitchFamily="34" charset="-122"/>
                <a:cs typeface="Arial" pitchFamily="34" charset="-120"/>
              </a:rPr>
              <a:t>share of the volume that is empty</a:t>
            </a:r>
            <a:endParaRPr lang="en-US" sz="1200" dirty="0"/>
          </a:p>
          <a:p>
            <a:pPr marL="177800" indent="-177800">
              <a:spcAft>
                <a:spcPts val="500"/>
              </a:spcAft>
              <a:buSzPct val="100000"/>
              <a:buChar char="•"/>
            </a:pPr>
            <a:r>
              <a:rPr lang="en-US" sz="1200" b="1" dirty="0">
                <a:solidFill>
                  <a:schemeClr val="tx1"/>
                </a:solidFill>
                <a:latin typeface="Arial" pitchFamily="34" charset="0"/>
                <a:ea typeface="Arial" pitchFamily="34" charset="-122"/>
                <a:cs typeface="Arial" pitchFamily="34" charset="-120"/>
              </a:rPr>
              <a:t>Pore volume: </a:t>
            </a:r>
            <a:pPr indent="0" marL="0">
              <a:spcAft>
                <a:spcPts val="200"/>
              </a:spcAft>
              <a:buNone/>
            </a:pPr>
            <a:r>
              <a:rPr lang="en-US" sz="1200" dirty="0">
                <a:solidFill>
                  <a:schemeClr val="tx1"/>
                </a:solidFill>
                <a:latin typeface="Arial" pitchFamily="34" charset="0"/>
                <a:ea typeface="Arial" pitchFamily="34" charset="-122"/>
                <a:cs typeface="Arial" pitchFamily="34" charset="-120"/>
              </a:rPr>
              <a:t>empty volume per gram</a:t>
            </a:r>
            <a:endParaRPr lang="en-US" sz="1200" dirty="0"/>
          </a:p>
          <a:p>
            <a:pPr marL="177800" indent="-177800">
              <a:spcAft>
                <a:spcPts val="500"/>
              </a:spcAft>
              <a:buSzPct val="100000"/>
              <a:buChar char="•"/>
            </a:pPr>
            <a:r>
              <a:rPr lang="en-US" sz="1200" b="1" dirty="0">
                <a:solidFill>
                  <a:schemeClr val="tx1"/>
                </a:solidFill>
                <a:latin typeface="Arial" pitchFamily="34" charset="0"/>
                <a:ea typeface="Arial" pitchFamily="34" charset="-122"/>
                <a:cs typeface="Arial" pitchFamily="34" charset="-120"/>
              </a:rPr>
              <a:t>NASA / NAV: </a:t>
            </a:r>
            <a:pPr indent="0" marL="0">
              <a:spcAft>
                <a:spcPts val="200"/>
              </a:spcAft>
              <a:buNone/>
            </a:pPr>
            <a:r>
              <a:rPr lang="en-US" sz="1200" dirty="0">
                <a:solidFill>
                  <a:schemeClr val="tx1"/>
                </a:solidFill>
                <a:latin typeface="Arial" pitchFamily="34" charset="0"/>
                <a:ea typeface="Arial" pitchFamily="34" charset="-122"/>
                <a:cs typeface="Arial" pitchFamily="34" charset="-120"/>
              </a:rPr>
              <a:t>non-accessible area / volume</a:t>
            </a:r>
            <a:endParaRPr lang="en-US" sz="1200" dirty="0"/>
          </a:p>
          <a:p>
            <a:pPr marL="177800" indent="-177800">
              <a:spcAft>
                <a:spcPts val="500"/>
              </a:spcAft>
              <a:buSzPct val="100000"/>
              <a:buChar char="•"/>
            </a:pPr>
            <a:r>
              <a:rPr lang="en-US" sz="1200" b="1" dirty="0">
                <a:solidFill>
                  <a:schemeClr val="tx1"/>
                </a:solidFill>
                <a:latin typeface="Arial" pitchFamily="34" charset="0"/>
                <a:ea typeface="Arial" pitchFamily="34" charset="-122"/>
                <a:cs typeface="Arial" pitchFamily="34" charset="-120"/>
              </a:rPr>
              <a:t>Pearson r: </a:t>
            </a:r>
            <a:pPr indent="0" marL="0">
              <a:spcAft>
                <a:spcPts val="200"/>
              </a:spcAft>
              <a:buNone/>
            </a:pPr>
            <a:r>
              <a:rPr lang="en-US" sz="1200" dirty="0">
                <a:solidFill>
                  <a:schemeClr val="tx1"/>
                </a:solidFill>
                <a:latin typeface="Arial" pitchFamily="34" charset="0"/>
                <a:ea typeface="Arial" pitchFamily="34" charset="-122"/>
                <a:cs typeface="Arial" pitchFamily="34" charset="-120"/>
              </a:rPr>
              <a:t>-1 to +1, how linearly two values move together</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Feature Extraction: PCA, Learned Embeddings and Reconstruction</a:t>
            </a:r>
            <a:endParaRPr lang="en-US" sz="2400" dirty="0"/>
          </a:p>
        </p:txBody>
      </p:sp>
      <p:pic>
        <p:nvPicPr>
          <p:cNvPr id="3" name="Image 0" descr="feat_pca.png">    </p:cNvPr>
          <p:cNvPicPr>
            <a:picLocks noChangeAspect="1"/>
          </p:cNvPicPr>
          <p:nvPr/>
        </p:nvPicPr>
        <p:blipFill>
          <a:blip r:embed="rId1"/>
          <a:stretch>
            <a:fillRect/>
          </a:stretch>
        </p:blipFill>
        <p:spPr>
          <a:xfrm>
            <a:off x="274320" y="914400"/>
            <a:ext cx="5120640" cy="1962912"/>
          </a:xfrm>
          <a:prstGeom prst="rect">
            <a:avLst/>
          </a:prstGeom>
        </p:spPr>
      </p:pic>
      <p:pic>
        <p:nvPicPr>
          <p:cNvPr id="4" name="Image 1" descr="feat_tsne_embeddings.png">    </p:cNvPr>
          <p:cNvPicPr>
            <a:picLocks noChangeAspect="1"/>
          </p:cNvPicPr>
          <p:nvPr/>
        </p:nvPicPr>
        <p:blipFill>
          <a:blip r:embed="rId2"/>
          <a:stretch>
            <a:fillRect/>
          </a:stretch>
        </p:blipFill>
        <p:spPr>
          <a:xfrm>
            <a:off x="5486400" y="914400"/>
            <a:ext cx="4937760" cy="2051070"/>
          </a:xfrm>
          <a:prstGeom prst="rect">
            <a:avLst/>
          </a:prstGeom>
        </p:spPr>
      </p:pic>
      <p:pic>
        <p:nvPicPr>
          <p:cNvPr id="5" name="Image 2" descr="feat_reconstruction_importance.png">    </p:cNvPr>
          <p:cNvPicPr>
            <a:picLocks noChangeAspect="1"/>
          </p:cNvPicPr>
          <p:nvPr/>
        </p:nvPicPr>
        <p:blipFill>
          <a:blip r:embed="rId3"/>
          <a:stretch>
            <a:fillRect/>
          </a:stretch>
        </p:blipFill>
        <p:spPr>
          <a:xfrm>
            <a:off x="274320" y="3063240"/>
            <a:ext cx="6400800" cy="2166425"/>
          </a:xfrm>
          <a:prstGeom prst="rect">
            <a:avLst/>
          </a:prstGeom>
        </p:spPr>
      </p:pic>
      <p:sp>
        <p:nvSpPr>
          <p:cNvPr id="6" name="Text 1"/>
          <p:cNvSpPr txBox="1"/>
          <p:nvPr/>
        </p:nvSpPr>
        <p:spPr>
          <a:xfrm>
            <a:off x="6812280" y="3154680"/>
            <a:ext cx="3611880" cy="2651760"/>
          </a:xfrm>
          <a:prstGeom prst="rect">
            <a:avLst/>
          </a:prstGeom>
          <a:noFill/>
          <a:ln/>
        </p:spPr>
        <p:txBody>
          <a:bodyPr wrap="square" lIns="0" tIns="0" rIns="0" bIns="0" rtlCol="0" anchor="t"/>
          <a:lstStyle/>
          <a:p>
            <a:pPr marL="177800" indent="-177800">
              <a:spcAft>
                <a:spcPts val="500"/>
              </a:spcAft>
              <a:buSzPct val="100000"/>
              <a:buChar char="•"/>
            </a:pPr>
            <a:r>
              <a:rPr lang="en-US" sz="1200" b="1" dirty="0">
                <a:solidFill>
                  <a:schemeClr val="tx1"/>
                </a:solidFill>
                <a:latin typeface="Arial" pitchFamily="34" charset="0"/>
                <a:ea typeface="Arial" pitchFamily="34" charset="-122"/>
                <a:cs typeface="Arial" pitchFamily="34" charset="-120"/>
              </a:rPr>
              <a:t>PCA: </a:t>
            </a:r>
            <a:pPr indent="0" marL="0">
              <a:buNone/>
            </a:pPr>
            <a:r>
              <a:rPr lang="en-US" sz="1200" dirty="0">
                <a:solidFill>
                  <a:schemeClr val="tx1"/>
                </a:solidFill>
                <a:latin typeface="Arial" pitchFamily="34" charset="0"/>
                <a:ea typeface="Arial" pitchFamily="34" charset="-122"/>
                <a:cs typeface="Arial" pitchFamily="34" charset="-120"/>
              </a:rPr>
              <a:t>the first two components explain 78 % of the variance</a:t>
            </a:r>
            <a:endParaRPr lang="en-US" sz="1200" dirty="0"/>
          </a:p>
          <a:p>
            <a:pPr marL="177800" indent="-177800">
              <a:spcAft>
                <a:spcPts val="500"/>
              </a:spcAft>
              <a:buSzPct val="100000"/>
              <a:buChar char="•"/>
            </a:pPr>
            <a:r>
              <a:rPr lang="en-US" sz="1200" b="1" dirty="0">
                <a:solidFill>
                  <a:schemeClr val="tx1"/>
                </a:solidFill>
                <a:latin typeface="Arial" pitchFamily="34" charset="0"/>
                <a:ea typeface="Arial" pitchFamily="34" charset="-122"/>
                <a:cs typeface="Arial" pitchFamily="34" charset="-120"/>
              </a:rPr>
              <a:t>t-SNE of the 64-d FT-Transformer embeddings: </a:t>
            </a:r>
            <a:pPr indent="0" marL="0">
              <a:buNone/>
            </a:pPr>
            <a:r>
              <a:rPr lang="en-US" sz="1200" dirty="0">
                <a:solidFill>
                  <a:schemeClr val="tx1"/>
                </a:solidFill>
                <a:latin typeface="Arial" pitchFamily="34" charset="0"/>
                <a:ea typeface="Arial" pitchFamily="34" charset="-122"/>
                <a:cs typeface="Arial" pitchFamily="34" charset="-120"/>
              </a:rPr>
              <a:t>smooth surface-area gradient; metals form local clusters</a:t>
            </a:r>
            <a:endParaRPr lang="en-US" sz="1200" dirty="0"/>
          </a:p>
          <a:p>
            <a:pPr marL="177800" indent="-177800">
              <a:spcAft>
                <a:spcPts val="500"/>
              </a:spcAft>
              <a:buSzPct val="100000"/>
              <a:buChar char="•"/>
            </a:pPr>
            <a:r>
              <a:rPr lang="en-US" sz="1200" b="1" dirty="0">
                <a:solidFill>
                  <a:schemeClr val="tx1"/>
                </a:solidFill>
                <a:latin typeface="Arial" pitchFamily="34" charset="0"/>
                <a:ea typeface="Arial" pitchFamily="34" charset="-122"/>
                <a:cs typeface="Arial" pitchFamily="34" charset="-120"/>
              </a:rPr>
              <a:t>Masked reconstruction: </a:t>
            </a:r>
            <a:pPr indent="0" marL="0">
              <a:buNone/>
            </a:pPr>
            <a:r>
              <a:rPr lang="en-US" sz="1200" dirty="0">
                <a:solidFill>
                  <a:schemeClr val="tx1"/>
                </a:solidFill>
                <a:latin typeface="Arial" pitchFamily="34" charset="0"/>
                <a:ea typeface="Arial" pitchFamily="34" charset="-122"/>
                <a:cs typeface="Arial" pitchFamily="34" charset="-120"/>
              </a:rPr>
              <a:t>R² 0.978 for surface area and 0.913 for void fraction when hidden</a:t>
            </a:r>
            <a:endParaRPr lang="en-US" sz="1200" dirty="0"/>
          </a:p>
          <a:p>
            <a:pPr marL="177800" indent="-177800">
              <a:spcAft>
                <a:spcPts val="500"/>
              </a:spcAft>
              <a:buSzPct val="100000"/>
              <a:buChar char="•"/>
            </a:pPr>
            <a:r>
              <a:rPr lang="en-US" sz="1200" b="1" dirty="0">
                <a:solidFill>
                  <a:schemeClr val="tx1"/>
                </a:solidFill>
                <a:latin typeface="Arial" pitchFamily="34" charset="0"/>
                <a:ea typeface="Arial" pitchFamily="34" charset="-122"/>
                <a:cs typeface="Arial" pitchFamily="34" charset="-120"/>
              </a:rPr>
              <a:t>SHAP: </a:t>
            </a:r>
            <a:pPr indent="0" marL="0">
              <a:buNone/>
            </a:pPr>
            <a:r>
              <a:rPr lang="en-US" sz="1200" dirty="0">
                <a:solidFill>
                  <a:schemeClr val="tx1"/>
                </a:solidFill>
                <a:latin typeface="Arial" pitchFamily="34" charset="0"/>
                <a:ea typeface="Arial" pitchFamily="34" charset="-122"/>
                <a:cs typeface="Arial" pitchFamily="34" charset="-120"/>
              </a:rPr>
              <a:t>pore volume and void fraction drive surface area; density drives void fraction</a:t>
            </a:r>
            <a:endParaRPr lang="en-US" sz="1200" dirty="0"/>
          </a:p>
        </p:txBody>
      </p:sp>
      <p:sp>
        <p:nvSpPr>
          <p:cNvPr id="7" name="Text 2"/>
          <p:cNvSpPr txBox="1"/>
          <p:nvPr/>
        </p:nvSpPr>
        <p:spPr>
          <a:xfrm>
            <a:off x="274320" y="5897880"/>
            <a:ext cx="10149840" cy="109728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PCA = principal component analysis (finds the main directions of variation). t-SNE = method that draws high-dimensional data as a 2-D map. Embedding = a vector of numbers that represents a MOF. Masked reconstruction = hide some inputs and let the model rebuild them. R² = share of variance explained (1 = perfect).</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Overall Pipeline: Dashboard to Backend</a:t>
            </a:r>
            <a:endParaRPr lang="en-US" sz="2400" dirty="0"/>
          </a:p>
        </p:txBody>
      </p:sp>
      <p:sp>
        <p:nvSpPr>
          <p:cNvPr id="3" name="Text 1"/>
          <p:cNvSpPr txBox="1"/>
          <p:nvPr/>
        </p:nvSpPr>
        <p:spPr>
          <a:xfrm>
            <a:off x="274320" y="914400"/>
            <a:ext cx="1828800" cy="27432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FRONTEND</a:t>
            </a:r>
            <a:endParaRPr lang="en-US" sz="1200" dirty="0"/>
          </a:p>
        </p:txBody>
      </p:sp>
      <p:sp>
        <p:nvSpPr>
          <p:cNvPr id="4" name="Shape 2"/>
          <p:cNvSpPr/>
          <p:nvPr/>
        </p:nvSpPr>
        <p:spPr>
          <a:xfrm>
            <a:off x="274320" y="1234440"/>
            <a:ext cx="2011680" cy="777240"/>
          </a:xfrm>
          <a:prstGeom prst="roundRect">
            <a:avLst>
              <a:gd name="adj" fmla="val 9412"/>
            </a:avLst>
          </a:prstGeom>
          <a:solidFill>
            <a:srgbClr val="FAC090"/>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5" name="Text 3"/>
          <p:cNvSpPr txBox="1"/>
          <p:nvPr/>
        </p:nvSpPr>
        <p:spPr>
          <a:xfrm>
            <a:off x="320040" y="1234440"/>
            <a:ext cx="192024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Streamlit dashboard (app.py)</a:t>
            </a:r>
            <a:endParaRPr lang="en-US" sz="1200" dirty="0"/>
          </a:p>
        </p:txBody>
      </p:sp>
      <p:sp>
        <p:nvSpPr>
          <p:cNvPr id="6" name="Shape 4"/>
          <p:cNvSpPr/>
          <p:nvPr/>
        </p:nvSpPr>
        <p:spPr>
          <a:xfrm>
            <a:off x="274320" y="2240280"/>
            <a:ext cx="2011680" cy="777240"/>
          </a:xfrm>
          <a:prstGeom prst="roundRect">
            <a:avLst>
              <a:gd name="adj" fmla="val 9412"/>
            </a:avLst>
          </a:prstGeom>
          <a:solidFill>
            <a:srgbClr val="FFF2CC"/>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7" name="Text 5"/>
          <p:cNvSpPr txBox="1"/>
          <p:nvPr/>
        </p:nvSpPr>
        <p:spPr>
          <a:xfrm>
            <a:off x="320040" y="2240280"/>
            <a:ext cx="192024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User question and model choice</a:t>
            </a:r>
            <a:endParaRPr lang="en-US" sz="1200" dirty="0"/>
          </a:p>
        </p:txBody>
      </p:sp>
      <p:sp>
        <p:nvSpPr>
          <p:cNvPr id="8" name="Shape 6"/>
          <p:cNvSpPr/>
          <p:nvPr/>
        </p:nvSpPr>
        <p:spPr>
          <a:xfrm>
            <a:off x="274320" y="5623560"/>
            <a:ext cx="2011680" cy="1097280"/>
          </a:xfrm>
          <a:prstGeom prst="roundRect">
            <a:avLst>
              <a:gd name="adj" fmla="val 6667"/>
            </a:avLst>
          </a:prstGeom>
          <a:solidFill>
            <a:srgbClr val="FAC090"/>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9" name="Text 7"/>
          <p:cNvSpPr txBox="1"/>
          <p:nvPr/>
        </p:nvSpPr>
        <p:spPr>
          <a:xfrm>
            <a:off x="320040" y="5623560"/>
            <a:ext cx="1920240" cy="10972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Answer, verified table, Pareto and SHAP plots, trace</a:t>
            </a:r>
            <a:endParaRPr lang="en-US" sz="1200" dirty="0"/>
          </a:p>
        </p:txBody>
      </p:sp>
      <p:sp>
        <p:nvSpPr>
          <p:cNvPr id="10" name="Shape 8"/>
          <p:cNvSpPr/>
          <p:nvPr/>
        </p:nvSpPr>
        <p:spPr>
          <a:xfrm>
            <a:off x="1280160" y="2011680"/>
            <a:ext cx="0" cy="228600"/>
          </a:xfrm>
          <a:prstGeom prst="line">
            <a:avLst/>
          </a:prstGeom>
          <a:noFill/>
          <a:ln w="25400">
            <a:solidFill>
              <a:srgbClr val="262626"/>
            </a:solidFill>
            <a:prstDash val="solid"/>
            <a:tailEnd type="triangle"/>
          </a:ln>
        </p:spPr>
      </p:sp>
      <p:sp>
        <p:nvSpPr>
          <p:cNvPr id="11" name="Text 9"/>
          <p:cNvSpPr txBox="1"/>
          <p:nvPr/>
        </p:nvSpPr>
        <p:spPr>
          <a:xfrm>
            <a:off x="2651760" y="914400"/>
            <a:ext cx="5486400" cy="27432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BACKEND (mofchat/agent.py)</a:t>
            </a:r>
            <a:endParaRPr lang="en-US" sz="1200" dirty="0"/>
          </a:p>
        </p:txBody>
      </p:sp>
      <p:sp>
        <p:nvSpPr>
          <p:cNvPr id="12" name="Shape 10"/>
          <p:cNvSpPr/>
          <p:nvPr/>
        </p:nvSpPr>
        <p:spPr>
          <a:xfrm>
            <a:off x="2697480" y="2240280"/>
            <a:ext cx="1828800" cy="777240"/>
          </a:xfrm>
          <a:prstGeom prst="roundRect">
            <a:avLst>
              <a:gd name="adj" fmla="val 9412"/>
            </a:avLst>
          </a:prstGeom>
          <a:solidFill>
            <a:srgbClr val="E6B9B8"/>
          </a:solidFill>
          <a:ln w="12700">
            <a:solidFill>
              <a:srgbClr val="C00000"/>
            </a:solidFill>
            <a:prstDash val="solid"/>
          </a:ln>
          <a:effectLst>
            <a:outerShdw sx="100000" sy="100000" kx="0" ky="0" algn="bl" rotWithShape="0" blurRad="38100" dist="25400" dir="2700000">
              <a:srgbClr val="000000">
                <a:alpha val="25000"/>
              </a:srgbClr>
            </a:outerShdw>
          </a:effectLst>
        </p:spPr>
      </p:sp>
      <p:sp>
        <p:nvSpPr>
          <p:cNvPr id="13" name="Text 11"/>
          <p:cNvSpPr txBox="1"/>
          <p:nvPr/>
        </p:nvSpPr>
        <p:spPr>
          <a:xfrm>
            <a:off x="2743200" y="2240280"/>
            <a:ext cx="173736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LLM planner (JSON plan)</a:t>
            </a:r>
            <a:endParaRPr lang="en-US" sz="1200" dirty="0"/>
          </a:p>
        </p:txBody>
      </p:sp>
      <p:sp>
        <p:nvSpPr>
          <p:cNvPr id="14" name="Shape 12"/>
          <p:cNvSpPr/>
          <p:nvPr/>
        </p:nvSpPr>
        <p:spPr>
          <a:xfrm>
            <a:off x="2697480" y="1234440"/>
            <a:ext cx="1828800" cy="777240"/>
          </a:xfrm>
          <a:prstGeom prst="roundRect">
            <a:avLst>
              <a:gd name="adj" fmla="val 9412"/>
            </a:avLst>
          </a:prstGeom>
          <a:solidFill>
            <a:srgbClr val="F2F2F2"/>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15" name="Text 13"/>
          <p:cNvSpPr txBox="1"/>
          <p:nvPr/>
        </p:nvSpPr>
        <p:spPr>
          <a:xfrm>
            <a:off x="2743200" y="1234440"/>
            <a:ext cx="173736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Rule parser</a:t>
            </a:r>
            <a:endParaRPr lang="en-US" sz="1200" dirty="0"/>
          </a:p>
        </p:txBody>
      </p:sp>
      <p:sp>
        <p:nvSpPr>
          <p:cNvPr id="16" name="Shape 14"/>
          <p:cNvSpPr/>
          <p:nvPr/>
        </p:nvSpPr>
        <p:spPr>
          <a:xfrm>
            <a:off x="4846320" y="2240280"/>
            <a:ext cx="1828800" cy="777240"/>
          </a:xfrm>
          <a:prstGeom prst="roundRect">
            <a:avLst>
              <a:gd name="adj" fmla="val 9412"/>
            </a:avLst>
          </a:prstGeom>
          <a:solidFill>
            <a:srgbClr val="DAEEF3"/>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17" name="Text 15"/>
          <p:cNvSpPr txBox="1"/>
          <p:nvPr/>
        </p:nvSpPr>
        <p:spPr>
          <a:xfrm>
            <a:off x="4892040" y="2240280"/>
            <a:ext cx="173736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Plan validator</a:t>
            </a:r>
            <a:endParaRPr lang="en-US" sz="1200" dirty="0"/>
          </a:p>
        </p:txBody>
      </p:sp>
      <p:sp>
        <p:nvSpPr>
          <p:cNvPr id="18" name="Shape 16"/>
          <p:cNvSpPr/>
          <p:nvPr/>
        </p:nvSpPr>
        <p:spPr>
          <a:xfrm>
            <a:off x="6995160" y="2240280"/>
            <a:ext cx="1600200" cy="777240"/>
          </a:xfrm>
          <a:prstGeom prst="roundRect">
            <a:avLst>
              <a:gd name="adj" fmla="val 9412"/>
            </a:avLst>
          </a:prstGeom>
          <a:solidFill>
            <a:srgbClr val="E4DFEC"/>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19" name="Text 17"/>
          <p:cNvSpPr txBox="1"/>
          <p:nvPr/>
        </p:nvSpPr>
        <p:spPr>
          <a:xfrm>
            <a:off x="7040880" y="2240280"/>
            <a:ext cx="150876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Intent router</a:t>
            </a:r>
            <a:endParaRPr lang="en-US" sz="1200" dirty="0"/>
          </a:p>
        </p:txBody>
      </p:sp>
      <p:sp>
        <p:nvSpPr>
          <p:cNvPr id="20" name="Shape 18"/>
          <p:cNvSpPr/>
          <p:nvPr/>
        </p:nvSpPr>
        <p:spPr>
          <a:xfrm>
            <a:off x="2286000" y="2624328"/>
            <a:ext cx="411480" cy="0"/>
          </a:xfrm>
          <a:prstGeom prst="line">
            <a:avLst/>
          </a:prstGeom>
          <a:noFill/>
          <a:ln w="25400">
            <a:solidFill>
              <a:srgbClr val="262626"/>
            </a:solidFill>
            <a:prstDash val="solid"/>
            <a:tailEnd type="triangle"/>
          </a:ln>
        </p:spPr>
      </p:sp>
      <p:sp>
        <p:nvSpPr>
          <p:cNvPr id="21" name="Shape 19"/>
          <p:cNvSpPr/>
          <p:nvPr/>
        </p:nvSpPr>
        <p:spPr>
          <a:xfrm>
            <a:off x="3611880" y="2011680"/>
            <a:ext cx="0" cy="228600"/>
          </a:xfrm>
          <a:prstGeom prst="line">
            <a:avLst/>
          </a:prstGeom>
          <a:noFill/>
          <a:ln w="25400">
            <a:solidFill>
              <a:srgbClr val="262626"/>
            </a:solidFill>
            <a:prstDash val="solid"/>
            <a:tailEnd type="triangle"/>
          </a:ln>
        </p:spPr>
      </p:sp>
      <p:sp>
        <p:nvSpPr>
          <p:cNvPr id="22" name="Shape 20"/>
          <p:cNvSpPr/>
          <p:nvPr/>
        </p:nvSpPr>
        <p:spPr>
          <a:xfrm>
            <a:off x="4526280" y="2624328"/>
            <a:ext cx="320040" cy="0"/>
          </a:xfrm>
          <a:prstGeom prst="line">
            <a:avLst/>
          </a:prstGeom>
          <a:noFill/>
          <a:ln w="25400">
            <a:solidFill>
              <a:srgbClr val="262626"/>
            </a:solidFill>
            <a:prstDash val="solid"/>
            <a:tailEnd type="triangle"/>
          </a:ln>
        </p:spPr>
      </p:sp>
      <p:sp>
        <p:nvSpPr>
          <p:cNvPr id="23" name="Shape 21"/>
          <p:cNvSpPr/>
          <p:nvPr/>
        </p:nvSpPr>
        <p:spPr>
          <a:xfrm>
            <a:off x="6675120" y="2624328"/>
            <a:ext cx="320040" cy="0"/>
          </a:xfrm>
          <a:prstGeom prst="line">
            <a:avLst/>
          </a:prstGeom>
          <a:noFill/>
          <a:ln w="25400">
            <a:solidFill>
              <a:srgbClr val="262626"/>
            </a:solidFill>
            <a:prstDash val="solid"/>
            <a:tailEnd type="triangle"/>
          </a:ln>
        </p:spPr>
      </p:sp>
      <p:sp>
        <p:nvSpPr>
          <p:cNvPr id="24" name="Shape 22"/>
          <p:cNvSpPr/>
          <p:nvPr/>
        </p:nvSpPr>
        <p:spPr>
          <a:xfrm flipV="1">
            <a:off x="5760720" y="2121408"/>
            <a:ext cx="0" cy="118872"/>
          </a:xfrm>
          <a:prstGeom prst="line">
            <a:avLst/>
          </a:prstGeom>
          <a:noFill/>
          <a:ln w="19050">
            <a:solidFill>
              <a:srgbClr val="C00000"/>
            </a:solidFill>
            <a:prstDash val="dash"/>
          </a:ln>
        </p:spPr>
      </p:sp>
      <p:sp>
        <p:nvSpPr>
          <p:cNvPr id="25" name="Shape 23"/>
          <p:cNvSpPr/>
          <p:nvPr/>
        </p:nvSpPr>
        <p:spPr>
          <a:xfrm>
            <a:off x="4069080" y="2121408"/>
            <a:ext cx="1691640" cy="0"/>
          </a:xfrm>
          <a:prstGeom prst="line">
            <a:avLst/>
          </a:prstGeom>
          <a:noFill/>
          <a:ln w="19050">
            <a:solidFill>
              <a:srgbClr val="C00000"/>
            </a:solidFill>
            <a:prstDash val="dash"/>
          </a:ln>
        </p:spPr>
      </p:sp>
      <p:sp>
        <p:nvSpPr>
          <p:cNvPr id="26" name="Shape 24"/>
          <p:cNvSpPr/>
          <p:nvPr/>
        </p:nvSpPr>
        <p:spPr>
          <a:xfrm>
            <a:off x="4069080" y="2121408"/>
            <a:ext cx="0" cy="118872"/>
          </a:xfrm>
          <a:prstGeom prst="line">
            <a:avLst/>
          </a:prstGeom>
          <a:noFill/>
          <a:ln w="19050">
            <a:solidFill>
              <a:srgbClr val="C00000"/>
            </a:solidFill>
            <a:prstDash val="solid"/>
            <a:tailEnd type="triangle"/>
          </a:ln>
        </p:spPr>
      </p:sp>
      <p:sp>
        <p:nvSpPr>
          <p:cNvPr id="27" name="Text 25"/>
          <p:cNvSpPr txBox="1"/>
          <p:nvPr/>
        </p:nvSpPr>
        <p:spPr>
          <a:xfrm>
            <a:off x="4663440" y="1810512"/>
            <a:ext cx="1828800" cy="274320"/>
          </a:xfrm>
          <a:prstGeom prst="rect">
            <a:avLst/>
          </a:prstGeom>
          <a:noFill/>
          <a:ln/>
        </p:spPr>
        <p:txBody>
          <a:bodyPr wrap="square" lIns="0" tIns="0" rIns="0" bIns="0" rtlCol="0" anchor="t"/>
          <a:lstStyle/>
          <a:p>
            <a:pPr indent="0" marL="0">
              <a:buNone/>
            </a:pPr>
            <a:r>
              <a:rPr lang="en-US" sz="1200" i="1" dirty="0">
                <a:solidFill>
                  <a:srgbClr val="C00000"/>
                </a:solidFill>
                <a:latin typeface="Arial" pitchFamily="34" charset="0"/>
                <a:ea typeface="Arial" pitchFamily="34" charset="-122"/>
                <a:cs typeface="Arial" pitchFamily="34" charset="-120"/>
              </a:rPr>
              <a:t>retry up to 2 times</a:t>
            </a:r>
            <a:endParaRPr lang="en-US" sz="1200" dirty="0"/>
          </a:p>
        </p:txBody>
      </p:sp>
      <p:sp>
        <p:nvSpPr>
          <p:cNvPr id="28" name="Shape 26"/>
          <p:cNvSpPr/>
          <p:nvPr/>
        </p:nvSpPr>
        <p:spPr>
          <a:xfrm>
            <a:off x="7863840" y="1234440"/>
            <a:ext cx="2560320" cy="777240"/>
          </a:xfrm>
          <a:prstGeom prst="roundRect">
            <a:avLst>
              <a:gd name="adj" fmla="val 9412"/>
            </a:avLst>
          </a:prstGeom>
          <a:solidFill>
            <a:srgbClr val="E6B9B8"/>
          </a:solidFill>
          <a:ln w="12700">
            <a:solidFill>
              <a:srgbClr val="C00000"/>
            </a:solidFill>
            <a:prstDash val="solid"/>
          </a:ln>
          <a:effectLst>
            <a:outerShdw sx="100000" sy="100000" kx="0" ky="0" algn="bl" rotWithShape="0" blurRad="38100" dist="25400" dir="2700000">
              <a:srgbClr val="000000">
                <a:alpha val="25000"/>
              </a:srgbClr>
            </a:outerShdw>
          </a:effectLst>
        </p:spPr>
      </p:sp>
      <p:sp>
        <p:nvSpPr>
          <p:cNvPr id="29" name="Text 27"/>
          <p:cNvSpPr txBox="1"/>
          <p:nvPr/>
        </p:nvSpPr>
        <p:spPr>
          <a:xfrm>
            <a:off x="7909560" y="1234440"/>
            <a:ext cx="246888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14 LLMs with fallback</a:t>
            </a:r>
            <a:endParaRPr lang="en-US" sz="1200" dirty="0"/>
          </a:p>
        </p:txBody>
      </p:sp>
      <p:sp>
        <p:nvSpPr>
          <p:cNvPr id="30" name="Shape 28"/>
          <p:cNvSpPr/>
          <p:nvPr/>
        </p:nvSpPr>
        <p:spPr>
          <a:xfrm>
            <a:off x="7790688" y="3017520"/>
            <a:ext cx="0" cy="320040"/>
          </a:xfrm>
          <a:prstGeom prst="line">
            <a:avLst/>
          </a:prstGeom>
          <a:noFill/>
          <a:ln w="25400">
            <a:solidFill>
              <a:srgbClr val="262626"/>
            </a:solidFill>
            <a:prstDash val="solid"/>
          </a:ln>
        </p:spPr>
      </p:sp>
      <p:sp>
        <p:nvSpPr>
          <p:cNvPr id="31" name="Shape 29"/>
          <p:cNvSpPr/>
          <p:nvPr/>
        </p:nvSpPr>
        <p:spPr>
          <a:xfrm>
            <a:off x="3566160" y="3337560"/>
            <a:ext cx="5760720" cy="0"/>
          </a:xfrm>
          <a:prstGeom prst="line">
            <a:avLst/>
          </a:prstGeom>
          <a:noFill/>
          <a:ln w="25400">
            <a:solidFill>
              <a:srgbClr val="262626"/>
            </a:solidFill>
            <a:prstDash val="solid"/>
          </a:ln>
        </p:spPr>
      </p:sp>
      <p:sp>
        <p:nvSpPr>
          <p:cNvPr id="32" name="Shape 30"/>
          <p:cNvSpPr/>
          <p:nvPr/>
        </p:nvSpPr>
        <p:spPr>
          <a:xfrm>
            <a:off x="3566160" y="3337560"/>
            <a:ext cx="0" cy="182880"/>
          </a:xfrm>
          <a:prstGeom prst="line">
            <a:avLst/>
          </a:prstGeom>
          <a:noFill/>
          <a:ln w="25400">
            <a:solidFill>
              <a:srgbClr val="262626"/>
            </a:solidFill>
            <a:prstDash val="solid"/>
            <a:tailEnd type="triangle"/>
          </a:ln>
        </p:spPr>
      </p:sp>
      <p:sp>
        <p:nvSpPr>
          <p:cNvPr id="33" name="Shape 31"/>
          <p:cNvSpPr/>
          <p:nvPr/>
        </p:nvSpPr>
        <p:spPr>
          <a:xfrm>
            <a:off x="2651760" y="3520440"/>
            <a:ext cx="1828800" cy="868680"/>
          </a:xfrm>
          <a:prstGeom prst="roundRect">
            <a:avLst>
              <a:gd name="adj" fmla="val 8421"/>
            </a:avLst>
          </a:prstGeom>
          <a:solidFill>
            <a:srgbClr val="EBF1DE"/>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34" name="Text 32"/>
          <p:cNvSpPr txBox="1"/>
          <p:nvPr/>
        </p:nvSpPr>
        <p:spPr>
          <a:xfrm>
            <a:off x="2697480" y="3520440"/>
            <a:ext cx="1737360" cy="8686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SQL and NSGA-II</a:t>
            </a:r>
            <a:endParaRPr lang="en-US" sz="1200" dirty="0"/>
          </a:p>
        </p:txBody>
      </p:sp>
      <p:sp>
        <p:nvSpPr>
          <p:cNvPr id="35" name="Shape 33"/>
          <p:cNvSpPr/>
          <p:nvPr/>
        </p:nvSpPr>
        <p:spPr>
          <a:xfrm>
            <a:off x="3566160" y="4389120"/>
            <a:ext cx="0" cy="228600"/>
          </a:xfrm>
          <a:prstGeom prst="line">
            <a:avLst/>
          </a:prstGeom>
          <a:noFill/>
          <a:ln w="25400">
            <a:solidFill>
              <a:srgbClr val="262626"/>
            </a:solidFill>
            <a:prstDash val="solid"/>
          </a:ln>
        </p:spPr>
      </p:sp>
      <p:sp>
        <p:nvSpPr>
          <p:cNvPr id="36" name="Shape 34"/>
          <p:cNvSpPr/>
          <p:nvPr/>
        </p:nvSpPr>
        <p:spPr>
          <a:xfrm>
            <a:off x="5486400" y="3337560"/>
            <a:ext cx="0" cy="182880"/>
          </a:xfrm>
          <a:prstGeom prst="line">
            <a:avLst/>
          </a:prstGeom>
          <a:noFill/>
          <a:ln w="25400">
            <a:solidFill>
              <a:srgbClr val="262626"/>
            </a:solidFill>
            <a:prstDash val="solid"/>
            <a:tailEnd type="triangle"/>
          </a:ln>
        </p:spPr>
      </p:sp>
      <p:sp>
        <p:nvSpPr>
          <p:cNvPr id="37" name="Shape 35"/>
          <p:cNvSpPr/>
          <p:nvPr/>
        </p:nvSpPr>
        <p:spPr>
          <a:xfrm>
            <a:off x="4572000" y="3520440"/>
            <a:ext cx="1828800" cy="868680"/>
          </a:xfrm>
          <a:prstGeom prst="roundRect">
            <a:avLst>
              <a:gd name="adj" fmla="val 8421"/>
            </a:avLst>
          </a:prstGeom>
          <a:solidFill>
            <a:srgbClr val="DCE6F2"/>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38" name="Text 36"/>
          <p:cNvSpPr txBox="1"/>
          <p:nvPr/>
        </p:nvSpPr>
        <p:spPr>
          <a:xfrm>
            <a:off x="4617720" y="3520440"/>
            <a:ext cx="1737360" cy="8686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FT-Transformer and FAISS</a:t>
            </a:r>
            <a:endParaRPr lang="en-US" sz="1200" dirty="0"/>
          </a:p>
        </p:txBody>
      </p:sp>
      <p:sp>
        <p:nvSpPr>
          <p:cNvPr id="39" name="Shape 37"/>
          <p:cNvSpPr/>
          <p:nvPr/>
        </p:nvSpPr>
        <p:spPr>
          <a:xfrm>
            <a:off x="5486400" y="4389120"/>
            <a:ext cx="0" cy="228600"/>
          </a:xfrm>
          <a:prstGeom prst="line">
            <a:avLst/>
          </a:prstGeom>
          <a:noFill/>
          <a:ln w="25400">
            <a:solidFill>
              <a:srgbClr val="262626"/>
            </a:solidFill>
            <a:prstDash val="solid"/>
          </a:ln>
        </p:spPr>
      </p:sp>
      <p:sp>
        <p:nvSpPr>
          <p:cNvPr id="40" name="Shape 38"/>
          <p:cNvSpPr/>
          <p:nvPr/>
        </p:nvSpPr>
        <p:spPr>
          <a:xfrm>
            <a:off x="7406640" y="3337560"/>
            <a:ext cx="0" cy="182880"/>
          </a:xfrm>
          <a:prstGeom prst="line">
            <a:avLst/>
          </a:prstGeom>
          <a:noFill/>
          <a:ln w="25400">
            <a:solidFill>
              <a:srgbClr val="262626"/>
            </a:solidFill>
            <a:prstDash val="solid"/>
            <a:tailEnd type="triangle"/>
          </a:ln>
        </p:spPr>
      </p:sp>
      <p:sp>
        <p:nvSpPr>
          <p:cNvPr id="41" name="Shape 39"/>
          <p:cNvSpPr/>
          <p:nvPr/>
        </p:nvSpPr>
        <p:spPr>
          <a:xfrm>
            <a:off x="6492240" y="3520440"/>
            <a:ext cx="1828800" cy="868680"/>
          </a:xfrm>
          <a:prstGeom prst="roundRect">
            <a:avLst>
              <a:gd name="adj" fmla="val 8421"/>
            </a:avLst>
          </a:prstGeom>
          <a:solidFill>
            <a:srgbClr val="FDE9D9"/>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42" name="Text 40"/>
          <p:cNvSpPr txBox="1"/>
          <p:nvPr/>
        </p:nvSpPr>
        <p:spPr>
          <a:xfrm>
            <a:off x="6537960" y="3520440"/>
            <a:ext cx="1737360" cy="8686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XGBoost, conformal, SHAP</a:t>
            </a:r>
            <a:endParaRPr lang="en-US" sz="1200" dirty="0"/>
          </a:p>
        </p:txBody>
      </p:sp>
      <p:sp>
        <p:nvSpPr>
          <p:cNvPr id="43" name="Shape 41"/>
          <p:cNvSpPr/>
          <p:nvPr/>
        </p:nvSpPr>
        <p:spPr>
          <a:xfrm>
            <a:off x="7406640" y="4389120"/>
            <a:ext cx="0" cy="228600"/>
          </a:xfrm>
          <a:prstGeom prst="line">
            <a:avLst/>
          </a:prstGeom>
          <a:noFill/>
          <a:ln w="25400">
            <a:solidFill>
              <a:srgbClr val="262626"/>
            </a:solidFill>
            <a:prstDash val="solid"/>
          </a:ln>
        </p:spPr>
      </p:sp>
      <p:sp>
        <p:nvSpPr>
          <p:cNvPr id="44" name="Shape 42"/>
          <p:cNvSpPr/>
          <p:nvPr/>
        </p:nvSpPr>
        <p:spPr>
          <a:xfrm>
            <a:off x="9326880" y="3337560"/>
            <a:ext cx="0" cy="182880"/>
          </a:xfrm>
          <a:prstGeom prst="line">
            <a:avLst/>
          </a:prstGeom>
          <a:noFill/>
          <a:ln w="25400">
            <a:solidFill>
              <a:srgbClr val="262626"/>
            </a:solidFill>
            <a:prstDash val="solid"/>
            <a:tailEnd type="triangle"/>
          </a:ln>
        </p:spPr>
      </p:sp>
      <p:sp>
        <p:nvSpPr>
          <p:cNvPr id="45" name="Shape 43"/>
          <p:cNvSpPr/>
          <p:nvPr/>
        </p:nvSpPr>
        <p:spPr>
          <a:xfrm>
            <a:off x="8412480" y="3520440"/>
            <a:ext cx="1828800" cy="868680"/>
          </a:xfrm>
          <a:prstGeom prst="roundRect">
            <a:avLst>
              <a:gd name="adj" fmla="val 8421"/>
            </a:avLst>
          </a:prstGeom>
          <a:solidFill>
            <a:srgbClr val="F2DCDB"/>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46" name="Text 44"/>
          <p:cNvSpPr txBox="1"/>
          <p:nvPr/>
        </p:nvSpPr>
        <p:spPr>
          <a:xfrm>
            <a:off x="8458200" y="3520440"/>
            <a:ext cx="1737360" cy="86868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RAG: MiniLM and FAISS</a:t>
            </a:r>
            <a:endParaRPr lang="en-US" sz="1200" dirty="0"/>
          </a:p>
        </p:txBody>
      </p:sp>
      <p:sp>
        <p:nvSpPr>
          <p:cNvPr id="47" name="Shape 45"/>
          <p:cNvSpPr/>
          <p:nvPr/>
        </p:nvSpPr>
        <p:spPr>
          <a:xfrm>
            <a:off x="9326880" y="4389120"/>
            <a:ext cx="0" cy="228600"/>
          </a:xfrm>
          <a:prstGeom prst="line">
            <a:avLst/>
          </a:prstGeom>
          <a:noFill/>
          <a:ln w="25400">
            <a:solidFill>
              <a:srgbClr val="262626"/>
            </a:solidFill>
            <a:prstDash val="solid"/>
          </a:ln>
        </p:spPr>
      </p:sp>
      <p:sp>
        <p:nvSpPr>
          <p:cNvPr id="48" name="Shape 46"/>
          <p:cNvSpPr/>
          <p:nvPr/>
        </p:nvSpPr>
        <p:spPr>
          <a:xfrm>
            <a:off x="3566160" y="4617720"/>
            <a:ext cx="5760720" cy="0"/>
          </a:xfrm>
          <a:prstGeom prst="line">
            <a:avLst/>
          </a:prstGeom>
          <a:noFill/>
          <a:ln w="25400">
            <a:solidFill>
              <a:srgbClr val="262626"/>
            </a:solidFill>
            <a:prstDash val="solid"/>
          </a:ln>
        </p:spPr>
      </p:sp>
      <p:sp>
        <p:nvSpPr>
          <p:cNvPr id="49" name="Shape 47"/>
          <p:cNvSpPr/>
          <p:nvPr/>
        </p:nvSpPr>
        <p:spPr>
          <a:xfrm>
            <a:off x="5577840" y="4617720"/>
            <a:ext cx="0" cy="228600"/>
          </a:xfrm>
          <a:prstGeom prst="line">
            <a:avLst/>
          </a:prstGeom>
          <a:noFill/>
          <a:ln w="25400">
            <a:solidFill>
              <a:srgbClr val="262626"/>
            </a:solidFill>
            <a:prstDash val="solid"/>
            <a:tailEnd type="triangle"/>
          </a:ln>
        </p:spPr>
      </p:sp>
      <p:sp>
        <p:nvSpPr>
          <p:cNvPr id="50" name="Shape 48"/>
          <p:cNvSpPr/>
          <p:nvPr/>
        </p:nvSpPr>
        <p:spPr>
          <a:xfrm>
            <a:off x="4206240" y="4846320"/>
            <a:ext cx="2743200" cy="685800"/>
          </a:xfrm>
          <a:prstGeom prst="roundRect">
            <a:avLst>
              <a:gd name="adj" fmla="val 10667"/>
            </a:avLst>
          </a:prstGeom>
          <a:solidFill>
            <a:srgbClr val="E6B9B8"/>
          </a:solidFill>
          <a:ln w="12700">
            <a:solidFill>
              <a:srgbClr val="C00000"/>
            </a:solidFill>
            <a:prstDash val="solid"/>
          </a:ln>
          <a:effectLst>
            <a:outerShdw sx="100000" sy="100000" kx="0" ky="0" algn="bl" rotWithShape="0" blurRad="38100" dist="25400" dir="2700000">
              <a:srgbClr val="000000">
                <a:alpha val="25000"/>
              </a:srgbClr>
            </a:outerShdw>
          </a:effectLst>
        </p:spPr>
      </p:sp>
      <p:sp>
        <p:nvSpPr>
          <p:cNvPr id="51" name="Text 49"/>
          <p:cNvSpPr txBox="1"/>
          <p:nvPr/>
        </p:nvSpPr>
        <p:spPr>
          <a:xfrm>
            <a:off x="4251960" y="4846320"/>
            <a:ext cx="2651760" cy="68580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LLM answer writer</a:t>
            </a:r>
            <a:endParaRPr lang="en-US" sz="1200" dirty="0"/>
          </a:p>
        </p:txBody>
      </p:sp>
      <p:sp>
        <p:nvSpPr>
          <p:cNvPr id="52" name="Shape 50"/>
          <p:cNvSpPr/>
          <p:nvPr/>
        </p:nvSpPr>
        <p:spPr>
          <a:xfrm>
            <a:off x="6949440" y="5184648"/>
            <a:ext cx="365760" cy="0"/>
          </a:xfrm>
          <a:prstGeom prst="line">
            <a:avLst/>
          </a:prstGeom>
          <a:noFill/>
          <a:ln w="25400">
            <a:solidFill>
              <a:srgbClr val="262626"/>
            </a:solidFill>
            <a:prstDash val="solid"/>
            <a:tailEnd type="triangle"/>
          </a:ln>
        </p:spPr>
      </p:sp>
      <p:sp>
        <p:nvSpPr>
          <p:cNvPr id="53" name="Shape 51"/>
          <p:cNvSpPr/>
          <p:nvPr/>
        </p:nvSpPr>
        <p:spPr>
          <a:xfrm>
            <a:off x="7315200" y="4846320"/>
            <a:ext cx="3108960" cy="685800"/>
          </a:xfrm>
          <a:prstGeom prst="roundRect">
            <a:avLst>
              <a:gd name="adj" fmla="val 10667"/>
            </a:avLst>
          </a:prstGeom>
          <a:solidFill>
            <a:srgbClr val="DAEEF3"/>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54" name="Text 52"/>
          <p:cNvSpPr txBox="1"/>
          <p:nvPr/>
        </p:nvSpPr>
        <p:spPr>
          <a:xfrm>
            <a:off x="7360920" y="4846320"/>
            <a:ext cx="3017520" cy="68580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Answer validator</a:t>
            </a:r>
            <a:endParaRPr lang="en-US" sz="1200" dirty="0"/>
          </a:p>
        </p:txBody>
      </p:sp>
      <p:sp>
        <p:nvSpPr>
          <p:cNvPr id="55" name="Shape 53"/>
          <p:cNvSpPr/>
          <p:nvPr/>
        </p:nvSpPr>
        <p:spPr>
          <a:xfrm>
            <a:off x="8869680" y="5532120"/>
            <a:ext cx="0" cy="640080"/>
          </a:xfrm>
          <a:prstGeom prst="line">
            <a:avLst/>
          </a:prstGeom>
          <a:noFill/>
          <a:ln w="25400">
            <a:solidFill>
              <a:srgbClr val="262626"/>
            </a:solidFill>
            <a:prstDash val="solid"/>
          </a:ln>
        </p:spPr>
      </p:sp>
      <p:sp>
        <p:nvSpPr>
          <p:cNvPr id="56" name="Shape 54"/>
          <p:cNvSpPr/>
          <p:nvPr/>
        </p:nvSpPr>
        <p:spPr>
          <a:xfrm flipH="1">
            <a:off x="2286000" y="6172200"/>
            <a:ext cx="6583680" cy="0"/>
          </a:xfrm>
          <a:prstGeom prst="line">
            <a:avLst/>
          </a:prstGeom>
          <a:noFill/>
          <a:ln w="25400">
            <a:solidFill>
              <a:srgbClr val="262626"/>
            </a:solidFill>
            <a:prstDash val="solid"/>
            <a:tailEnd type="triangle"/>
          </a:ln>
        </p:spPr>
      </p:sp>
      <p:sp>
        <p:nvSpPr>
          <p:cNvPr id="57" name="Text 55"/>
          <p:cNvSpPr txBox="1"/>
          <p:nvPr/>
        </p:nvSpPr>
        <p:spPr>
          <a:xfrm>
            <a:off x="2697480" y="6309360"/>
            <a:ext cx="7680960" cy="274320"/>
          </a:xfrm>
          <a:prstGeom prst="rect">
            <a:avLst/>
          </a:prstGeom>
          <a:noFill/>
          <a:ln/>
        </p:spPr>
        <p:txBody>
          <a:bodyPr wrap="square" lIns="0" tIns="0" rIns="0" bIns="0" rtlCol="0" anchor="t"/>
          <a:lstStyle/>
          <a:p>
            <a:pPr indent="0" marL="0">
              <a:buNone/>
            </a:pPr>
            <a:r>
              <a:rPr lang="en-US" sz="1200" i="1" dirty="0">
                <a:solidFill>
                  <a:srgbClr val="595959"/>
                </a:solidFill>
                <a:latin typeface="Arial" pitchFamily="34" charset="0"/>
                <a:ea typeface="Arial" pitchFamily="34" charset="-122"/>
                <a:cs typeface="Arial" pitchFamily="34" charset="-120"/>
              </a:rPr>
              <a:t>Red boxes use a language model; the other steps are deterministic code.</a:t>
            </a:r>
            <a:endParaRPr lang="en-US" sz="1200" dirty="0"/>
          </a:p>
        </p:txBody>
      </p:sp>
      <p:sp>
        <p:nvSpPr>
          <p:cNvPr id="58" name="Text 56"/>
          <p:cNvSpPr txBox="1"/>
          <p:nvPr/>
        </p:nvSpPr>
        <p:spPr>
          <a:xfrm>
            <a:off x="2697480" y="6583680"/>
            <a:ext cx="7680960" cy="59436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Intent router = picks the tool for the request type. FAISS = fast vector search library. MiniLM = small sentence-embedding model. Conformal = 90 % prediction interval. Fallback = next model used when one fails.</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Pipeline Architecture: Offline Training and Online Inference</a:t>
            </a:r>
            <a:endParaRPr lang="en-US" sz="2400" dirty="0"/>
          </a:p>
        </p:txBody>
      </p:sp>
      <p:sp>
        <p:nvSpPr>
          <p:cNvPr id="3" name="Text 1"/>
          <p:cNvSpPr txBox="1"/>
          <p:nvPr/>
        </p:nvSpPr>
        <p:spPr>
          <a:xfrm>
            <a:off x="365760" y="914400"/>
            <a:ext cx="4572000" cy="274320"/>
          </a:xfrm>
          <a:prstGeom prst="rect">
            <a:avLst/>
          </a:prstGeom>
          <a:noFill/>
          <a:ln/>
        </p:spPr>
        <p:txBody>
          <a:bodyPr wrap="square" lIns="0" tIns="0" rIns="0" bIns="0" rtlCol="0" anchor="t"/>
          <a:lstStyle/>
          <a:p>
            <a:pPr indent="0" marL="0">
              <a:buNone/>
            </a:pPr>
            <a:r>
              <a:rPr lang="en-US" sz="1200" b="1" dirty="0">
                <a:solidFill>
                  <a:srgbClr val="C00000"/>
                </a:solidFill>
                <a:latin typeface="Arial" pitchFamily="34" charset="0"/>
                <a:ea typeface="Arial" pitchFamily="34" charset="-122"/>
                <a:cs typeface="Arial" pitchFamily="34" charset="-120"/>
              </a:rPr>
              <a:t>Offline (run once)</a:t>
            </a:r>
            <a:endParaRPr lang="en-US" sz="1200" dirty="0"/>
          </a:p>
        </p:txBody>
      </p:sp>
      <p:sp>
        <p:nvSpPr>
          <p:cNvPr id="4" name="Shape 2"/>
          <p:cNvSpPr/>
          <p:nvPr/>
        </p:nvSpPr>
        <p:spPr>
          <a:xfrm>
            <a:off x="320040" y="1234440"/>
            <a:ext cx="1325880" cy="777240"/>
          </a:xfrm>
          <a:prstGeom prst="roundRect">
            <a:avLst>
              <a:gd name="adj" fmla="val 9412"/>
            </a:avLst>
          </a:prstGeom>
          <a:solidFill>
            <a:srgbClr val="8064A2"/>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5" name="Text 3"/>
          <p:cNvSpPr txBox="1"/>
          <p:nvPr/>
        </p:nvSpPr>
        <p:spPr>
          <a:xfrm>
            <a:off x="365760" y="1234440"/>
            <a:ext cx="1234440"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MOF dataset</a:t>
            </a:r>
            <a:endParaRPr lang="en-US" sz="1200" dirty="0"/>
          </a:p>
        </p:txBody>
      </p:sp>
      <p:sp>
        <p:nvSpPr>
          <p:cNvPr id="6" name="Shape 4"/>
          <p:cNvSpPr/>
          <p:nvPr/>
        </p:nvSpPr>
        <p:spPr>
          <a:xfrm>
            <a:off x="1645920" y="1618488"/>
            <a:ext cx="137160" cy="0"/>
          </a:xfrm>
          <a:prstGeom prst="line">
            <a:avLst/>
          </a:prstGeom>
          <a:noFill/>
          <a:ln w="25400">
            <a:solidFill>
              <a:srgbClr val="262626"/>
            </a:solidFill>
            <a:prstDash val="solid"/>
            <a:tailEnd type="triangle"/>
          </a:ln>
        </p:spPr>
      </p:sp>
      <p:sp>
        <p:nvSpPr>
          <p:cNvPr id="7" name="Shape 5"/>
          <p:cNvSpPr/>
          <p:nvPr/>
        </p:nvSpPr>
        <p:spPr>
          <a:xfrm>
            <a:off x="1783080" y="1234440"/>
            <a:ext cx="1325880" cy="777240"/>
          </a:xfrm>
          <a:prstGeom prst="roundRect">
            <a:avLst>
              <a:gd name="adj" fmla="val 9412"/>
            </a:avLst>
          </a:prstGeom>
          <a:solidFill>
            <a:srgbClr val="EBF1DE"/>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8" name="Text 6"/>
          <p:cNvSpPr txBox="1"/>
          <p:nvPr/>
        </p:nvSpPr>
        <p:spPr>
          <a:xfrm>
            <a:off x="1828800" y="1234440"/>
            <a:ext cx="123444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ETL and checks</a:t>
            </a:r>
            <a:endParaRPr lang="en-US" sz="1200" dirty="0"/>
          </a:p>
        </p:txBody>
      </p:sp>
      <p:sp>
        <p:nvSpPr>
          <p:cNvPr id="9" name="Shape 7"/>
          <p:cNvSpPr/>
          <p:nvPr/>
        </p:nvSpPr>
        <p:spPr>
          <a:xfrm>
            <a:off x="3108960" y="1618488"/>
            <a:ext cx="137160" cy="0"/>
          </a:xfrm>
          <a:prstGeom prst="line">
            <a:avLst/>
          </a:prstGeom>
          <a:noFill/>
          <a:ln w="25400">
            <a:solidFill>
              <a:srgbClr val="262626"/>
            </a:solidFill>
            <a:prstDash val="solid"/>
            <a:tailEnd type="triangle"/>
          </a:ln>
        </p:spPr>
      </p:sp>
      <p:sp>
        <p:nvSpPr>
          <p:cNvPr id="10" name="Shape 8"/>
          <p:cNvSpPr/>
          <p:nvPr/>
        </p:nvSpPr>
        <p:spPr>
          <a:xfrm>
            <a:off x="3246120" y="1234440"/>
            <a:ext cx="1325880" cy="777240"/>
          </a:xfrm>
          <a:prstGeom prst="roundRect">
            <a:avLst>
              <a:gd name="adj" fmla="val 9412"/>
            </a:avLst>
          </a:prstGeom>
          <a:solidFill>
            <a:srgbClr val="DAEEF3"/>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11" name="Text 9"/>
          <p:cNvSpPr txBox="1"/>
          <p:nvPr/>
        </p:nvSpPr>
        <p:spPr>
          <a:xfrm>
            <a:off x="3291840" y="1234440"/>
            <a:ext cx="123444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Feature scaling</a:t>
            </a:r>
            <a:endParaRPr lang="en-US" sz="1200" dirty="0"/>
          </a:p>
        </p:txBody>
      </p:sp>
      <p:sp>
        <p:nvSpPr>
          <p:cNvPr id="12" name="Shape 10"/>
          <p:cNvSpPr/>
          <p:nvPr/>
        </p:nvSpPr>
        <p:spPr>
          <a:xfrm>
            <a:off x="4572000" y="1618488"/>
            <a:ext cx="137160" cy="0"/>
          </a:xfrm>
          <a:prstGeom prst="line">
            <a:avLst/>
          </a:prstGeom>
          <a:noFill/>
          <a:ln w="25400">
            <a:solidFill>
              <a:srgbClr val="262626"/>
            </a:solidFill>
            <a:prstDash val="solid"/>
            <a:tailEnd type="triangle"/>
          </a:ln>
        </p:spPr>
      </p:sp>
      <p:sp>
        <p:nvSpPr>
          <p:cNvPr id="13" name="Shape 11"/>
          <p:cNvSpPr/>
          <p:nvPr/>
        </p:nvSpPr>
        <p:spPr>
          <a:xfrm>
            <a:off x="4709160" y="1234440"/>
            <a:ext cx="1325880" cy="777240"/>
          </a:xfrm>
          <a:prstGeom prst="roundRect">
            <a:avLst>
              <a:gd name="adj" fmla="val 9412"/>
            </a:avLst>
          </a:prstGeom>
          <a:solidFill>
            <a:srgbClr val="FDE9D9"/>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14" name="Text 12"/>
          <p:cNvSpPr txBox="1"/>
          <p:nvPr/>
        </p:nvSpPr>
        <p:spPr>
          <a:xfrm>
            <a:off x="4754880" y="1234440"/>
            <a:ext cx="123444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Masked FT-Transformer</a:t>
            </a:r>
            <a:endParaRPr lang="en-US" sz="1200" dirty="0"/>
          </a:p>
        </p:txBody>
      </p:sp>
      <p:sp>
        <p:nvSpPr>
          <p:cNvPr id="15" name="Shape 13"/>
          <p:cNvSpPr/>
          <p:nvPr/>
        </p:nvSpPr>
        <p:spPr>
          <a:xfrm>
            <a:off x="6035040" y="1618488"/>
            <a:ext cx="137160" cy="0"/>
          </a:xfrm>
          <a:prstGeom prst="line">
            <a:avLst/>
          </a:prstGeom>
          <a:noFill/>
          <a:ln w="25400">
            <a:solidFill>
              <a:srgbClr val="262626"/>
            </a:solidFill>
            <a:prstDash val="solid"/>
            <a:tailEnd type="triangle"/>
          </a:ln>
        </p:spPr>
      </p:sp>
      <p:sp>
        <p:nvSpPr>
          <p:cNvPr id="16" name="Shape 14"/>
          <p:cNvSpPr/>
          <p:nvPr/>
        </p:nvSpPr>
        <p:spPr>
          <a:xfrm>
            <a:off x="6172200" y="1234440"/>
            <a:ext cx="1325880" cy="777240"/>
          </a:xfrm>
          <a:prstGeom prst="roundRect">
            <a:avLst>
              <a:gd name="adj" fmla="val 9412"/>
            </a:avLst>
          </a:prstGeom>
          <a:solidFill>
            <a:srgbClr val="DCE6F2"/>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17" name="Text 15"/>
          <p:cNvSpPr txBox="1"/>
          <p:nvPr/>
        </p:nvSpPr>
        <p:spPr>
          <a:xfrm>
            <a:off x="6217920" y="1234440"/>
            <a:ext cx="123444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Surrogate models</a:t>
            </a:r>
            <a:endParaRPr lang="en-US" sz="1200" dirty="0"/>
          </a:p>
        </p:txBody>
      </p:sp>
      <p:sp>
        <p:nvSpPr>
          <p:cNvPr id="18" name="Shape 16"/>
          <p:cNvSpPr/>
          <p:nvPr/>
        </p:nvSpPr>
        <p:spPr>
          <a:xfrm>
            <a:off x="7498080" y="1618488"/>
            <a:ext cx="137160" cy="0"/>
          </a:xfrm>
          <a:prstGeom prst="line">
            <a:avLst/>
          </a:prstGeom>
          <a:noFill/>
          <a:ln w="25400">
            <a:solidFill>
              <a:srgbClr val="262626"/>
            </a:solidFill>
            <a:prstDash val="solid"/>
            <a:tailEnd type="triangle"/>
          </a:ln>
        </p:spPr>
      </p:sp>
      <p:sp>
        <p:nvSpPr>
          <p:cNvPr id="19" name="Shape 17"/>
          <p:cNvSpPr/>
          <p:nvPr/>
        </p:nvSpPr>
        <p:spPr>
          <a:xfrm>
            <a:off x="7635240" y="1234440"/>
            <a:ext cx="1325880" cy="777240"/>
          </a:xfrm>
          <a:prstGeom prst="roundRect">
            <a:avLst>
              <a:gd name="adj" fmla="val 9412"/>
            </a:avLst>
          </a:prstGeom>
          <a:solidFill>
            <a:srgbClr val="F2DCDB"/>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20" name="Text 18"/>
          <p:cNvSpPr txBox="1"/>
          <p:nvPr/>
        </p:nvSpPr>
        <p:spPr>
          <a:xfrm>
            <a:off x="7680960" y="1234440"/>
            <a:ext cx="123444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Knowledge index</a:t>
            </a:r>
            <a:endParaRPr lang="en-US" sz="1200" dirty="0"/>
          </a:p>
        </p:txBody>
      </p:sp>
      <p:sp>
        <p:nvSpPr>
          <p:cNvPr id="21" name="Shape 19"/>
          <p:cNvSpPr/>
          <p:nvPr/>
        </p:nvSpPr>
        <p:spPr>
          <a:xfrm>
            <a:off x="8961120" y="1618488"/>
            <a:ext cx="137160" cy="0"/>
          </a:xfrm>
          <a:prstGeom prst="line">
            <a:avLst/>
          </a:prstGeom>
          <a:noFill/>
          <a:ln w="25400">
            <a:solidFill>
              <a:srgbClr val="262626"/>
            </a:solidFill>
            <a:prstDash val="solid"/>
            <a:tailEnd type="triangle"/>
          </a:ln>
        </p:spPr>
      </p:sp>
      <p:sp>
        <p:nvSpPr>
          <p:cNvPr id="22" name="Shape 20"/>
          <p:cNvSpPr/>
          <p:nvPr/>
        </p:nvSpPr>
        <p:spPr>
          <a:xfrm>
            <a:off x="9098280" y="1234440"/>
            <a:ext cx="1325880" cy="777240"/>
          </a:xfrm>
          <a:prstGeom prst="roundRect">
            <a:avLst>
              <a:gd name="adj" fmla="val 9412"/>
            </a:avLst>
          </a:prstGeom>
          <a:solidFill>
            <a:srgbClr val="FFF2CC"/>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23" name="Text 21"/>
          <p:cNvSpPr txBox="1"/>
          <p:nvPr/>
        </p:nvSpPr>
        <p:spPr>
          <a:xfrm>
            <a:off x="9144000" y="1234440"/>
            <a:ext cx="123444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Evaluation</a:t>
            </a:r>
            <a:endParaRPr lang="en-US" sz="1200" dirty="0"/>
          </a:p>
        </p:txBody>
      </p:sp>
      <p:sp>
        <p:nvSpPr>
          <p:cNvPr id="24" name="Text 22"/>
          <p:cNvSpPr txBox="1"/>
          <p:nvPr/>
        </p:nvSpPr>
        <p:spPr>
          <a:xfrm>
            <a:off x="365760" y="2057400"/>
            <a:ext cx="9966960" cy="22860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 Dataset: 12k CoRE-MOFs  • ETL: Clean &amp; SQLite  • FT-Transformer: 64-d SSL  • Surrogates: XGBoost  • Index: S-BERT + FAISS RAG</a:t>
            </a:r>
            <a:endParaRPr lang="en-US" sz="1200" dirty="0"/>
          </a:p>
        </p:txBody>
      </p:sp>
      <p:sp>
        <p:nvSpPr>
          <p:cNvPr id="25" name="Text 23"/>
          <p:cNvSpPr txBox="1"/>
          <p:nvPr/>
        </p:nvSpPr>
        <p:spPr>
          <a:xfrm>
            <a:off x="365760" y="2286000"/>
            <a:ext cx="9966960" cy="228600"/>
          </a:xfrm>
          <a:prstGeom prst="rect">
            <a:avLst/>
          </a:prstGeom>
          <a:noFill/>
          <a:ln/>
        </p:spPr>
        <p:txBody>
          <a:bodyPr wrap="square" lIns="0" tIns="0" rIns="0" bIns="0" rtlCol="0" anchor="t"/>
          <a:lstStyle/>
          <a:p>
            <a:pPr indent="0" marL="0">
              <a:buNone/>
            </a:pPr>
            <a:r>
              <a:rPr lang="en-US" sz="1200" dirty="0">
                <a:solidFill>
                  <a:srgbClr val="595959"/>
                </a:solidFill>
                <a:latin typeface="Arial" pitchFamily="34" charset="0"/>
                <a:ea typeface="Arial" pitchFamily="34" charset="-122"/>
                <a:cs typeface="Arial" pitchFamily="34" charset="-120"/>
              </a:rPr>
              <a:t>Scripts: setup_db.py, train_ft.py, train_property_models.py, setup_vectorstore.py, evaluate.py, evaluate_dl.py</a:t>
            </a:r>
            <a:endParaRPr lang="en-US" sz="1200" dirty="0"/>
          </a:p>
        </p:txBody>
      </p:sp>
      <p:sp>
        <p:nvSpPr>
          <p:cNvPr id="26" name="Text 24"/>
          <p:cNvSpPr txBox="1"/>
          <p:nvPr/>
        </p:nvSpPr>
        <p:spPr>
          <a:xfrm>
            <a:off x="365760" y="2606040"/>
            <a:ext cx="4572000" cy="274320"/>
          </a:xfrm>
          <a:prstGeom prst="rect">
            <a:avLst/>
          </a:prstGeom>
          <a:noFill/>
          <a:ln/>
        </p:spPr>
        <p:txBody>
          <a:bodyPr wrap="square" lIns="0" tIns="0" rIns="0" bIns="0" rtlCol="0" anchor="t"/>
          <a:lstStyle/>
          <a:p>
            <a:pPr indent="0" marL="0">
              <a:buNone/>
            </a:pPr>
            <a:r>
              <a:rPr lang="en-US" sz="1200" b="1" dirty="0">
                <a:solidFill>
                  <a:srgbClr val="C00000"/>
                </a:solidFill>
                <a:latin typeface="Arial" pitchFamily="34" charset="0"/>
                <a:ea typeface="Arial" pitchFamily="34" charset="-122"/>
                <a:cs typeface="Arial" pitchFamily="34" charset="-120"/>
              </a:rPr>
              <a:t>Online (per question)</a:t>
            </a:r>
            <a:endParaRPr lang="en-US" sz="1200" dirty="0"/>
          </a:p>
        </p:txBody>
      </p:sp>
      <p:sp>
        <p:nvSpPr>
          <p:cNvPr id="27" name="Shape 25"/>
          <p:cNvSpPr/>
          <p:nvPr/>
        </p:nvSpPr>
        <p:spPr>
          <a:xfrm>
            <a:off x="320040" y="2926080"/>
            <a:ext cx="1325880" cy="777240"/>
          </a:xfrm>
          <a:prstGeom prst="roundRect">
            <a:avLst>
              <a:gd name="adj" fmla="val 9412"/>
            </a:avLst>
          </a:prstGeom>
          <a:solidFill>
            <a:srgbClr val="FAC090"/>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28" name="Text 26"/>
          <p:cNvSpPr txBox="1"/>
          <p:nvPr/>
        </p:nvSpPr>
        <p:spPr>
          <a:xfrm>
            <a:off x="365760" y="2926080"/>
            <a:ext cx="123444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User query</a:t>
            </a:r>
            <a:endParaRPr lang="en-US" sz="1200" dirty="0"/>
          </a:p>
        </p:txBody>
      </p:sp>
      <p:sp>
        <p:nvSpPr>
          <p:cNvPr id="29" name="Shape 27"/>
          <p:cNvSpPr/>
          <p:nvPr/>
        </p:nvSpPr>
        <p:spPr>
          <a:xfrm>
            <a:off x="1645920" y="3310128"/>
            <a:ext cx="137160" cy="0"/>
          </a:xfrm>
          <a:prstGeom prst="line">
            <a:avLst/>
          </a:prstGeom>
          <a:noFill/>
          <a:ln w="25400">
            <a:solidFill>
              <a:srgbClr val="262626"/>
            </a:solidFill>
            <a:prstDash val="solid"/>
            <a:tailEnd type="triangle"/>
          </a:ln>
        </p:spPr>
      </p:sp>
      <p:sp>
        <p:nvSpPr>
          <p:cNvPr id="30" name="Shape 28"/>
          <p:cNvSpPr/>
          <p:nvPr/>
        </p:nvSpPr>
        <p:spPr>
          <a:xfrm>
            <a:off x="1783080" y="2926080"/>
            <a:ext cx="1325880" cy="777240"/>
          </a:xfrm>
          <a:prstGeom prst="roundRect">
            <a:avLst>
              <a:gd name="adj" fmla="val 9412"/>
            </a:avLst>
          </a:prstGeom>
          <a:solidFill>
            <a:srgbClr val="E6B9B8"/>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31" name="Text 29"/>
          <p:cNvSpPr txBox="1"/>
          <p:nvPr/>
        </p:nvSpPr>
        <p:spPr>
          <a:xfrm>
            <a:off x="1828800" y="2926080"/>
            <a:ext cx="123444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Plan (LLM and rules)</a:t>
            </a:r>
            <a:endParaRPr lang="en-US" sz="1200" dirty="0"/>
          </a:p>
        </p:txBody>
      </p:sp>
      <p:sp>
        <p:nvSpPr>
          <p:cNvPr id="32" name="Shape 30"/>
          <p:cNvSpPr/>
          <p:nvPr/>
        </p:nvSpPr>
        <p:spPr>
          <a:xfrm>
            <a:off x="3108960" y="3310128"/>
            <a:ext cx="137160" cy="0"/>
          </a:xfrm>
          <a:prstGeom prst="line">
            <a:avLst/>
          </a:prstGeom>
          <a:noFill/>
          <a:ln w="25400">
            <a:solidFill>
              <a:srgbClr val="262626"/>
            </a:solidFill>
            <a:prstDash val="solid"/>
            <a:tailEnd type="triangle"/>
          </a:ln>
        </p:spPr>
      </p:sp>
      <p:sp>
        <p:nvSpPr>
          <p:cNvPr id="33" name="Shape 31"/>
          <p:cNvSpPr/>
          <p:nvPr/>
        </p:nvSpPr>
        <p:spPr>
          <a:xfrm>
            <a:off x="3246120" y="2926080"/>
            <a:ext cx="1325880" cy="777240"/>
          </a:xfrm>
          <a:prstGeom prst="roundRect">
            <a:avLst>
              <a:gd name="adj" fmla="val 9412"/>
            </a:avLst>
          </a:prstGeom>
          <a:solidFill>
            <a:srgbClr val="DAEEF3"/>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34" name="Text 32"/>
          <p:cNvSpPr txBox="1"/>
          <p:nvPr/>
        </p:nvSpPr>
        <p:spPr>
          <a:xfrm>
            <a:off x="3291840" y="2926080"/>
            <a:ext cx="123444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Validate plan</a:t>
            </a:r>
            <a:endParaRPr lang="en-US" sz="1200" dirty="0"/>
          </a:p>
        </p:txBody>
      </p:sp>
      <p:sp>
        <p:nvSpPr>
          <p:cNvPr id="35" name="Shape 33"/>
          <p:cNvSpPr/>
          <p:nvPr/>
        </p:nvSpPr>
        <p:spPr>
          <a:xfrm>
            <a:off x="4572000" y="3310128"/>
            <a:ext cx="137160" cy="0"/>
          </a:xfrm>
          <a:prstGeom prst="line">
            <a:avLst/>
          </a:prstGeom>
          <a:noFill/>
          <a:ln w="25400">
            <a:solidFill>
              <a:srgbClr val="262626"/>
            </a:solidFill>
            <a:prstDash val="solid"/>
            <a:tailEnd type="triangle"/>
          </a:ln>
        </p:spPr>
      </p:sp>
      <p:sp>
        <p:nvSpPr>
          <p:cNvPr id="36" name="Shape 34"/>
          <p:cNvSpPr/>
          <p:nvPr/>
        </p:nvSpPr>
        <p:spPr>
          <a:xfrm>
            <a:off x="4709160" y="2926080"/>
            <a:ext cx="1325880" cy="777240"/>
          </a:xfrm>
          <a:prstGeom prst="roundRect">
            <a:avLst>
              <a:gd name="adj" fmla="val 9412"/>
            </a:avLst>
          </a:prstGeom>
          <a:solidFill>
            <a:srgbClr val="EBF1DE"/>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37" name="Text 35"/>
          <p:cNvSpPr txBox="1"/>
          <p:nvPr/>
        </p:nvSpPr>
        <p:spPr>
          <a:xfrm>
            <a:off x="4754880" y="2926080"/>
            <a:ext cx="123444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Execute tools</a:t>
            </a:r>
            <a:endParaRPr lang="en-US" sz="1200" dirty="0"/>
          </a:p>
        </p:txBody>
      </p:sp>
      <p:sp>
        <p:nvSpPr>
          <p:cNvPr id="38" name="Shape 36"/>
          <p:cNvSpPr/>
          <p:nvPr/>
        </p:nvSpPr>
        <p:spPr>
          <a:xfrm>
            <a:off x="6035040" y="3310128"/>
            <a:ext cx="137160" cy="0"/>
          </a:xfrm>
          <a:prstGeom prst="line">
            <a:avLst/>
          </a:prstGeom>
          <a:noFill/>
          <a:ln w="25400">
            <a:solidFill>
              <a:srgbClr val="262626"/>
            </a:solidFill>
            <a:prstDash val="solid"/>
            <a:tailEnd type="triangle"/>
          </a:ln>
        </p:spPr>
      </p:sp>
      <p:sp>
        <p:nvSpPr>
          <p:cNvPr id="39" name="Shape 37"/>
          <p:cNvSpPr/>
          <p:nvPr/>
        </p:nvSpPr>
        <p:spPr>
          <a:xfrm>
            <a:off x="6172200" y="2926080"/>
            <a:ext cx="1325880" cy="777240"/>
          </a:xfrm>
          <a:prstGeom prst="roundRect">
            <a:avLst>
              <a:gd name="adj" fmla="val 9412"/>
            </a:avLst>
          </a:prstGeom>
          <a:solidFill>
            <a:srgbClr val="E6B9B8"/>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40" name="Text 38"/>
          <p:cNvSpPr txBox="1"/>
          <p:nvPr/>
        </p:nvSpPr>
        <p:spPr>
          <a:xfrm>
            <a:off x="6217920" y="2926080"/>
            <a:ext cx="123444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Write answer (LLM)</a:t>
            </a:r>
            <a:endParaRPr lang="en-US" sz="1200" dirty="0"/>
          </a:p>
        </p:txBody>
      </p:sp>
      <p:sp>
        <p:nvSpPr>
          <p:cNvPr id="41" name="Shape 39"/>
          <p:cNvSpPr/>
          <p:nvPr/>
        </p:nvSpPr>
        <p:spPr>
          <a:xfrm>
            <a:off x="7498080" y="3310128"/>
            <a:ext cx="137160" cy="0"/>
          </a:xfrm>
          <a:prstGeom prst="line">
            <a:avLst/>
          </a:prstGeom>
          <a:noFill/>
          <a:ln w="25400">
            <a:solidFill>
              <a:srgbClr val="262626"/>
            </a:solidFill>
            <a:prstDash val="solid"/>
            <a:tailEnd type="triangle"/>
          </a:ln>
        </p:spPr>
      </p:sp>
      <p:sp>
        <p:nvSpPr>
          <p:cNvPr id="42" name="Shape 40"/>
          <p:cNvSpPr/>
          <p:nvPr/>
        </p:nvSpPr>
        <p:spPr>
          <a:xfrm>
            <a:off x="7635240" y="2926080"/>
            <a:ext cx="1325880" cy="777240"/>
          </a:xfrm>
          <a:prstGeom prst="roundRect">
            <a:avLst>
              <a:gd name="adj" fmla="val 9412"/>
            </a:avLst>
          </a:prstGeom>
          <a:solidFill>
            <a:srgbClr val="DAEEF3"/>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43" name="Text 41"/>
          <p:cNvSpPr txBox="1"/>
          <p:nvPr/>
        </p:nvSpPr>
        <p:spPr>
          <a:xfrm>
            <a:off x="7680960" y="2926080"/>
            <a:ext cx="123444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Validate answer</a:t>
            </a:r>
            <a:endParaRPr lang="en-US" sz="1200" dirty="0"/>
          </a:p>
        </p:txBody>
      </p:sp>
      <p:sp>
        <p:nvSpPr>
          <p:cNvPr id="44" name="Shape 42"/>
          <p:cNvSpPr/>
          <p:nvPr/>
        </p:nvSpPr>
        <p:spPr>
          <a:xfrm>
            <a:off x="8961120" y="3310128"/>
            <a:ext cx="137160" cy="0"/>
          </a:xfrm>
          <a:prstGeom prst="line">
            <a:avLst/>
          </a:prstGeom>
          <a:noFill/>
          <a:ln w="25400">
            <a:solidFill>
              <a:srgbClr val="262626"/>
            </a:solidFill>
            <a:prstDash val="solid"/>
            <a:tailEnd type="triangle"/>
          </a:ln>
        </p:spPr>
      </p:sp>
      <p:sp>
        <p:nvSpPr>
          <p:cNvPr id="45" name="Shape 43"/>
          <p:cNvSpPr/>
          <p:nvPr/>
        </p:nvSpPr>
        <p:spPr>
          <a:xfrm>
            <a:off x="9098280" y="2926080"/>
            <a:ext cx="1325880" cy="777240"/>
          </a:xfrm>
          <a:prstGeom prst="roundRect">
            <a:avLst>
              <a:gd name="adj" fmla="val 9412"/>
            </a:avLst>
          </a:prstGeom>
          <a:solidFill>
            <a:srgbClr val="FAC090"/>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46" name="Text 44"/>
          <p:cNvSpPr txBox="1"/>
          <p:nvPr/>
        </p:nvSpPr>
        <p:spPr>
          <a:xfrm>
            <a:off x="9144000" y="2926080"/>
            <a:ext cx="123444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Show answer</a:t>
            </a:r>
            <a:endParaRPr lang="en-US" sz="1200" dirty="0"/>
          </a:p>
        </p:txBody>
      </p:sp>
      <p:sp>
        <p:nvSpPr>
          <p:cNvPr id="47" name="Text 45"/>
          <p:cNvSpPr txBox="1"/>
          <p:nvPr/>
        </p:nvSpPr>
        <p:spPr>
          <a:xfrm>
            <a:off x="365760" y="4069080"/>
            <a:ext cx="7315200" cy="274320"/>
          </a:xfrm>
          <a:prstGeom prst="rect">
            <a:avLst/>
          </a:prstGeom>
          <a:noFill/>
          <a:ln/>
        </p:spPr>
        <p:txBody>
          <a:bodyPr wrap="square" lIns="0" tIns="0" rIns="0" bIns="0" rtlCol="0" anchor="t"/>
          <a:lstStyle/>
          <a:p>
            <a:pPr indent="0" marL="0">
              <a:buNone/>
            </a:pPr>
            <a:r>
              <a:rPr lang="en-US" sz="1200" b="1" dirty="0">
                <a:solidFill>
                  <a:srgbClr val="C00000"/>
                </a:solidFill>
                <a:latin typeface="Arial" pitchFamily="34" charset="0"/>
                <a:ea typeface="Arial" pitchFamily="34" charset="-122"/>
                <a:cs typeface="Arial" pitchFamily="34" charset="-120"/>
              </a:rPr>
              <a:t>Feature extraction inside the FT-Transformer</a:t>
            </a:r>
            <a:endParaRPr lang="en-US" sz="1200" dirty="0"/>
          </a:p>
        </p:txBody>
      </p:sp>
      <p:sp>
        <p:nvSpPr>
          <p:cNvPr id="48" name="Shape 46"/>
          <p:cNvSpPr/>
          <p:nvPr/>
        </p:nvSpPr>
        <p:spPr>
          <a:xfrm>
            <a:off x="320040" y="4389120"/>
            <a:ext cx="1554480" cy="777240"/>
          </a:xfrm>
          <a:prstGeom prst="roundRect">
            <a:avLst>
              <a:gd name="adj" fmla="val 9412"/>
            </a:avLst>
          </a:prstGeom>
          <a:solidFill>
            <a:srgbClr val="F2F2F2"/>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49" name="Text 47"/>
          <p:cNvSpPr txBox="1"/>
          <p:nvPr/>
        </p:nvSpPr>
        <p:spPr>
          <a:xfrm>
            <a:off x="365760" y="4389120"/>
            <a:ext cx="146304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10 descriptors, metal, OMS</a:t>
            </a:r>
            <a:endParaRPr lang="en-US" sz="1200" dirty="0"/>
          </a:p>
        </p:txBody>
      </p:sp>
      <p:sp>
        <p:nvSpPr>
          <p:cNvPr id="50" name="Shape 48"/>
          <p:cNvSpPr/>
          <p:nvPr/>
        </p:nvSpPr>
        <p:spPr>
          <a:xfrm>
            <a:off x="1874520" y="4773168"/>
            <a:ext cx="155448" cy="0"/>
          </a:xfrm>
          <a:prstGeom prst="line">
            <a:avLst/>
          </a:prstGeom>
          <a:noFill/>
          <a:ln w="25400">
            <a:solidFill>
              <a:srgbClr val="262626"/>
            </a:solidFill>
            <a:prstDash val="solid"/>
            <a:tailEnd type="triangle"/>
          </a:ln>
        </p:spPr>
      </p:sp>
      <p:sp>
        <p:nvSpPr>
          <p:cNvPr id="51" name="Shape 49"/>
          <p:cNvSpPr/>
          <p:nvPr/>
        </p:nvSpPr>
        <p:spPr>
          <a:xfrm>
            <a:off x="2029968" y="4389120"/>
            <a:ext cx="1554480" cy="777240"/>
          </a:xfrm>
          <a:prstGeom prst="roundRect">
            <a:avLst>
              <a:gd name="adj" fmla="val 9412"/>
            </a:avLst>
          </a:prstGeom>
          <a:solidFill>
            <a:srgbClr val="DAEEF3"/>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52" name="Text 50"/>
          <p:cNvSpPr txBox="1"/>
          <p:nvPr/>
        </p:nvSpPr>
        <p:spPr>
          <a:xfrm>
            <a:off x="2075688" y="4389120"/>
            <a:ext cx="146304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Feature tokenizer</a:t>
            </a:r>
            <a:endParaRPr lang="en-US" sz="1200" dirty="0"/>
          </a:p>
        </p:txBody>
      </p:sp>
      <p:sp>
        <p:nvSpPr>
          <p:cNvPr id="53" name="Shape 51"/>
          <p:cNvSpPr/>
          <p:nvPr/>
        </p:nvSpPr>
        <p:spPr>
          <a:xfrm>
            <a:off x="3584448" y="4773168"/>
            <a:ext cx="155448" cy="0"/>
          </a:xfrm>
          <a:prstGeom prst="line">
            <a:avLst/>
          </a:prstGeom>
          <a:noFill/>
          <a:ln w="25400">
            <a:solidFill>
              <a:srgbClr val="262626"/>
            </a:solidFill>
            <a:prstDash val="solid"/>
            <a:tailEnd type="triangle"/>
          </a:ln>
        </p:spPr>
      </p:sp>
      <p:sp>
        <p:nvSpPr>
          <p:cNvPr id="54" name="Shape 52"/>
          <p:cNvSpPr/>
          <p:nvPr/>
        </p:nvSpPr>
        <p:spPr>
          <a:xfrm>
            <a:off x="3739896" y="4389120"/>
            <a:ext cx="1554480" cy="777240"/>
          </a:xfrm>
          <a:prstGeom prst="roundRect">
            <a:avLst>
              <a:gd name="adj" fmla="val 9412"/>
            </a:avLst>
          </a:prstGeom>
          <a:solidFill>
            <a:srgbClr val="DCE6F2"/>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55" name="Text 53"/>
          <p:cNvSpPr txBox="1"/>
          <p:nvPr/>
        </p:nvSpPr>
        <p:spPr>
          <a:xfrm>
            <a:off x="3785616" y="4389120"/>
            <a:ext cx="146304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[CLS] and 3 Transformer blocks</a:t>
            </a:r>
            <a:endParaRPr lang="en-US" sz="1200" dirty="0"/>
          </a:p>
        </p:txBody>
      </p:sp>
      <p:sp>
        <p:nvSpPr>
          <p:cNvPr id="56" name="Shape 54"/>
          <p:cNvSpPr/>
          <p:nvPr/>
        </p:nvSpPr>
        <p:spPr>
          <a:xfrm>
            <a:off x="5294376" y="4773168"/>
            <a:ext cx="155448" cy="0"/>
          </a:xfrm>
          <a:prstGeom prst="line">
            <a:avLst/>
          </a:prstGeom>
          <a:noFill/>
          <a:ln w="25400">
            <a:solidFill>
              <a:srgbClr val="262626"/>
            </a:solidFill>
            <a:prstDash val="solid"/>
            <a:tailEnd type="triangle"/>
          </a:ln>
        </p:spPr>
      </p:sp>
      <p:sp>
        <p:nvSpPr>
          <p:cNvPr id="57" name="Shape 55"/>
          <p:cNvSpPr/>
          <p:nvPr/>
        </p:nvSpPr>
        <p:spPr>
          <a:xfrm>
            <a:off x="5449824" y="4389120"/>
            <a:ext cx="1554480" cy="777240"/>
          </a:xfrm>
          <a:prstGeom prst="roundRect">
            <a:avLst>
              <a:gd name="adj" fmla="val 9412"/>
            </a:avLst>
          </a:prstGeom>
          <a:solidFill>
            <a:srgbClr val="FDE9D9"/>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58" name="Text 56"/>
          <p:cNvSpPr txBox="1"/>
          <p:nvPr/>
        </p:nvSpPr>
        <p:spPr>
          <a:xfrm>
            <a:off x="5495544" y="4389120"/>
            <a:ext cx="146304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64-d MOF embedding</a:t>
            </a:r>
            <a:endParaRPr lang="en-US" sz="1200" dirty="0"/>
          </a:p>
        </p:txBody>
      </p:sp>
      <p:sp>
        <p:nvSpPr>
          <p:cNvPr id="59" name="Shape 57"/>
          <p:cNvSpPr/>
          <p:nvPr/>
        </p:nvSpPr>
        <p:spPr>
          <a:xfrm>
            <a:off x="7004304" y="4773168"/>
            <a:ext cx="155448" cy="0"/>
          </a:xfrm>
          <a:prstGeom prst="line">
            <a:avLst/>
          </a:prstGeom>
          <a:noFill/>
          <a:ln w="25400">
            <a:solidFill>
              <a:srgbClr val="262626"/>
            </a:solidFill>
            <a:prstDash val="solid"/>
            <a:tailEnd type="triangle"/>
          </a:ln>
        </p:spPr>
      </p:sp>
      <p:sp>
        <p:nvSpPr>
          <p:cNvPr id="60" name="Shape 58"/>
          <p:cNvSpPr/>
          <p:nvPr/>
        </p:nvSpPr>
        <p:spPr>
          <a:xfrm>
            <a:off x="7159752" y="4389120"/>
            <a:ext cx="1554480" cy="777240"/>
          </a:xfrm>
          <a:prstGeom prst="roundRect">
            <a:avLst>
              <a:gd name="adj" fmla="val 9412"/>
            </a:avLst>
          </a:prstGeom>
          <a:solidFill>
            <a:srgbClr val="EBF1DE"/>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61" name="Text 59"/>
          <p:cNvSpPr txBox="1"/>
          <p:nvPr/>
        </p:nvSpPr>
        <p:spPr>
          <a:xfrm>
            <a:off x="7205472" y="4389120"/>
            <a:ext cx="146304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FAISS nearest neighbours</a:t>
            </a:r>
            <a:endParaRPr lang="en-US" sz="1200" dirty="0"/>
          </a:p>
        </p:txBody>
      </p:sp>
      <p:sp>
        <p:nvSpPr>
          <p:cNvPr id="62" name="Shape 60"/>
          <p:cNvSpPr/>
          <p:nvPr/>
        </p:nvSpPr>
        <p:spPr>
          <a:xfrm>
            <a:off x="8714232" y="4773168"/>
            <a:ext cx="155448" cy="0"/>
          </a:xfrm>
          <a:prstGeom prst="line">
            <a:avLst/>
          </a:prstGeom>
          <a:noFill/>
          <a:ln w="25400">
            <a:solidFill>
              <a:srgbClr val="262626"/>
            </a:solidFill>
            <a:prstDash val="solid"/>
            <a:tailEnd type="triangle"/>
          </a:ln>
        </p:spPr>
      </p:sp>
      <p:sp>
        <p:nvSpPr>
          <p:cNvPr id="63" name="Shape 61"/>
          <p:cNvSpPr/>
          <p:nvPr/>
        </p:nvSpPr>
        <p:spPr>
          <a:xfrm>
            <a:off x="8869680" y="4389120"/>
            <a:ext cx="1554480" cy="777240"/>
          </a:xfrm>
          <a:prstGeom prst="roundRect">
            <a:avLst>
              <a:gd name="adj" fmla="val 9412"/>
            </a:avLst>
          </a:prstGeom>
          <a:solidFill>
            <a:srgbClr val="FAC090"/>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64" name="Text 62"/>
          <p:cNvSpPr txBox="1"/>
          <p:nvPr/>
        </p:nvSpPr>
        <p:spPr>
          <a:xfrm>
            <a:off x="8915400" y="4389120"/>
            <a:ext cx="146304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Similar MOFs</a:t>
            </a:r>
            <a:endParaRPr lang="en-US" sz="1200" dirty="0"/>
          </a:p>
        </p:txBody>
      </p:sp>
      <p:sp>
        <p:nvSpPr>
          <p:cNvPr id="65" name="Text 63"/>
          <p:cNvSpPr txBox="1"/>
          <p:nvPr/>
        </p:nvSpPr>
        <p:spPr>
          <a:xfrm>
            <a:off x="365760" y="5532120"/>
            <a:ext cx="9966960" cy="59436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In review 1, 384-d MOF embeddings were matched to a Sentence-BERT question vector. The two were never trained together, so this path was replaced by plan, validate and SQL (exact answers rose from 9.4 % to 100 %).</a:t>
            </a:r>
            <a:endParaRPr lang="en-US" sz="1200" dirty="0"/>
          </a:p>
        </p:txBody>
      </p:sp>
      <p:sp>
        <p:nvSpPr>
          <p:cNvPr id="66" name="Text 64"/>
          <p:cNvSpPr txBox="1"/>
          <p:nvPr/>
        </p:nvSpPr>
        <p:spPr>
          <a:xfrm>
            <a:off x="365760" y="6263640"/>
            <a:ext cx="9966960" cy="82296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SSL = self-supervised learning (learns from the data itself, no labels). S-BERT = Sentence-BERT. Regex = text-pattern rules. Levenshtein = number of letter edits between two words. [CLS] = extra summary token. L2-normalised = scaled to length 1. Cosine = similarity of two vectors (1 = same direction).</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Models Used (1): Language and Embedding Models</a:t>
            </a:r>
            <a:endParaRPr lang="en-US" sz="2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274320" y="960120"/>
          <a:ext cx="10149840" cy="914400"/>
        </p:xfrm>
        <a:graphic>
          <a:graphicData uri="http://schemas.openxmlformats.org/drawingml/2006/table">
            <a:tbl>
              <a:tblPr/>
              <a:tblGrid>
                <a:gridCol w="2377440"/>
                <a:gridCol w="1554480"/>
                <a:gridCol w="4023360"/>
                <a:gridCol w="2194560"/>
              </a:tblGrid>
              <a:tr h="640080">
                <a:tc>
                  <a:txBody>
                    <a:bodyPr/>
                    <a:lstStyle/>
                    <a:p>
                      <a:pPr indent="0" marL="0">
                        <a:buNone/>
                      </a:pPr>
                      <a:r>
                        <a:rPr lang="en-US" sz="1200" b="1" dirty="0">
                          <a:solidFill>
                            <a:srgbClr val="FFFFFF"/>
                          </a:solidFill>
                          <a:latin typeface="Arial" pitchFamily="34" charset="0"/>
                          <a:ea typeface="Arial" pitchFamily="34" charset="-122"/>
                          <a:cs typeface="Arial" pitchFamily="34" charset="-120"/>
                        </a:rPr>
                        <a:t>Model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Type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How it works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Role in MOFChat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r>
              <a:tr h="640080">
                <a:tc>
                  <a:txBody>
                    <a:bodyPr/>
                    <a:lstStyle/>
                    <a:p>
                      <a:pPr indent="0" marL="0">
                        <a:buNone/>
                      </a:pPr>
                      <a:r>
                        <a:rPr lang="en-US" sz="1200" b="1" dirty="0">
                          <a:solidFill>
                            <a:srgbClr val="000000"/>
                          </a:solidFill>
                          <a:latin typeface="Arial" pitchFamily="34" charset="0"/>
                          <a:ea typeface="Arial" pitchFamily="34" charset="-122"/>
                          <a:cs typeface="Arial" pitchFamily="34" charset="-120"/>
                        </a:rPr>
                        <a:t>Gemini 3.1 Flash-Lite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LLM, cloud (free)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Transformer decoder that predicts the next token; we prompt it with the schema, rules and 9 examples at temperature 0 in JSON mode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Default planner and answer writer</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640080">
                <a:tc>
                  <a:txBody>
                    <a:bodyPr/>
                    <a:lstStyle/>
                    <a:p>
                      <a:pPr indent="0" marL="0">
                        <a:buNone/>
                      </a:pPr>
                      <a:r>
                        <a:rPr lang="en-US" sz="1200" b="1" dirty="0">
                          <a:solidFill>
                            <a:srgbClr val="000000"/>
                          </a:solidFill>
                          <a:latin typeface="Arial" pitchFamily="34" charset="0"/>
                          <a:ea typeface="Arial" pitchFamily="34" charset="-122"/>
                          <a:cs typeface="Arial" pitchFamily="34" charset="-120"/>
                        </a:rPr>
                        <a:t>GPT-OSS 120B / 20B, Qwen 3.8 27B (Groq)</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LLMs, cloud (free)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Same principle; open-weight models served by Groq</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Fallback planners and writers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640080">
                <a:tc>
                  <a:txBody>
                    <a:bodyPr/>
                    <a:lstStyle/>
                    <a:p>
                      <a:pPr indent="0" marL="0">
                        <a:buNone/>
                      </a:pPr>
                      <a:r>
                        <a:rPr lang="en-US" sz="1200" b="1" dirty="0">
                          <a:solidFill>
                            <a:srgbClr val="000000"/>
                          </a:solidFill>
                          <a:latin typeface="Arial" pitchFamily="34" charset="0"/>
                          <a:ea typeface="Arial" pitchFamily="34" charset="-122"/>
                          <a:cs typeface="Arial" pitchFamily="34" charset="-120"/>
                        </a:rPr>
                        <a:t>Nemotron 3, Gemma 4 (OpenRouter)</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LLMs, cloud (free)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Open models through an OpenAI-compatible API</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Further fallbacks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640080">
                <a:tc>
                  <a:txBody>
                    <a:bodyPr/>
                    <a:lstStyle/>
                    <a:p>
                      <a:pPr indent="0" marL="0">
                        <a:buNone/>
                      </a:pPr>
                      <a:r>
                        <a:rPr lang="en-US" sz="1200" b="1" dirty="0">
                          <a:solidFill>
                            <a:srgbClr val="000000"/>
                          </a:solidFill>
                          <a:latin typeface="Arial" pitchFamily="34" charset="0"/>
                          <a:ea typeface="Arial" pitchFamily="34" charset="-122"/>
                          <a:cs typeface="Arial" pitchFamily="34" charset="-120"/>
                        </a:rPr>
                        <a:t>Llama 3 / 3.1 8B, Qwen 2.5 7B (Ollama)</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LLMs, local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Small open models running on the laptop CPU</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Offline planning and answers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640080">
                <a:tc>
                  <a:txBody>
                    <a:bodyPr/>
                    <a:lstStyle/>
                    <a:p>
                      <a:pPr indent="0" marL="0">
                        <a:buNone/>
                      </a:pPr>
                      <a:r>
                        <a:rPr lang="en-US" sz="1200" b="1" dirty="0">
                          <a:solidFill>
                            <a:srgbClr val="000000"/>
                          </a:solidFill>
                          <a:latin typeface="Arial" pitchFamily="34" charset="0"/>
                          <a:ea typeface="Arial" pitchFamily="34" charset="-122"/>
                          <a:cs typeface="Arial" pitchFamily="34" charset="-120"/>
                        </a:rPr>
                        <a:t>all-MiniLM-L6-v2 (Sentence-BERT)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Embedding model, 384-d</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6-layer Transformer; mean-pooled sentence vectors compared by cosine similarity</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Embeds questions and knowledge chunks for RAG</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640080">
                <a:tc>
                  <a:txBody>
                    <a:bodyPr/>
                    <a:lstStyle/>
                    <a:p>
                      <a:pPr indent="0" marL="0">
                        <a:buNone/>
                      </a:pPr>
                      <a:r>
                        <a:rPr lang="en-US" sz="1200" b="1" dirty="0">
                          <a:solidFill>
                            <a:srgbClr val="000000"/>
                          </a:solidFill>
                          <a:latin typeface="Arial" pitchFamily="34" charset="0"/>
                          <a:ea typeface="Arial" pitchFamily="34" charset="-122"/>
                          <a:cs typeface="Arial" pitchFamily="34" charset="-120"/>
                        </a:rPr>
                        <a:t>FT-Transformer autoencoder</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Embedding model, 64-d</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Each descriptor becomes a token; 30 % are masked and the [CLS] state reconstructs all ten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MOF embeddings for similarity search</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640080">
                <a:tc>
                  <a:txBody>
                    <a:bodyPr/>
                    <a:lstStyle/>
                    <a:p>
                      <a:pPr indent="0" marL="0">
                        <a:buNone/>
                      </a:pPr>
                      <a:r>
                        <a:rPr lang="en-US" sz="1200" b="1" dirty="0">
                          <a:solidFill>
                            <a:srgbClr val="000000"/>
                          </a:solidFill>
                          <a:latin typeface="Arial" pitchFamily="34" charset="0"/>
                          <a:ea typeface="Arial" pitchFamily="34" charset="-122"/>
                          <a:cs typeface="Arial" pitchFamily="34" charset="-120"/>
                        </a:rPr>
                        <a:t>FAISS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Vector index</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Inner product on normalised vectors equals cosine similarity; fast exact search</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Nearest-neighbour search for RAG and similarity</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bl>
          </a:graphicData>
        </a:graphic>
      </p:graphicFrame>
      <p:sp>
        <p:nvSpPr>
          <p:cNvPr id="4" name="Text 1"/>
          <p:cNvSpPr txBox="1"/>
          <p:nvPr/>
        </p:nvSpPr>
        <p:spPr>
          <a:xfrm>
            <a:off x="274320" y="6355080"/>
            <a:ext cx="10149840" cy="77724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Token = a piece of a word or one input feature. Temperature 0 = always choose the most likely output (repeatable). JSON mode = output forced to structured JSON. Open-weight = model weights are public. 384-d / 64-d = a vector of 384 / 64 numbers. Mean-pooled = average of the word vectors.</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Models Used (2): Prediction Models and Algorithms</a:t>
            </a:r>
            <a:endParaRPr lang="en-US" sz="2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274320" y="960120"/>
          <a:ext cx="10149840" cy="914400"/>
        </p:xfrm>
        <a:graphic>
          <a:graphicData uri="http://schemas.openxmlformats.org/drawingml/2006/table">
            <a:tbl>
              <a:tblPr/>
              <a:tblGrid>
                <a:gridCol w="2377440"/>
                <a:gridCol w="1554480"/>
                <a:gridCol w="4023360"/>
                <a:gridCol w="2194560"/>
              </a:tblGrid>
              <a:tr h="566928">
                <a:tc>
                  <a:txBody>
                    <a:bodyPr/>
                    <a:lstStyle/>
                    <a:p>
                      <a:pPr indent="0" marL="0">
                        <a:buNone/>
                      </a:pPr>
                      <a:r>
                        <a:rPr lang="en-US" sz="1200" b="1" dirty="0">
                          <a:solidFill>
                            <a:srgbClr val="FFFFFF"/>
                          </a:solidFill>
                          <a:latin typeface="Arial" pitchFamily="34" charset="0"/>
                          <a:ea typeface="Arial" pitchFamily="34" charset="-122"/>
                          <a:cs typeface="Arial" pitchFamily="34" charset="-120"/>
                        </a:rPr>
                        <a:t>Model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Type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How it works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Role in MOFChat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r>
              <a:tr h="566928">
                <a:tc>
                  <a:txBody>
                    <a:bodyPr/>
                    <a:lstStyle/>
                    <a:p>
                      <a:pPr indent="0" marL="0">
                        <a:buNone/>
                      </a:pPr>
                      <a:r>
                        <a:rPr lang="en-US" sz="1200" b="1" dirty="0">
                          <a:solidFill>
                            <a:srgbClr val="000000"/>
                          </a:solidFill>
                          <a:latin typeface="Arial" pitchFamily="34" charset="0"/>
                          <a:ea typeface="Arial" pitchFamily="34" charset="-122"/>
                          <a:cs typeface="Arial" pitchFamily="34" charset="-120"/>
                        </a:rPr>
                        <a:t>XGBoost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Gradient-boosted trees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Hundreds of small decision trees added one after another, each fitting the errors of the previous ones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Main surrogate model; OMS classifier</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566928">
                <a:tc>
                  <a:txBody>
                    <a:bodyPr/>
                    <a:lstStyle/>
                    <a:p>
                      <a:pPr indent="0" marL="0">
                        <a:buNone/>
                      </a:pPr>
                      <a:r>
                        <a:rPr lang="en-US" sz="1200" b="1" dirty="0">
                          <a:solidFill>
                            <a:srgbClr val="000000"/>
                          </a:solidFill>
                          <a:latin typeface="Arial" pitchFamily="34" charset="0"/>
                          <a:ea typeface="Arial" pitchFamily="34" charset="-122"/>
                          <a:cs typeface="Arial" pitchFamily="34" charset="-120"/>
                        </a:rPr>
                        <a:t>FT-Transformer regressor / classifier</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Deep learning</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Same Transformer backbone with a linear head; MSE or cross-entropy loss; early stopping on validation loss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Surface area, void fraction; OMS classification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000000"/>
                          </a:solidFill>
                          <a:latin typeface="Arial" pitchFamily="34" charset="0"/>
                          <a:ea typeface="Arial" pitchFamily="34" charset="-122"/>
                          <a:cs typeface="Arial" pitchFamily="34" charset="-120"/>
                        </a:rPr>
                        <a:t>MLP classifier</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Deep learning</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Two hidden layers of 128 ReLU units with a metal embedding; cross-entropy loss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Deep-learning baseline for OMS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566928">
                <a:tc>
                  <a:txBody>
                    <a:bodyPr/>
                    <a:lstStyle/>
                    <a:p>
                      <a:pPr indent="0" marL="0">
                        <a:buNone/>
                      </a:pPr>
                      <a:r>
                        <a:rPr lang="en-US" sz="1200" b="1" dirty="0">
                          <a:solidFill>
                            <a:srgbClr val="000000"/>
                          </a:solidFill>
                          <a:latin typeface="Arial" pitchFamily="34" charset="0"/>
                          <a:ea typeface="Arial" pitchFamily="34" charset="-122"/>
                          <a:cs typeface="Arial" pitchFamily="34" charset="-120"/>
                        </a:rPr>
                        <a:t>Gaussian process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Bayesian regression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RBF kernel with one length scale per feature plus noise; gives a mean and an uncertainty</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Regression baseline with 95 % intervals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000000"/>
                          </a:solidFill>
                          <a:latin typeface="Arial" pitchFamily="34" charset="0"/>
                          <a:ea typeface="Arial" pitchFamily="34" charset="-122"/>
                          <a:cs typeface="Arial" pitchFamily="34" charset="-120"/>
                        </a:rPr>
                        <a:t>Ridge, logistic regression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Linear models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Linear models with an L2 penalty</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Baselines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566928">
                <a:tc>
                  <a:txBody>
                    <a:bodyPr/>
                    <a:lstStyle/>
                    <a:p>
                      <a:pPr indent="0" marL="0">
                        <a:buNone/>
                      </a:pPr>
                      <a:r>
                        <a:rPr lang="en-US" sz="1200" b="1" dirty="0">
                          <a:solidFill>
                            <a:srgbClr val="000000"/>
                          </a:solidFill>
                          <a:latin typeface="Arial" pitchFamily="34" charset="0"/>
                          <a:ea typeface="Arial" pitchFamily="34" charset="-122"/>
                          <a:cs typeface="Arial" pitchFamily="34" charset="-120"/>
                        </a:rPr>
                        <a:t>NSGA-II</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Multi-objective algorithm</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Sorts candidates into Pareto fronts, then prefers well-spread points (crowding distance)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Ranks MOFs on several objectives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000000"/>
                          </a:solidFill>
                          <a:latin typeface="Arial" pitchFamily="34" charset="0"/>
                          <a:ea typeface="Arial" pitchFamily="34" charset="-122"/>
                          <a:cs typeface="Arial" pitchFamily="34" charset="-120"/>
                        </a:rPr>
                        <a:t>SHAP (TreeSHAP)</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Explainability</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Shapley values split each prediction into per-feature contributions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Explains every prediction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566928">
                <a:tc>
                  <a:txBody>
                    <a:bodyPr/>
                    <a:lstStyle/>
                    <a:p>
                      <a:pPr indent="0" marL="0">
                        <a:buNone/>
                      </a:pPr>
                      <a:r>
                        <a:rPr lang="en-US" sz="1200" b="1" dirty="0">
                          <a:solidFill>
                            <a:srgbClr val="000000"/>
                          </a:solidFill>
                          <a:latin typeface="Arial" pitchFamily="34" charset="0"/>
                          <a:ea typeface="Arial" pitchFamily="34" charset="-122"/>
                          <a:cs typeface="Arial" pitchFamily="34" charset="-120"/>
                        </a:rPr>
                        <a:t>Split-conformal prediction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Uncertainty</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90th percentile of absolute errors on a calibration split gives a ± interval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90 % prediction intervals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274320" y="6355080"/>
            <a:ext cx="10149840" cy="77724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MSE = mean squared error. Cross-entropy (BCE) = loss for yes/no classification. ReLU = max(0, x). RBF kernel = similarity that decays with distance. L2 penalty = keeps weights small. Pareto front = set of best trade-offs. Calibration split = data kept aside only to size the interval.</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Model Architecture: FT-Transformer (Gorishniy et al., 2021)</a:t>
            </a:r>
            <a:endParaRPr lang="en-US" sz="2400" dirty="0"/>
          </a:p>
        </p:txBody>
      </p:sp>
      <p:sp>
        <p:nvSpPr>
          <p:cNvPr id="3" name="Shape 1"/>
          <p:cNvSpPr/>
          <p:nvPr/>
        </p:nvSpPr>
        <p:spPr>
          <a:xfrm>
            <a:off x="320040" y="5989320"/>
            <a:ext cx="658368" cy="457200"/>
          </a:xfrm>
          <a:prstGeom prst="roundRect">
            <a:avLst>
              <a:gd name="adj" fmla="val 16000"/>
            </a:avLst>
          </a:prstGeom>
          <a:solidFill>
            <a:srgbClr val="E6B9B8"/>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4" name="Text 2"/>
          <p:cNvSpPr txBox="1"/>
          <p:nvPr/>
        </p:nvSpPr>
        <p:spPr>
          <a:xfrm>
            <a:off x="365760" y="5989320"/>
            <a:ext cx="566928" cy="457200"/>
          </a:xfrm>
          <a:prstGeom prst="rect">
            <a:avLst/>
          </a:prstGeom>
          <a:noFill/>
          <a:ln/>
        </p:spPr>
        <p:txBody>
          <a:bodyPr wrap="square" lIns="0" tIns="0" rIns="0" bIns="0" rtlCol="0" anchor="ctr"/>
          <a:lstStyle/>
          <a:p>
            <a:pPr algn="ctr" indent="0" marL="0">
              <a:buNone/>
            </a:pPr>
            <a:r>
              <a:rPr lang="en-US" sz="1200" dirty="0">
                <a:solidFill>
                  <a:srgbClr val="000000"/>
                </a:solidFill>
                <a:latin typeface="Arial" pitchFamily="34" charset="0"/>
                <a:ea typeface="Arial" pitchFamily="34" charset="-122"/>
                <a:cs typeface="Arial" pitchFamily="34" charset="-120"/>
              </a:rPr>
              <a:t>[CLS]</a:t>
            </a:r>
            <a:endParaRPr lang="en-US" sz="1200" dirty="0"/>
          </a:p>
        </p:txBody>
      </p:sp>
      <p:sp>
        <p:nvSpPr>
          <p:cNvPr id="5" name="Shape 3"/>
          <p:cNvSpPr/>
          <p:nvPr/>
        </p:nvSpPr>
        <p:spPr>
          <a:xfrm>
            <a:off x="1051560" y="5989320"/>
            <a:ext cx="658368" cy="457200"/>
          </a:xfrm>
          <a:prstGeom prst="roundRect">
            <a:avLst>
              <a:gd name="adj" fmla="val 16000"/>
            </a:avLst>
          </a:prstGeom>
          <a:solidFill>
            <a:srgbClr val="DAEEF3"/>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6" name="Text 4"/>
          <p:cNvSpPr txBox="1"/>
          <p:nvPr/>
        </p:nvSpPr>
        <p:spPr>
          <a:xfrm>
            <a:off x="1097280" y="5989320"/>
            <a:ext cx="566928" cy="457200"/>
          </a:xfrm>
          <a:prstGeom prst="rect">
            <a:avLst/>
          </a:prstGeom>
          <a:noFill/>
          <a:ln/>
        </p:spPr>
        <p:txBody>
          <a:bodyPr wrap="square" lIns="0" tIns="0" rIns="0" bIns="0" rtlCol="0" anchor="ctr"/>
          <a:lstStyle/>
          <a:p>
            <a:pPr algn="ctr" indent="0" marL="0">
              <a:buNone/>
            </a:pPr>
            <a:r>
              <a:rPr lang="en-US" sz="1200" dirty="0">
                <a:solidFill>
                  <a:srgbClr val="000000"/>
                </a:solidFill>
                <a:latin typeface="Arial" pitchFamily="34" charset="0"/>
                <a:ea typeface="Arial" pitchFamily="34" charset="-122"/>
                <a:cs typeface="Arial" pitchFamily="34" charset="-120"/>
              </a:rPr>
              <a:t>LCD</a:t>
            </a:r>
            <a:endParaRPr lang="en-US" sz="1200" dirty="0"/>
          </a:p>
        </p:txBody>
      </p:sp>
      <p:sp>
        <p:nvSpPr>
          <p:cNvPr id="7" name="Shape 5"/>
          <p:cNvSpPr/>
          <p:nvPr/>
        </p:nvSpPr>
        <p:spPr>
          <a:xfrm>
            <a:off x="1783080" y="5989320"/>
            <a:ext cx="658368" cy="457200"/>
          </a:xfrm>
          <a:prstGeom prst="roundRect">
            <a:avLst>
              <a:gd name="adj" fmla="val 16000"/>
            </a:avLst>
          </a:prstGeom>
          <a:solidFill>
            <a:srgbClr val="DAEEF3"/>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8" name="Text 6"/>
          <p:cNvSpPr txBox="1"/>
          <p:nvPr/>
        </p:nvSpPr>
        <p:spPr>
          <a:xfrm>
            <a:off x="1828800" y="5989320"/>
            <a:ext cx="566928" cy="457200"/>
          </a:xfrm>
          <a:prstGeom prst="rect">
            <a:avLst/>
          </a:prstGeom>
          <a:noFill/>
          <a:ln/>
        </p:spPr>
        <p:txBody>
          <a:bodyPr wrap="square" lIns="0" tIns="0" rIns="0" bIns="0" rtlCol="0" anchor="ctr"/>
          <a:lstStyle/>
          <a:p>
            <a:pPr algn="ctr" indent="0" marL="0">
              <a:buNone/>
            </a:pPr>
            <a:r>
              <a:rPr lang="en-US" sz="1200" dirty="0">
                <a:solidFill>
                  <a:srgbClr val="000000"/>
                </a:solidFill>
                <a:latin typeface="Arial" pitchFamily="34" charset="0"/>
                <a:ea typeface="Arial" pitchFamily="34" charset="-122"/>
                <a:cs typeface="Arial" pitchFamily="34" charset="-120"/>
              </a:rPr>
              <a:t>PLD</a:t>
            </a:r>
            <a:endParaRPr lang="en-US" sz="1200" dirty="0"/>
          </a:p>
        </p:txBody>
      </p:sp>
      <p:sp>
        <p:nvSpPr>
          <p:cNvPr id="9" name="Shape 7"/>
          <p:cNvSpPr/>
          <p:nvPr/>
        </p:nvSpPr>
        <p:spPr>
          <a:xfrm>
            <a:off x="2514600" y="5989320"/>
            <a:ext cx="658368" cy="457200"/>
          </a:xfrm>
          <a:prstGeom prst="roundRect">
            <a:avLst>
              <a:gd name="adj" fmla="val 16000"/>
            </a:avLst>
          </a:prstGeom>
          <a:solidFill>
            <a:srgbClr val="DAEEF3"/>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10" name="Text 8"/>
          <p:cNvSpPr txBox="1"/>
          <p:nvPr/>
        </p:nvSpPr>
        <p:spPr>
          <a:xfrm>
            <a:off x="2560320" y="5989320"/>
            <a:ext cx="566928" cy="457200"/>
          </a:xfrm>
          <a:prstGeom prst="rect">
            <a:avLst/>
          </a:prstGeom>
          <a:noFill/>
          <a:ln/>
        </p:spPr>
        <p:txBody>
          <a:bodyPr wrap="square" lIns="0" tIns="0" rIns="0" bIns="0" rtlCol="0" anchor="ctr"/>
          <a:lstStyle/>
          <a:p>
            <a:pPr algn="ctr" indent="0" marL="0">
              <a:buNone/>
            </a:pPr>
            <a:r>
              <a:rPr lang="en-US" sz="1200" dirty="0">
                <a:solidFill>
                  <a:srgbClr val="000000"/>
                </a:solidFill>
                <a:latin typeface="Arial" pitchFamily="34" charset="0"/>
                <a:ea typeface="Arial" pitchFamily="34" charset="-122"/>
                <a:cs typeface="Arial" pitchFamily="34" charset="-120"/>
              </a:rPr>
              <a:t>LFPD</a:t>
            </a:r>
            <a:endParaRPr lang="en-US" sz="1200" dirty="0"/>
          </a:p>
        </p:txBody>
      </p:sp>
      <p:sp>
        <p:nvSpPr>
          <p:cNvPr id="11" name="Shape 9"/>
          <p:cNvSpPr/>
          <p:nvPr/>
        </p:nvSpPr>
        <p:spPr>
          <a:xfrm>
            <a:off x="3246120" y="5989320"/>
            <a:ext cx="658368" cy="457200"/>
          </a:xfrm>
          <a:prstGeom prst="roundRect">
            <a:avLst>
              <a:gd name="adj" fmla="val 16000"/>
            </a:avLst>
          </a:prstGeom>
          <a:solidFill>
            <a:srgbClr val="DAEEF3"/>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12" name="Text 10"/>
          <p:cNvSpPr txBox="1"/>
          <p:nvPr/>
        </p:nvSpPr>
        <p:spPr>
          <a:xfrm>
            <a:off x="3291840" y="5989320"/>
            <a:ext cx="566928" cy="457200"/>
          </a:xfrm>
          <a:prstGeom prst="rect">
            <a:avLst/>
          </a:prstGeom>
          <a:noFill/>
          <a:ln/>
        </p:spPr>
        <p:txBody>
          <a:bodyPr wrap="square" lIns="0" tIns="0" rIns="0" bIns="0" rtlCol="0" anchor="ctr"/>
          <a:lstStyle/>
          <a:p>
            <a:pPr algn="ctr" indent="0" marL="0">
              <a:buNone/>
            </a:pPr>
            <a:r>
              <a:rPr lang="en-US" sz="1200" dirty="0">
                <a:solidFill>
                  <a:srgbClr val="000000"/>
                </a:solidFill>
                <a:latin typeface="Arial" pitchFamily="34" charset="0"/>
                <a:ea typeface="Arial" pitchFamily="34" charset="-122"/>
                <a:cs typeface="Arial" pitchFamily="34" charset="-120"/>
              </a:rPr>
              <a:t>Dens.</a:t>
            </a:r>
            <a:endParaRPr lang="en-US" sz="1200" dirty="0"/>
          </a:p>
        </p:txBody>
      </p:sp>
      <p:sp>
        <p:nvSpPr>
          <p:cNvPr id="13" name="Shape 11"/>
          <p:cNvSpPr/>
          <p:nvPr/>
        </p:nvSpPr>
        <p:spPr>
          <a:xfrm>
            <a:off x="3977640" y="5989320"/>
            <a:ext cx="658368" cy="457200"/>
          </a:xfrm>
          <a:prstGeom prst="roundRect">
            <a:avLst>
              <a:gd name="adj" fmla="val 16000"/>
            </a:avLst>
          </a:prstGeom>
          <a:solidFill>
            <a:srgbClr val="DAEEF3"/>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14" name="Text 12"/>
          <p:cNvSpPr txBox="1"/>
          <p:nvPr/>
        </p:nvSpPr>
        <p:spPr>
          <a:xfrm>
            <a:off x="4023360" y="5989320"/>
            <a:ext cx="566928" cy="457200"/>
          </a:xfrm>
          <a:prstGeom prst="rect">
            <a:avLst/>
          </a:prstGeom>
          <a:noFill/>
          <a:ln/>
        </p:spPr>
        <p:txBody>
          <a:bodyPr wrap="square" lIns="0" tIns="0" rIns="0" bIns="0" rtlCol="0" anchor="ctr"/>
          <a:lstStyle/>
          <a:p>
            <a:pPr algn="ctr" indent="0" marL="0">
              <a:buNone/>
            </a:pPr>
            <a:r>
              <a:rPr lang="en-US" sz="1200" dirty="0">
                <a:solidFill>
                  <a:srgbClr val="000000"/>
                </a:solidFill>
                <a:latin typeface="Arial" pitchFamily="34" charset="0"/>
                <a:ea typeface="Arial" pitchFamily="34" charset="-122"/>
                <a:cs typeface="Arial" pitchFamily="34" charset="-120"/>
              </a:rPr>
              <a:t>SA</a:t>
            </a:r>
            <a:endParaRPr lang="en-US" sz="1200" dirty="0"/>
          </a:p>
        </p:txBody>
      </p:sp>
      <p:sp>
        <p:nvSpPr>
          <p:cNvPr id="15" name="Shape 13"/>
          <p:cNvSpPr/>
          <p:nvPr/>
        </p:nvSpPr>
        <p:spPr>
          <a:xfrm>
            <a:off x="4709160" y="5989320"/>
            <a:ext cx="658368" cy="457200"/>
          </a:xfrm>
          <a:prstGeom prst="roundRect">
            <a:avLst>
              <a:gd name="adj" fmla="val 16000"/>
            </a:avLst>
          </a:prstGeom>
          <a:solidFill>
            <a:srgbClr val="DAEEF3"/>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16" name="Text 14"/>
          <p:cNvSpPr txBox="1"/>
          <p:nvPr/>
        </p:nvSpPr>
        <p:spPr>
          <a:xfrm>
            <a:off x="4754880" y="5989320"/>
            <a:ext cx="566928" cy="457200"/>
          </a:xfrm>
          <a:prstGeom prst="rect">
            <a:avLst/>
          </a:prstGeom>
          <a:noFill/>
          <a:ln/>
        </p:spPr>
        <p:txBody>
          <a:bodyPr wrap="square" lIns="0" tIns="0" rIns="0" bIns="0" rtlCol="0" anchor="ctr"/>
          <a:lstStyle/>
          <a:p>
            <a:pPr algn="ctr" indent="0" marL="0">
              <a:buNone/>
            </a:pPr>
            <a:r>
              <a:rPr lang="en-US" sz="1200" dirty="0">
                <a:solidFill>
                  <a:srgbClr val="000000"/>
                </a:solidFill>
                <a:latin typeface="Arial" pitchFamily="34" charset="0"/>
                <a:ea typeface="Arial" pitchFamily="34" charset="-122"/>
                <a:cs typeface="Arial" pitchFamily="34" charset="-120"/>
              </a:rPr>
              <a:t>VF</a:t>
            </a:r>
            <a:endParaRPr lang="en-US" sz="1200" dirty="0"/>
          </a:p>
        </p:txBody>
      </p:sp>
      <p:sp>
        <p:nvSpPr>
          <p:cNvPr id="17" name="Shape 15"/>
          <p:cNvSpPr/>
          <p:nvPr/>
        </p:nvSpPr>
        <p:spPr>
          <a:xfrm>
            <a:off x="5440680" y="5989320"/>
            <a:ext cx="658368" cy="457200"/>
          </a:xfrm>
          <a:prstGeom prst="roundRect">
            <a:avLst>
              <a:gd name="adj" fmla="val 16000"/>
            </a:avLst>
          </a:prstGeom>
          <a:solidFill>
            <a:srgbClr val="DAEEF3"/>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18" name="Text 16"/>
          <p:cNvSpPr txBox="1"/>
          <p:nvPr/>
        </p:nvSpPr>
        <p:spPr>
          <a:xfrm>
            <a:off x="5486400" y="5989320"/>
            <a:ext cx="566928" cy="457200"/>
          </a:xfrm>
          <a:prstGeom prst="rect">
            <a:avLst/>
          </a:prstGeom>
          <a:noFill/>
          <a:ln/>
        </p:spPr>
        <p:txBody>
          <a:bodyPr wrap="square" lIns="0" tIns="0" rIns="0" bIns="0" rtlCol="0" anchor="ctr"/>
          <a:lstStyle/>
          <a:p>
            <a:pPr algn="ctr" indent="0" marL="0">
              <a:buNone/>
            </a:pPr>
            <a:r>
              <a:rPr lang="en-US" sz="1200" dirty="0">
                <a:solidFill>
                  <a:srgbClr val="000000"/>
                </a:solidFill>
                <a:latin typeface="Arial" pitchFamily="34" charset="0"/>
                <a:ea typeface="Arial" pitchFamily="34" charset="-122"/>
                <a:cs typeface="Arial" pitchFamily="34" charset="-120"/>
              </a:rPr>
              <a:t>...</a:t>
            </a:r>
            <a:endParaRPr lang="en-US" sz="1200" dirty="0"/>
          </a:p>
        </p:txBody>
      </p:sp>
      <p:sp>
        <p:nvSpPr>
          <p:cNvPr id="19" name="Shape 17"/>
          <p:cNvSpPr/>
          <p:nvPr/>
        </p:nvSpPr>
        <p:spPr>
          <a:xfrm>
            <a:off x="6172200" y="5989320"/>
            <a:ext cx="658368" cy="457200"/>
          </a:xfrm>
          <a:prstGeom prst="roundRect">
            <a:avLst>
              <a:gd name="adj" fmla="val 16000"/>
            </a:avLst>
          </a:prstGeom>
          <a:solidFill>
            <a:srgbClr val="E4DFEC"/>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20" name="Text 18"/>
          <p:cNvSpPr txBox="1"/>
          <p:nvPr/>
        </p:nvSpPr>
        <p:spPr>
          <a:xfrm>
            <a:off x="6217920" y="5989320"/>
            <a:ext cx="566928" cy="457200"/>
          </a:xfrm>
          <a:prstGeom prst="rect">
            <a:avLst/>
          </a:prstGeom>
          <a:noFill/>
          <a:ln/>
        </p:spPr>
        <p:txBody>
          <a:bodyPr wrap="square" lIns="0" tIns="0" rIns="0" bIns="0" rtlCol="0" anchor="ctr"/>
          <a:lstStyle/>
          <a:p>
            <a:pPr algn="ctr" indent="0" marL="0">
              <a:buNone/>
            </a:pPr>
            <a:r>
              <a:rPr lang="en-US" sz="1200" dirty="0">
                <a:solidFill>
                  <a:srgbClr val="000000"/>
                </a:solidFill>
                <a:latin typeface="Arial" pitchFamily="34" charset="0"/>
                <a:ea typeface="Arial" pitchFamily="34" charset="-122"/>
                <a:cs typeface="Arial" pitchFamily="34" charset="-120"/>
              </a:rPr>
              <a:t>metal</a:t>
            </a:r>
            <a:endParaRPr lang="en-US" sz="1200" dirty="0"/>
          </a:p>
        </p:txBody>
      </p:sp>
      <p:sp>
        <p:nvSpPr>
          <p:cNvPr id="21" name="Text 19"/>
          <p:cNvSpPr txBox="1"/>
          <p:nvPr/>
        </p:nvSpPr>
        <p:spPr>
          <a:xfrm>
            <a:off x="320040" y="6537960"/>
            <a:ext cx="6583680" cy="457200"/>
          </a:xfrm>
          <a:prstGeom prst="rect">
            <a:avLst/>
          </a:prstGeom>
          <a:noFill/>
          <a:ln/>
        </p:spPr>
        <p:txBody>
          <a:bodyPr wrap="square" lIns="0" tIns="0" rIns="0" bIns="0" rtlCol="0" anchor="t"/>
          <a:lstStyle/>
          <a:p>
            <a:pPr indent="0" marL="0">
              <a:buNone/>
            </a:pPr>
            <a:r>
              <a:rPr lang="en-US" sz="1200" i="1" dirty="0">
                <a:solidFill>
                  <a:srgbClr val="595959"/>
                </a:solidFill>
                <a:latin typeface="Arial" pitchFamily="34" charset="0"/>
                <a:ea typeface="Arial" pitchFamily="34" charset="-122"/>
                <a:cs typeface="Arial" pitchFamily="34" charset="-120"/>
              </a:rPr>
              <a:t>Input tokens: numeric value times a learned vector plus bias, categorical embeddings and a learned [CLS] token</a:t>
            </a:r>
            <a:endParaRPr lang="en-US" sz="1200" dirty="0"/>
          </a:p>
        </p:txBody>
      </p:sp>
      <p:sp>
        <p:nvSpPr>
          <p:cNvPr id="22" name="Shape 20"/>
          <p:cNvSpPr/>
          <p:nvPr/>
        </p:nvSpPr>
        <p:spPr>
          <a:xfrm flipV="1">
            <a:off x="3566160" y="5760720"/>
            <a:ext cx="0" cy="228600"/>
          </a:xfrm>
          <a:prstGeom prst="line">
            <a:avLst/>
          </a:prstGeom>
          <a:noFill/>
          <a:ln w="25400">
            <a:solidFill>
              <a:srgbClr val="262626"/>
            </a:solidFill>
            <a:prstDash val="solid"/>
            <a:tailEnd type="triangle"/>
          </a:ln>
        </p:spPr>
      </p:sp>
      <p:sp>
        <p:nvSpPr>
          <p:cNvPr id="23" name="Shape 21"/>
          <p:cNvSpPr/>
          <p:nvPr/>
        </p:nvSpPr>
        <p:spPr>
          <a:xfrm>
            <a:off x="548640" y="2971800"/>
            <a:ext cx="6035040" cy="2788920"/>
          </a:xfrm>
          <a:prstGeom prst="roundRect">
            <a:avLst>
              <a:gd name="adj" fmla="val 2623"/>
            </a:avLst>
          </a:prstGeom>
          <a:solidFill>
            <a:srgbClr val="DCE6F2"/>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24" name="Text 22"/>
          <p:cNvSpPr txBox="1"/>
          <p:nvPr/>
        </p:nvSpPr>
        <p:spPr>
          <a:xfrm>
            <a:off x="594360" y="2971800"/>
            <a:ext cx="5943600" cy="2788920"/>
          </a:xfrm>
          <a:prstGeom prst="rect">
            <a:avLst/>
          </a:prstGeom>
          <a:noFill/>
          <a:ln/>
        </p:spPr>
        <p:txBody>
          <a:bodyPr wrap="square" lIns="0" tIns="0" rIns="0" bIns="0" rtlCol="0" anchor="ctr"/>
          <a:lstStyle/>
          <a:p>
            <a:pPr algn="ctr" indent="0" marL="0">
              <a:buNone/>
            </a:pPr>
            <a:endParaRPr lang="en-US" sz="1200" dirty="0"/>
          </a:p>
        </p:txBody>
      </p:sp>
      <p:sp>
        <p:nvSpPr>
          <p:cNvPr id="25" name="Text 23"/>
          <p:cNvSpPr txBox="1"/>
          <p:nvPr/>
        </p:nvSpPr>
        <p:spPr>
          <a:xfrm>
            <a:off x="731520" y="3035808"/>
            <a:ext cx="5669280" cy="274320"/>
          </a:xfrm>
          <a:prstGeom prst="rect">
            <a:avLst/>
          </a:prstGeom>
          <a:noFill/>
          <a:ln/>
        </p:spPr>
        <p:txBody>
          <a:bodyPr wrap="square" lIns="0" tIns="0" rIns="0" bIns="0" rtlCol="0" anchor="t"/>
          <a:lstStyle/>
          <a:p>
            <a:pPr algn="ctr" indent="0" marL="0">
              <a:buNone/>
            </a:pPr>
            <a:r>
              <a:rPr lang="en-US" sz="1200" b="1" dirty="0">
                <a:solidFill>
                  <a:schemeClr val="tx1"/>
                </a:solidFill>
                <a:latin typeface="Arial" pitchFamily="34" charset="0"/>
                <a:ea typeface="Arial" pitchFamily="34" charset="-122"/>
                <a:cs typeface="Arial" pitchFamily="34" charset="-120"/>
              </a:rPr>
              <a:t>3 pre-norm Transformer blocks (d = 64, 4 heads)</a:t>
            </a:r>
            <a:endParaRPr lang="en-US" sz="1200" dirty="0"/>
          </a:p>
        </p:txBody>
      </p:sp>
      <p:sp>
        <p:nvSpPr>
          <p:cNvPr id="26" name="Shape 24"/>
          <p:cNvSpPr/>
          <p:nvPr/>
        </p:nvSpPr>
        <p:spPr>
          <a:xfrm>
            <a:off x="1097280" y="3474720"/>
            <a:ext cx="1554480" cy="731520"/>
          </a:xfrm>
          <a:prstGeom prst="roundRect">
            <a:avLst>
              <a:gd name="adj" fmla="val 10000"/>
            </a:avLst>
          </a:prstGeom>
          <a:solidFill>
            <a:srgbClr val="FFFFFF"/>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27" name="Text 25"/>
          <p:cNvSpPr txBox="1"/>
          <p:nvPr/>
        </p:nvSpPr>
        <p:spPr>
          <a:xfrm>
            <a:off x="1143000" y="3474720"/>
            <a:ext cx="1463040" cy="73152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LayerNorm</a:t>
            </a:r>
            <a:endParaRPr lang="en-US" sz="1200" dirty="0"/>
          </a:p>
        </p:txBody>
      </p:sp>
      <p:sp>
        <p:nvSpPr>
          <p:cNvPr id="28" name="Shape 26"/>
          <p:cNvSpPr/>
          <p:nvPr/>
        </p:nvSpPr>
        <p:spPr>
          <a:xfrm>
            <a:off x="2788920" y="3474720"/>
            <a:ext cx="1554480" cy="731520"/>
          </a:xfrm>
          <a:prstGeom prst="roundRect">
            <a:avLst>
              <a:gd name="adj" fmla="val 10000"/>
            </a:avLst>
          </a:prstGeom>
          <a:solidFill>
            <a:srgbClr val="FAC090"/>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29" name="Text 27"/>
          <p:cNvSpPr txBox="1"/>
          <p:nvPr/>
        </p:nvSpPr>
        <p:spPr>
          <a:xfrm>
            <a:off x="2834640" y="3474720"/>
            <a:ext cx="1463040" cy="73152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Self-attention</a:t>
            </a:r>
            <a:endParaRPr lang="en-US" sz="1200" dirty="0"/>
          </a:p>
        </p:txBody>
      </p:sp>
      <p:sp>
        <p:nvSpPr>
          <p:cNvPr id="30" name="Shape 28"/>
          <p:cNvSpPr/>
          <p:nvPr/>
        </p:nvSpPr>
        <p:spPr>
          <a:xfrm>
            <a:off x="4480560" y="3474720"/>
            <a:ext cx="1554480" cy="731520"/>
          </a:xfrm>
          <a:prstGeom prst="roundRect">
            <a:avLst>
              <a:gd name="adj" fmla="val 10000"/>
            </a:avLst>
          </a:prstGeom>
          <a:solidFill>
            <a:srgbClr val="FFFFFF"/>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31" name="Text 29"/>
          <p:cNvSpPr txBox="1"/>
          <p:nvPr/>
        </p:nvSpPr>
        <p:spPr>
          <a:xfrm>
            <a:off x="4526280" y="3474720"/>
            <a:ext cx="1463040" cy="73152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Residual add</a:t>
            </a:r>
            <a:endParaRPr lang="en-US" sz="1200" dirty="0"/>
          </a:p>
        </p:txBody>
      </p:sp>
      <p:sp>
        <p:nvSpPr>
          <p:cNvPr id="32" name="Shape 30"/>
          <p:cNvSpPr/>
          <p:nvPr/>
        </p:nvSpPr>
        <p:spPr>
          <a:xfrm>
            <a:off x="1097280" y="4526280"/>
            <a:ext cx="1554480" cy="731520"/>
          </a:xfrm>
          <a:prstGeom prst="roundRect">
            <a:avLst>
              <a:gd name="adj" fmla="val 10000"/>
            </a:avLst>
          </a:prstGeom>
          <a:solidFill>
            <a:srgbClr val="FFFFFF"/>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33" name="Text 31"/>
          <p:cNvSpPr txBox="1"/>
          <p:nvPr/>
        </p:nvSpPr>
        <p:spPr>
          <a:xfrm>
            <a:off x="1143000" y="4526280"/>
            <a:ext cx="1463040" cy="73152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LayerNorm</a:t>
            </a:r>
            <a:endParaRPr lang="en-US" sz="1200" dirty="0"/>
          </a:p>
        </p:txBody>
      </p:sp>
      <p:sp>
        <p:nvSpPr>
          <p:cNvPr id="34" name="Shape 32"/>
          <p:cNvSpPr/>
          <p:nvPr/>
        </p:nvSpPr>
        <p:spPr>
          <a:xfrm>
            <a:off x="2788920" y="4526280"/>
            <a:ext cx="1554480" cy="731520"/>
          </a:xfrm>
          <a:prstGeom prst="roundRect">
            <a:avLst>
              <a:gd name="adj" fmla="val 10000"/>
            </a:avLst>
          </a:prstGeom>
          <a:solidFill>
            <a:srgbClr val="FFFFFF"/>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35" name="Text 33"/>
          <p:cNvSpPr txBox="1"/>
          <p:nvPr/>
        </p:nvSpPr>
        <p:spPr>
          <a:xfrm>
            <a:off x="2834640" y="4526280"/>
            <a:ext cx="1463040" cy="73152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Feed-forward</a:t>
            </a:r>
            <a:endParaRPr lang="en-US" sz="1200" dirty="0"/>
          </a:p>
        </p:txBody>
      </p:sp>
      <p:sp>
        <p:nvSpPr>
          <p:cNvPr id="36" name="Shape 34"/>
          <p:cNvSpPr/>
          <p:nvPr/>
        </p:nvSpPr>
        <p:spPr>
          <a:xfrm>
            <a:off x="4480560" y="4526280"/>
            <a:ext cx="1554480" cy="731520"/>
          </a:xfrm>
          <a:prstGeom prst="roundRect">
            <a:avLst>
              <a:gd name="adj" fmla="val 10000"/>
            </a:avLst>
          </a:prstGeom>
          <a:solidFill>
            <a:srgbClr val="FFFFFF"/>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37" name="Text 35"/>
          <p:cNvSpPr txBox="1"/>
          <p:nvPr/>
        </p:nvSpPr>
        <p:spPr>
          <a:xfrm>
            <a:off x="4526280" y="4526280"/>
            <a:ext cx="1463040" cy="73152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Residual add</a:t>
            </a:r>
            <a:endParaRPr lang="en-US" sz="1200" dirty="0"/>
          </a:p>
        </p:txBody>
      </p:sp>
      <p:sp>
        <p:nvSpPr>
          <p:cNvPr id="38" name="Shape 36"/>
          <p:cNvSpPr/>
          <p:nvPr/>
        </p:nvSpPr>
        <p:spPr>
          <a:xfrm flipV="1">
            <a:off x="3566160" y="2697480"/>
            <a:ext cx="0" cy="274320"/>
          </a:xfrm>
          <a:prstGeom prst="line">
            <a:avLst/>
          </a:prstGeom>
          <a:noFill/>
          <a:ln w="25400">
            <a:solidFill>
              <a:srgbClr val="262626"/>
            </a:solidFill>
            <a:prstDash val="solid"/>
            <a:tailEnd type="triangle"/>
          </a:ln>
        </p:spPr>
      </p:sp>
      <p:sp>
        <p:nvSpPr>
          <p:cNvPr id="39" name="Shape 37"/>
          <p:cNvSpPr/>
          <p:nvPr/>
        </p:nvSpPr>
        <p:spPr>
          <a:xfrm>
            <a:off x="2377440" y="2148840"/>
            <a:ext cx="2377440" cy="548640"/>
          </a:xfrm>
          <a:prstGeom prst="roundRect">
            <a:avLst>
              <a:gd name="adj" fmla="val 13333"/>
            </a:avLst>
          </a:prstGeom>
          <a:solidFill>
            <a:srgbClr val="FDE9D9"/>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40" name="Text 38"/>
          <p:cNvSpPr txBox="1"/>
          <p:nvPr/>
        </p:nvSpPr>
        <p:spPr>
          <a:xfrm>
            <a:off x="2423160" y="2148840"/>
            <a:ext cx="2286000" cy="5486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LayerNorm, [CLS] (64-d)</a:t>
            </a:r>
            <a:endParaRPr lang="en-US" sz="1200" dirty="0"/>
          </a:p>
        </p:txBody>
      </p:sp>
      <p:sp>
        <p:nvSpPr>
          <p:cNvPr id="41" name="Shape 39"/>
          <p:cNvSpPr/>
          <p:nvPr/>
        </p:nvSpPr>
        <p:spPr>
          <a:xfrm flipH="1" flipV="1">
            <a:off x="1371600" y="1737360"/>
            <a:ext cx="2194560" cy="411480"/>
          </a:xfrm>
          <a:prstGeom prst="line">
            <a:avLst/>
          </a:prstGeom>
          <a:noFill/>
          <a:ln w="25400">
            <a:solidFill>
              <a:srgbClr val="262626"/>
            </a:solidFill>
            <a:prstDash val="solid"/>
            <a:tailEnd type="triangle"/>
          </a:ln>
        </p:spPr>
      </p:sp>
      <p:sp>
        <p:nvSpPr>
          <p:cNvPr id="42" name="Shape 40"/>
          <p:cNvSpPr/>
          <p:nvPr/>
        </p:nvSpPr>
        <p:spPr>
          <a:xfrm>
            <a:off x="320040" y="960120"/>
            <a:ext cx="2103120" cy="777240"/>
          </a:xfrm>
          <a:prstGeom prst="roundRect">
            <a:avLst>
              <a:gd name="adj" fmla="val 9412"/>
            </a:avLst>
          </a:prstGeom>
          <a:solidFill>
            <a:srgbClr val="EBF1DE"/>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43" name="Text 41"/>
          <p:cNvSpPr txBox="1"/>
          <p:nvPr/>
        </p:nvSpPr>
        <p:spPr>
          <a:xfrm>
            <a:off x="365760" y="960120"/>
            <a:ext cx="201168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Decoder: 10 descriptors (MSE)</a:t>
            </a:r>
            <a:endParaRPr lang="en-US" sz="1200" dirty="0"/>
          </a:p>
        </p:txBody>
      </p:sp>
      <p:sp>
        <p:nvSpPr>
          <p:cNvPr id="44" name="Shape 42"/>
          <p:cNvSpPr/>
          <p:nvPr/>
        </p:nvSpPr>
        <p:spPr>
          <a:xfrm flipV="1">
            <a:off x="3566160" y="1737360"/>
            <a:ext cx="0" cy="411480"/>
          </a:xfrm>
          <a:prstGeom prst="line">
            <a:avLst/>
          </a:prstGeom>
          <a:noFill/>
          <a:ln w="25400">
            <a:solidFill>
              <a:srgbClr val="262626"/>
            </a:solidFill>
            <a:prstDash val="solid"/>
            <a:tailEnd type="triangle"/>
          </a:ln>
        </p:spPr>
      </p:sp>
      <p:sp>
        <p:nvSpPr>
          <p:cNvPr id="45" name="Shape 43"/>
          <p:cNvSpPr/>
          <p:nvPr/>
        </p:nvSpPr>
        <p:spPr>
          <a:xfrm>
            <a:off x="2514600" y="960120"/>
            <a:ext cx="2103120" cy="777240"/>
          </a:xfrm>
          <a:prstGeom prst="roundRect">
            <a:avLst>
              <a:gd name="adj" fmla="val 9412"/>
            </a:avLst>
          </a:prstGeom>
          <a:solidFill>
            <a:srgbClr val="EBF1DE"/>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46" name="Text 44"/>
          <p:cNvSpPr txBox="1"/>
          <p:nvPr/>
        </p:nvSpPr>
        <p:spPr>
          <a:xfrm>
            <a:off x="2560320" y="960120"/>
            <a:ext cx="201168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Linear: 1 value (MSE)</a:t>
            </a:r>
            <a:endParaRPr lang="en-US" sz="1200" dirty="0"/>
          </a:p>
        </p:txBody>
      </p:sp>
      <p:sp>
        <p:nvSpPr>
          <p:cNvPr id="47" name="Shape 45"/>
          <p:cNvSpPr/>
          <p:nvPr/>
        </p:nvSpPr>
        <p:spPr>
          <a:xfrm flipV="1">
            <a:off x="3566160" y="1737360"/>
            <a:ext cx="2194560" cy="411480"/>
          </a:xfrm>
          <a:prstGeom prst="line">
            <a:avLst/>
          </a:prstGeom>
          <a:noFill/>
          <a:ln w="25400">
            <a:solidFill>
              <a:srgbClr val="262626"/>
            </a:solidFill>
            <a:prstDash val="solid"/>
            <a:tailEnd type="triangle"/>
          </a:ln>
        </p:spPr>
      </p:sp>
      <p:sp>
        <p:nvSpPr>
          <p:cNvPr id="48" name="Shape 46"/>
          <p:cNvSpPr/>
          <p:nvPr/>
        </p:nvSpPr>
        <p:spPr>
          <a:xfrm>
            <a:off x="4709160" y="960120"/>
            <a:ext cx="2103120" cy="777240"/>
          </a:xfrm>
          <a:prstGeom prst="roundRect">
            <a:avLst>
              <a:gd name="adj" fmla="val 9412"/>
            </a:avLst>
          </a:prstGeom>
          <a:solidFill>
            <a:srgbClr val="EBF1DE"/>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49" name="Text 47"/>
          <p:cNvSpPr txBox="1"/>
          <p:nvPr/>
        </p:nvSpPr>
        <p:spPr>
          <a:xfrm>
            <a:off x="4754880" y="960120"/>
            <a:ext cx="2011680" cy="77724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Linear: logit (BCE)</a:t>
            </a:r>
            <a:endParaRPr lang="en-US" sz="1200" dirty="0"/>
          </a:p>
        </p:txBody>
      </p:sp>
      <p:sp>
        <p:nvSpPr>
          <p:cNvPr id="50" name="Text 48"/>
          <p:cNvSpPr txBox="1"/>
          <p:nvPr/>
        </p:nvSpPr>
        <p:spPr>
          <a:xfrm>
            <a:off x="7040880" y="960120"/>
            <a:ext cx="3291840" cy="27432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Configuration</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040880" y="1280160"/>
          <a:ext cx="3383280" cy="914400"/>
        </p:xfrm>
        <a:graphic>
          <a:graphicData uri="http://schemas.openxmlformats.org/drawingml/2006/table">
            <a:tbl>
              <a:tblPr/>
              <a:tblGrid>
                <a:gridCol w="1920240"/>
                <a:gridCol w="1463040"/>
              </a:tblGrid>
              <a:tr h="329184">
                <a:tc>
                  <a:txBody>
                    <a:bodyPr/>
                    <a:lstStyle/>
                    <a:p>
                      <a:pPr indent="0" marL="0">
                        <a:buNone/>
                      </a:pPr>
                      <a:r>
                        <a:rPr lang="en-US" sz="1200" b="1" dirty="0">
                          <a:solidFill>
                            <a:srgbClr val="FFFFFF"/>
                          </a:solidFill>
                          <a:latin typeface="Arial" pitchFamily="34" charset="0"/>
                          <a:ea typeface="Arial" pitchFamily="34" charset="-122"/>
                          <a:cs typeface="Arial" pitchFamily="34" charset="-120"/>
                        </a:rPr>
                        <a:t>Item</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Value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Parameters (embedding)</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114,378</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Parameters (classifier)</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104,449</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Blocks / heads / d</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3 / 4 / 64</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Optimiser</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AdamW, lr 0.001</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Batch size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256</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Early stopping</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validation loss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SSL masking</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30 % of tokens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SSL training</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38 epochs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Regressor (surface area)</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163 epochs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Classifier (OMS)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best epoch 31</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bl>
          </a:graphicData>
        </a:graphic>
      </p:graphicFrame>
      <p:sp>
        <p:nvSpPr>
          <p:cNvPr id="52" name="Text 49"/>
          <p:cNvSpPr txBox="1"/>
          <p:nvPr/>
        </p:nvSpPr>
        <p:spPr>
          <a:xfrm>
            <a:off x="7040880" y="5166360"/>
            <a:ext cx="3383280" cy="196596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d = numbers per token. Heads = parallel attention units. Self-attention = each token weighs every other token. LayerNorm = rescales each token. Residual add = adds the input back. FFN = feed-forward layer. AdamW = optimiser. lr = learning rate. Epoch = one pass over the training data.</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LLM Planning: Plan, Validate, Execute</a:t>
            </a:r>
            <a:endParaRPr lang="en-US" sz="2400" dirty="0"/>
          </a:p>
        </p:txBody>
      </p:sp>
      <p:sp>
        <p:nvSpPr>
          <p:cNvPr id="3" name="Shape 1"/>
          <p:cNvSpPr/>
          <p:nvPr/>
        </p:nvSpPr>
        <p:spPr>
          <a:xfrm>
            <a:off x="365760" y="1005840"/>
            <a:ext cx="5120640" cy="548640"/>
          </a:xfrm>
          <a:prstGeom prst="roundRect">
            <a:avLst>
              <a:gd name="adj" fmla="val 13333"/>
            </a:avLst>
          </a:prstGeom>
          <a:solidFill>
            <a:srgbClr val="FFF2CC"/>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4" name="Text 2"/>
          <p:cNvSpPr txBox="1"/>
          <p:nvPr/>
        </p:nvSpPr>
        <p:spPr>
          <a:xfrm>
            <a:off x="411480" y="1005840"/>
            <a:ext cx="5029200" cy="548640"/>
          </a:xfrm>
          <a:prstGeom prst="rect">
            <a:avLst/>
          </a:prstGeom>
          <a:noFill/>
          <a:ln/>
        </p:spPr>
        <p:txBody>
          <a:bodyPr wrap="square" lIns="0" tIns="0" rIns="0" bIns="0" rtlCol="0" anchor="ctr"/>
          <a:lstStyle/>
          <a:p>
            <a:pPr algn="ctr" indent="0" marL="0">
              <a:buNone/>
            </a:pPr>
            <a:r>
              <a:rPr lang="en-US" sz="1200" dirty="0">
                <a:solidFill>
                  <a:srgbClr val="000000"/>
                </a:solidFill>
                <a:latin typeface="Arial" pitchFamily="34" charset="0"/>
                <a:ea typeface="Arial" pitchFamily="34" charset="-122"/>
                <a:cs typeface="Arial" pitchFamily="34" charset="-120"/>
              </a:rPr>
              <a:t>"Which zinc MOFs have high surface area and low density?"</a:t>
            </a:r>
            <a:endParaRPr lang="en-US" sz="1200" dirty="0"/>
          </a:p>
        </p:txBody>
      </p:sp>
      <p:sp>
        <p:nvSpPr>
          <p:cNvPr id="5" name="Shape 3"/>
          <p:cNvSpPr/>
          <p:nvPr/>
        </p:nvSpPr>
        <p:spPr>
          <a:xfrm>
            <a:off x="2926080" y="1554480"/>
            <a:ext cx="0" cy="228600"/>
          </a:xfrm>
          <a:prstGeom prst="line">
            <a:avLst/>
          </a:prstGeom>
          <a:noFill/>
          <a:ln w="25400">
            <a:solidFill>
              <a:srgbClr val="262626"/>
            </a:solidFill>
            <a:prstDash val="solid"/>
            <a:tailEnd type="triangle"/>
          </a:ln>
        </p:spPr>
      </p:sp>
      <p:sp>
        <p:nvSpPr>
          <p:cNvPr id="6" name="Shape 4"/>
          <p:cNvSpPr/>
          <p:nvPr/>
        </p:nvSpPr>
        <p:spPr>
          <a:xfrm>
            <a:off x="365760" y="1783080"/>
            <a:ext cx="5120640" cy="1874520"/>
          </a:xfrm>
          <a:prstGeom prst="rect">
            <a:avLst/>
          </a:prstGeom>
          <a:solidFill>
            <a:srgbClr val="1F2A36"/>
          </a:solidFill>
          <a:ln w="12700">
            <a:solidFill>
              <a:srgbClr val="1F2A36"/>
            </a:solidFill>
            <a:prstDash val="solid"/>
          </a:ln>
        </p:spPr>
      </p:sp>
      <p:sp>
        <p:nvSpPr>
          <p:cNvPr id="7" name="Text 5"/>
          <p:cNvSpPr txBox="1"/>
          <p:nvPr/>
        </p:nvSpPr>
        <p:spPr>
          <a:xfrm>
            <a:off x="502920" y="1874520"/>
            <a:ext cx="4937760" cy="1737360"/>
          </a:xfrm>
          <a:prstGeom prst="rect">
            <a:avLst/>
          </a:prstGeom>
          <a:noFill/>
          <a:ln/>
        </p:spPr>
        <p:txBody>
          <a:bodyPr wrap="square" lIns="0" tIns="0" rIns="0" bIns="0" rtlCol="0" anchor="t"/>
          <a:lstStyle/>
          <a:p>
            <a:pPr indent="0" marL="0">
              <a:buNone/>
            </a:pPr>
            <a:r>
              <a:rPr lang="en-US" sz="1200" dirty="0">
                <a:solidFill>
                  <a:srgbClr val="E7EEF4"/>
                </a:solidFill>
                <a:latin typeface="Courier New" pitchFamily="34" charset="0"/>
                <a:ea typeface="Courier New" pitchFamily="34" charset="-122"/>
                <a:cs typeface="Courier New" pitchFamily="34" charset="-120"/>
              </a:rPr>
              <a:t>{ "intent": "search",</a:t>
            </a:r>
            <a:endParaRPr lang="en-US" sz="1200" dirty="0"/>
          </a:p>
          <a:p>
            <a:pPr indent="0" marL="0">
              <a:buNone/>
            </a:pPr>
            <a:r>
              <a:rPr lang="en-US" sz="1200" dirty="0">
                <a:solidFill>
                  <a:srgbClr val="E7EEF4"/>
                </a:solidFill>
                <a:latin typeface="Courier New" pitchFamily="34" charset="0"/>
                <a:ea typeface="Courier New" pitchFamily="34" charset="-122"/>
                <a:cs typeface="Courier New" pitchFamily="34" charset="-120"/>
              </a:rPr>
              <a:t>  "metals": ["Zn"],</a:t>
            </a:r>
            <a:endParaRPr lang="en-US" sz="1200" dirty="0"/>
          </a:p>
          <a:p>
            <a:pPr indent="0" marL="0">
              <a:buNone/>
            </a:pPr>
            <a:r>
              <a:rPr lang="en-US" sz="1200" dirty="0">
                <a:solidFill>
                  <a:srgbClr val="E7EEF4"/>
                </a:solidFill>
                <a:latin typeface="Courier New" pitchFamily="34" charset="0"/>
                <a:ea typeface="Courier New" pitchFamily="34" charset="-122"/>
                <a:cs typeface="Courier New" pitchFamily="34" charset="-120"/>
              </a:rPr>
              <a:t>  "objectives": [</a:t>
            </a:r>
            <a:endParaRPr lang="en-US" sz="1200" dirty="0"/>
          </a:p>
          <a:p>
            <a:pPr indent="0" marL="0">
              <a:buNone/>
            </a:pPr>
            <a:r>
              <a:rPr lang="en-US" sz="1200" dirty="0">
                <a:solidFill>
                  <a:srgbClr val="E7EEF4"/>
                </a:solidFill>
                <a:latin typeface="Courier New" pitchFamily="34" charset="0"/>
                <a:ea typeface="Courier New" pitchFamily="34" charset="-122"/>
                <a:cs typeface="Courier New" pitchFamily="34" charset="-120"/>
              </a:rPr>
              <a:t>    {"column": "Surface_Area", "direction": "max"},</a:t>
            </a:r>
            <a:endParaRPr lang="en-US" sz="1200" dirty="0"/>
          </a:p>
          <a:p>
            <a:pPr indent="0" marL="0">
              <a:buNone/>
            </a:pPr>
            <a:r>
              <a:rPr lang="en-US" sz="1200" dirty="0">
                <a:solidFill>
                  <a:srgbClr val="E7EEF4"/>
                </a:solidFill>
                <a:latin typeface="Courier New" pitchFamily="34" charset="0"/>
                <a:ea typeface="Courier New" pitchFamily="34" charset="-122"/>
                <a:cs typeface="Courier New" pitchFamily="34" charset="-120"/>
              </a:rPr>
              <a:t>    {"column": "Density", "direction": "min"} ],</a:t>
            </a:r>
            <a:endParaRPr lang="en-US" sz="1200" dirty="0"/>
          </a:p>
          <a:p>
            <a:pPr indent="0" marL="0">
              <a:buNone/>
            </a:pPr>
            <a:r>
              <a:rPr lang="en-US" sz="1200" dirty="0">
                <a:solidFill>
                  <a:srgbClr val="E7EEF4"/>
                </a:solidFill>
                <a:latin typeface="Courier New" pitchFamily="34" charset="0"/>
                <a:ea typeface="Courier New" pitchFamily="34" charset="-122"/>
                <a:cs typeface="Courier New" pitchFamily="34" charset="-120"/>
              </a:rPr>
              <a:t>  "limit": 5 }</a:t>
            </a:r>
            <a:endParaRPr lang="en-US" sz="1200" dirty="0"/>
          </a:p>
        </p:txBody>
      </p:sp>
      <p:sp>
        <p:nvSpPr>
          <p:cNvPr id="8" name="Shape 6"/>
          <p:cNvSpPr/>
          <p:nvPr/>
        </p:nvSpPr>
        <p:spPr>
          <a:xfrm>
            <a:off x="2926080" y="3657600"/>
            <a:ext cx="0" cy="228600"/>
          </a:xfrm>
          <a:prstGeom prst="line">
            <a:avLst/>
          </a:prstGeom>
          <a:noFill/>
          <a:ln w="25400">
            <a:solidFill>
              <a:srgbClr val="262626"/>
            </a:solidFill>
            <a:prstDash val="solid"/>
            <a:tailEnd type="triangle"/>
          </a:ln>
        </p:spPr>
      </p:sp>
      <p:sp>
        <p:nvSpPr>
          <p:cNvPr id="9" name="Shape 7"/>
          <p:cNvSpPr/>
          <p:nvPr/>
        </p:nvSpPr>
        <p:spPr>
          <a:xfrm>
            <a:off x="365760" y="3886200"/>
            <a:ext cx="5120640" cy="1097280"/>
          </a:xfrm>
          <a:prstGeom prst="roundRect">
            <a:avLst>
              <a:gd name="adj" fmla="val 6667"/>
            </a:avLst>
          </a:prstGeom>
          <a:solidFill>
            <a:srgbClr val="EBF1DE"/>
          </a:solidFill>
          <a:ln w="12700">
            <a:solidFill>
              <a:srgbClr val="404040"/>
            </a:solidFill>
            <a:prstDash val="solid"/>
          </a:ln>
          <a:effectLst>
            <a:outerShdw sx="100000" sy="100000" kx="0" ky="0" algn="bl" rotWithShape="0" blurRad="38100" dist="25400" dir="2700000">
              <a:srgbClr val="000000">
                <a:alpha val="25000"/>
              </a:srgbClr>
            </a:outerShdw>
          </a:effectLst>
        </p:spPr>
      </p:sp>
      <p:sp>
        <p:nvSpPr>
          <p:cNvPr id="10" name="Text 8"/>
          <p:cNvSpPr txBox="1"/>
          <p:nvPr/>
        </p:nvSpPr>
        <p:spPr>
          <a:xfrm>
            <a:off x="411480" y="3886200"/>
            <a:ext cx="5029200" cy="1097280"/>
          </a:xfrm>
          <a:prstGeom prst="rect">
            <a:avLst/>
          </a:prstGeom>
          <a:noFill/>
          <a:ln/>
        </p:spPr>
        <p:txBody>
          <a:bodyPr wrap="square" lIns="0" tIns="0" rIns="0" bIns="0" rtlCol="0" anchor="ctr"/>
          <a:lstStyle/>
          <a:p>
            <a:pPr algn="ctr" indent="0" marL="0">
              <a:buNone/>
            </a:pPr>
            <a:r>
              <a:rPr lang="en-US" sz="1200" dirty="0">
                <a:solidFill>
                  <a:srgbClr val="000000"/>
                </a:solidFill>
                <a:latin typeface="Arial" pitchFamily="34" charset="0"/>
                <a:ea typeface="Arial" pitchFamily="34" charset="-122"/>
                <a:cs typeface="Arial" pitchFamily="34" charset="-120"/>
              </a:rPr>
              <a:t>Executor: whitelisted columns, bound parameters, read-only SQL on zinc MOFs, then NSGA-II ranking for the two objectives</a:t>
            </a:r>
            <a:endParaRPr lang="en-US" sz="1200" dirty="0"/>
          </a:p>
        </p:txBody>
      </p:sp>
      <p:sp>
        <p:nvSpPr>
          <p:cNvPr id="11" name="Text 9"/>
          <p:cNvSpPr txBox="1"/>
          <p:nvPr/>
        </p:nvSpPr>
        <p:spPr>
          <a:xfrm>
            <a:off x="365760" y="5212080"/>
            <a:ext cx="5120640" cy="457200"/>
          </a:xfrm>
          <a:prstGeom prst="rect">
            <a:avLst/>
          </a:prstGeom>
          <a:noFill/>
          <a:ln/>
        </p:spPr>
        <p:txBody>
          <a:bodyPr wrap="square" lIns="0" tIns="0" rIns="0" bIns="0" rtlCol="0" anchor="t"/>
          <a:lstStyle/>
          <a:p>
            <a:pPr indent="0" marL="0">
              <a:buNone/>
            </a:pPr>
            <a:r>
              <a:rPr lang="en-US" sz="1200" dirty="0">
                <a:solidFill>
                  <a:srgbClr val="1F497D"/>
                </a:solidFill>
                <a:latin typeface="Arial" pitchFamily="34" charset="0"/>
                <a:ea typeface="Arial" pitchFamily="34" charset="-122"/>
                <a:cs typeface="Arial" pitchFamily="34" charset="-120"/>
              </a:rPr>
              <a:t>Intents: search, count, lookup, similar, predict, knowledge, out of scope</a:t>
            </a:r>
            <a:endParaRPr lang="en-US" sz="1200" dirty="0"/>
          </a:p>
        </p:txBody>
      </p:sp>
      <p:sp>
        <p:nvSpPr>
          <p:cNvPr id="12" name="Text 10"/>
          <p:cNvSpPr txBox="1"/>
          <p:nvPr/>
        </p:nvSpPr>
        <p:spPr>
          <a:xfrm>
            <a:off x="5852160" y="960120"/>
            <a:ext cx="4572000" cy="274320"/>
          </a:xfrm>
          <a:prstGeom prst="rect">
            <a:avLst/>
          </a:prstGeom>
          <a:noFill/>
          <a:ln/>
        </p:spPr>
        <p:txBody>
          <a:bodyPr wrap="square" lIns="0" tIns="0" rIns="0" bIns="0" rtlCol="0" anchor="t"/>
          <a:lstStyle/>
          <a:p>
            <a:pPr indent="0" marL="0">
              <a:buNone/>
            </a:pPr>
            <a:r>
              <a:rPr lang="en-US" sz="1200" b="1" dirty="0">
                <a:solidFill>
                  <a:srgbClr val="C00000"/>
                </a:solidFill>
                <a:latin typeface="Arial" pitchFamily="34" charset="0"/>
                <a:ea typeface="Arial" pitchFamily="34" charset="-122"/>
                <a:cs typeface="Arial" pitchFamily="34" charset="-120"/>
              </a:rPr>
              <a:t>Validator checks</a:t>
            </a:r>
            <a:endParaRPr lang="en-US" sz="1200" dirty="0"/>
          </a:p>
        </p:txBody>
      </p:sp>
      <p:sp>
        <p:nvSpPr>
          <p:cNvPr id="13" name="Text 11"/>
          <p:cNvSpPr txBox="1"/>
          <p:nvPr/>
        </p:nvSpPr>
        <p:spPr>
          <a:xfrm>
            <a:off x="5852160" y="1280160"/>
            <a:ext cx="4572000"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Column aliases resolved from one registry</a:t>
            </a:r>
            <a:endParaRPr lang="en-US" sz="1200" dirty="0"/>
          </a:p>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Units, operators and percentages normalised</a:t>
            </a:r>
            <a:endParaRPr lang="en-US" sz="1200" dirty="0"/>
          </a:p>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Impossible or invented values rejected</a:t>
            </a:r>
            <a:endParaRPr lang="en-US" sz="1200" dirty="0"/>
          </a:p>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Thresholds not in the question become preferences</a:t>
            </a:r>
            <a:endParaRPr lang="en-US" sz="1200" dirty="0"/>
          </a:p>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MOF IDs not in the question dropped</a:t>
            </a:r>
            <a:endParaRPr lang="en-US" sz="1200" dirty="0"/>
          </a:p>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Superlatives written as constraints repaired</a:t>
            </a:r>
            <a:endParaRPr lang="en-US" sz="1200" dirty="0"/>
          </a:p>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Application presets expanded (H2, CH4, CO2, sieving, catalysis)</a:t>
            </a:r>
            <a:endParaRPr lang="en-US" sz="1200" dirty="0"/>
          </a:p>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Objectives not asked for in an application question dropped</a:t>
            </a:r>
            <a:endParaRPr lang="en-US" sz="1200" dirty="0"/>
          </a:p>
        </p:txBody>
      </p:sp>
      <p:sp>
        <p:nvSpPr>
          <p:cNvPr id="14" name="Text 12"/>
          <p:cNvSpPr txBox="1"/>
          <p:nvPr/>
        </p:nvSpPr>
        <p:spPr>
          <a:xfrm>
            <a:off x="5852160" y="4754880"/>
            <a:ext cx="4572000" cy="73152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If errors remain after two corrections, the rule-parser plan is used. If no LLM is reachable, the rules and a template answer are used.</a:t>
            </a:r>
            <a:endParaRPr lang="en-US" sz="1200" dirty="0"/>
          </a:p>
        </p:txBody>
      </p:sp>
      <p:sp>
        <p:nvSpPr>
          <p:cNvPr id="15" name="Text 13"/>
          <p:cNvSpPr txBox="1"/>
          <p:nvPr/>
        </p:nvSpPr>
        <p:spPr>
          <a:xfrm>
            <a:off x="365760" y="5943600"/>
            <a:ext cx="9966960" cy="109728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Intent = type of request. Whitelisted columns = only known column names allowed. Bound parameters = numbers passed separately, so the query cannot be changed. Read-only = cannot modify data. Superlative = 'highest', 'lowest'. Preset = ready-made rules for an application. Rule parser = regex-based question reader.</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Multi-Objective Ranking with NSGA-II</a:t>
            </a:r>
            <a:endParaRPr lang="en-US" sz="2400" dirty="0"/>
          </a:p>
        </p:txBody>
      </p:sp>
      <p:graphicFrame>
        <p:nvGraphicFramePr>
          <p:cNvPr id="3" name="Chart 0" descr=""/>
          <p:cNvGraphicFramePr/>
          <p:nvPr/>
        </p:nvGraphicFramePr>
        <p:xfrm>
          <a:off x="5120640" y="914400"/>
          <a:ext cx="5394960" cy="4937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365760" y="1005840"/>
            <a:ext cx="4572000" cy="3108960"/>
          </a:xfrm>
          <a:prstGeom prst="rect">
            <a:avLst/>
          </a:prstGeom>
          <a:noFill/>
          <a:ln/>
        </p:spPr>
        <p:txBody>
          <a:bodyPr wrap="square" lIns="0" tIns="0" rIns="0" bIns="0" rtlCol="0" anchor="t"/>
          <a:lstStyle/>
          <a:p>
            <a:pPr marL="177800" indent="-177800">
              <a:spcAft>
                <a:spcPts val="500"/>
              </a:spcAft>
              <a:buSzPct val="100000"/>
              <a:buChar char="•"/>
            </a:pPr>
            <a:r>
              <a:rPr lang="en-US" sz="1200" b="1" dirty="0">
                <a:solidFill>
                  <a:schemeClr val="tx1"/>
                </a:solidFill>
                <a:latin typeface="Arial" pitchFamily="34" charset="0"/>
                <a:ea typeface="Arial" pitchFamily="34" charset="-122"/>
                <a:cs typeface="Arial" pitchFamily="34" charset="-120"/>
              </a:rPr>
              <a:t>Domination: </a:t>
            </a:r>
            <a:pPr indent="0" marL="0">
              <a:buNone/>
            </a:pPr>
            <a:r>
              <a:rPr lang="en-US" sz="1200" dirty="0">
                <a:solidFill>
                  <a:schemeClr val="tx1"/>
                </a:solidFill>
                <a:latin typeface="Arial" pitchFamily="34" charset="0"/>
                <a:ea typeface="Arial" pitchFamily="34" charset="-122"/>
                <a:cs typeface="Arial" pitchFamily="34" charset="-120"/>
              </a:rPr>
              <a:t>A beats B if A is at least as good on every objective and better on one</a:t>
            </a:r>
            <a:endParaRPr lang="en-US" sz="1200" dirty="0"/>
          </a:p>
          <a:p>
            <a:pPr marL="177800" indent="-177800">
              <a:spcAft>
                <a:spcPts val="500"/>
              </a:spcAft>
              <a:buSzPct val="100000"/>
              <a:buChar char="•"/>
            </a:pPr>
            <a:r>
              <a:rPr lang="en-US" sz="1200" b="1" dirty="0">
                <a:solidFill>
                  <a:schemeClr val="tx1"/>
                </a:solidFill>
                <a:latin typeface="Arial" pitchFamily="34" charset="0"/>
                <a:ea typeface="Arial" pitchFamily="34" charset="-122"/>
                <a:cs typeface="Arial" pitchFamily="34" charset="-120"/>
              </a:rPr>
              <a:t>Non-dominated sorting: </a:t>
            </a:r>
            <a:pPr indent="0" marL="0">
              <a:buNone/>
            </a:pPr>
            <a:r>
              <a:rPr lang="en-US" sz="1200" dirty="0">
                <a:solidFill>
                  <a:schemeClr val="tx1"/>
                </a:solidFill>
                <a:latin typeface="Arial" pitchFamily="34" charset="0"/>
                <a:ea typeface="Arial" pitchFamily="34" charset="-122"/>
                <a:cs typeface="Arial" pitchFamily="34" charset="-120"/>
              </a:rPr>
              <a:t>front 1 holds the MOFs no other MOF beats; remove them and repeat</a:t>
            </a:r>
            <a:endParaRPr lang="en-US" sz="1200" dirty="0"/>
          </a:p>
          <a:p>
            <a:pPr marL="177800" indent="-177800">
              <a:spcAft>
                <a:spcPts val="500"/>
              </a:spcAft>
              <a:buSzPct val="100000"/>
              <a:buChar char="•"/>
            </a:pPr>
            <a:r>
              <a:rPr lang="en-US" sz="1200" b="1" dirty="0">
                <a:solidFill>
                  <a:schemeClr val="tx1"/>
                </a:solidFill>
                <a:latin typeface="Arial" pitchFamily="34" charset="0"/>
                <a:ea typeface="Arial" pitchFamily="34" charset="-122"/>
                <a:cs typeface="Arial" pitchFamily="34" charset="-120"/>
              </a:rPr>
              <a:t>Crowding distance: </a:t>
            </a:r>
            <a:pPr indent="0" marL="0">
              <a:buNone/>
            </a:pPr>
            <a:r>
              <a:rPr lang="en-US" sz="1200" dirty="0">
                <a:solidFill>
                  <a:schemeClr val="tx1"/>
                </a:solidFill>
                <a:latin typeface="Arial" pitchFamily="34" charset="0"/>
                <a:ea typeface="Arial" pitchFamily="34" charset="-122"/>
                <a:cs typeface="Arial" pitchFamily="34" charset="-120"/>
              </a:rPr>
              <a:t>prefers MOFs in sparse regions, giving diverse trade-offs</a:t>
            </a:r>
            <a:endParaRPr lang="en-US" sz="1200" dirty="0"/>
          </a:p>
          <a:p>
            <a:pPr marL="177800" indent="-177800">
              <a:spcAft>
                <a:spcPts val="500"/>
              </a:spcAft>
              <a:buSzPct val="100000"/>
              <a:buChar char="•"/>
            </a:pPr>
            <a:r>
              <a:rPr lang="en-US" sz="1200" b="1" dirty="0">
                <a:solidFill>
                  <a:schemeClr val="tx1"/>
                </a:solidFill>
                <a:latin typeface="Arial" pitchFamily="34" charset="0"/>
                <a:ea typeface="Arial" pitchFamily="34" charset="-122"/>
                <a:cs typeface="Arial" pitchFamily="34" charset="-120"/>
              </a:rPr>
              <a:t>Two objectives: </a:t>
            </a:r>
            <a:pPr indent="0" marL="0">
              <a:buNone/>
            </a:pPr>
            <a:r>
              <a:rPr lang="en-US" sz="1200" dirty="0">
                <a:solidFill>
                  <a:schemeClr val="tx1"/>
                </a:solidFill>
                <a:latin typeface="Arial" pitchFamily="34" charset="0"/>
                <a:ea typeface="Arial" pitchFamily="34" charset="-122"/>
                <a:cs typeface="Arial" pitchFamily="34" charset="-120"/>
              </a:rPr>
              <a:t>exact O(n log n) sweep; the worst 25 % are screened out first</a:t>
            </a:r>
            <a:endParaRPr lang="en-US" sz="1200" dirty="0"/>
          </a:p>
          <a:p>
            <a:pPr marL="177800" indent="-177800">
              <a:spcAft>
                <a:spcPts val="500"/>
              </a:spcAft>
              <a:buSzPct val="100000"/>
              <a:buChar char="•"/>
            </a:pPr>
            <a:r>
              <a:rPr lang="en-US" sz="1200" b="1" dirty="0">
                <a:solidFill>
                  <a:schemeClr val="tx1"/>
                </a:solidFill>
                <a:latin typeface="Arial" pitchFamily="34" charset="0"/>
                <a:ea typeface="Arial" pitchFamily="34" charset="-122"/>
                <a:cs typeface="Arial" pitchFamily="34" charset="-120"/>
              </a:rPr>
              <a:t>Speed: </a:t>
            </a:r>
            <a:pPr indent="0" marL="0">
              <a:buNone/>
            </a:pPr>
            <a:r>
              <a:rPr lang="en-US" sz="1200" dirty="0">
                <a:solidFill>
                  <a:schemeClr val="tx1"/>
                </a:solidFill>
                <a:latin typeface="Arial" pitchFamily="34" charset="0"/>
                <a:ea typeface="Arial" pitchFamily="34" charset="-122"/>
                <a:cs typeface="Arial" pitchFamily="34" charset="-120"/>
              </a:rPr>
              <a:t>all 12,020 MOFs in 0.02 s (2 objectives) and 2.6 s (3)</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65760" y="3931920"/>
          <a:ext cx="4572000" cy="914400"/>
        </p:xfrm>
        <a:graphic>
          <a:graphicData uri="http://schemas.openxmlformats.org/drawingml/2006/table">
            <a:tbl>
              <a:tblPr/>
              <a:tblGrid>
                <a:gridCol w="1280160"/>
                <a:gridCol w="3291840"/>
              </a:tblGrid>
              <a:tr h="329184">
                <a:tc>
                  <a:txBody>
                    <a:bodyPr/>
                    <a:lstStyle/>
                    <a:p>
                      <a:pPr indent="0" marL="0">
                        <a:buNone/>
                      </a:pPr>
                      <a:r>
                        <a:rPr lang="en-US" sz="1200" b="1" dirty="0">
                          <a:solidFill>
                            <a:srgbClr val="FFFFFF"/>
                          </a:solidFill>
                          <a:latin typeface="Arial" pitchFamily="34" charset="0"/>
                          <a:ea typeface="Arial" pitchFamily="34" charset="-122"/>
                          <a:cs typeface="Arial" pitchFamily="34" charset="-120"/>
                        </a:rPr>
                        <a:t>Application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Heuristic rule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H2 storage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PLD ≥ 2.89 Å; max surface area and void fraction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CH4 storage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PLD ≥ 3.80 Å; max volumetric area and void fraction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CO2 capture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Open metal site; PLD ≥ 3.30 Å; min LCD</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Separation A/B</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Kinetic diameter of A ≤ PLD ≤ that of B</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00000"/>
                          </a:solidFill>
                          <a:latin typeface="Arial" pitchFamily="34" charset="0"/>
                          <a:ea typeface="Arial" pitchFamily="34" charset="-122"/>
                          <a:cs typeface="Arial" pitchFamily="34" charset="-120"/>
                        </a:rPr>
                        <a:t>Catalysis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Open metal site; PLD ≥ 5 Å</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bl>
          </a:graphicData>
        </a:graphic>
      </p:graphicFrame>
      <p:sp>
        <p:nvSpPr>
          <p:cNvPr id="6" name="Text 2"/>
          <p:cNvSpPr txBox="1"/>
          <p:nvPr/>
        </p:nvSpPr>
        <p:spPr>
          <a:xfrm>
            <a:off x="365760" y="6446520"/>
            <a:ext cx="9509760" cy="68580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Pareto front = MOFs not beaten on all objectives at once. Objective = a property to maximise or minimise. O(n log n) = time grows only a little faster than the number of MOFs. Kinetic diameter = effective size of a gas molecule (H2 2.89 Å, CO2 3.3 Å, CH4 3.8 Å).</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Results: Retrieval Benchmark</a:t>
            </a:r>
            <a:endParaRPr lang="en-US" sz="2400" dirty="0"/>
          </a:p>
        </p:txBody>
      </p:sp>
      <p:graphicFrame>
        <p:nvGraphicFramePr>
          <p:cNvPr id="3" name="Chart 0" descr=""/>
          <p:cNvGraphicFramePr/>
          <p:nvPr/>
        </p:nvGraphicFramePr>
        <p:xfrm>
          <a:off x="274320" y="914400"/>
          <a:ext cx="603504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446520" y="914400"/>
          <a:ext cx="3977640" cy="356616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365760" y="4617720"/>
            <a:ext cx="10058400" cy="164592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An answer counts as correct only if it returns exactly the MOFs of a hand-written gold plan. Constraint precision@k on the held-out set: review 1 41.8 %, hybrid 100 %.</a:t>
            </a:r>
            <a:endParaRPr lang="en-US" sz="1200" dirty="0"/>
          </a:p>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The rules were tuned on the development set, so the held-out questions (written later, never used for tuning) give the fair estimate.</a:t>
            </a:r>
            <a:endParaRPr lang="en-US" sz="1200" dirty="0"/>
          </a:p>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The validator and hybrid planner add 15 points for the offline model and cost less than 0.01 s; for the cloud model they change nothing.</a:t>
            </a:r>
            <a:endParaRPr lang="en-US" sz="1200" dirty="0"/>
          </a:p>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ChatMOF reports 96.9 % on its own search questions; the question sets differ.</a:t>
            </a:r>
            <a:endParaRPr lang="en-US" sz="1200" dirty="0"/>
          </a:p>
        </p:txBody>
      </p:sp>
      <p:sp>
        <p:nvSpPr>
          <p:cNvPr id="6" name="Text 2"/>
          <p:cNvSpPr txBox="1"/>
          <p:nvPr/>
        </p:nvSpPr>
        <p:spPr>
          <a:xfrm>
            <a:off x="365760" y="6355080"/>
            <a:ext cx="9966960" cy="77724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Gold plan = the correct plan written by hand. Precision@k = share of returned MOFs that really satisfy the question. Development set = 64 questions used while building. Held-out set = 20 later questions never used for tuning. Single shot = LLM alone, no corrections. Two-tower = review-1 method matching question and MOF vectors.</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Results: Free LLM Comparison and Answer Validation</a:t>
            </a:r>
            <a:endParaRPr lang="en-US" sz="2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274320" y="960120"/>
          <a:ext cx="10149840" cy="914400"/>
        </p:xfrm>
        <a:graphic>
          <a:graphicData uri="http://schemas.openxmlformats.org/drawingml/2006/table">
            <a:tbl>
              <a:tblPr/>
              <a:tblGrid>
                <a:gridCol w="3108960"/>
                <a:gridCol w="1371600"/>
                <a:gridCol w="1371600"/>
                <a:gridCol w="1188720"/>
                <a:gridCol w="1371600"/>
                <a:gridCol w="1737360"/>
              </a:tblGrid>
              <a:tr h="347472">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Model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Held-out alone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Held-out hybrid</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Dev hybrid</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Median call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Provider errors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r>
              <a:tr h="347472">
                <a:tc>
                  <a:txBody>
                    <a:bodyPr/>
                    <a:lstStyle/>
                    <a:p>
                      <a:pPr algn="ctr" indent="0" marL="0">
                        <a:buNone/>
                      </a:pPr>
                      <a:r>
                        <a:rPr lang="en-US" sz="1200" b="1" dirty="0">
                          <a:solidFill>
                            <a:srgbClr val="000000"/>
                          </a:solidFill>
                          <a:latin typeface="Arial" pitchFamily="34" charset="0"/>
                          <a:ea typeface="Arial" pitchFamily="34" charset="-122"/>
                          <a:cs typeface="Arial" pitchFamily="34" charset="-120"/>
                        </a:rPr>
                        <a:t>Gemini 3.1 Flash-Lite (default)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100 %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100 %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100 %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1.5 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13 / 84</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47472">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GPT-OSS 120B (Groq)</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95 %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95 %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100 %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2.4-4.7 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347472">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Qwen 3.8 27B (Groq)</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95 %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95 %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100 %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20 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47472">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Nemotron 3 Super 120B</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95 %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95 %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2.0 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347472">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Llama 3 8B (local)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65 %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80 %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100 %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1.5 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47472">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Gemini 3.5 Flash</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64 / 84 (quota)</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365760" y="3657600"/>
            <a:ext cx="6035040" cy="274320"/>
          </a:xfrm>
          <a:prstGeom prst="rect">
            <a:avLst/>
          </a:prstGeom>
          <a:noFill/>
          <a:ln/>
        </p:spPr>
        <p:txBody>
          <a:bodyPr wrap="square" lIns="0" tIns="0" rIns="0" bIns="0" rtlCol="0" anchor="t"/>
          <a:lstStyle/>
          <a:p>
            <a:pPr indent="0" marL="0">
              <a:buNone/>
            </a:pPr>
            <a:r>
              <a:rPr lang="en-US" sz="1200" b="1" dirty="0">
                <a:solidFill>
                  <a:srgbClr val="C00000"/>
                </a:solidFill>
                <a:latin typeface="Arial" pitchFamily="34" charset="0"/>
                <a:ea typeface="Arial" pitchFamily="34" charset="-122"/>
                <a:cs typeface="Arial" pitchFamily="34" charset="-120"/>
              </a:rPr>
              <a:t>Answer validation (16 full answers per model)</a:t>
            </a:r>
            <a:endParaRPr lang="en-US" sz="1200" dirty="0"/>
          </a:p>
        </p:txBody>
      </p:sp>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274320" y="3977640"/>
          <a:ext cx="6126480" cy="914400"/>
        </p:xfrm>
        <a:graphic>
          <a:graphicData uri="http://schemas.openxmlformats.org/drawingml/2006/table">
            <a:tbl>
              <a:tblPr/>
              <a:tblGrid>
                <a:gridCol w="1920240"/>
                <a:gridCol w="1371600"/>
                <a:gridCol w="914400"/>
                <a:gridCol w="1005840"/>
                <a:gridCol w="914400"/>
              </a:tblGrid>
              <a:tr h="347472">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Model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Drafts with a problem</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Rewritten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Still flagged</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s per answer</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r>
              <a:tr h="347472">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Gemini 3.1 Flash-Lite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 of 16</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9.9</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47472">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Llama 3 8B (local)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2 of 16</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9.3</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347472">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GPT-OSS 120B</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2 of 16</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30.2</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47472">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Qwen 3.8 27B</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 of 16</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26.4</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274320" y="5943600"/>
            <a:ext cx="6126480" cy="114300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Hybrid = LLM plan plus facts the rule parser is sure of. Median call = typical time for one planning request. Provider error = the free API refused or failed the call. Quota = daily request limit. Draft = the LLM's first answer before checking.</a:t>
            </a:r>
            <a:endParaRPr lang="en-US" sz="1200" dirty="0"/>
          </a:p>
        </p:txBody>
      </p:sp>
      <p:sp>
        <p:nvSpPr>
          <p:cNvPr id="7" name="Text 3"/>
          <p:cNvSpPr txBox="1"/>
          <p:nvPr/>
        </p:nvSpPr>
        <p:spPr>
          <a:xfrm>
            <a:off x="6629400" y="3657600"/>
            <a:ext cx="3840480" cy="274320"/>
          </a:xfrm>
          <a:prstGeom prst="rect">
            <a:avLst/>
          </a:prstGeom>
          <a:noFill/>
          <a:ln/>
        </p:spPr>
        <p:txBody>
          <a:bodyPr wrap="square" lIns="0" tIns="0" rIns="0" bIns="0" rtlCol="0" anchor="t"/>
          <a:lstStyle/>
          <a:p>
            <a:pPr indent="0" marL="0">
              <a:buNone/>
            </a:pPr>
            <a:r>
              <a:rPr lang="en-US" sz="1200" b="1" dirty="0">
                <a:solidFill>
                  <a:srgbClr val="C00000"/>
                </a:solidFill>
                <a:latin typeface="Arial" pitchFamily="34" charset="0"/>
                <a:ea typeface="Arial" pitchFamily="34" charset="-122"/>
                <a:cs typeface="Arial" pitchFamily="34" charset="-120"/>
              </a:rPr>
              <a:t>Examples caught by the validator</a:t>
            </a:r>
            <a:endParaRPr lang="en-US" sz="1200" dirty="0"/>
          </a:p>
        </p:txBody>
      </p:sp>
      <p:sp>
        <p:nvSpPr>
          <p:cNvPr id="8" name="Text 4"/>
          <p:cNvSpPr txBox="1"/>
          <p:nvPr/>
        </p:nvSpPr>
        <p:spPr>
          <a:xfrm>
            <a:off x="6629400" y="3977640"/>
            <a:ext cx="3794760" cy="301752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Llama 3 invented two densities and a "90 %"; the ID OFEUN06 was corrected to OFERUN06</a:t>
            </a:r>
            <a:endParaRPr lang="en-US" sz="1200" dirty="0"/>
          </a:p>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GPT-OSS 120B claimed "Pareto front 1" for MOFs ranked on front 2</a:t>
            </a:r>
            <a:endParaRPr lang="en-US" sz="1200" dirty="0"/>
          </a:p>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Llama 3 named MOFs that do not exist ("MOF-210") in a prediction answer</a:t>
            </a:r>
            <a:endParaRPr lang="en-US" sz="1200" dirty="0"/>
          </a:p>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GPT-OSS cited a prompt header "[WHY]" as a source; it is now removed</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Results: Open-Metal-Site Classification (DL vs ML)</a:t>
            </a:r>
            <a:endParaRPr lang="en-US" sz="2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274320" y="960120"/>
          <a:ext cx="10149840" cy="914400"/>
        </p:xfrm>
        <a:graphic>
          <a:graphicData uri="http://schemas.openxmlformats.org/drawingml/2006/table">
            <a:tbl>
              <a:tblPr/>
              <a:tblGrid>
                <a:gridCol w="2743200"/>
                <a:gridCol w="1234440"/>
                <a:gridCol w="1234440"/>
                <a:gridCol w="1234440"/>
                <a:gridCol w="1234440"/>
                <a:gridCol w="1234440"/>
                <a:gridCol w="1234440"/>
              </a:tblGrid>
              <a:tr h="329184">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Model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Accuracy</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Precision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Recall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F1</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ROC-AUC</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PR-AUC</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r>
              <a:tr h="329184">
                <a:tc>
                  <a:txBody>
                    <a:bodyPr/>
                    <a:lstStyle/>
                    <a:p>
                      <a:pPr algn="ctr" indent="0" marL="0">
                        <a:buNone/>
                      </a:pPr>
                      <a:r>
                        <a:rPr lang="en-US" sz="1200" b="1" dirty="0">
                          <a:solidFill>
                            <a:srgbClr val="000000"/>
                          </a:solidFill>
                          <a:latin typeface="Arial" pitchFamily="34" charset="0"/>
                          <a:ea typeface="Arial" pitchFamily="34" charset="-122"/>
                          <a:cs typeface="Arial" pitchFamily="34" charset="-120"/>
                        </a:rPr>
                        <a:t>Majority baseline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0.663</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0.663</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1.000</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0.798</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0.500</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0.663</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29184">
                <a:tc>
                  <a:txBody>
                    <a:bodyPr/>
                    <a:lstStyle/>
                    <a:p>
                      <a:pPr algn="ctr" indent="0" marL="0">
                        <a:buNone/>
                      </a:pPr>
                      <a:r>
                        <a:rPr lang="en-US" sz="1200" b="1" dirty="0">
                          <a:solidFill>
                            <a:srgbClr val="000000"/>
                          </a:solidFill>
                          <a:latin typeface="Arial" pitchFamily="34" charset="0"/>
                          <a:ea typeface="Arial" pitchFamily="34" charset="-122"/>
                          <a:cs typeface="Arial" pitchFamily="34" charset="-120"/>
                        </a:rPr>
                        <a:t>Logistic regression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0.693</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0.708</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0.916</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0.798</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0.676</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0.804</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329184">
                <a:tc>
                  <a:txBody>
                    <a:bodyPr/>
                    <a:lstStyle/>
                    <a:p>
                      <a:pPr algn="ctr" indent="0" marL="0">
                        <a:buNone/>
                      </a:pPr>
                      <a:r>
                        <a:rPr lang="en-US" sz="1200" b="1" dirty="0">
                          <a:solidFill>
                            <a:srgbClr val="000000"/>
                          </a:solidFill>
                          <a:latin typeface="Arial" pitchFamily="34" charset="0"/>
                          <a:ea typeface="Arial" pitchFamily="34" charset="-122"/>
                          <a:cs typeface="Arial" pitchFamily="34" charset="-120"/>
                        </a:rPr>
                        <a:t>XGBoost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0.750</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0.765</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0.901</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0.827</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0.787</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0.871</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29184">
                <a:tc>
                  <a:txBody>
                    <a:bodyPr/>
                    <a:lstStyle/>
                    <a:p>
                      <a:pPr algn="ctr" indent="0" marL="0">
                        <a:buNone/>
                      </a:pPr>
                      <a:r>
                        <a:rPr lang="en-US" sz="1200" b="1" dirty="0">
                          <a:solidFill>
                            <a:srgbClr val="000000"/>
                          </a:solidFill>
                          <a:latin typeface="Arial" pitchFamily="34" charset="0"/>
                          <a:ea typeface="Arial" pitchFamily="34" charset="-122"/>
                          <a:cs typeface="Arial" pitchFamily="34" charset="-120"/>
                        </a:rPr>
                        <a:t>MLP</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0.734</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0.759</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0.878</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0.814</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0.756</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0.847</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329184">
                <a:tc>
                  <a:txBody>
                    <a:bodyPr/>
                    <a:lstStyle/>
                    <a:p>
                      <a:pPr algn="ctr" indent="0" marL="0">
                        <a:buNone/>
                      </a:pPr>
                      <a:r>
                        <a:rPr lang="en-US" sz="1200" b="1" dirty="0">
                          <a:solidFill>
                            <a:srgbClr val="000000"/>
                          </a:solidFill>
                          <a:latin typeface="Arial" pitchFamily="34" charset="0"/>
                          <a:ea typeface="Arial" pitchFamily="34" charset="-122"/>
                          <a:cs typeface="Arial" pitchFamily="34" charset="-120"/>
                        </a:rPr>
                        <a:t>FT-Transformer</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0.728</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0.755</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0.873</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0.810</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0.755</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0.852</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bl>
          </a:graphicData>
        </a:graphic>
      </p:graphicFrame>
      <p:pic>
        <p:nvPicPr>
          <p:cNvPr id="4" name="Image 0" descr="oms_roc_pr.png">    </p:cNvPr>
          <p:cNvPicPr>
            <a:picLocks noChangeAspect="1"/>
          </p:cNvPicPr>
          <p:nvPr/>
        </p:nvPicPr>
        <p:blipFill>
          <a:blip r:embed="rId1"/>
          <a:stretch>
            <a:fillRect/>
          </a:stretch>
        </p:blipFill>
        <p:spPr>
          <a:xfrm>
            <a:off x="274320" y="3154680"/>
            <a:ext cx="6583680" cy="2753175"/>
          </a:xfrm>
          <a:prstGeom prst="rect">
            <a:avLst/>
          </a:prstGeom>
        </p:spPr>
      </p:pic>
      <p:sp>
        <p:nvSpPr>
          <p:cNvPr id="5" name="Text 1"/>
          <p:cNvSpPr txBox="1"/>
          <p:nvPr/>
        </p:nvSpPr>
        <p:spPr>
          <a:xfrm>
            <a:off x="7086600" y="3154680"/>
            <a:ext cx="3383280" cy="114300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Task: </a:t>
            </a:r>
            <a:pPr indent="0" marL="0">
              <a:buNone/>
            </a:pPr>
            <a:r>
              <a:rPr lang="en-US" sz="1200" dirty="0">
                <a:solidFill>
                  <a:schemeClr val="tx1"/>
                </a:solidFill>
                <a:latin typeface="Arial" pitchFamily="34" charset="0"/>
                <a:ea typeface="Arial" pitchFamily="34" charset="-122"/>
                <a:cs typeface="Arial" pitchFamily="34" charset="-120"/>
              </a:rPr>
              <a:t>predict whether a MOF has an open metal site from its 10 geometric descriptors and primary metal. 66.4 % of MOFs have one. OMS_Type is not used as an input.</a:t>
            </a:r>
            <a:endParaRPr lang="en-US" sz="1200" dirty="0"/>
          </a:p>
        </p:txBody>
      </p:sp>
      <p:sp>
        <p:nvSpPr>
          <p:cNvPr id="6" name="Text 2"/>
          <p:cNvSpPr txBox="1"/>
          <p:nvPr/>
        </p:nvSpPr>
        <p:spPr>
          <a:xfrm>
            <a:off x="7086600" y="4343400"/>
            <a:ext cx="3383280" cy="59436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Split: </a:t>
            </a:r>
            <a:pPr indent="0" marL="0">
              <a:buNone/>
            </a:pPr>
            <a:r>
              <a:rPr lang="en-US" sz="1200" dirty="0">
                <a:solidFill>
                  <a:schemeClr val="tx1"/>
                </a:solidFill>
                <a:latin typeface="Arial" pitchFamily="34" charset="0"/>
                <a:ea typeface="Arial" pitchFamily="34" charset="-122"/>
                <a:cs typeface="Arial" pitchFamily="34" charset="-120"/>
              </a:rPr>
              <a:t>8414 / 1803 / 1803 MOFs (train / validation / test, stratified = same OMS share in each)</a:t>
            </a:r>
            <a:endParaRPr lang="en-US" sz="1200" dirty="0"/>
          </a:p>
        </p:txBody>
      </p:sp>
      <p:sp>
        <p:nvSpPr>
          <p:cNvPr id="7" name="Text 3"/>
          <p:cNvSpPr txBox="1"/>
          <p:nvPr/>
        </p:nvSpPr>
        <p:spPr>
          <a:xfrm>
            <a:off x="7086600" y="5029200"/>
            <a:ext cx="3383280" cy="210312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Accuracy = share of correct predictions. Precision = of MOFs predicted OMS, share that are right. Recall = of real OMS MOFs, share found. F1 = balance of precision and recall. ROC-AUC = chance a real OMS MOF scores higher than a non-OMS one (0.5 = guessing). PR-AUC = area under the precision-recall curve. Majority baseline = always predict the most common class.</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Results: Confusion Matrices of the OMS Classifiers</a:t>
            </a:r>
            <a:endParaRPr lang="en-US" sz="2400" dirty="0"/>
          </a:p>
        </p:txBody>
      </p:sp>
      <p:pic>
        <p:nvPicPr>
          <p:cNvPr id="3" name="Image 0" descr="oms_confusion.png">    </p:cNvPr>
          <p:cNvPicPr>
            <a:picLocks noChangeAspect="1"/>
          </p:cNvPicPr>
          <p:nvPr/>
        </p:nvPicPr>
        <p:blipFill>
          <a:blip r:embed="rId1"/>
          <a:stretch>
            <a:fillRect/>
          </a:stretch>
        </p:blipFill>
        <p:spPr>
          <a:xfrm>
            <a:off x="274320" y="960120"/>
            <a:ext cx="10149840" cy="2638958"/>
          </a:xfrm>
          <a:prstGeom prst="rect">
            <a:avLst/>
          </a:prstGeom>
        </p:spPr>
      </p:pic>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274320" y="3886200"/>
          <a:ext cx="10149840" cy="914400"/>
        </p:xfrm>
        <a:graphic>
          <a:graphicData uri="http://schemas.openxmlformats.org/drawingml/2006/table">
            <a:tbl>
              <a:tblPr/>
              <a:tblGrid>
                <a:gridCol w="2194560"/>
                <a:gridCol w="1463040"/>
                <a:gridCol w="1463040"/>
                <a:gridCol w="1463040"/>
                <a:gridCol w="1463040"/>
                <a:gridCol w="2103120"/>
              </a:tblGrid>
              <a:tr h="347472">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Model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True negative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False positive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False negative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True positive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Train / val / test accuracy</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r>
              <a:tr h="347472">
                <a:tc>
                  <a:txBody>
                    <a:bodyPr/>
                    <a:lstStyle/>
                    <a:p>
                      <a:pPr algn="ctr" indent="0" marL="0">
                        <a:buNone/>
                      </a:pPr>
                      <a:r>
                        <a:rPr lang="en-US" sz="1200" b="1" dirty="0">
                          <a:solidFill>
                            <a:srgbClr val="000000"/>
                          </a:solidFill>
                          <a:latin typeface="Arial" pitchFamily="34" charset="0"/>
                          <a:ea typeface="Arial" pitchFamily="34" charset="-122"/>
                          <a:cs typeface="Arial" pitchFamily="34" charset="-120"/>
                        </a:rPr>
                        <a:t>XGBoost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275</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332</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118</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1078</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0.868 / 0.770 / 0.750</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47472">
                <a:tc>
                  <a:txBody>
                    <a:bodyPr/>
                    <a:lstStyle/>
                    <a:p>
                      <a:pPr algn="ctr" indent="0" marL="0">
                        <a:buNone/>
                      </a:pPr>
                      <a:r>
                        <a:rPr lang="en-US" sz="1200" b="1" dirty="0">
                          <a:solidFill>
                            <a:srgbClr val="000000"/>
                          </a:solidFill>
                          <a:latin typeface="Arial" pitchFamily="34" charset="0"/>
                          <a:ea typeface="Arial" pitchFamily="34" charset="-122"/>
                          <a:cs typeface="Arial" pitchFamily="34" charset="-120"/>
                        </a:rPr>
                        <a:t>MLP</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274</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333</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146</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1050</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0.782 / 0.755 / 0.734</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347472">
                <a:tc>
                  <a:txBody>
                    <a:bodyPr/>
                    <a:lstStyle/>
                    <a:p>
                      <a:pPr algn="ctr" indent="0" marL="0">
                        <a:buNone/>
                      </a:pPr>
                      <a:r>
                        <a:rPr lang="en-US" sz="1200" b="1" dirty="0">
                          <a:solidFill>
                            <a:srgbClr val="000000"/>
                          </a:solidFill>
                          <a:latin typeface="Arial" pitchFamily="34" charset="0"/>
                          <a:ea typeface="Arial" pitchFamily="34" charset="-122"/>
                          <a:cs typeface="Arial" pitchFamily="34" charset="-120"/>
                        </a:rPr>
                        <a:t>FT-Transformer</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269</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338</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152</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1044</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0.781 / 0.735 / 0.728</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bl>
          </a:graphicData>
        </a:graphic>
      </p:graphicFrame>
      <p:sp>
        <p:nvSpPr>
          <p:cNvPr id="5" name="Text 1"/>
          <p:cNvSpPr txBox="1"/>
          <p:nvPr/>
        </p:nvSpPr>
        <p:spPr>
          <a:xfrm>
            <a:off x="365760" y="5440680"/>
            <a:ext cx="10058400" cy="82296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All trained classifiers beat the majority baseline (66.3 % accuracy, ROC-AUC 0.50). XGBoost is best and the two deep-learning models are close behind.</a:t>
            </a:r>
            <a:endParaRPr lang="en-US" sz="1200" dirty="0"/>
          </a:p>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Whether a metal site is open depends on coordination chemistry that pore geometry and metal type only partly describe, so accuracy levels off near 75 %.</a:t>
            </a:r>
            <a:endParaRPr lang="en-US" sz="1200" dirty="0"/>
          </a:p>
        </p:txBody>
      </p:sp>
      <p:sp>
        <p:nvSpPr>
          <p:cNvPr id="6" name="Text 2"/>
          <p:cNvSpPr txBox="1"/>
          <p:nvPr/>
        </p:nvSpPr>
        <p:spPr>
          <a:xfrm>
            <a:off x="365760" y="6309360"/>
            <a:ext cx="9966960" cy="82296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Confusion matrix = table of actual vs predicted classes. True positive = has OMS, predicted OMS. False positive = predicted OMS but has none. False negative = has OMS, predicted none. True negative = no OMS, predicted none. Overfitting = learning the training data too closely (train accuracy much higher than test).</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Results: Train, Validation and Test Accuracy and Loss</a:t>
            </a:r>
            <a:endParaRPr lang="en-US" sz="2400" dirty="0"/>
          </a:p>
        </p:txBody>
      </p:sp>
      <p:pic>
        <p:nvPicPr>
          <p:cNvPr id="3" name="Image 0" descr="oms_learning_curves.png">    </p:cNvPr>
          <p:cNvPicPr>
            <a:picLocks noChangeAspect="1"/>
          </p:cNvPicPr>
          <p:nvPr/>
        </p:nvPicPr>
        <p:blipFill>
          <a:blip r:embed="rId1"/>
          <a:stretch>
            <a:fillRect/>
          </a:stretch>
        </p:blipFill>
        <p:spPr>
          <a:xfrm>
            <a:off x="365760" y="914400"/>
            <a:ext cx="9966960" cy="5049926"/>
          </a:xfrm>
          <a:prstGeom prst="rect">
            <a:avLst/>
          </a:prstGeom>
        </p:spPr>
      </p:pic>
      <p:sp>
        <p:nvSpPr>
          <p:cNvPr id="4" name="Text 1"/>
          <p:cNvSpPr txBox="1"/>
          <p:nvPr/>
        </p:nvSpPr>
        <p:spPr>
          <a:xfrm>
            <a:off x="365760" y="6217920"/>
            <a:ext cx="9966960" cy="365760"/>
          </a:xfrm>
          <a:prstGeom prst="rect">
            <a:avLst/>
          </a:prstGeom>
          <a:noFill/>
          <a:ln/>
        </p:spPr>
        <p:txBody>
          <a:bodyPr wrap="square" lIns="0" tIns="0" rIns="0" bIns="0" rtlCol="0" anchor="t"/>
          <a:lstStyle/>
          <a:p>
            <a:pPr indent="0" marL="0">
              <a:buNone/>
            </a:pPr>
            <a:r>
              <a:rPr lang="en-US" sz="1200" dirty="0">
                <a:solidFill>
                  <a:srgbClr val="595959"/>
                </a:solidFill>
                <a:latin typeface="Arial" pitchFamily="34" charset="0"/>
                <a:ea typeface="Arial" pitchFamily="34" charset="-122"/>
                <a:cs typeface="Arial" pitchFamily="34" charset="-120"/>
              </a:rPr>
              <a:t>Blue: train, red: validation, green dashed: test, dotted: best epoch. FT-Transformer best epoch 31 of 51; MLP 59; XGBoost best round 310.</a:t>
            </a:r>
            <a:endParaRPr lang="en-US" sz="1200" dirty="0"/>
          </a:p>
        </p:txBody>
      </p:sp>
      <p:sp>
        <p:nvSpPr>
          <p:cNvPr id="5" name="Text 2"/>
          <p:cNvSpPr txBox="1"/>
          <p:nvPr/>
        </p:nvSpPr>
        <p:spPr>
          <a:xfrm>
            <a:off x="365760" y="6537960"/>
            <a:ext cx="9509760" cy="64008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Loss = how wrong the model is (lower is better). Epoch = one pass over the training data. Boosting round = one tree added in XGBoost. Early stopping = keep the epoch with the lowest validation loss. Validation set = data used to choose that epoch; test set = untouched final check.</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Results: Property Prediction (Regression)</a:t>
            </a:r>
            <a:endParaRPr lang="en-US" sz="2400" dirty="0"/>
          </a:p>
        </p:txBody>
      </p:sp>
      <p:graphicFrame>
        <p:nvGraphicFramePr>
          <p:cNvPr id="3" name="Chart 0" descr=""/>
          <p:cNvGraphicFramePr/>
          <p:nvPr/>
        </p:nvGraphicFramePr>
        <p:xfrm>
          <a:off x="274320" y="914400"/>
          <a:ext cx="4937760" cy="3291840"/>
        </p:xfrm>
        <a:graphic xmlns:a="http://schemas.openxmlformats.org/drawingml/2006/main">
          <a:graphicData uri="http://schemas.openxmlformats.org/drawingml/2006/chart">
            <c:chart xmlns:c="http://schemas.openxmlformats.org/drawingml/2006/chart" r:id="rId1"/>
          </a:graphicData>
        </a:graphic>
      </p:graphicFrame>
      <p:pic>
        <p:nvPicPr>
          <p:cNvPr id="4" name="Image 0" descr="parity_xgb_ft.png">    </p:cNvPr>
          <p:cNvPicPr>
            <a:picLocks noChangeAspect="1"/>
          </p:cNvPicPr>
          <p:nvPr/>
        </p:nvPicPr>
        <p:blipFill>
          <a:blip r:embed="rId2"/>
          <a:stretch>
            <a:fillRect/>
          </a:stretch>
        </p:blipFill>
        <p:spPr>
          <a:xfrm>
            <a:off x="5394960" y="960120"/>
            <a:ext cx="5029200" cy="2514600"/>
          </a:xfrm>
          <a:prstGeom prst="rect">
            <a:avLst/>
          </a:prstGeom>
        </p:spPr>
      </p:pic>
      <p:sp>
        <p:nvSpPr>
          <p:cNvPr id="5" name="Text 1"/>
          <p:cNvSpPr txBox="1"/>
          <p:nvPr/>
        </p:nvSpPr>
        <p:spPr>
          <a:xfrm>
            <a:off x="5394960" y="3520440"/>
            <a:ext cx="5029200" cy="274320"/>
          </a:xfrm>
          <a:prstGeom prst="rect">
            <a:avLst/>
          </a:prstGeom>
          <a:noFill/>
          <a:ln/>
        </p:spPr>
        <p:txBody>
          <a:bodyPr wrap="square" lIns="0" tIns="0" rIns="0" bIns="0" rtlCol="0" anchor="t"/>
          <a:lstStyle/>
          <a:p>
            <a:pPr algn="ctr" indent="0" marL="0">
              <a:buNone/>
            </a:pPr>
            <a:r>
              <a:rPr lang="en-US" sz="1200" i="1" dirty="0">
                <a:solidFill>
                  <a:srgbClr val="595959"/>
                </a:solidFill>
                <a:latin typeface="Arial" pitchFamily="34" charset="0"/>
                <a:ea typeface="Arial" pitchFamily="34" charset="-122"/>
                <a:cs typeface="Arial" pitchFamily="34" charset="-120"/>
              </a:rPr>
              <a:t>Predicted vs actual surface area on test MOFs</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274320" y="4434840"/>
          <a:ext cx="10149840" cy="914400"/>
        </p:xfrm>
        <a:graphic>
          <a:graphicData uri="http://schemas.openxmlformats.org/drawingml/2006/table">
            <a:tbl>
              <a:tblPr/>
              <a:tblGrid>
                <a:gridCol w="1828800"/>
                <a:gridCol w="1188720"/>
                <a:gridCol w="2286000"/>
                <a:gridCol w="2286000"/>
                <a:gridCol w="1371600"/>
                <a:gridCol w="1188720"/>
              </a:tblGrid>
              <a:tr h="36576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Target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XGBoost MAE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XGBoost R² train / val / test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FT R² train / val / test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90 % interval coverage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GP 95 % coverage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r>
              <a:tr h="365760">
                <a:tc>
                  <a:txBody>
                    <a:bodyPr/>
                    <a:lstStyle/>
                    <a:p>
                      <a:pPr algn="ctr" indent="0" marL="0">
                        <a:buNone/>
                      </a:pPr>
                      <a:r>
                        <a:rPr lang="en-US" sz="1200" b="1" dirty="0">
                          <a:solidFill>
                            <a:srgbClr val="000000"/>
                          </a:solidFill>
                          <a:latin typeface="Arial" pitchFamily="34" charset="0"/>
                          <a:ea typeface="Arial" pitchFamily="34" charset="-122"/>
                          <a:cs typeface="Arial" pitchFamily="34" charset="-120"/>
                        </a:rPr>
                        <a:t>Surface area (m²/g)</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90.0</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0.987 / 0.959 / 0.972</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0.975 / 0.969 / 0.972</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90.5 %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93.9 %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65760">
                <a:tc>
                  <a:txBody>
                    <a:bodyPr/>
                    <a:lstStyle/>
                    <a:p>
                      <a:pPr algn="ctr" indent="0" marL="0">
                        <a:buNone/>
                      </a:pPr>
                      <a:r>
                        <a:rPr lang="en-US" sz="1200" b="1" dirty="0">
                          <a:solidFill>
                            <a:srgbClr val="000000"/>
                          </a:solidFill>
                          <a:latin typeface="Arial" pitchFamily="34" charset="0"/>
                          <a:ea typeface="Arial" pitchFamily="34" charset="-122"/>
                          <a:cs typeface="Arial" pitchFamily="34" charset="-120"/>
                        </a:rPr>
                        <a:t>Void fraction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0.037</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0.899 / 0.820 / 0.828</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0.825 / 0.811 / 0.823</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88.4 %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95.1 %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bl>
          </a:graphicData>
        </a:graphic>
      </p:graphicFrame>
      <p:sp>
        <p:nvSpPr>
          <p:cNvPr id="7" name="Text 2"/>
          <p:cNvSpPr txBox="1"/>
          <p:nvPr/>
        </p:nvSpPr>
        <p:spPr>
          <a:xfrm>
            <a:off x="274320" y="5943600"/>
            <a:ext cx="10149840" cy="457200"/>
          </a:xfrm>
          <a:prstGeom prst="rect">
            <a:avLst/>
          </a:prstGeom>
          <a:noFill/>
          <a:ln/>
        </p:spPr>
        <p:txBody>
          <a:bodyPr wrap="square" lIns="0" tIns="0" rIns="0" bIns="0" rtlCol="0" anchor="t"/>
          <a:lstStyle/>
          <a:p>
            <a:pPr indent="0" marL="0">
              <a:buNone/>
            </a:pPr>
            <a:r>
              <a:rPr lang="en-US" sz="1200" dirty="0">
                <a:solidFill>
                  <a:srgbClr val="595959"/>
                </a:solidFill>
                <a:latin typeface="Arial" pitchFamily="34" charset="0"/>
                <a:ea typeface="Arial" pitchFamily="34" charset="-122"/>
                <a:cs typeface="Arial" pitchFamily="34" charset="-120"/>
              </a:rPr>
              <a:t>* R² on MOFs with accessible pores; the physics rule handles the zeros exactly (100.0 % on test). XGBoost trains in 0.25 s, the FT-Transformer in 111.58 s.</a:t>
            </a:r>
            <a:endParaRPr lang="en-US" sz="1200" dirty="0"/>
          </a:p>
        </p:txBody>
      </p:sp>
      <p:sp>
        <p:nvSpPr>
          <p:cNvPr id="8" name="Text 3"/>
          <p:cNvSpPr txBox="1"/>
          <p:nvPr/>
        </p:nvSpPr>
        <p:spPr>
          <a:xfrm>
            <a:off x="274320" y="6400800"/>
            <a:ext cx="9692640" cy="73152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Regression = predicting a number. R² = share of variance explained (1 = perfect). MAE = mean absolute error. Parity plot = predicted vs actual (perfect on the diagonal). Interval coverage = share of true values inside the 90 % interval. GP = Gaussian process.</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Results: Regression Learning Curves</a:t>
            </a:r>
            <a:endParaRPr lang="en-US" sz="2400" dirty="0"/>
          </a:p>
        </p:txBody>
      </p:sp>
      <p:pic>
        <p:nvPicPr>
          <p:cNvPr id="3" name="Image 0" descr="regression_learning_curves.png">    </p:cNvPr>
          <p:cNvPicPr>
            <a:picLocks noChangeAspect="1"/>
          </p:cNvPicPr>
          <p:nvPr/>
        </p:nvPicPr>
        <p:blipFill>
          <a:blip r:embed="rId1"/>
          <a:stretch>
            <a:fillRect/>
          </a:stretch>
        </p:blipFill>
        <p:spPr>
          <a:xfrm>
            <a:off x="365760" y="914400"/>
            <a:ext cx="9966960" cy="5049926"/>
          </a:xfrm>
          <a:prstGeom prst="rect">
            <a:avLst/>
          </a:prstGeom>
        </p:spPr>
      </p:pic>
      <p:sp>
        <p:nvSpPr>
          <p:cNvPr id="4" name="Text 1"/>
          <p:cNvSpPr txBox="1"/>
          <p:nvPr/>
        </p:nvSpPr>
        <p:spPr>
          <a:xfrm>
            <a:off x="365760" y="6217920"/>
            <a:ext cx="9966960" cy="365760"/>
          </a:xfrm>
          <a:prstGeom prst="rect">
            <a:avLst/>
          </a:prstGeom>
          <a:noFill/>
          <a:ln/>
        </p:spPr>
        <p:txBody>
          <a:bodyPr wrap="square" lIns="0" tIns="0" rIns="0" bIns="0" rtlCol="0" anchor="t"/>
          <a:lstStyle/>
          <a:p>
            <a:pPr indent="0" marL="0">
              <a:buNone/>
            </a:pPr>
            <a:r>
              <a:rPr lang="en-US" sz="1200" dirty="0">
                <a:solidFill>
                  <a:srgbClr val="595959"/>
                </a:solidFill>
                <a:latin typeface="Arial" pitchFamily="34" charset="0"/>
                <a:ea typeface="Arial" pitchFamily="34" charset="-122"/>
                <a:cs typeface="Arial" pitchFamily="34" charset="-120"/>
              </a:rPr>
              <a:t>Blue: train, red: validation, green dashed: test R². FT-Transformer best epoch 138 (surface area) and 95 (void fraction); XGBoost best round 576 and 618.</a:t>
            </a:r>
            <a:endParaRPr lang="en-US" sz="1200" dirty="0"/>
          </a:p>
        </p:txBody>
      </p:sp>
      <p:sp>
        <p:nvSpPr>
          <p:cNvPr id="5" name="Text 2"/>
          <p:cNvSpPr txBox="1"/>
          <p:nvPr/>
        </p:nvSpPr>
        <p:spPr>
          <a:xfrm>
            <a:off x="365760" y="6675120"/>
            <a:ext cx="9509760" cy="50292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MSE (standardised) = squared error after scaling the target. RMSE = root mean squared error, in the target's units. Log scale = each grid step is ten times the last.</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Results: Intent Classification and Off-Topic Detection</a:t>
            </a:r>
            <a:endParaRPr lang="en-US" sz="2400" dirty="0"/>
          </a:p>
        </p:txBody>
      </p:sp>
      <p:pic>
        <p:nvPicPr>
          <p:cNvPr id="3" name="Image 0" descr="intent_confusion.png">    </p:cNvPr>
          <p:cNvPicPr>
            <a:picLocks noChangeAspect="1"/>
          </p:cNvPicPr>
          <p:nvPr/>
        </p:nvPicPr>
        <p:blipFill>
          <a:blip r:embed="rId1"/>
          <a:stretch>
            <a:fillRect/>
          </a:stretch>
        </p:blipFill>
        <p:spPr>
          <a:xfrm>
            <a:off x="274320" y="914400"/>
            <a:ext cx="10149840" cy="3298698"/>
          </a:xfrm>
          <a:prstGeom prst="rect">
            <a:avLst/>
          </a:prstGeom>
        </p:spPr>
      </p:pic>
      <p:pic>
        <p:nvPicPr>
          <p:cNvPr id="4" name="Image 1" descr="offtopic_roc.png">    </p:cNvPr>
          <p:cNvPicPr>
            <a:picLocks noChangeAspect="1"/>
          </p:cNvPicPr>
          <p:nvPr/>
        </p:nvPicPr>
        <p:blipFill>
          <a:blip r:embed="rId2"/>
          <a:stretch>
            <a:fillRect/>
          </a:stretch>
        </p:blipFill>
        <p:spPr>
          <a:xfrm>
            <a:off x="274320" y="4343400"/>
            <a:ext cx="7223760" cy="2070811"/>
          </a:xfrm>
          <a:prstGeom prst="rect">
            <a:avLst/>
          </a:prstGeom>
        </p:spPr>
      </p:pic>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7635240" y="4343400"/>
          <a:ext cx="2834640" cy="914400"/>
        </p:xfrm>
        <a:graphic>
          <a:graphicData uri="http://schemas.openxmlformats.org/drawingml/2006/table">
            <a:tbl>
              <a:tblPr/>
              <a:tblGrid>
                <a:gridCol w="1188720"/>
                <a:gridCol w="822960"/>
                <a:gridCol w="822960"/>
              </a:tblGrid>
              <a:tr h="329184">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Planner</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Accuracy</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Macro F1</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r>
              <a:tr h="329184">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Rules planner</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0.964</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0.950</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29184">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Llama 3 8B, alone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0.893</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0.802</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329184">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Llama 3 8B, hybrid</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0.988</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0.990</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29184">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Flash-Lite, hybrid</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0.988</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0.952</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bl>
          </a:graphicData>
        </a:graphic>
      </p:graphicFrame>
      <p:sp>
        <p:nvSpPr>
          <p:cNvPr id="6" name="Text 1"/>
          <p:cNvSpPr txBox="1"/>
          <p:nvPr/>
        </p:nvSpPr>
        <p:spPr>
          <a:xfrm>
            <a:off x="274320" y="6492240"/>
            <a:ext cx="10149840" cy="274320"/>
          </a:xfrm>
          <a:prstGeom prst="rect">
            <a:avLst/>
          </a:prstGeom>
          <a:noFill/>
          <a:ln/>
        </p:spPr>
        <p:txBody>
          <a:bodyPr wrap="square" lIns="0" tIns="0" rIns="0" bIns="0" rtlCol="0" anchor="t"/>
          <a:lstStyle/>
          <a:p>
            <a:pPr indent="0" marL="0">
              <a:buNone/>
            </a:pPr>
            <a:r>
              <a:rPr lang="en-US" sz="1200" dirty="0">
                <a:solidFill>
                  <a:srgbClr val="595959"/>
                </a:solidFill>
                <a:latin typeface="Arial" pitchFamily="34" charset="0"/>
                <a:ea typeface="Arial" pitchFamily="34" charset="-122"/>
                <a:cs typeface="Arial" pitchFamily="34" charset="-120"/>
              </a:rPr>
              <a:t>Off-topic detector: ROC-AUC 0.981, accuracy 0.955 on 91 MOF questions and 20 off-topic questions (cosine threshold 0.3).</a:t>
            </a:r>
            <a:endParaRPr lang="en-US" sz="1200" dirty="0"/>
          </a:p>
        </p:txBody>
      </p:sp>
      <p:sp>
        <p:nvSpPr>
          <p:cNvPr id="7" name="Text 2"/>
          <p:cNvSpPr txBox="1"/>
          <p:nvPr/>
        </p:nvSpPr>
        <p:spPr>
          <a:xfrm>
            <a:off x="274320" y="6766560"/>
            <a:ext cx="9601200" cy="41148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Intent = request type (search, count, ...). Macro F1 = F1 averaged equally over all intents. Off-topic = not about MOFs. Cosine threshold = minimum text similarity to count as a MOF question.</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Results: Explainability and Similarity Search</a:t>
            </a:r>
            <a:endParaRPr lang="en-US" sz="2400" dirty="0"/>
          </a:p>
        </p:txBody>
      </p:sp>
      <p:pic>
        <p:nvPicPr>
          <p:cNvPr id="3" name="Image 0" descr="shap_summary_Surface_Area.png">    </p:cNvPr>
          <p:cNvPicPr>
            <a:picLocks noChangeAspect="1"/>
          </p:cNvPicPr>
          <p:nvPr/>
        </p:nvPicPr>
        <p:blipFill>
          <a:blip r:embed="rId1"/>
          <a:stretch>
            <a:fillRect/>
          </a:stretch>
        </p:blipFill>
        <p:spPr>
          <a:xfrm>
            <a:off x="274320" y="914400"/>
            <a:ext cx="5120640" cy="2926080"/>
          </a:xfrm>
          <a:prstGeom prst="rect">
            <a:avLst/>
          </a:prstGeom>
        </p:spPr>
      </p:pic>
      <p:pic>
        <p:nvPicPr>
          <p:cNvPr id="4" name="Image 1" descr="oms_ft_attention.png">    </p:cNvPr>
          <p:cNvPicPr>
            <a:picLocks noChangeAspect="1"/>
          </p:cNvPicPr>
          <p:nvPr/>
        </p:nvPicPr>
        <p:blipFill>
          <a:blip r:embed="rId2"/>
          <a:stretch>
            <a:fillRect/>
          </a:stretch>
        </p:blipFill>
        <p:spPr>
          <a:xfrm>
            <a:off x="5577840" y="914400"/>
            <a:ext cx="4846320" cy="2833233"/>
          </a:xfrm>
          <a:prstGeom prst="rect">
            <a:avLst/>
          </a:prstGeom>
        </p:spPr>
      </p:pic>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274320" y="4069080"/>
          <a:ext cx="6400800" cy="914400"/>
        </p:xfrm>
        <a:graphic>
          <a:graphicData uri="http://schemas.openxmlformats.org/drawingml/2006/table">
            <a:tbl>
              <a:tblPr/>
              <a:tblGrid>
                <a:gridCol w="2560320"/>
                <a:gridCol w="1371600"/>
                <a:gridCol w="1097280"/>
                <a:gridCol w="1371600"/>
              </a:tblGrid>
              <a:tr h="347472">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Neighbours from (1,000 queries)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Descriptor gap (σ)</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Same metal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Same OMS flag</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r>
              <a:tr h="347472">
                <a:tc>
                  <a:txBody>
                    <a:bodyPr/>
                    <a:lstStyle/>
                    <a:p>
                      <a:pPr algn="ctr" indent="0" marL="0">
                        <a:buNone/>
                      </a:pPr>
                      <a:r>
                        <a:rPr lang="en-US" sz="1200" b="1" dirty="0">
                          <a:solidFill>
                            <a:srgbClr val="000000"/>
                          </a:solidFill>
                          <a:latin typeface="Arial" pitchFamily="34" charset="0"/>
                          <a:ea typeface="Arial" pitchFamily="34" charset="-122"/>
                          <a:cs typeface="Arial" pitchFamily="34" charset="-120"/>
                        </a:rPr>
                        <a:t>FT-Transformer embedding</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0.077</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27.8 %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70.2 %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47472">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k-NN on raw descriptors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0.068</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22.8 %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66.4 %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347472">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Random MOFs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0.952</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8.0 %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55.7 %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bl>
          </a:graphicData>
        </a:graphic>
      </p:graphicFrame>
      <p:sp>
        <p:nvSpPr>
          <p:cNvPr id="6" name="Text 1"/>
          <p:cNvSpPr txBox="1"/>
          <p:nvPr/>
        </p:nvSpPr>
        <p:spPr>
          <a:xfrm>
            <a:off x="274320" y="5760720"/>
            <a:ext cx="6400800" cy="118872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SHAP value = how much a feature pushed one prediction up or down. Attention = how much the model looks at each input. σ = standard deviation. k-NN = k nearest neighbours on the raw numbers. hit@k = correct source among the top k results.</a:t>
            </a:r>
            <a:endParaRPr lang="en-US" sz="1200" dirty="0"/>
          </a:p>
        </p:txBody>
      </p:sp>
      <p:sp>
        <p:nvSpPr>
          <p:cNvPr id="7" name="Text 2"/>
          <p:cNvSpPr txBox="1"/>
          <p:nvPr/>
        </p:nvSpPr>
        <p:spPr>
          <a:xfrm>
            <a:off x="6903720" y="4114800"/>
            <a:ext cx="3520440" cy="256032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Pore volume and void fraction dominate surface-area predictions; density dominates void fraction</a:t>
            </a:r>
            <a:endParaRPr lang="en-US" sz="1200" dirty="0"/>
          </a:p>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Knowledge retrieval: hit@1 75 %, hit@3 83 %</a:t>
            </a:r>
            <a:endParaRPr lang="en-US" sz="1200" dirty="0"/>
          </a:p>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Every prediction in the application shows its SHAP contributions and a 90 % interval</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Results: ChatMOF Limitations Addressed</a:t>
            </a:r>
            <a:endParaRPr lang="en-US" sz="24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9966960" cy="914400"/>
        </p:xfrm>
        <a:graphic>
          <a:graphicData uri="http://schemas.openxmlformats.org/drawingml/2006/table">
            <a:tbl>
              <a:tblPr/>
              <a:tblGrid>
                <a:gridCol w="3108960"/>
                <a:gridCol w="5486400"/>
                <a:gridCol w="1371600"/>
              </a:tblGrid>
              <a:tr h="457200">
                <a:tc>
                  <a:txBody>
                    <a:bodyPr/>
                    <a:lstStyle/>
                    <a:p>
                      <a:pPr indent="0" marL="0">
                        <a:buNone/>
                      </a:pPr>
                      <a:r>
                        <a:rPr lang="en-US" sz="1200" b="1" dirty="0">
                          <a:solidFill>
                            <a:srgbClr val="FFFFFF"/>
                          </a:solidFill>
                          <a:latin typeface="Arial" pitchFamily="34" charset="0"/>
                          <a:ea typeface="Arial" pitchFamily="34" charset="-122"/>
                          <a:cs typeface="Arial" pitchFamily="34" charset="-120"/>
                        </a:rPr>
                        <a:t>ChatMOF limitation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What MOFChat does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Status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r>
              <a:tr h="457200">
                <a:tc>
                  <a:txBody>
                    <a:bodyPr/>
                    <a:lstStyle/>
                    <a:p>
                      <a:pPr indent="0" marL="0">
                        <a:buNone/>
                      </a:pPr>
                      <a:r>
                        <a:rPr lang="en-US" sz="1200" b="1" dirty="0">
                          <a:solidFill>
                            <a:srgbClr val="000000"/>
                          </a:solidFill>
                          <a:latin typeface="Arial" pitchFamily="34" charset="0"/>
                          <a:ea typeface="Arial" pitchFamily="34" charset="-122"/>
                          <a:cs typeface="Arial" pitchFamily="34" charset="-120"/>
                        </a:rPr>
                        <a:t>No intrinsic knowledge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RAG over curated notes and the ChatMOF paper</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b="1" dirty="0">
                          <a:solidFill>
                            <a:srgbClr val="1F497D"/>
                          </a:solidFill>
                          <a:latin typeface="Arial" pitchFamily="34" charset="0"/>
                          <a:ea typeface="Arial" pitchFamily="34" charset="-122"/>
                          <a:cs typeface="Arial" pitchFamily="34" charset="-120"/>
                        </a:rPr>
                        <a:t>Done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457200">
                <a:tc>
                  <a:txBody>
                    <a:bodyPr/>
                    <a:lstStyle/>
                    <a:p>
                      <a:pPr indent="0" marL="0">
                        <a:buNone/>
                      </a:pPr>
                      <a:r>
                        <a:rPr lang="en-US" sz="1200" b="1" dirty="0">
                          <a:solidFill>
                            <a:srgbClr val="000000"/>
                          </a:solidFill>
                          <a:latin typeface="Arial" pitchFamily="34" charset="0"/>
                          <a:ea typeface="Arial" pitchFamily="34" charset="-122"/>
                          <a:cs typeface="Arial" pitchFamily="34" charset="-120"/>
                        </a:rPr>
                        <a:t>Token-context limits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SQL first; the LLM sees at most 10 rows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497D"/>
                          </a:solidFill>
                          <a:latin typeface="Arial" pitchFamily="34" charset="0"/>
                          <a:ea typeface="Arial" pitchFamily="34" charset="-122"/>
                          <a:cs typeface="Arial" pitchFamily="34" charset="-120"/>
                        </a:rPr>
                        <a:t>Done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000000"/>
                          </a:solidFill>
                          <a:latin typeface="Arial" pitchFamily="34" charset="0"/>
                          <a:ea typeface="Arial" pitchFamily="34" charset="-122"/>
                          <a:cs typeface="Arial" pitchFamily="34" charset="-120"/>
                        </a:rPr>
                        <a:t>Logic errors in LLM code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JSON plan, validator, whitelisted SQL</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b="1" dirty="0">
                          <a:solidFill>
                            <a:srgbClr val="1F497D"/>
                          </a:solidFill>
                          <a:latin typeface="Arial" pitchFamily="34" charset="0"/>
                          <a:ea typeface="Arial" pitchFamily="34" charset="-122"/>
                          <a:cs typeface="Arial" pitchFamily="34" charset="-120"/>
                        </a:rPr>
                        <a:t>Done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457200">
                <a:tc>
                  <a:txBody>
                    <a:bodyPr/>
                    <a:lstStyle/>
                    <a:p>
                      <a:pPr indent="0" marL="0">
                        <a:buNone/>
                      </a:pPr>
                      <a:r>
                        <a:rPr lang="en-US" sz="1200" b="1" dirty="0">
                          <a:solidFill>
                            <a:srgbClr val="000000"/>
                          </a:solidFill>
                          <a:latin typeface="Arial" pitchFamily="34" charset="0"/>
                          <a:ea typeface="Arial" pitchFamily="34" charset="-122"/>
                          <a:cs typeface="Arial" pitchFamily="34" charset="-120"/>
                        </a:rPr>
                        <a:t>Restricted search space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All 12,020 MOFs searched and ranked</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497D"/>
                          </a:solidFill>
                          <a:latin typeface="Arial" pitchFamily="34" charset="0"/>
                          <a:ea typeface="Arial" pitchFamily="34" charset="-122"/>
                          <a:cs typeface="Arial" pitchFamily="34" charset="-120"/>
                        </a:rPr>
                        <a:t>Done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000000"/>
                          </a:solidFill>
                          <a:latin typeface="Arial" pitchFamily="34" charset="0"/>
                          <a:ea typeface="Arial" pitchFamily="34" charset="-122"/>
                          <a:cs typeface="Arial" pitchFamily="34" charset="-120"/>
                        </a:rPr>
                        <a:t>Narrow topology coverage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All CoRE-MOF structures, 65 metals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b="1" dirty="0">
                          <a:solidFill>
                            <a:srgbClr val="1F497D"/>
                          </a:solidFill>
                          <a:latin typeface="Arial" pitchFamily="34" charset="0"/>
                          <a:ea typeface="Arial" pitchFamily="34" charset="-122"/>
                          <a:cs typeface="Arial" pitchFamily="34" charset="-120"/>
                        </a:rPr>
                        <a:t>Done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457200">
                <a:tc>
                  <a:txBody>
                    <a:bodyPr/>
                    <a:lstStyle/>
                    <a:p>
                      <a:pPr indent="0" marL="0">
                        <a:buNone/>
                      </a:pPr>
                      <a:r>
                        <a:rPr lang="en-US" sz="1200" b="1" dirty="0">
                          <a:solidFill>
                            <a:srgbClr val="000000"/>
                          </a:solidFill>
                          <a:latin typeface="Arial" pitchFamily="34" charset="0"/>
                          <a:ea typeface="Arial" pitchFamily="34" charset="-122"/>
                          <a:cs typeface="Arial" pitchFamily="34" charset="-120"/>
                        </a:rPr>
                        <a:t>Pretrained model per property</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Own surrogate models and OMS classifier trained on the table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497D"/>
                          </a:solidFill>
                          <a:latin typeface="Arial" pitchFamily="34" charset="0"/>
                          <a:ea typeface="Arial" pitchFamily="34" charset="-122"/>
                          <a:cs typeface="Arial" pitchFamily="34" charset="-120"/>
                        </a:rPr>
                        <a:t>Done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000000"/>
                          </a:solidFill>
                          <a:latin typeface="Arial" pitchFamily="34" charset="0"/>
                          <a:ea typeface="Arial" pitchFamily="34" charset="-122"/>
                          <a:cs typeface="Arial" pitchFamily="34" charset="-120"/>
                        </a:rPr>
                        <a:t>General, non-fine-tuned LLM</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Domain prompts, few-shot examples, presets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b="1" dirty="0">
                          <a:solidFill>
                            <a:srgbClr val="C00000"/>
                          </a:solidFill>
                          <a:latin typeface="Arial" pitchFamily="34" charset="0"/>
                          <a:ea typeface="Arial" pitchFamily="34" charset="-122"/>
                          <a:cs typeface="Arial" pitchFamily="34" charset="-120"/>
                        </a:rPr>
                        <a:t>Partly</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457200">
                <a:tc>
                  <a:txBody>
                    <a:bodyPr/>
                    <a:lstStyle/>
                    <a:p>
                      <a:pPr indent="0" marL="0">
                        <a:buNone/>
                      </a:pPr>
                      <a:r>
                        <a:rPr lang="en-US" sz="1200" b="1" dirty="0">
                          <a:solidFill>
                            <a:srgbClr val="000000"/>
                          </a:solidFill>
                          <a:latin typeface="Arial" pitchFamily="34" charset="0"/>
                          <a:ea typeface="Arial" pitchFamily="34" charset="-122"/>
                          <a:cs typeface="Arial" pitchFamily="34" charset="-120"/>
                        </a:rPr>
                        <a:t>High compute cost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Millisecond screening; XGBoost trains in 0.25 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497D"/>
                          </a:solidFill>
                          <a:latin typeface="Arial" pitchFamily="34" charset="0"/>
                          <a:ea typeface="Arial" pitchFamily="34" charset="-122"/>
                          <a:cs typeface="Arial" pitchFamily="34" charset="-120"/>
                        </a:rPr>
                        <a:t>Done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000000"/>
                          </a:solidFill>
                          <a:latin typeface="Arial" pitchFamily="34" charset="0"/>
                          <a:ea typeface="Arial" pitchFamily="34" charset="-122"/>
                          <a:cs typeface="Arial" pitchFamily="34" charset="-120"/>
                        </a:rPr>
                        <a:t>Unvalidated output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Answer validator, intervals, SHAP, benchmark</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algn="ctr" indent="0" marL="0">
                        <a:buNone/>
                      </a:pPr>
                      <a:r>
                        <a:rPr lang="en-US" sz="1200" b="1" dirty="0">
                          <a:solidFill>
                            <a:srgbClr val="1F497D"/>
                          </a:solidFill>
                          <a:latin typeface="Arial" pitchFamily="34" charset="0"/>
                          <a:ea typeface="Arial" pitchFamily="34" charset="-122"/>
                          <a:cs typeface="Arial" pitchFamily="34" charset="-120"/>
                        </a:rPr>
                        <a:t>Done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bl>
          </a:graphicData>
        </a:graphic>
      </p:graphicFrame>
      <p:sp>
        <p:nvSpPr>
          <p:cNvPr id="4" name="Text 1"/>
          <p:cNvSpPr txBox="1"/>
          <p:nvPr/>
        </p:nvSpPr>
        <p:spPr>
          <a:xfrm>
            <a:off x="365760" y="5897880"/>
            <a:ext cx="9966960" cy="365760"/>
          </a:xfrm>
          <a:prstGeom prst="rect">
            <a:avLst/>
          </a:prstGeom>
          <a:noFill/>
          <a:ln/>
        </p:spPr>
        <p:txBody>
          <a:bodyPr wrap="square" lIns="0" tIns="0" rIns="0" bIns="0" rtlCol="0" anchor="t"/>
          <a:lstStyle/>
          <a:p>
            <a:pPr indent="0" marL="0">
              <a:buNone/>
            </a:pPr>
            <a:r>
              <a:rPr lang="en-US" sz="1200" dirty="0">
                <a:solidFill>
                  <a:srgbClr val="595959"/>
                </a:solidFill>
                <a:latin typeface="Arial" pitchFamily="34" charset="0"/>
                <a:ea typeface="Arial" pitchFamily="34" charset="-122"/>
                <a:cs typeface="Arial" pitchFamily="34" charset="-120"/>
              </a:rPr>
              <a:t>* for recommending existing MOFs and for properties in the table; no structure generation and no gas uptake without uptake data</a:t>
            </a:r>
            <a:endParaRPr lang="en-US" sz="1200" dirty="0"/>
          </a:p>
        </p:txBody>
      </p:sp>
      <p:sp>
        <p:nvSpPr>
          <p:cNvPr id="5" name="Text 2"/>
          <p:cNvSpPr txBox="1"/>
          <p:nvPr/>
        </p:nvSpPr>
        <p:spPr>
          <a:xfrm>
            <a:off x="365760" y="6355080"/>
            <a:ext cx="9966960" cy="54864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Few-shot = worked examples placed in the prompt. Fine-tuning = retraining an LLM on our own data. Gas uptake = how much gas a MOF adsorbs.</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Application: Streamlit Dashboard</a:t>
            </a:r>
            <a:endParaRPr lang="en-US" sz="2400" dirty="0"/>
          </a:p>
        </p:txBody>
      </p:sp>
      <p:pic>
        <p:nvPicPr>
          <p:cNvPr id="3" name="Image 0" descr="shot_answer.png">    </p:cNvPr>
          <p:cNvPicPr>
            <a:picLocks noChangeAspect="1"/>
          </p:cNvPicPr>
          <p:nvPr/>
        </p:nvPicPr>
        <p:blipFill>
          <a:blip r:embed="rId1"/>
          <a:stretch>
            <a:fillRect/>
          </a:stretch>
        </p:blipFill>
        <p:spPr>
          <a:xfrm>
            <a:off x="320040" y="960120"/>
            <a:ext cx="4937760" cy="2367071"/>
          </a:xfrm>
          <a:prstGeom prst="rect">
            <a:avLst/>
          </a:prstGeom>
        </p:spPr>
      </p:pic>
      <p:pic>
        <p:nvPicPr>
          <p:cNvPr id="4" name="Image 1" descr="shot_pareto.png">    </p:cNvPr>
          <p:cNvPicPr>
            <a:picLocks noChangeAspect="1"/>
          </p:cNvPicPr>
          <p:nvPr/>
        </p:nvPicPr>
        <p:blipFill>
          <a:blip r:embed="rId2"/>
          <a:stretch>
            <a:fillRect/>
          </a:stretch>
        </p:blipFill>
        <p:spPr>
          <a:xfrm>
            <a:off x="5440680" y="960120"/>
            <a:ext cx="4937760" cy="2344746"/>
          </a:xfrm>
          <a:prstGeom prst="rect">
            <a:avLst/>
          </a:prstGeom>
        </p:spPr>
      </p:pic>
      <p:sp>
        <p:nvSpPr>
          <p:cNvPr id="5" name="Text 1"/>
          <p:cNvSpPr txBox="1"/>
          <p:nvPr/>
        </p:nvSpPr>
        <p:spPr>
          <a:xfrm>
            <a:off x="320040" y="3429000"/>
            <a:ext cx="4937760" cy="274320"/>
          </a:xfrm>
          <a:prstGeom prst="rect">
            <a:avLst/>
          </a:prstGeom>
          <a:noFill/>
          <a:ln/>
        </p:spPr>
        <p:txBody>
          <a:bodyPr wrap="square" lIns="0" tIns="0" rIns="0" bIns="0" rtlCol="0" anchor="t"/>
          <a:lstStyle/>
          <a:p>
            <a:pPr algn="ctr" indent="0" marL="0">
              <a:buNone/>
            </a:pPr>
            <a:r>
              <a:rPr lang="en-US" sz="1200" i="1" dirty="0">
                <a:solidFill>
                  <a:srgbClr val="595959"/>
                </a:solidFill>
                <a:latin typeface="Arial" pitchFamily="34" charset="0"/>
                <a:ea typeface="Arial" pitchFamily="34" charset="-122"/>
                <a:cs typeface="Arial" pitchFamily="34" charset="-120"/>
              </a:rPr>
              <a:t>Verified result table for a zinc MOF question</a:t>
            </a:r>
            <a:endParaRPr lang="en-US" sz="1200" dirty="0"/>
          </a:p>
        </p:txBody>
      </p:sp>
      <p:sp>
        <p:nvSpPr>
          <p:cNvPr id="6" name="Text 2"/>
          <p:cNvSpPr txBox="1"/>
          <p:nvPr/>
        </p:nvSpPr>
        <p:spPr>
          <a:xfrm>
            <a:off x="5440680" y="3429000"/>
            <a:ext cx="4937760" cy="274320"/>
          </a:xfrm>
          <a:prstGeom prst="rect">
            <a:avLst/>
          </a:prstGeom>
          <a:noFill/>
          <a:ln/>
        </p:spPr>
        <p:txBody>
          <a:bodyPr wrap="square" lIns="0" tIns="0" rIns="0" bIns="0" rtlCol="0" anchor="t"/>
          <a:lstStyle/>
          <a:p>
            <a:pPr algn="ctr" indent="0" marL="0">
              <a:buNone/>
            </a:pPr>
            <a:r>
              <a:rPr lang="en-US" sz="1200" i="1" dirty="0">
                <a:solidFill>
                  <a:srgbClr val="595959"/>
                </a:solidFill>
                <a:latin typeface="Arial" pitchFamily="34" charset="0"/>
                <a:ea typeface="Arial" pitchFamily="34" charset="-122"/>
                <a:cs typeface="Arial" pitchFamily="34" charset="-120"/>
              </a:rPr>
              <a:t>NSGA-II Pareto plot for the same question</a:t>
            </a:r>
            <a:endParaRPr lang="en-US" sz="1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320040" y="3931920"/>
          <a:ext cx="10058400" cy="914400"/>
        </p:xfrm>
        <a:graphic>
          <a:graphicData uri="http://schemas.openxmlformats.org/drawingml/2006/table">
            <a:tbl>
              <a:tblPr/>
              <a:tblGrid>
                <a:gridCol w="2103120"/>
                <a:gridCol w="7955280"/>
              </a:tblGrid>
              <a:tr h="347472">
                <a:tc>
                  <a:txBody>
                    <a:bodyPr/>
                    <a:lstStyle/>
                    <a:p>
                      <a:pPr indent="0" marL="0">
                        <a:buNone/>
                      </a:pPr>
                      <a:r>
                        <a:rPr lang="en-US" sz="1200" b="1" dirty="0">
                          <a:solidFill>
                            <a:srgbClr val="FFFFFF"/>
                          </a:solidFill>
                          <a:latin typeface="Arial" pitchFamily="34" charset="0"/>
                          <a:ea typeface="Arial" pitchFamily="34" charset="-122"/>
                          <a:cs typeface="Arial" pitchFamily="34" charset="-120"/>
                        </a:rPr>
                        <a:t>Page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What it shows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r>
              <a:tr h="347472">
                <a:tc>
                  <a:txBody>
                    <a:bodyPr/>
                    <a:lstStyle/>
                    <a:p>
                      <a:pPr indent="0" marL="0">
                        <a:buNone/>
                      </a:pPr>
                      <a:r>
                        <a:rPr lang="en-US" sz="1200" b="1" dirty="0">
                          <a:solidFill>
                            <a:srgbClr val="000000"/>
                          </a:solidFill>
                          <a:latin typeface="Arial" pitchFamily="34" charset="0"/>
                          <a:ea typeface="Arial" pitchFamily="34" charset="-122"/>
                          <a:cs typeface="Arial" pitchFamily="34" charset="-120"/>
                        </a:rPr>
                        <a:t>Chat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Answer, verified table, Pareto plot, SHAP, sources, plan, SQL, validator report, model used</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47472">
                <a:tc>
                  <a:txBody>
                    <a:bodyPr/>
                    <a:lstStyle/>
                    <a:p>
                      <a:pPr indent="0" marL="0">
                        <a:buNone/>
                      </a:pPr>
                      <a:r>
                        <a:rPr lang="en-US" sz="1200" b="1" dirty="0">
                          <a:solidFill>
                            <a:srgbClr val="000000"/>
                          </a:solidFill>
                          <a:latin typeface="Arial" pitchFamily="34" charset="0"/>
                          <a:ea typeface="Arial" pitchFamily="34" charset="-122"/>
                          <a:cs typeface="Arial" pitchFamily="34" charset="-120"/>
                        </a:rPr>
                        <a:t>Explore and optimise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Filters and two-objective NSGA-II with a Pareto plot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347472">
                <a:tc>
                  <a:txBody>
                    <a:bodyPr/>
                    <a:lstStyle/>
                    <a:p>
                      <a:pPr indent="0" marL="0">
                        <a:buNone/>
                      </a:pPr>
                      <a:r>
                        <a:rPr lang="en-US" sz="1200" b="1" dirty="0">
                          <a:solidFill>
                            <a:srgbClr val="000000"/>
                          </a:solidFill>
                          <a:latin typeface="Arial" pitchFamily="34" charset="0"/>
                          <a:ea typeface="Arial" pitchFamily="34" charset="-122"/>
                          <a:cs typeface="Arial" pitchFamily="34" charset="-120"/>
                        </a:rPr>
                        <a:t>Predict and explain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Prediction, 90 % interval, SHAP bars, FT-Transformer attention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347472">
                <a:tc>
                  <a:txBody>
                    <a:bodyPr/>
                    <a:lstStyle/>
                    <a:p>
                      <a:pPr indent="0" marL="0">
                        <a:buNone/>
                      </a:pPr>
                      <a:r>
                        <a:rPr lang="en-US" sz="1200" b="1" dirty="0">
                          <a:solidFill>
                            <a:srgbClr val="000000"/>
                          </a:solidFill>
                          <a:latin typeface="Arial" pitchFamily="34" charset="0"/>
                          <a:ea typeface="Arial" pitchFamily="34" charset="-122"/>
                          <a:cs typeface="Arial" pitchFamily="34" charset="-120"/>
                        </a:rPr>
                        <a:t>Evaluation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Benchmark, model comparison, parity and SHAP plots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347472">
                <a:tc>
                  <a:txBody>
                    <a:bodyPr/>
                    <a:lstStyle/>
                    <a:p>
                      <a:pPr indent="0" marL="0">
                        <a:buNone/>
                      </a:pPr>
                      <a:r>
                        <a:rPr lang="en-US" sz="1200" b="1" dirty="0">
                          <a:solidFill>
                            <a:srgbClr val="000000"/>
                          </a:solidFill>
                          <a:latin typeface="Arial" pitchFamily="34" charset="0"/>
                          <a:ea typeface="Arial" pitchFamily="34" charset="-122"/>
                          <a:cs typeface="Arial" pitchFamily="34" charset="-120"/>
                        </a:rPr>
                        <a:t>About</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Method summary and data sources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bl>
          </a:graphicData>
        </a:graphic>
      </p:graphicFrame>
      <p:sp>
        <p:nvSpPr>
          <p:cNvPr id="8" name="Text 3"/>
          <p:cNvSpPr txBox="1"/>
          <p:nvPr/>
        </p:nvSpPr>
        <p:spPr>
          <a:xfrm>
            <a:off x="320040" y="6080760"/>
            <a:ext cx="10058400" cy="274320"/>
          </a:xfrm>
          <a:prstGeom prst="rect">
            <a:avLst/>
          </a:prstGeom>
          <a:noFill/>
          <a:ln/>
        </p:spPr>
        <p:txBody>
          <a:bodyPr wrap="square" lIns="0" tIns="0" rIns="0" bIns="0" rtlCol="0" anchor="t"/>
          <a:lstStyle/>
          <a:p>
            <a:pPr indent="0" marL="0">
              <a:buNone/>
            </a:pPr>
            <a:r>
              <a:rPr lang="en-US" sz="1200" dirty="0">
                <a:solidFill>
                  <a:srgbClr val="1F497D"/>
                </a:solidFill>
                <a:latin typeface="Arial" pitchFamily="34" charset="0"/>
                <a:ea typeface="Arial" pitchFamily="34" charset="-122"/>
                <a:cs typeface="Arial" pitchFamily="34" charset="-120"/>
              </a:rPr>
              <a:t>Sidebar: choice of language model (or none), planner mode (hybrid, LLM or rules), and the status of every component.</a:t>
            </a:r>
            <a:endParaRPr lang="en-US" sz="1200" dirty="0"/>
          </a:p>
        </p:txBody>
      </p:sp>
      <p:sp>
        <p:nvSpPr>
          <p:cNvPr id="9" name="Text 4"/>
          <p:cNvSpPr txBox="1"/>
          <p:nvPr/>
        </p:nvSpPr>
        <p:spPr>
          <a:xfrm>
            <a:off x="320040" y="6446520"/>
            <a:ext cx="9692640" cy="68580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Streamlit = Python library for web dashboards. Parity plot = predicted vs actual values. Planner mode = how the question is read: hybrid (LLM + rules), LLM only, or rules only.</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Conclusion and Future Work</a:t>
            </a:r>
            <a:endParaRPr lang="en-US" sz="2400" dirty="0"/>
          </a:p>
        </p:txBody>
      </p:sp>
      <p:sp>
        <p:nvSpPr>
          <p:cNvPr id="3" name="Text 1"/>
          <p:cNvSpPr txBox="1"/>
          <p:nvPr/>
        </p:nvSpPr>
        <p:spPr>
          <a:xfrm>
            <a:off x="365760" y="960120"/>
            <a:ext cx="4937760" cy="27432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Conclusion</a:t>
            </a:r>
            <a:endParaRPr lang="en-US" sz="1200" dirty="0"/>
          </a:p>
        </p:txBody>
      </p:sp>
      <p:sp>
        <p:nvSpPr>
          <p:cNvPr id="4" name="Text 2"/>
          <p:cNvSpPr txBox="1"/>
          <p:nvPr/>
        </p:nvSpPr>
        <p:spPr>
          <a:xfrm>
            <a:off x="365760" y="1280160"/>
            <a:ext cx="5029200" cy="457200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Exact answers over all 12,020 MOFs: 5 % (review 1) to 100 % on held-out questions with the default model, 80 % fully offline</a:t>
            </a:r>
            <a:endParaRPr lang="en-US" sz="1200" dirty="0"/>
          </a:p>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Validated LLM planning with 14 free or local models and automatic fallback</a:t>
            </a:r>
            <a:endParaRPr lang="en-US" sz="1200" dirty="0"/>
          </a:p>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NSGA-II multi-objective ranking with application presets</a:t>
            </a:r>
            <a:endParaRPr lang="en-US" sz="1200" dirty="0"/>
          </a:p>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Surface-area surrogate: R² 0.982; the 90 % interval covers 90.5 % of test MOFs</a:t>
            </a:r>
            <a:endParaRPr lang="en-US" sz="1200" dirty="0"/>
          </a:p>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Open-metal-site classification: ROC-AUC 0.787 (XGBoost), 0.755 (FT-Transformer), 0.756 (MLP)</a:t>
            </a:r>
            <a:endParaRPr lang="en-US" sz="1200" dirty="0"/>
          </a:p>
          <a:p>
            <a:pPr marL="177800" indent="-177800">
              <a:spcAft>
                <a:spcPts val="500"/>
              </a:spcAft>
              <a:buSzPct val="100000"/>
              <a:buChar char="•"/>
            </a:pPr>
            <a:r>
              <a:rPr lang="en-US" sz="1200" dirty="0">
                <a:solidFill>
                  <a:schemeClr val="tx1"/>
                </a:solidFill>
                <a:latin typeface="Arial" pitchFamily="34" charset="0"/>
                <a:ea typeface="Arial" pitchFamily="34" charset="-122"/>
                <a:cs typeface="Arial" pitchFamily="34" charset="-120"/>
              </a:rPr>
              <a:t>An answer validator checks every MOF ID, number and comparison in the LLM's answer</a:t>
            </a:r>
            <a:endParaRPr lang="en-US" sz="1200" dirty="0"/>
          </a:p>
        </p:txBody>
      </p:sp>
      <p:sp>
        <p:nvSpPr>
          <p:cNvPr id="5" name="Text 3"/>
          <p:cNvSpPr txBox="1"/>
          <p:nvPr/>
        </p:nvSpPr>
        <p:spPr>
          <a:xfrm>
            <a:off x="5669280" y="960120"/>
            <a:ext cx="4754880" cy="274320"/>
          </a:xfrm>
          <a:prstGeom prst="rect">
            <a:avLst/>
          </a:prstGeom>
          <a:noFill/>
          <a:ln/>
        </p:spPr>
        <p:txBody>
          <a:bodyPr wrap="square" lIns="0" tIns="0" rIns="0" bIns="0" rtlCol="0" anchor="t"/>
          <a:lstStyle/>
          <a:p>
            <a:pPr indent="0" marL="0">
              <a:buNone/>
            </a:pPr>
            <a:r>
              <a:rPr lang="en-US" sz="1200" b="1" dirty="0">
                <a:solidFill>
                  <a:srgbClr val="C00000"/>
                </a:solidFill>
                <a:latin typeface="Arial" pitchFamily="34" charset="0"/>
                <a:ea typeface="Arial" pitchFamily="34" charset="-122"/>
                <a:cs typeface="Arial" pitchFamily="34" charset="-120"/>
              </a:rPr>
              <a:t>Limitations and future work</a:t>
            </a:r>
            <a:endParaRPr lang="en-US" sz="1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0" y="1280160"/>
          <a:ext cx="4754880" cy="914400"/>
        </p:xfrm>
        <a:graphic>
          <a:graphicData uri="http://schemas.openxmlformats.org/drawingml/2006/table">
            <a:tbl>
              <a:tblPr/>
              <a:tblGrid>
                <a:gridCol w="1828800"/>
                <a:gridCol w="2926080"/>
              </a:tblGrid>
              <a:tr h="566928">
                <a:tc>
                  <a:txBody>
                    <a:bodyPr/>
                    <a:lstStyle/>
                    <a:p>
                      <a:pPr indent="0" marL="0">
                        <a:buNone/>
                      </a:pPr>
                      <a:r>
                        <a:rPr lang="en-US" sz="1200" b="1" dirty="0">
                          <a:solidFill>
                            <a:srgbClr val="FFFFFF"/>
                          </a:solidFill>
                          <a:latin typeface="Arial" pitchFamily="34" charset="0"/>
                          <a:ea typeface="Arial" pitchFamily="34" charset="-122"/>
                          <a:cs typeface="Arial" pitchFamily="34" charset="-120"/>
                        </a:rPr>
                        <a:t>Limitation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Future work</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4F81BD"/>
                    </a:solidFill>
                  </a:tcPr>
                </a:tc>
              </a:tr>
              <a:tr h="566928">
                <a:tc>
                  <a:txBody>
                    <a:bodyPr/>
                    <a:lstStyle/>
                    <a:p>
                      <a:pPr indent="0" marL="0">
                        <a:buNone/>
                      </a:pPr>
                      <a:r>
                        <a:rPr lang="en-US" sz="1200" dirty="0">
                          <a:solidFill>
                            <a:srgbClr val="000000"/>
                          </a:solidFill>
                          <a:latin typeface="Arial" pitchFamily="34" charset="0"/>
                          <a:ea typeface="Arial" pitchFamily="34" charset="-122"/>
                          <a:cs typeface="Arial" pitchFamily="34" charset="-120"/>
                        </a:rPr>
                        <a:t>No gas-uptake labels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Add GCMC uptake data and reuse the surrogate pipeline</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566928">
                <a:tc>
                  <a:txBody>
                    <a:bodyPr/>
                    <a:lstStyle/>
                    <a:p>
                      <a:pPr indent="0" marL="0">
                        <a:buNone/>
                      </a:pPr>
                      <a:r>
                        <a:rPr lang="en-US" sz="1200" dirty="0">
                          <a:solidFill>
                            <a:srgbClr val="000000"/>
                          </a:solidFill>
                          <a:latin typeface="Arial" pitchFamily="34" charset="0"/>
                          <a:ea typeface="Arial" pitchFamily="34" charset="-122"/>
                          <a:cs typeface="Arial" pitchFamily="34" charset="-120"/>
                        </a:rPr>
                        <a:t>No structure generation</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Diffusion or GA generator (e.g. MOFDiff)</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000000"/>
                          </a:solidFill>
                          <a:latin typeface="Arial" pitchFamily="34" charset="0"/>
                          <a:ea typeface="Arial" pitchFamily="34" charset="-122"/>
                          <a:cs typeface="Arial" pitchFamily="34" charset="-120"/>
                        </a:rPr>
                        <a:t>Offline model at 80 %</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LoRA fine-tuning of Llama 3 on plan examples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566928">
                <a:tc>
                  <a:txBody>
                    <a:bodyPr/>
                    <a:lstStyle/>
                    <a:p>
                      <a:pPr indent="0" marL="0">
                        <a:buNone/>
                      </a:pPr>
                      <a:r>
                        <a:rPr lang="en-US" sz="1200" dirty="0">
                          <a:solidFill>
                            <a:srgbClr val="000000"/>
                          </a:solidFill>
                          <a:latin typeface="Arial" pitchFamily="34" charset="0"/>
                          <a:ea typeface="Arial" pitchFamily="34" charset="-122"/>
                          <a:cs typeface="Arial" pitchFamily="34" charset="-120"/>
                        </a:rPr>
                        <a:t>Free-text reasoning not checked</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Sentence-level checks such as semantic entropy</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000000"/>
                          </a:solidFill>
                          <a:latin typeface="Arial" pitchFamily="34" charset="0"/>
                          <a:ea typeface="Arial" pitchFamily="34" charset="-122"/>
                          <a:cs typeface="Arial" pitchFamily="34" charset="-120"/>
                        </a:rPr>
                        <a:t>Heuristic presets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Learned rules once uptake data exists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DBE5F1"/>
                    </a:solidFill>
                  </a:tcPr>
                </a:tc>
              </a:tr>
              <a:tr h="566928">
                <a:tc>
                  <a:txBody>
                    <a:bodyPr/>
                    <a:lstStyle/>
                    <a:p>
                      <a:pPr indent="0" marL="0">
                        <a:buNone/>
                      </a:pPr>
                      <a:r>
                        <a:rPr lang="en-US" sz="1200" dirty="0">
                          <a:solidFill>
                            <a:srgbClr val="000000"/>
                          </a:solidFill>
                          <a:latin typeface="Arial" pitchFamily="34" charset="0"/>
                          <a:ea typeface="Arial" pitchFamily="34" charset="-122"/>
                          <a:cs typeface="Arial" pitchFamily="34" charset="-120"/>
                        </a:rPr>
                        <a:t>Descriptor-only embeddings</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Structure or multimodal encoders (L2M3OF)</a:t>
                      </a:r>
                      <a:endParaRPr lang="en-US" sz="1200" dirty="0">
                        <a:latin typeface="Arial" charset="0"/>
                        <a:ea typeface="Arial" charset="0"/>
                        <a:cs typeface="Arial" charset="0"/>
                      </a:endParaRPr>
                    </a:p>
                  </a:txBody>
                  <a:tcPr marL="63500" marR="63500" marT="25400" marB="25400" anchor="ctr">
                    <a:lnL w="9525" cap="flat" cmpd="sng" algn="ctr">
                      <a:solidFill>
                        <a:srgbClr val="95B3D7"/>
                      </a:solidFill>
                      <a:prstDash val="solid"/>
                      <a:round/>
                      <a:headEnd type="none" w="med" len="med"/>
                      <a:tailEnd type="none" w="med" len="med"/>
                    </a:lnL>
                    <a:lnR w="9525" cap="flat" cmpd="sng" algn="ctr">
                      <a:solidFill>
                        <a:srgbClr val="95B3D7"/>
                      </a:solidFill>
                      <a:prstDash val="solid"/>
                      <a:round/>
                      <a:headEnd type="none" w="med" len="med"/>
                      <a:tailEnd type="none" w="med" len="med"/>
                    </a:lnR>
                    <a:lnT w="9525" cap="flat" cmpd="sng" algn="ctr">
                      <a:solidFill>
                        <a:srgbClr val="95B3D7"/>
                      </a:solidFill>
                      <a:prstDash val="solid"/>
                      <a:round/>
                      <a:headEnd type="none" w="med" len="med"/>
                      <a:tailEnd type="none" w="med" len="med"/>
                    </a:lnT>
                    <a:lnB w="9525" cap="flat" cmpd="sng" algn="ctr">
                      <a:solidFill>
                        <a:srgbClr val="95B3D7"/>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365760" y="6035040"/>
            <a:ext cx="9966960" cy="100584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GCMC = grand canonical Monte Carlo (simulation of gas uptake). LoRA = low-rank adaptation (cheap fine-tuning of an LLM). GA = genetic algorithm. Semantic entropy = uncertainty measured over the meanings of several sampled answers. Multimodal encoder = model that reads crystal structures as well as text.</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References (1 of 2)</a:t>
            </a:r>
            <a:endParaRPr lang="en-US" sz="2400" dirty="0"/>
          </a:p>
        </p:txBody>
      </p:sp>
      <p:sp>
        <p:nvSpPr>
          <p:cNvPr id="3" name="Text 1"/>
          <p:cNvSpPr txBox="1"/>
          <p:nvPr/>
        </p:nvSpPr>
        <p:spPr>
          <a:xfrm>
            <a:off x="365760" y="960120"/>
            <a:ext cx="9966960" cy="6217920"/>
          </a:xfrm>
          <a:prstGeom prst="rect">
            <a:avLst/>
          </a:prstGeom>
          <a:noFill/>
          <a:ln/>
        </p:spPr>
        <p:txBody>
          <a:bodyPr wrap="square" lIns="0" tIns="0" rIns="0" bIns="0" rtlCol="0" anchor="t"/>
          <a:lstStyle/>
          <a:p>
            <a:pPr indent="0" marL="0">
              <a:spcAft>
                <a:spcPts val="500"/>
              </a:spcAft>
              <a:buNone/>
            </a:pPr>
            <a:r>
              <a:rPr lang="en-US" sz="1200" dirty="0">
                <a:solidFill>
                  <a:schemeClr val="tx1"/>
                </a:solidFill>
                <a:latin typeface="Arial" pitchFamily="34" charset="0"/>
                <a:ea typeface="Arial" pitchFamily="34" charset="-122"/>
                <a:cs typeface="Arial" pitchFamily="34" charset="-120"/>
              </a:rPr>
              <a:t>[1] Y. Kang and J. Kim, "ChatMOF: an artificial intelligence system for predicting and generating metal-organic frameworks using large language models," Nat. Commun., vol. 15, 4705, 2024.</a:t>
            </a:r>
            <a:endParaRPr lang="en-US" sz="1200" dirty="0"/>
          </a:p>
          <a:p>
            <a:pPr indent="0" marL="0">
              <a:spcAft>
                <a:spcPts val="500"/>
              </a:spcAft>
              <a:buNone/>
            </a:pPr>
            <a:r>
              <a:rPr lang="en-US" sz="1200" dirty="0">
                <a:solidFill>
                  <a:schemeClr val="tx1"/>
                </a:solidFill>
                <a:latin typeface="Arial" pitchFamily="34" charset="0"/>
                <a:ea typeface="Arial" pitchFamily="34" charset="-122"/>
                <a:cs typeface="Arial" pitchFamily="34" charset="-120"/>
              </a:rPr>
              <a:t>[2] Y. G. Chung et al., "Advances, updates, and analytics for the computation-ready, experimental MOF database: CoRE MOF 2019," J. Chem. Eng. Data, vol. 64, pp. 5985-5998, 2019.</a:t>
            </a:r>
            <a:endParaRPr lang="en-US" sz="1200" dirty="0"/>
          </a:p>
          <a:p>
            <a:pPr indent="0" marL="0">
              <a:spcAft>
                <a:spcPts val="500"/>
              </a:spcAft>
              <a:buNone/>
            </a:pPr>
            <a:r>
              <a:rPr lang="en-US" sz="1200" dirty="0">
                <a:solidFill>
                  <a:schemeClr val="tx1"/>
                </a:solidFill>
                <a:latin typeface="Arial" pitchFamily="34" charset="0"/>
                <a:ea typeface="Arial" pitchFamily="34" charset="-122"/>
                <a:cs typeface="Arial" pitchFamily="34" charset="-120"/>
              </a:rPr>
              <a:t>[3] Y. Gorishniy, I. Rubachev, V. Khrulkov and A. Babenko, "Revisiting deep learning models for tabular data," NeurIPS, 2021.</a:t>
            </a:r>
            <a:endParaRPr lang="en-US" sz="1200" dirty="0"/>
          </a:p>
          <a:p>
            <a:pPr indent="0" marL="0">
              <a:spcAft>
                <a:spcPts val="500"/>
              </a:spcAft>
              <a:buNone/>
            </a:pPr>
            <a:r>
              <a:rPr lang="en-US" sz="1200" dirty="0">
                <a:solidFill>
                  <a:schemeClr val="tx1"/>
                </a:solidFill>
                <a:latin typeface="Arial" pitchFamily="34" charset="0"/>
                <a:ea typeface="Arial" pitchFamily="34" charset="-122"/>
                <a:cs typeface="Arial" pitchFamily="34" charset="-120"/>
              </a:rPr>
              <a:t>[4] L. Grinsztajn, E. Oyallon and G. Varoquaux, "Why do tree-based models still outperform deep learning on typical tabular data?" NeurIPS Datasets and Benchmarks, 2022.</a:t>
            </a:r>
            <a:endParaRPr lang="en-US" sz="1200" dirty="0"/>
          </a:p>
          <a:p>
            <a:pPr indent="0" marL="0">
              <a:spcAft>
                <a:spcPts val="500"/>
              </a:spcAft>
              <a:buNone/>
            </a:pPr>
            <a:r>
              <a:rPr lang="en-US" sz="1200" dirty="0">
                <a:solidFill>
                  <a:schemeClr val="tx1"/>
                </a:solidFill>
                <a:latin typeface="Arial" pitchFamily="34" charset="0"/>
                <a:ea typeface="Arial" pitchFamily="34" charset="-122"/>
                <a:cs typeface="Arial" pitchFamily="34" charset="-120"/>
              </a:rPr>
              <a:t>[5] K. Deb, A. Pratap, S. Agarwal and T. Meyarivan, "A fast and elitist multiobjective genetic algorithm: NSGA-II," IEEE Trans. Evol. Comput., vol. 6, pp. 182-197, 2002.</a:t>
            </a:r>
            <a:endParaRPr lang="en-US" sz="1200" dirty="0"/>
          </a:p>
          <a:p>
            <a:pPr indent="0" marL="0">
              <a:spcAft>
                <a:spcPts val="500"/>
              </a:spcAft>
              <a:buNone/>
            </a:pPr>
            <a:r>
              <a:rPr lang="en-US" sz="1200" dirty="0">
                <a:solidFill>
                  <a:schemeClr val="tx1"/>
                </a:solidFill>
                <a:latin typeface="Arial" pitchFamily="34" charset="0"/>
                <a:ea typeface="Arial" pitchFamily="34" charset="-122"/>
                <a:cs typeface="Arial" pitchFamily="34" charset="-120"/>
              </a:rPr>
              <a:t>[6] S. M. Lundberg and S.-I. Lee, "A unified approach to interpreting model predictions," NeurIPS, 2017.</a:t>
            </a:r>
            <a:endParaRPr lang="en-US" sz="1200" dirty="0"/>
          </a:p>
          <a:p>
            <a:pPr indent="0" marL="0">
              <a:spcAft>
                <a:spcPts val="500"/>
              </a:spcAft>
              <a:buNone/>
            </a:pPr>
            <a:r>
              <a:rPr lang="en-US" sz="1200" dirty="0">
                <a:solidFill>
                  <a:schemeClr val="tx1"/>
                </a:solidFill>
                <a:latin typeface="Arial" pitchFamily="34" charset="0"/>
                <a:ea typeface="Arial" pitchFamily="34" charset="-122"/>
                <a:cs typeface="Arial" pitchFamily="34" charset="-120"/>
              </a:rPr>
              <a:t>[7] A. M. Bran et al., "Augmenting large language models with chemistry tools," Nat. Mach. Intell., vol. 6, 2024.</a:t>
            </a:r>
            <a:endParaRPr lang="en-US" sz="1200" dirty="0"/>
          </a:p>
          <a:p>
            <a:pPr indent="0" marL="0">
              <a:spcAft>
                <a:spcPts val="500"/>
              </a:spcAft>
              <a:buNone/>
            </a:pPr>
            <a:r>
              <a:rPr lang="en-US" sz="1200" dirty="0">
                <a:solidFill>
                  <a:schemeClr val="tx1"/>
                </a:solidFill>
                <a:latin typeface="Arial" pitchFamily="34" charset="0"/>
                <a:ea typeface="Arial" pitchFamily="34" charset="-122"/>
                <a:cs typeface="Arial" pitchFamily="34" charset="-120"/>
              </a:rPr>
              <a:t>[8] X. Fu, T. Xie, A. S. Rosen, T. Jaakkola and J. Smith, "MOFDiff: coarse-grained diffusion for metal-organic framework design," ICLR, 2024.</a:t>
            </a:r>
            <a:endParaRPr lang="en-US" sz="1200" dirty="0"/>
          </a:p>
          <a:p>
            <a:pPr indent="0" marL="0">
              <a:spcAft>
                <a:spcPts val="500"/>
              </a:spcAft>
              <a:buNone/>
            </a:pPr>
            <a:r>
              <a:rPr lang="en-US" sz="1200" dirty="0">
                <a:solidFill>
                  <a:schemeClr val="tx1"/>
                </a:solidFill>
                <a:latin typeface="Arial" pitchFamily="34" charset="0"/>
                <a:ea typeface="Arial" pitchFamily="34" charset="-122"/>
                <a:cs typeface="Arial" pitchFamily="34" charset="-120"/>
              </a:rPr>
              <a:t>[9] S.-A. Chen et al., "TableRAG: million-token table understanding with language models," NeurIPS, 2024.</a:t>
            </a:r>
            <a:endParaRPr lang="en-US" sz="1200" dirty="0"/>
          </a:p>
          <a:p>
            <a:pPr indent="0" marL="0">
              <a:spcAft>
                <a:spcPts val="500"/>
              </a:spcAft>
              <a:buNone/>
            </a:pPr>
            <a:r>
              <a:rPr lang="en-US" sz="1200" dirty="0">
                <a:solidFill>
                  <a:schemeClr val="tx1"/>
                </a:solidFill>
                <a:latin typeface="Arial" pitchFamily="34" charset="0"/>
                <a:ea typeface="Arial" pitchFamily="34" charset="-122"/>
                <a:cs typeface="Arial" pitchFamily="34" charset="-120"/>
              </a:rPr>
              <a:t>[10] Z. Wang et al., "Chain-of-Table: evolving tables in the reasoning chain for table understanding," ICLR, 2024.</a:t>
            </a:r>
            <a:endParaRPr lang="en-US" sz="1200" dirty="0"/>
          </a:p>
          <a:p>
            <a:pPr indent="0" marL="0">
              <a:spcAft>
                <a:spcPts val="500"/>
              </a:spcAft>
              <a:buNone/>
            </a:pPr>
            <a:r>
              <a:rPr lang="en-US" sz="1200" dirty="0">
                <a:solidFill>
                  <a:schemeClr val="tx1"/>
                </a:solidFill>
                <a:latin typeface="Arial" pitchFamily="34" charset="0"/>
                <a:ea typeface="Arial" pitchFamily="34" charset="-122"/>
                <a:cs typeface="Arial" pitchFamily="34" charset="-120"/>
              </a:rPr>
              <a:t>[11] S. Farquhar, J. Kossen, L. Kuhn and Y. Gal, "Detecting hallucinations in large language models using semantic entropy," Nature, vol. 630, pp. 625-630, 2024.</a:t>
            </a:r>
            <a:endParaRPr lang="en-US" sz="1200" dirty="0"/>
          </a:p>
          <a:p>
            <a:pPr indent="0" marL="0">
              <a:spcAft>
                <a:spcPts val="500"/>
              </a:spcAft>
              <a:buNone/>
            </a:pPr>
            <a:r>
              <a:rPr lang="en-US" sz="1200" dirty="0">
                <a:solidFill>
                  <a:schemeClr val="tx1"/>
                </a:solidFill>
                <a:latin typeface="Arial" pitchFamily="34" charset="0"/>
                <a:ea typeface="Arial" pitchFamily="34" charset="-122"/>
                <a:cs typeface="Arial" pitchFamily="34" charset="-120"/>
              </a:rPr>
              <a:t>[12] W. Lee, Y. Kang, T. Bae and J. Kim, "Harnessing large language models to collect and analyze MOF property data set," J. Am. Chem. Soc., vol. 147, pp. 3943-3958, 2025.</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References (2 of 2)</a:t>
            </a:r>
            <a:endParaRPr lang="en-US" sz="2400" dirty="0"/>
          </a:p>
        </p:txBody>
      </p:sp>
      <p:sp>
        <p:nvSpPr>
          <p:cNvPr id="3" name="Text 1"/>
          <p:cNvSpPr txBox="1"/>
          <p:nvPr/>
        </p:nvSpPr>
        <p:spPr>
          <a:xfrm>
            <a:off x="365760" y="960120"/>
            <a:ext cx="9966960" cy="6217920"/>
          </a:xfrm>
          <a:prstGeom prst="rect">
            <a:avLst/>
          </a:prstGeom>
          <a:noFill/>
          <a:ln/>
        </p:spPr>
        <p:txBody>
          <a:bodyPr wrap="square" lIns="0" tIns="0" rIns="0" bIns="0" rtlCol="0" anchor="t"/>
          <a:lstStyle/>
          <a:p>
            <a:pPr indent="0" marL="0">
              <a:spcAft>
                <a:spcPts val="500"/>
              </a:spcAft>
              <a:buNone/>
            </a:pPr>
            <a:r>
              <a:rPr lang="en-US" sz="1200" dirty="0">
                <a:solidFill>
                  <a:schemeClr val="tx1"/>
                </a:solidFill>
                <a:latin typeface="Arial" pitchFamily="34" charset="0"/>
                <a:ea typeface="Arial" pitchFamily="34" charset="-122"/>
                <a:cs typeface="Arial" pitchFamily="34" charset="-120"/>
              </a:rPr>
              <a:t>[13] T. M. Pruyn et al., "MOF-ChemUnity: literature-informed large language models for metal-organic framework research," J. Am. Chem. Soc., 2025.</a:t>
            </a:r>
            <a:endParaRPr lang="en-US" sz="1200" dirty="0"/>
          </a:p>
          <a:p>
            <a:pPr indent="0" marL="0">
              <a:spcAft>
                <a:spcPts val="500"/>
              </a:spcAft>
              <a:buNone/>
            </a:pPr>
            <a:r>
              <a:rPr lang="en-US" sz="1200" dirty="0">
                <a:solidFill>
                  <a:schemeClr val="tx1"/>
                </a:solidFill>
                <a:latin typeface="Arial" pitchFamily="34" charset="0"/>
                <a:ea typeface="Arial" pitchFamily="34" charset="-122"/>
                <a:cs typeface="Arial" pitchFamily="34" charset="-120"/>
              </a:rPr>
              <a:t>[14] N. Hollmann et al., "Accurate predictions on small data with a tabular foundation model," Nature, vol. 637, pp. 319-326, 2025.</a:t>
            </a:r>
            <a:endParaRPr lang="en-US" sz="1200" dirty="0"/>
          </a:p>
          <a:p>
            <a:pPr indent="0" marL="0">
              <a:spcAft>
                <a:spcPts val="500"/>
              </a:spcAft>
              <a:buNone/>
            </a:pPr>
            <a:r>
              <a:rPr lang="en-US" sz="1200" dirty="0">
                <a:solidFill>
                  <a:schemeClr val="tx1"/>
                </a:solidFill>
                <a:latin typeface="Arial" pitchFamily="34" charset="0"/>
                <a:ea typeface="Arial" pitchFamily="34" charset="-122"/>
                <a:cs typeface="Arial" pitchFamily="34" charset="-120"/>
              </a:rPr>
              <a:t>[15] Y. Gorishniy, A. Kotelnikov and A. Babenko, "TabM: advancing tabular deep learning with parameter-efficient ensembling," ICLR, 2025.</a:t>
            </a:r>
            <a:endParaRPr lang="en-US" sz="1200" dirty="0"/>
          </a:p>
          <a:p>
            <a:pPr indent="0" marL="0">
              <a:spcAft>
                <a:spcPts val="500"/>
              </a:spcAft>
              <a:buNone/>
            </a:pPr>
            <a:r>
              <a:rPr lang="en-US" sz="1200" dirty="0">
                <a:solidFill>
                  <a:schemeClr val="tx1"/>
                </a:solidFill>
                <a:latin typeface="Arial" pitchFamily="34" charset="0"/>
                <a:ea typeface="Arial" pitchFamily="34" charset="-122"/>
                <a:cs typeface="Arial" pitchFamily="34" charset="-120"/>
              </a:rPr>
              <a:t>[16] Y. Chiang, E. Hsieh, C.-H. Chou and J. Riebesell, "LLaMP: large language model made powerful for high-fidelity materials knowledge retrieval," EMNLP, 2025.</a:t>
            </a:r>
            <a:endParaRPr lang="en-US" sz="1200" dirty="0"/>
          </a:p>
          <a:p>
            <a:pPr indent="0" marL="0">
              <a:spcAft>
                <a:spcPts val="500"/>
              </a:spcAft>
              <a:buNone/>
            </a:pPr>
            <a:r>
              <a:rPr lang="en-US" sz="1200" dirty="0">
                <a:solidFill>
                  <a:schemeClr val="tx1"/>
                </a:solidFill>
                <a:latin typeface="Arial" pitchFamily="34" charset="0"/>
                <a:ea typeface="Arial" pitchFamily="34" charset="-122"/>
                <a:cs typeface="Arial" pitchFamily="34" charset="-120"/>
              </a:rPr>
              <a:t>[17] T. J. Inizan et al., "System of agentic AI for the discovery of metal-organic frameworks," arXiv:2504.14110, 2025.</a:t>
            </a:r>
            <a:endParaRPr lang="en-US" sz="1200" dirty="0"/>
          </a:p>
          <a:p>
            <a:pPr indent="0" marL="0">
              <a:spcAft>
                <a:spcPts val="500"/>
              </a:spcAft>
              <a:buNone/>
            </a:pPr>
            <a:r>
              <a:rPr lang="en-US" sz="1200" dirty="0">
                <a:solidFill>
                  <a:schemeClr val="tx1"/>
                </a:solidFill>
                <a:latin typeface="Arial" pitchFamily="34" charset="0"/>
                <a:ea typeface="Arial" pitchFamily="34" charset="-122"/>
                <a:cs typeface="Arial" pitchFamily="34" charset="-120"/>
              </a:rPr>
              <a:t>[18] J. Cui et al., "L2M3OF: a large language multimodal model for metal-organic frameworks," arXiv:2510.20976, 2025.</a:t>
            </a:r>
            <a:endParaRPr lang="en-US" sz="1200" dirty="0"/>
          </a:p>
          <a:p>
            <a:pPr indent="0" marL="0">
              <a:spcAft>
                <a:spcPts val="500"/>
              </a:spcAft>
              <a:buNone/>
            </a:pPr>
            <a:r>
              <a:rPr lang="en-US" sz="1200" dirty="0">
                <a:solidFill>
                  <a:schemeClr val="tx1"/>
                </a:solidFill>
                <a:latin typeface="Arial" pitchFamily="34" charset="0"/>
                <a:ea typeface="Arial" pitchFamily="34" charset="-122"/>
                <a:cs typeface="Arial" pitchFamily="34" charset="-120"/>
              </a:rPr>
              <a:t>[19] J. Lin et al., "Conversational large-language-model AI agent for accelerated synthesis of MOF catalysts in olefin hydrogenation," ACS Nano, vol. 19, pp. 23840-23858, 2025.</a:t>
            </a:r>
            <a:endParaRPr lang="en-US" sz="1200" dirty="0"/>
          </a:p>
          <a:p>
            <a:pPr indent="0" marL="0">
              <a:spcAft>
                <a:spcPts val="500"/>
              </a:spcAft>
              <a:buNone/>
            </a:pPr>
            <a:r>
              <a:rPr lang="en-US" sz="1200" dirty="0">
                <a:solidFill>
                  <a:schemeClr val="tx1"/>
                </a:solidFill>
                <a:latin typeface="Arial" pitchFamily="34" charset="0"/>
                <a:ea typeface="Arial" pitchFamily="34" charset="-122"/>
                <a:cs typeface="Arial" pitchFamily="34" charset="-120"/>
              </a:rPr>
              <a:t>[20] C. Duan et al., "The rise of generative AI for metal-organic framework design and synthesis," arXiv:2508.13197, 2025.</a:t>
            </a:r>
            <a:endParaRPr lang="en-US" sz="1200" dirty="0"/>
          </a:p>
          <a:p>
            <a:pPr indent="0" marL="0">
              <a:spcAft>
                <a:spcPts val="500"/>
              </a:spcAft>
              <a:buNone/>
            </a:pPr>
            <a:r>
              <a:rPr lang="en-US" sz="1200" dirty="0">
                <a:solidFill>
                  <a:schemeClr val="tx1"/>
                </a:solidFill>
                <a:latin typeface="Arial" pitchFamily="34" charset="0"/>
                <a:ea typeface="Arial" pitchFamily="34" charset="-122"/>
                <a:cs typeface="Arial" pitchFamily="34" charset="-120"/>
              </a:rPr>
              <a:t>[21] H. Kim, D. Kim and J. Kim, "LitMOF: an LLM multi-agent for literature-validated MOF database correction and expansion," arXiv:2512.01693, 2025.</a:t>
            </a:r>
            <a:endParaRPr lang="en-US" sz="1200" dirty="0"/>
          </a:p>
          <a:p>
            <a:pPr indent="0" marL="0">
              <a:spcAft>
                <a:spcPts val="500"/>
              </a:spcAft>
              <a:buNone/>
            </a:pPr>
            <a:r>
              <a:rPr lang="en-US" sz="1200" dirty="0">
                <a:solidFill>
                  <a:schemeClr val="tx1"/>
                </a:solidFill>
                <a:latin typeface="Arial" pitchFamily="34" charset="0"/>
                <a:ea typeface="Arial" pitchFamily="34" charset="-122"/>
                <a:cs typeface="Arial" pitchFamily="34" charset="-120"/>
              </a:rPr>
              <a:t>[22] M. Pan et al., "Enhancing spatial reasoning in large language models for MOF structure prediction," arXiv:2601.09285, 2026.</a:t>
            </a:r>
            <a:endParaRPr lang="en-US" sz="1200" dirty="0"/>
          </a:p>
          <a:p>
            <a:pPr indent="0" marL="0">
              <a:spcAft>
                <a:spcPts val="500"/>
              </a:spcAft>
              <a:buNone/>
            </a:pPr>
            <a:r>
              <a:rPr lang="en-US" sz="1200" dirty="0">
                <a:solidFill>
                  <a:schemeClr val="tx1"/>
                </a:solidFill>
                <a:latin typeface="Arial" pitchFamily="34" charset="0"/>
                <a:ea typeface="Arial" pitchFamily="34" charset="-122"/>
                <a:cs typeface="Arial" pitchFamily="34" charset="-120"/>
              </a:rPr>
              <a:t>[23] Y. Chen et al., "An LLM agent for end-to-end computational materials discovery," arXiv:2608.20434, 2026.</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457200" y="2560320"/>
            <a:ext cx="9774936" cy="1371600"/>
          </a:xfrm>
          <a:prstGeom prst="rect">
            <a:avLst/>
          </a:prstGeom>
          <a:noFill/>
          <a:ln/>
        </p:spPr>
        <p:txBody>
          <a:bodyPr wrap="square" lIns="0" tIns="0" rIns="0" bIns="0" rtlCol="0" anchor="ctr"/>
          <a:lstStyle/>
          <a:p>
            <a:pPr algn="ctr" indent="0" marL="0">
              <a:buNone/>
            </a:pPr>
            <a:r>
              <a:rPr lang="en-US" sz="8000" b="1" dirty="0">
                <a:solidFill>
                  <a:srgbClr val="00B0F0"/>
                </a:solidFill>
                <a:latin typeface="Arial" pitchFamily="34" charset="0"/>
                <a:ea typeface="Arial" pitchFamily="34" charset="-122"/>
                <a:cs typeface="Arial" pitchFamily="34" charset="-120"/>
              </a:rPr>
              <a:t>Thank You</a:t>
            </a:r>
            <a:endParaRPr lang="en-US" sz="8000" dirty="0"/>
          </a:p>
        </p:txBody>
      </p:sp>
      <p:sp>
        <p:nvSpPr>
          <p:cNvPr id="3" name="Text 1"/>
          <p:cNvSpPr txBox="1"/>
          <p:nvPr/>
        </p:nvSpPr>
        <p:spPr>
          <a:xfrm>
            <a:off x="457200" y="4206240"/>
            <a:ext cx="9774936" cy="365760"/>
          </a:xfrm>
          <a:prstGeom prst="rect">
            <a:avLst/>
          </a:prstGeom>
          <a:noFill/>
          <a:ln/>
        </p:spPr>
        <p:txBody>
          <a:bodyPr wrap="square" lIns="0" tIns="0" rIns="0" bIns="0" rtlCol="0" anchor="t"/>
          <a:lstStyle/>
          <a:p>
            <a:pPr algn="ctr" indent="0" marL="0">
              <a:buNone/>
            </a:pPr>
            <a:r>
              <a:rPr lang="en-US" sz="1200" dirty="0">
                <a:solidFill>
                  <a:srgbClr val="595959"/>
                </a:solidFill>
                <a:latin typeface="Arial" pitchFamily="34" charset="0"/>
                <a:ea typeface="Arial" pitchFamily="34" charset="-122"/>
                <a:cs typeface="Arial" pitchFamily="34" charset="-120"/>
              </a:rPr>
              <a:t>github.com/Sai-Mohith24/MOFChat-AI-Driven-Material-Recommendation-</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Appendix: Physics Rule as a Classifier</a:t>
            </a:r>
            <a:endParaRPr lang="en-US" sz="2400" dirty="0"/>
          </a:p>
        </p:txBody>
      </p:sp>
      <p:pic>
        <p:nvPicPr>
          <p:cNvPr id="3" name="Image 0" descr="physics_rule.png">    </p:cNvPr>
          <p:cNvPicPr>
            <a:picLocks noChangeAspect="1"/>
          </p:cNvPicPr>
          <p:nvPr/>
        </p:nvPicPr>
        <p:blipFill>
          <a:blip r:embed="rId1"/>
          <a:stretch>
            <a:fillRect/>
          </a:stretch>
        </p:blipFill>
        <p:spPr>
          <a:xfrm>
            <a:off x="365760" y="914400"/>
            <a:ext cx="9966960" cy="3805567"/>
          </a:xfrm>
          <a:prstGeom prst="rect">
            <a:avLst/>
          </a:prstGeom>
        </p:spPr>
      </p:pic>
      <p:sp>
        <p:nvSpPr>
          <p:cNvPr id="4" name="Text 1"/>
          <p:cNvSpPr txBox="1"/>
          <p:nvPr/>
        </p:nvSpPr>
        <p:spPr>
          <a:xfrm>
            <a:off x="365760" y="6035040"/>
            <a:ext cx="9966960" cy="36576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Rule: surface area = 0 if PLD &lt; 3.3107 Å. Test accuracy 100.00 % on 1202 MOFs.</a:t>
            </a:r>
            <a:endParaRPr lang="en-US" sz="1200" dirty="0"/>
          </a:p>
        </p:txBody>
      </p:sp>
      <p:sp>
        <p:nvSpPr>
          <p:cNvPr id="5" name="Text 2"/>
          <p:cNvSpPr txBox="1"/>
          <p:nvPr/>
        </p:nvSpPr>
        <p:spPr>
          <a:xfrm>
            <a:off x="365760" y="6446520"/>
            <a:ext cx="9966960" cy="685800"/>
          </a:xfrm>
          <a:prstGeom prst="rect">
            <a:avLst/>
          </a:prstGeom>
          <a:noFill/>
          <a:ln/>
        </p:spPr>
        <p:txBody>
          <a:bodyPr wrap="square" lIns="0" tIns="0" rIns="0" bIns="0" rtlCol="0" anchor="t"/>
          <a:lstStyle/>
          <a:p>
            <a:pPr indent="0" marL="0">
              <a:buNone/>
            </a:pPr>
            <a:r>
              <a:rPr lang="en-US" sz="1200" b="1" dirty="0">
                <a:solidFill>
                  <a:srgbClr val="1F497D"/>
                </a:solidFill>
                <a:latin typeface="Arial" pitchFamily="34" charset="0"/>
                <a:ea typeface="Arial" pitchFamily="34" charset="-122"/>
                <a:cs typeface="Arial" pitchFamily="34" charset="-120"/>
              </a:rPr>
              <a:t>Terms: </a:t>
            </a:r>
            <a:pPr indent="0" marL="0">
              <a:buNone/>
            </a:pPr>
            <a:r>
              <a:rPr lang="en-US" sz="1200" dirty="0">
                <a:solidFill>
                  <a:srgbClr val="404040"/>
                </a:solidFill>
                <a:latin typeface="Arial" pitchFamily="34" charset="0"/>
                <a:ea typeface="Arial" pitchFamily="34" charset="-122"/>
                <a:cs typeface="Arial" pitchFamily="34" charset="-120"/>
              </a:rPr>
              <a:t>Probe = the 3.31 Å sphere (size of N2) rolled through the pores to measure them. If the narrowest window (PLD) is smaller than the probe, the probe cannot enter, so the accessible surface area is zero.</a:t>
            </a:r>
            <a:endParaRPr lang="en-US" sz="1200" dirty="0"/>
          </a:p>
        </p:txBody>
      </p:sp>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9966960" cy="566928"/>
          </a:xfrm>
          <a:prstGeom prst="rect">
            <a:avLst/>
          </a:prstGeom>
          <a:noFill/>
          <a:ln/>
        </p:spPr>
        <p:txBody>
          <a:bodyPr wrap="square" lIns="0" tIns="0" rIns="0" bIns="0" rtlCol="0" anchor="ctr"/>
          <a:lstStyle/>
          <a:p>
            <a:pPr algn="l" indent="0" marL="0">
              <a:buNone/>
            </a:pPr>
            <a:r>
              <a:rPr lang="en-US" sz="2400" b="1" dirty="0">
                <a:solidFill>
                  <a:schemeClr val="tx1"/>
                </a:solidFill>
                <a:latin typeface="Arial" pitchFamily="34" charset="0"/>
                <a:ea typeface="Arial" pitchFamily="34" charset="-122"/>
                <a:cs typeface="Arial" pitchFamily="34" charset="-120"/>
              </a:rPr>
              <a:t>Appendix: Application Screenshots</a:t>
            </a:r>
            <a:endParaRPr lang="en-US" sz="2400" dirty="0"/>
          </a:p>
        </p:txBody>
      </p:sp>
      <p:pic>
        <p:nvPicPr>
          <p:cNvPr id="3" name="Image 0" descr="app_home.png">    </p:cNvPr>
          <p:cNvPicPr>
            <a:picLocks noChangeAspect="1"/>
          </p:cNvPicPr>
          <p:nvPr/>
        </p:nvPicPr>
        <p:blipFill>
          <a:blip r:embed="rId1"/>
          <a:stretch>
            <a:fillRect/>
          </a:stretch>
        </p:blipFill>
        <p:spPr>
          <a:xfrm>
            <a:off x="274320" y="914400"/>
            <a:ext cx="5029200" cy="3143250"/>
          </a:xfrm>
          <a:prstGeom prst="rect">
            <a:avLst/>
          </a:prstGeom>
        </p:spPr>
      </p:pic>
      <p:pic>
        <p:nvPicPr>
          <p:cNvPr id="4" name="Image 1" descr="app_pareto.png">    </p:cNvPr>
          <p:cNvPicPr>
            <a:picLocks noChangeAspect="1"/>
          </p:cNvPicPr>
          <p:nvPr/>
        </p:nvPicPr>
        <p:blipFill>
          <a:blip r:embed="rId2"/>
          <a:stretch>
            <a:fillRect/>
          </a:stretch>
        </p:blipFill>
        <p:spPr>
          <a:xfrm>
            <a:off x="5440680" y="914400"/>
            <a:ext cx="5029200" cy="3143250"/>
          </a:xfrm>
          <a:prstGeom prst="rect">
            <a:avLst/>
          </a:prstGeom>
        </p:spPr>
      </p:pic>
      <p:sp>
        <p:nvSpPr>
          <p:cNvPr id="5" name="Text 1"/>
          <p:cNvSpPr txBox="1"/>
          <p:nvPr/>
        </p:nvSpPr>
        <p:spPr>
          <a:xfrm>
            <a:off x="274320" y="4114800"/>
            <a:ext cx="5029200" cy="274320"/>
          </a:xfrm>
          <a:prstGeom prst="rect">
            <a:avLst/>
          </a:prstGeom>
          <a:noFill/>
          <a:ln/>
        </p:spPr>
        <p:txBody>
          <a:bodyPr wrap="square" lIns="0" tIns="0" rIns="0" bIns="0" rtlCol="0" anchor="t"/>
          <a:lstStyle/>
          <a:p>
            <a:pPr algn="ctr" indent="0" marL="0">
              <a:buNone/>
            </a:pPr>
            <a:r>
              <a:rPr lang="en-US" sz="1200" i="1" dirty="0">
                <a:solidFill>
                  <a:srgbClr val="595959"/>
                </a:solidFill>
                <a:latin typeface="Arial" pitchFamily="34" charset="0"/>
                <a:ea typeface="Arial" pitchFamily="34" charset="-122"/>
                <a:cs typeface="Arial" pitchFamily="34" charset="-120"/>
              </a:rPr>
              <a:t>Chat page with model choice and system status</a:t>
            </a:r>
            <a:endParaRPr lang="en-US" sz="1200" dirty="0"/>
          </a:p>
        </p:txBody>
      </p:sp>
      <p:sp>
        <p:nvSpPr>
          <p:cNvPr id="6" name="Text 2"/>
          <p:cNvSpPr txBox="1"/>
          <p:nvPr/>
        </p:nvSpPr>
        <p:spPr>
          <a:xfrm>
            <a:off x="5440680" y="4114800"/>
            <a:ext cx="5029200" cy="274320"/>
          </a:xfrm>
          <a:prstGeom prst="rect">
            <a:avLst/>
          </a:prstGeom>
          <a:noFill/>
          <a:ln/>
        </p:spPr>
        <p:txBody>
          <a:bodyPr wrap="square" lIns="0" tIns="0" rIns="0" bIns="0" rtlCol="0" anchor="t"/>
          <a:lstStyle/>
          <a:p>
            <a:pPr algn="ctr" indent="0" marL="0">
              <a:buNone/>
            </a:pPr>
            <a:r>
              <a:rPr lang="en-US" sz="1200" i="1" dirty="0">
                <a:solidFill>
                  <a:srgbClr val="595959"/>
                </a:solidFill>
                <a:latin typeface="Arial" pitchFamily="34" charset="0"/>
                <a:ea typeface="Arial" pitchFamily="34" charset="-122"/>
                <a:cs typeface="Arial" pitchFamily="34" charset="-120"/>
              </a:rPr>
              <a:t>Pareto plot for the zinc MOF question</a:t>
            </a:r>
            <a:endParaRPr lang="en-US" sz="1200" dirty="0"/>
          </a:p>
        </p:txBody>
      </p:sp>
      <p:pic>
        <p:nvPicPr>
          <p:cNvPr id="7" name="Image 2" descr="app_answer.png">    </p:cNvPr>
          <p:cNvPicPr>
            <a:picLocks noChangeAspect="1"/>
          </p:cNvPicPr>
          <p:nvPr/>
        </p:nvPicPr>
        <p:blipFill>
          <a:blip r:embed="rId3"/>
          <a:stretch>
            <a:fillRect/>
          </a:stretch>
        </p:blipFill>
        <p:spPr>
          <a:xfrm>
            <a:off x="2834640" y="4480560"/>
            <a:ext cx="4389120" cy="2743200"/>
          </a:xfrm>
          <a:prstGeom prst="rect">
            <a:avLst/>
          </a:prstGeom>
        </p:spPr>
      </p:pic>
      <p:sp>
        <p:nvSpPr>
          <p:cNvPr id="25" name="Slide Number Placeholder 0"/>
          <p:cNvSpPr>
            <a:spLocks noGrp="1"/>
          </p:cNvSpPr>
          <p:nvPr>
            <p:ph type="sldNum" sz="quarter" idx="4294967295"/>
          </p:nvPr>
        </p:nvSpPr>
        <p:spPr>
          <a:xfrm>
            <a:off x="9921240" y="7223760"/>
            <a:ext cx="5029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36</a:t>
            </a:fld>
            <a:endParaRPr lang="en-US"/>
          </a:p>
        </p:txBody>
      </p:sp>
    </p:spTree>
  </p:cSld>
  <p:clrMapOvr>
    <a:masterClrMapping/>
  </p:clrMapOvr>
</p:sld>
</file>

<file path=ppt/theme/theme1.xml><?xml version="1.0" encoding="utf-8"?>
<a:theme xmlns:a="http://schemas.openxmlformats.org/drawingml/2006/main" name="MOFChat Review Template">
  <a:themeElements>
    <a:clrScheme name="MOFChat Review Templat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OFChat Review Templat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MOFChat - Final Review</dc:title>
  <dc:subject>PptxGenJS Presentation</dc:subject>
  <dc:creator>Team 14, 22AIE452</dc:creator>
  <cp:lastModifiedBy>Team 14, 22AIE452</cp:lastModifiedBy>
  <cp:revision>1</cp:revision>
  <dcterms:created xsi:type="dcterms:W3CDTF">2026-10-23T10:29:57Z</dcterms:created>
  <dcterms:modified xsi:type="dcterms:W3CDTF">2026-10-23T10:29:57Z</dcterms:modified>
</cp:coreProperties>
</file>